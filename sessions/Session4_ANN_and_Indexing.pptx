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Lecture 4" id="{bd9db905-89ce-58f4-04cf-f2e8a3392ae6}">
          <p14:sldIdLst>
            <p14:sldId id="256"/>
            <p14:sldId id="257"/>
            <p14:sldId id="258"/>
            <p14:sldId id="259"/>
            <p14:sldId id="260"/>
            <p14:sldId id="261"/>
            <p14:sldId id="262"/>
            <p14:sldId id="263"/>
            <p14:sldId id="264"/>
            <p14:sldId id="265"/>
            <p14:sldId id="266"/>
            <p14:sldId id="267"/>
            <p14:sldId id="268"/>
            <p14:sldId id="269"/>
            <p14:sldId id="270"/>
            <p14:sldId id="271"/>
            <p14:sldId id="272"/>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B2A41"/>
                </a:solidFill>
                <a:latin typeface="+mn-lt"/>
              </a:defRPr>
            </a:pPr>
            <a:r>
              <a:rPr sz="1200" b="0" i="0" u="none" strike="noStrike">
                <a:solidFill>
                  <a:srgbClr val="1B2A41"/>
                </a:solidFill>
                <a:latin typeface="+mn-lt"/>
              </a:rPr>
              <a:t>Multiply-adds per query (millions), d = 768, log scale</a:t>
            </a:r>
          </a:p>
        </c:rich>
      </c:tx>
      <c:layout/>
      <c:overlay val="0"/>
    </c:title>
    <c:autoTitleDeleted val="0"/>
    <c:plotArea>
      <c:layout/>
      <c:barChart>
        <c:barDir val="col"/>
        <c:grouping val="clustered"/>
        <c:varyColors val="0"/>
        <c:ser>
          <c:idx val="0"/>
          <c:order val="0"/>
          <c:tx>
            <c:strRef>
              <c:f>Sheet1!$B$1</c:f>
              <c:strCache>
                <c:ptCount val="1"/>
                <c:pt idx="0">
                  <c:v>ops</c:v>
                </c:pt>
              </c:strCache>
            </c:strRef>
          </c:tx>
          <c:spPr>
            <a:solidFill>
              <a:srgbClr val="B5432A"/>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1"/>
            <c:showCatName val="0"/>
            <c:showSerName val="0"/>
            <c:showPercent val="0"/>
            <c:showBubbleSize val="0"/>
            <c:showLeaderLines val="0"/>
          </c:dLbls>
          <c:cat>
            <c:multiLvlStrRef>
              <c:f>Sheet1!$A$2:$A$6</c:f>
              <c:multiLvlStrCache>
                <c:ptCount val="5"/>
                <c:lvl>
                  <c:pt idx="0">
                    <c:v>10K</c:v>
                  </c:pt>
                  <c:pt idx="1">
                    <c:v>100K</c:v>
                  </c:pt>
                  <c:pt idx="2">
                    <c:v>1M</c:v>
                  </c:pt>
                  <c:pt idx="3">
                    <c:v>10M</c:v>
                  </c:pt>
                  <c:pt idx="4">
                    <c:v>100M</c:v>
                  </c:pt>
                </c:lvl>
              </c:multiLvlStrCache>
            </c:multiLvlStrRef>
          </c:cat>
          <c:val>
            <c:numRef>
              <c:f>Sheet1!$B$2:$B$6</c:f>
              <c:numCache>
                <c:formatCode>General</c:formatCode>
                <c:ptCount val="5"/>
                <c:pt idx="0">
                  <c:v>8</c:v>
                </c:pt>
                <c:pt idx="1">
                  <c:v>77</c:v>
                </c:pt>
                <c:pt idx="2">
                  <c:v>768</c:v>
                </c:pt>
                <c:pt idx="3">
                  <c:v>7680</c:v>
                </c:pt>
                <c:pt idx="4">
                  <c:v>76800</c:v>
                </c:pt>
              </c:numCache>
            </c:numRef>
          </c:val>
        </c:ser>
        <c:dLbls>
          <c:numFmt formatCode="#,##0" sourceLinked="0"/>
          <c:txPr>
            <a:bodyPr/>
            <a:lstStyle/>
            <a:p>
              <a:pPr>
                <a:defRPr b="0" i="0" strike="noStrike" sz="1100" u="none">
                  <a:solidFill>
                    <a:srgbClr val="00000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000000"/>
                </a:solidFill>
                <a:latin typeface="+mn-lt"/>
              </a:defRPr>
            </a:pPr>
            <a:endParaRPr lang="en-US"/>
          </a:p>
        </c:txPr>
        <c:crossAx val="2094734552"/>
        <c:crosses val="autoZero"/>
        <c:auto val="1"/>
        <c:lblAlgn val="ctr"/>
        <c:noMultiLvlLbl val="1"/>
      </c:catAx>
      <c:valAx>
        <c:axId val="2094734552"/>
        <c:scaling>
          <c:logBase val="10"/>
          <c:orientation val="minMax"/>
          <c:min val="1"/>
        </c:scaling>
        <c:delete val="0"/>
        <c:axPos val="l"/>
        <c:majorGridlines>
          <c:spPr>
            <a:ln w="6350"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00000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(2 min). Lecture 3 ended with exact search: one matrix product, perfect recall, cost linear in N. Today we ask what to do when N is huge, and meet the four index families inside every vector database.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Roadmap (1 min). 90 minutes: about 65 lecture, 25 lab. The lab runs on CPU in Colab with FAISS.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(4 min). Every query touches every vector. The cost is N times d multiply-adds.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Scale (4 min). Operations are N x 768 in millions. Memory is N x 768 x 4 bytes, float32. Both grow linearly; latency budgets of tens of milliseconds are exceeded by roughly the tens of millions.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the quality metric (5 min). Ground truth comes from exact search on a sample of queries. Here the index returned F instead of D, so 4 of 5 true neighbors were found.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triangle (5 min). No index wins everywhere. Closer to a corner means stronger on that axis. Flat: perfect recall, slow, large. HNSW: fast and accurate, memory-hungry. IVF-PQ: tiny and fast, lower recall.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Overview (4 min). Three of them reduce the number of comparisons; PQ reduces the cost of each. Production indexes combine them, for example IVF-PQ or HNSW with quantized vectors.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Random-hyperplane LSH for cosine similarity (5 min). Each hyperplane contributes one bit. Real systems use many bits and several hash tables to raise recall. On dense embeddings, graph and IVF indexes usually beat LSH, but LSH is simple and cheap to update.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Inverted file index (6 min). k-means finds nlist centroids. Each vector is stored in its nearest cell's list. A query visits the nprobe nearest cells. Neighbors just across a cell boundary are missed when nprobe is too small, which is why recall rises with nprobe.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Product quantization (5 min). Split the vector, snap each part to the nearest of 256 learned centroids, and store the centroid ids. With m = 8 the saving is 384x here; practical m is larger (64 to 96 gives 48x to 32x) to keep recall.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Asymmetric distance computation (5 min). For each query, precompute the distance from each query part to every centroid of that part, once. Then the distance to any stored vector is a sum of m table lookups, with no vector arithmetic.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Hierarchical navigable small world (6 min). The graph connects each vector to near neighbors. Sparse upper layers give long-range shortcuts, dense lower layers give precision. Search is greedy: hop to the neighbor closest to the query; when none is closer, drop a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Parameters (5 min). M and efConstruction are fixed at build time; efSearch can change per query. Overhead: 2 x M links x 4 bytes = 8M bytes per vector, so about 8% extra at M = 32 for 768-d vectors, but 50% for 128-d.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Summary table (4 min). Updates matter in production: IVF needs retraining if the data distribution drifts; HNSW inserts are easy, deletes are usually soft.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Decision guide (5 min). Thresholds are rules of thumb, not laws. Always benchmark on your own data and latency target.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Evaluation (5 min). Compare indexes at equal recall, not at default parameters. The sketch is illustrative; the lab measures the real curve. Report p95 latency, not just the average.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Production concerns (4 min). Filtering is the hardest: post-filtering can return fewer than k results, while pre-filtering needs filter-aware indexes. Lecture 5 compares how each database handles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Pitfalls (4 min). The left column causes most 'ANN returned bad results' reports.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Pair discussion (5 min). Answers: 1) N x d work per query; 2) 4/5 = 0.8; 3) more cells are scanned; 4) it is lossy; fixed with re-ranking; 5) efSearch can change per query without rebuilding.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 up (3 min), then hand out Lab 4. Next lecture: the landscape of vector databases and how to choose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AGE">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3" name="Shape 0"/>
          <p:cNvSpPr/>
          <p:nvPr/>
        </p:nvSpPr>
        <p:spPr>
          <a:xfrm>
            <a:off x="457200" y="4754880"/>
            <a:ext cx="8229600" cy="0"/>
          </a:xfrm>
          <a:prstGeom prst="line">
            <a:avLst/>
          </a:prstGeom>
          <a:noFill/>
          <a:ln w="12700">
            <a:solidFill>
              <a:srgbClr val="D1D5DB"/>
            </a:solidFill>
            <a:prstDash val="solid"/>
          </a:ln>
        </p:spPr>
      </p:sp>
      <p:sp>
        <p:nvSpPr>
          <p:cNvPr id="4" name="Text 1"/>
          <p:cNvSpPr/>
          <p:nvPr/>
        </p:nvSpPr>
        <p:spPr>
          <a:xfrm>
            <a:off x="457200" y="4818888"/>
            <a:ext cx="4572000" cy="228600"/>
          </a:xfrm>
          <a:prstGeom prst="rect">
            <a:avLst/>
          </a:prstGeom>
          <a:noFill/>
          <a:ln/>
        </p:spPr>
        <p:txBody>
          <a:bodyPr wrap="square" lIns="0" tIns="0" rIns="0" bIns="0" rtlCol="0" anchor="ctr"/>
          <a:lstStyle/>
          <a:p>
            <a:pPr indent="0" marL="0">
              <a:buNone/>
            </a:pPr>
            <a:r>
              <a:rPr lang="en-US" sz="1000" i="1" dirty="0">
                <a:solidFill>
                  <a:schemeClr val="accent5"/>
                </a:solidFill>
                <a:latin typeface="Cambria" pitchFamily="34" charset="0"/>
                <a:ea typeface="Cambria" pitchFamily="34" charset="-122"/>
                <a:cs typeface="Cambria" pitchFamily="34" charset="-120"/>
              </a:rPr>
              <a:t>Vector Databases  —  Lecture 4</a:t>
            </a:r>
            <a:endParaRPr lang="en-US" sz="10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OPEN">
    <p:bg>
      <p:bgPr>
        <a:solidFill>
          <a:srgbClr val="0F1B2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325880"/>
            <a:ext cx="4572000" cy="155448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914400"/>
            <a:ext cx="3657600" cy="274320"/>
          </a:xfrm>
          <a:prstGeom prst="rect">
            <a:avLst/>
          </a:prstGeom>
          <a:noFill/>
          <a:ln/>
        </p:spPr>
        <p:txBody>
          <a:bodyPr wrap="square" lIns="0" tIns="0" rIns="0" bIns="0" rtlCol="0" anchor="t"/>
          <a:lstStyle/>
          <a:p>
            <a:pPr indent="0" marL="0">
              <a:buNone/>
            </a:pPr>
            <a:r>
              <a:rPr lang="en-US" sz="1200" b="1" spc="400" kern="0" dirty="0">
                <a:solidFill>
                  <a:schemeClr val="accent6"/>
                </a:solidFill>
              </a:rPr>
              <a:t>LECTURE 4 OF 9</a:t>
            </a:r>
            <a:endParaRPr lang="en-US" sz="1200" dirty="0"/>
          </a:p>
        </p:txBody>
      </p:sp>
      <p:sp>
        <p:nvSpPr>
          <p:cNvPr id="3" name="Text 0"/>
          <p:cNvSpPr/>
          <p:nvPr>
            <p:ph idx="100" type="title" hasCustomPrompt="1"/>
          </p:nvPr>
        </p:nvSpPr>
        <p:spPr>
          <a:xfrm>
            <a:off x="548640" y="1325880"/>
            <a:ext cx="4572000" cy="1554480"/>
          </a:xfrm>
          <a:prstGeom prst="rect">
            <a:avLst/>
          </a:prstGeom>
          <a:noFill/>
          <a:ln/>
        </p:spPr>
        <p:txBody>
          <a:bodyPr wrap="square" lIns="0" tIns="0" rIns="0" bIns="0" rtlCol="0" anchor="t"/>
          <a:lstStyle/>
          <a:p>
            <a:pPr algn="l" indent="0" marL="0">
              <a:buNone/>
            </a:pPr>
            <a:r>
              <a:rPr lang="en-US" sz="4400" b="1" dirty="0">
                <a:solidFill>
                  <a:schemeClr val="bg1"/>
                </a:solidFill>
              </a:rPr>
              <a:t>ANN and Indexing</a:t>
            </a:r>
            <a:endParaRPr lang="en-US" sz="4400" dirty="0"/>
          </a:p>
        </p:txBody>
      </p:sp>
      <p:sp>
        <p:nvSpPr>
          <p:cNvPr id="4" name="Text 2"/>
          <p:cNvSpPr txBox="1"/>
          <p:nvPr/>
        </p:nvSpPr>
        <p:spPr>
          <a:xfrm>
            <a:off x="548640" y="2103120"/>
            <a:ext cx="4572000" cy="365760"/>
          </a:xfrm>
          <a:prstGeom prst="rect">
            <a:avLst/>
          </a:prstGeom>
          <a:noFill/>
          <a:ln/>
        </p:spPr>
        <p:txBody>
          <a:bodyPr wrap="square" lIns="0" tIns="0" rIns="0" bIns="0" rtlCol="0" anchor="t"/>
          <a:lstStyle/>
          <a:p>
            <a:pPr indent="0" marL="0">
              <a:buNone/>
            </a:pPr>
            <a:r>
              <a:rPr lang="en-US" sz="2000" i="1" dirty="0">
                <a:solidFill>
                  <a:schemeClr val="bg2"/>
                </a:solidFill>
                <a:latin typeface="Cambria" pitchFamily="34" charset="0"/>
                <a:ea typeface="Cambria" pitchFamily="34" charset="-122"/>
                <a:cs typeface="Cambria" pitchFamily="34" charset="-120"/>
              </a:rPr>
              <a:t>Search faster without scanning everything</a:t>
            </a:r>
            <a:endParaRPr lang="en-US" sz="2000" dirty="0"/>
          </a:p>
        </p:txBody>
      </p:sp>
      <p:sp>
        <p:nvSpPr>
          <p:cNvPr id="5" name="Text 3"/>
          <p:cNvSpPr txBox="1"/>
          <p:nvPr/>
        </p:nvSpPr>
        <p:spPr>
          <a:xfrm>
            <a:off x="548640" y="4206240"/>
            <a:ext cx="4572000" cy="274320"/>
          </a:xfrm>
          <a:prstGeom prst="rect">
            <a:avLst/>
          </a:prstGeom>
          <a:noFill/>
          <a:ln/>
        </p:spPr>
        <p:txBody>
          <a:bodyPr wrap="square" lIns="0" tIns="0" rIns="0" bIns="0" rtlCol="0" anchor="t"/>
          <a:lstStyle/>
          <a:p>
            <a:pPr indent="0" marL="0">
              <a:buNone/>
            </a:pPr>
            <a:r>
              <a:rPr lang="en-US" sz="1200" dirty="0">
                <a:solidFill>
                  <a:schemeClr val="accent6"/>
                </a:solidFill>
              </a:rPr>
              <a:t>Vector Databases: from zero to ChromaDB</a:t>
            </a:r>
            <a:endParaRPr lang="en-US" sz="1200" dirty="0"/>
          </a:p>
        </p:txBody>
      </p:sp>
      <p:sp>
        <p:nvSpPr>
          <p:cNvPr id="6" name="Text 4"/>
          <p:cNvSpPr txBox="1"/>
          <p:nvPr/>
        </p:nvSpPr>
        <p:spPr>
          <a:xfrm>
            <a:off x="5577840" y="1280160"/>
            <a:ext cx="2743200" cy="274320"/>
          </a:xfrm>
          <a:prstGeom prst="rect">
            <a:avLst/>
          </a:prstGeom>
          <a:noFill/>
          <a:ln/>
        </p:spPr>
        <p:txBody>
          <a:bodyPr wrap="square" lIns="0" tIns="0" rIns="0" bIns="0" rtlCol="0" anchor="t"/>
          <a:lstStyle/>
          <a:p>
            <a:pPr indent="0" marL="0">
              <a:buNone/>
            </a:pPr>
            <a:r>
              <a:rPr lang="en-US" sz="1600" i="1" dirty="0">
                <a:solidFill>
                  <a:srgbClr val="FFFFFF"/>
                </a:solidFill>
                <a:latin typeface="Cambria" pitchFamily="34" charset="0"/>
                <a:ea typeface="Cambria" pitchFamily="34" charset="-122"/>
                <a:cs typeface="Cambria" pitchFamily="34" charset="-120"/>
              </a:rPr>
              <a:t>flat</a:t>
            </a:r>
            <a:endParaRPr lang="en-US" sz="1600" dirty="0"/>
          </a:p>
        </p:txBody>
      </p:sp>
      <p:sp>
        <p:nvSpPr>
          <p:cNvPr id="7" name="Text 5"/>
          <p:cNvSpPr txBox="1"/>
          <p:nvPr/>
        </p:nvSpPr>
        <p:spPr>
          <a:xfrm>
            <a:off x="5577840" y="1600200"/>
            <a:ext cx="3108960" cy="274320"/>
          </a:xfrm>
          <a:prstGeom prst="rect">
            <a:avLst/>
          </a:prstGeom>
          <a:noFill/>
          <a:ln/>
        </p:spPr>
        <p:txBody>
          <a:bodyPr wrap="square" lIns="0" tIns="0" rIns="0" bIns="0" rtlCol="0" anchor="t"/>
          <a:lstStyle/>
          <a:p>
            <a:pPr indent="0" marL="0">
              <a:buNone/>
            </a:pPr>
            <a:r>
              <a:rPr lang="en-US" sz="1300" dirty="0">
                <a:solidFill>
                  <a:srgbClr val="D1D5DB"/>
                </a:solidFill>
                <a:latin typeface="Courier New" pitchFamily="34" charset="0"/>
                <a:ea typeface="Courier New" pitchFamily="34" charset="-122"/>
                <a:cs typeface="Courier New" pitchFamily="34" charset="-120"/>
              </a:rPr>
              <a:t>exact, N x d per query</a:t>
            </a:r>
            <a:endParaRPr lang="en-US" sz="1300" dirty="0"/>
          </a:p>
        </p:txBody>
      </p:sp>
      <p:sp>
        <p:nvSpPr>
          <p:cNvPr id="8" name="Text 6"/>
          <p:cNvSpPr txBox="1"/>
          <p:nvPr/>
        </p:nvSpPr>
        <p:spPr>
          <a:xfrm>
            <a:off x="5577840" y="2057400"/>
            <a:ext cx="2743200" cy="274320"/>
          </a:xfrm>
          <a:prstGeom prst="rect">
            <a:avLst/>
          </a:prstGeom>
          <a:noFill/>
          <a:ln/>
        </p:spPr>
        <p:txBody>
          <a:bodyPr wrap="square" lIns="0" tIns="0" rIns="0" bIns="0" rtlCol="0" anchor="t"/>
          <a:lstStyle/>
          <a:p>
            <a:pPr indent="0" marL="0">
              <a:buNone/>
            </a:pPr>
            <a:r>
              <a:rPr lang="en-US" sz="1600" i="1" dirty="0">
                <a:solidFill>
                  <a:srgbClr val="FFFFFF"/>
                </a:solidFill>
                <a:latin typeface="Cambria" pitchFamily="34" charset="0"/>
                <a:ea typeface="Cambria" pitchFamily="34" charset="-122"/>
                <a:cs typeface="Cambria" pitchFamily="34" charset="-120"/>
              </a:rPr>
              <a:t>ivf</a:t>
            </a:r>
            <a:endParaRPr lang="en-US" sz="1600" dirty="0"/>
          </a:p>
        </p:txBody>
      </p:sp>
      <p:sp>
        <p:nvSpPr>
          <p:cNvPr id="9" name="Text 7"/>
          <p:cNvSpPr txBox="1"/>
          <p:nvPr/>
        </p:nvSpPr>
        <p:spPr>
          <a:xfrm>
            <a:off x="5577840" y="2377440"/>
            <a:ext cx="3108960" cy="274320"/>
          </a:xfrm>
          <a:prstGeom prst="rect">
            <a:avLst/>
          </a:prstGeom>
          <a:noFill/>
          <a:ln/>
        </p:spPr>
        <p:txBody>
          <a:bodyPr wrap="square" lIns="0" tIns="0" rIns="0" bIns="0" rtlCol="0" anchor="t"/>
          <a:lstStyle/>
          <a:p>
            <a:pPr indent="0" marL="0">
              <a:buNone/>
            </a:pPr>
            <a:r>
              <a:rPr lang="en-US" sz="1300" dirty="0">
                <a:solidFill>
                  <a:srgbClr val="D1D5DB"/>
                </a:solidFill>
                <a:latin typeface="Courier New" pitchFamily="34" charset="0"/>
                <a:ea typeface="Courier New" pitchFamily="34" charset="-122"/>
                <a:cs typeface="Courier New" pitchFamily="34" charset="-120"/>
              </a:rPr>
              <a:t>nlist=1024, nprobe=8</a:t>
            </a:r>
            <a:endParaRPr lang="en-US" sz="1300" dirty="0"/>
          </a:p>
        </p:txBody>
      </p:sp>
      <p:sp>
        <p:nvSpPr>
          <p:cNvPr id="10" name="Text 8"/>
          <p:cNvSpPr txBox="1"/>
          <p:nvPr/>
        </p:nvSpPr>
        <p:spPr>
          <a:xfrm>
            <a:off x="5577840" y="2834640"/>
            <a:ext cx="2743200" cy="274320"/>
          </a:xfrm>
          <a:prstGeom prst="rect">
            <a:avLst/>
          </a:prstGeom>
          <a:noFill/>
          <a:ln/>
        </p:spPr>
        <p:txBody>
          <a:bodyPr wrap="square" lIns="0" tIns="0" rIns="0" bIns="0" rtlCol="0" anchor="t"/>
          <a:lstStyle/>
          <a:p>
            <a:pPr indent="0" marL="0">
              <a:buNone/>
            </a:pPr>
            <a:r>
              <a:rPr lang="en-US" sz="1600" i="1" dirty="0">
                <a:solidFill>
                  <a:srgbClr val="FFFFFF"/>
                </a:solidFill>
                <a:latin typeface="Cambria" pitchFamily="34" charset="0"/>
                <a:ea typeface="Cambria" pitchFamily="34" charset="-122"/>
                <a:cs typeface="Cambria" pitchFamily="34" charset="-120"/>
              </a:rPr>
              <a:t>pq</a:t>
            </a:r>
            <a:endParaRPr lang="en-US" sz="1600" dirty="0"/>
          </a:p>
        </p:txBody>
      </p:sp>
      <p:sp>
        <p:nvSpPr>
          <p:cNvPr id="11" name="Text 9"/>
          <p:cNvSpPr txBox="1"/>
          <p:nvPr/>
        </p:nvSpPr>
        <p:spPr>
          <a:xfrm>
            <a:off x="5577840" y="3154680"/>
            <a:ext cx="3108960" cy="274320"/>
          </a:xfrm>
          <a:prstGeom prst="rect">
            <a:avLst/>
          </a:prstGeom>
          <a:noFill/>
          <a:ln/>
        </p:spPr>
        <p:txBody>
          <a:bodyPr wrap="square" lIns="0" tIns="0" rIns="0" bIns="0" rtlCol="0" anchor="t"/>
          <a:lstStyle/>
          <a:p>
            <a:pPr indent="0" marL="0">
              <a:buNone/>
            </a:pPr>
            <a:r>
              <a:rPr lang="en-US" sz="1300" dirty="0">
                <a:solidFill>
                  <a:srgbClr val="D1D5DB"/>
                </a:solidFill>
                <a:latin typeface="Courier New" pitchFamily="34" charset="0"/>
                <a:ea typeface="Courier New" pitchFamily="34" charset="-122"/>
                <a:cs typeface="Courier New" pitchFamily="34" charset="-120"/>
              </a:rPr>
              <a:t>m=64 bytes per vector</a:t>
            </a:r>
            <a:endParaRPr lang="en-US" sz="1300" dirty="0"/>
          </a:p>
        </p:txBody>
      </p:sp>
      <p:sp>
        <p:nvSpPr>
          <p:cNvPr id="12" name="Text 10"/>
          <p:cNvSpPr txBox="1"/>
          <p:nvPr/>
        </p:nvSpPr>
        <p:spPr>
          <a:xfrm>
            <a:off x="5577840" y="3611880"/>
            <a:ext cx="2743200" cy="274320"/>
          </a:xfrm>
          <a:prstGeom prst="rect">
            <a:avLst/>
          </a:prstGeom>
          <a:noFill/>
          <a:ln/>
        </p:spPr>
        <p:txBody>
          <a:bodyPr wrap="square" lIns="0" tIns="0" rIns="0" bIns="0" rtlCol="0" anchor="t"/>
          <a:lstStyle/>
          <a:p>
            <a:pPr indent="0" marL="0">
              <a:buNone/>
            </a:pPr>
            <a:r>
              <a:rPr lang="en-US" sz="1600" b="1" i="1" dirty="0">
                <a:solidFill>
                  <a:srgbClr val="B5432A"/>
                </a:solidFill>
                <a:latin typeface="Cambria" pitchFamily="34" charset="0"/>
                <a:ea typeface="Cambria" pitchFamily="34" charset="-122"/>
                <a:cs typeface="Cambria" pitchFamily="34" charset="-120"/>
              </a:rPr>
              <a:t>hnsw</a:t>
            </a:r>
            <a:endParaRPr lang="en-US" sz="1600" dirty="0"/>
          </a:p>
        </p:txBody>
      </p:sp>
      <p:sp>
        <p:nvSpPr>
          <p:cNvPr id="13" name="Text 11"/>
          <p:cNvSpPr txBox="1"/>
          <p:nvPr/>
        </p:nvSpPr>
        <p:spPr>
          <a:xfrm>
            <a:off x="5577840" y="3931920"/>
            <a:ext cx="3108960" cy="274320"/>
          </a:xfrm>
          <a:prstGeom prst="rect">
            <a:avLst/>
          </a:prstGeom>
          <a:noFill/>
          <a:ln/>
        </p:spPr>
        <p:txBody>
          <a:bodyPr wrap="square" lIns="0" tIns="0" rIns="0" bIns="0" rtlCol="0" anchor="t"/>
          <a:lstStyle/>
          <a:p>
            <a:pPr indent="0" marL="0">
              <a:buNone/>
            </a:pPr>
            <a:r>
              <a:rPr lang="en-US" sz="1300" dirty="0">
                <a:solidFill>
                  <a:srgbClr val="D1D5DB"/>
                </a:solidFill>
                <a:latin typeface="Courier New" pitchFamily="34" charset="0"/>
                <a:ea typeface="Courier New" pitchFamily="34" charset="-122"/>
                <a:cs typeface="Courier New" pitchFamily="34" charset="-120"/>
              </a:rPr>
              <a:t>M=32, efSearch=64</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Today's lecture in five questions</a:t>
            </a:r>
            <a:endParaRPr lang="en-US" sz="3000" dirty="0"/>
          </a:p>
        </p:txBody>
      </p:sp>
      <p:sp>
        <p:nvSpPr>
          <p:cNvPr id="4" name="Text 1"/>
          <p:cNvSpPr txBox="1"/>
          <p:nvPr/>
        </p:nvSpPr>
        <p:spPr>
          <a:xfrm>
            <a:off x="457200" y="1252728"/>
            <a:ext cx="548640" cy="548640"/>
          </a:xfrm>
          <a:prstGeom prst="rect">
            <a:avLst/>
          </a:prstGeom>
          <a:noFill/>
          <a:ln/>
        </p:spPr>
        <p:txBody>
          <a:bodyPr wrap="square" lIns="0" tIns="0" rIns="0" bIns="0" rtlCol="0" anchor="t"/>
          <a:lstStyle/>
          <a:p>
            <a:pPr indent="0" marL="0">
              <a:buNone/>
            </a:pPr>
            <a:r>
              <a:rPr lang="en-US" sz="3200" b="1" dirty="0">
                <a:solidFill>
                  <a:schemeClr val="accent1"/>
                </a:solidFill>
                <a:latin typeface="Cambria" pitchFamily="34" charset="0"/>
                <a:ea typeface="Cambria" pitchFamily="34" charset="-122"/>
                <a:cs typeface="Cambria" pitchFamily="34" charset="-120"/>
              </a:rPr>
              <a:t>1</a:t>
            </a:r>
            <a:endParaRPr lang="en-US" sz="3200" dirty="0"/>
          </a:p>
        </p:txBody>
      </p:sp>
      <p:sp>
        <p:nvSpPr>
          <p:cNvPr id="5" name="Text 2"/>
          <p:cNvSpPr txBox="1"/>
          <p:nvPr/>
        </p:nvSpPr>
        <p:spPr>
          <a:xfrm>
            <a:off x="1097280" y="1325880"/>
            <a:ext cx="5120640" cy="457200"/>
          </a:xfrm>
          <a:prstGeom prst="rect">
            <a:avLst/>
          </a:prstGeom>
          <a:noFill/>
          <a:ln/>
        </p:spPr>
        <p:txBody>
          <a:bodyPr wrap="square" lIns="0" tIns="0" rIns="0" bIns="0" rtlCol="0" anchor="ctr"/>
          <a:lstStyle/>
          <a:p>
            <a:pPr indent="0" marL="0">
              <a:buNone/>
            </a:pPr>
            <a:r>
              <a:rPr lang="en-US" sz="1800" dirty="0">
                <a:solidFill>
                  <a:schemeClr val="tx1"/>
                </a:solidFill>
                <a:latin typeface="Cambria" pitchFamily="34" charset="0"/>
                <a:ea typeface="Cambria" pitchFamily="34" charset="-122"/>
                <a:cs typeface="Cambria" pitchFamily="34" charset="-120"/>
              </a:rPr>
              <a:t>Why does exact search stop scaling?</a:t>
            </a:r>
            <a:endParaRPr lang="en-US" sz="1800" dirty="0"/>
          </a:p>
        </p:txBody>
      </p:sp>
      <p:sp>
        <p:nvSpPr>
          <p:cNvPr id="6" name="Shape 3"/>
          <p:cNvSpPr/>
          <p:nvPr/>
        </p:nvSpPr>
        <p:spPr>
          <a:xfrm>
            <a:off x="1097280" y="1856232"/>
            <a:ext cx="5120640" cy="0"/>
          </a:xfrm>
          <a:prstGeom prst="line">
            <a:avLst/>
          </a:prstGeom>
          <a:noFill/>
          <a:ln w="6350">
            <a:solidFill>
              <a:schemeClr val="accent6"/>
            </a:solidFill>
            <a:prstDash val="solid"/>
          </a:ln>
        </p:spPr>
      </p:sp>
      <p:sp>
        <p:nvSpPr>
          <p:cNvPr id="7" name="Text 4"/>
          <p:cNvSpPr txBox="1"/>
          <p:nvPr/>
        </p:nvSpPr>
        <p:spPr>
          <a:xfrm>
            <a:off x="457200" y="1892808"/>
            <a:ext cx="548640" cy="548640"/>
          </a:xfrm>
          <a:prstGeom prst="rect">
            <a:avLst/>
          </a:prstGeom>
          <a:noFill/>
          <a:ln/>
        </p:spPr>
        <p:txBody>
          <a:bodyPr wrap="square" lIns="0" tIns="0" rIns="0" bIns="0" rtlCol="0" anchor="t"/>
          <a:lstStyle/>
          <a:p>
            <a:pPr indent="0" marL="0">
              <a:buNone/>
            </a:pPr>
            <a:r>
              <a:rPr lang="en-US" sz="3200" b="1" dirty="0">
                <a:solidFill>
                  <a:schemeClr val="accent1"/>
                </a:solidFill>
                <a:latin typeface="Cambria" pitchFamily="34" charset="0"/>
                <a:ea typeface="Cambria" pitchFamily="34" charset="-122"/>
                <a:cs typeface="Cambria" pitchFamily="34" charset="-120"/>
              </a:rPr>
              <a:t>2</a:t>
            </a:r>
            <a:endParaRPr lang="en-US" sz="3200" dirty="0"/>
          </a:p>
        </p:txBody>
      </p:sp>
      <p:sp>
        <p:nvSpPr>
          <p:cNvPr id="8" name="Text 5"/>
          <p:cNvSpPr txBox="1"/>
          <p:nvPr/>
        </p:nvSpPr>
        <p:spPr>
          <a:xfrm>
            <a:off x="1097280" y="1965960"/>
            <a:ext cx="5120640" cy="457200"/>
          </a:xfrm>
          <a:prstGeom prst="rect">
            <a:avLst/>
          </a:prstGeom>
          <a:noFill/>
          <a:ln/>
        </p:spPr>
        <p:txBody>
          <a:bodyPr wrap="square" lIns="0" tIns="0" rIns="0" bIns="0" rtlCol="0" anchor="ctr"/>
          <a:lstStyle/>
          <a:p>
            <a:pPr indent="0" marL="0">
              <a:buNone/>
            </a:pPr>
            <a:r>
              <a:rPr lang="en-US" sz="1800" dirty="0">
                <a:solidFill>
                  <a:schemeClr val="tx1"/>
                </a:solidFill>
                <a:latin typeface="Cambria" pitchFamily="34" charset="0"/>
                <a:ea typeface="Cambria" pitchFamily="34" charset="-122"/>
                <a:cs typeface="Cambria" pitchFamily="34" charset="-120"/>
              </a:rPr>
              <a:t>What does approximate mean, and how do we measure it?</a:t>
            </a:r>
            <a:endParaRPr lang="en-US" sz="1800" dirty="0"/>
          </a:p>
        </p:txBody>
      </p:sp>
      <p:sp>
        <p:nvSpPr>
          <p:cNvPr id="9" name="Shape 6"/>
          <p:cNvSpPr/>
          <p:nvPr/>
        </p:nvSpPr>
        <p:spPr>
          <a:xfrm>
            <a:off x="1097280" y="2496312"/>
            <a:ext cx="5120640" cy="0"/>
          </a:xfrm>
          <a:prstGeom prst="line">
            <a:avLst/>
          </a:prstGeom>
          <a:noFill/>
          <a:ln w="6350">
            <a:solidFill>
              <a:schemeClr val="accent6"/>
            </a:solidFill>
            <a:prstDash val="solid"/>
          </a:ln>
        </p:spPr>
      </p:sp>
      <p:sp>
        <p:nvSpPr>
          <p:cNvPr id="10" name="Text 7"/>
          <p:cNvSpPr txBox="1"/>
          <p:nvPr/>
        </p:nvSpPr>
        <p:spPr>
          <a:xfrm>
            <a:off x="457200" y="2532888"/>
            <a:ext cx="548640" cy="548640"/>
          </a:xfrm>
          <a:prstGeom prst="rect">
            <a:avLst/>
          </a:prstGeom>
          <a:noFill/>
          <a:ln/>
        </p:spPr>
        <p:txBody>
          <a:bodyPr wrap="square" lIns="0" tIns="0" rIns="0" bIns="0" rtlCol="0" anchor="t"/>
          <a:lstStyle/>
          <a:p>
            <a:pPr indent="0" marL="0">
              <a:buNone/>
            </a:pPr>
            <a:r>
              <a:rPr lang="en-US" sz="3200" b="1" dirty="0">
                <a:solidFill>
                  <a:schemeClr val="accent1"/>
                </a:solidFill>
                <a:latin typeface="Cambria" pitchFamily="34" charset="0"/>
                <a:ea typeface="Cambria" pitchFamily="34" charset="-122"/>
                <a:cs typeface="Cambria" pitchFamily="34" charset="-120"/>
              </a:rPr>
              <a:t>3</a:t>
            </a:r>
            <a:endParaRPr lang="en-US" sz="3200" dirty="0"/>
          </a:p>
        </p:txBody>
      </p:sp>
      <p:sp>
        <p:nvSpPr>
          <p:cNvPr id="11" name="Text 8"/>
          <p:cNvSpPr txBox="1"/>
          <p:nvPr/>
        </p:nvSpPr>
        <p:spPr>
          <a:xfrm>
            <a:off x="1097280" y="2606040"/>
            <a:ext cx="5120640" cy="457200"/>
          </a:xfrm>
          <a:prstGeom prst="rect">
            <a:avLst/>
          </a:prstGeom>
          <a:noFill/>
          <a:ln/>
        </p:spPr>
        <p:txBody>
          <a:bodyPr wrap="square" lIns="0" tIns="0" rIns="0" bIns="0" rtlCol="0" anchor="ctr"/>
          <a:lstStyle/>
          <a:p>
            <a:pPr indent="0" marL="0">
              <a:buNone/>
            </a:pPr>
            <a:r>
              <a:rPr lang="en-US" sz="1800" dirty="0">
                <a:solidFill>
                  <a:schemeClr val="tx1"/>
                </a:solidFill>
                <a:latin typeface="Cambria" pitchFamily="34" charset="0"/>
                <a:ea typeface="Cambria" pitchFamily="34" charset="-122"/>
                <a:cs typeface="Cambria" pitchFamily="34" charset="-120"/>
              </a:rPr>
              <a:t>How do LSH, IVF, PQ and HNSW prune the work?</a:t>
            </a:r>
            <a:endParaRPr lang="en-US" sz="1800" dirty="0"/>
          </a:p>
        </p:txBody>
      </p:sp>
      <p:sp>
        <p:nvSpPr>
          <p:cNvPr id="12" name="Shape 9"/>
          <p:cNvSpPr/>
          <p:nvPr/>
        </p:nvSpPr>
        <p:spPr>
          <a:xfrm>
            <a:off x="1097280" y="3136392"/>
            <a:ext cx="5120640" cy="0"/>
          </a:xfrm>
          <a:prstGeom prst="line">
            <a:avLst/>
          </a:prstGeom>
          <a:noFill/>
          <a:ln w="6350">
            <a:solidFill>
              <a:schemeClr val="accent6"/>
            </a:solidFill>
            <a:prstDash val="solid"/>
          </a:ln>
        </p:spPr>
      </p:sp>
      <p:sp>
        <p:nvSpPr>
          <p:cNvPr id="13" name="Text 10"/>
          <p:cNvSpPr txBox="1"/>
          <p:nvPr/>
        </p:nvSpPr>
        <p:spPr>
          <a:xfrm>
            <a:off x="457200" y="3172968"/>
            <a:ext cx="548640" cy="548640"/>
          </a:xfrm>
          <a:prstGeom prst="rect">
            <a:avLst/>
          </a:prstGeom>
          <a:noFill/>
          <a:ln/>
        </p:spPr>
        <p:txBody>
          <a:bodyPr wrap="square" lIns="0" tIns="0" rIns="0" bIns="0" rtlCol="0" anchor="t"/>
          <a:lstStyle/>
          <a:p>
            <a:pPr indent="0" marL="0">
              <a:buNone/>
            </a:pPr>
            <a:r>
              <a:rPr lang="en-US" sz="3200" b="1" dirty="0">
                <a:solidFill>
                  <a:schemeClr val="accent1"/>
                </a:solidFill>
                <a:latin typeface="Cambria" pitchFamily="34" charset="0"/>
                <a:ea typeface="Cambria" pitchFamily="34" charset="-122"/>
                <a:cs typeface="Cambria" pitchFamily="34" charset="-120"/>
              </a:rPr>
              <a:t>4</a:t>
            </a:r>
            <a:endParaRPr lang="en-US" sz="3200" dirty="0"/>
          </a:p>
        </p:txBody>
      </p:sp>
      <p:sp>
        <p:nvSpPr>
          <p:cNvPr id="14" name="Text 11"/>
          <p:cNvSpPr txBox="1"/>
          <p:nvPr/>
        </p:nvSpPr>
        <p:spPr>
          <a:xfrm>
            <a:off x="1097280" y="3246120"/>
            <a:ext cx="5120640" cy="457200"/>
          </a:xfrm>
          <a:prstGeom prst="rect">
            <a:avLst/>
          </a:prstGeom>
          <a:noFill/>
          <a:ln/>
        </p:spPr>
        <p:txBody>
          <a:bodyPr wrap="square" lIns="0" tIns="0" rIns="0" bIns="0" rtlCol="0" anchor="ctr"/>
          <a:lstStyle/>
          <a:p>
            <a:pPr indent="0" marL="0">
              <a:buNone/>
            </a:pPr>
            <a:r>
              <a:rPr lang="en-US" sz="1800" dirty="0">
                <a:solidFill>
                  <a:schemeClr val="tx1"/>
                </a:solidFill>
                <a:latin typeface="Cambria" pitchFamily="34" charset="0"/>
                <a:ea typeface="Cambria" pitchFamily="34" charset="-122"/>
                <a:cs typeface="Cambria" pitchFamily="34" charset="-120"/>
              </a:rPr>
              <a:t>Which index fits which workload?</a:t>
            </a:r>
            <a:endParaRPr lang="en-US" sz="1800" dirty="0"/>
          </a:p>
        </p:txBody>
      </p:sp>
      <p:sp>
        <p:nvSpPr>
          <p:cNvPr id="15" name="Shape 12"/>
          <p:cNvSpPr/>
          <p:nvPr/>
        </p:nvSpPr>
        <p:spPr>
          <a:xfrm>
            <a:off x="1097280" y="3776472"/>
            <a:ext cx="5120640" cy="0"/>
          </a:xfrm>
          <a:prstGeom prst="line">
            <a:avLst/>
          </a:prstGeom>
          <a:noFill/>
          <a:ln w="6350">
            <a:solidFill>
              <a:schemeClr val="accent6"/>
            </a:solidFill>
            <a:prstDash val="solid"/>
          </a:ln>
        </p:spPr>
      </p:sp>
      <p:sp>
        <p:nvSpPr>
          <p:cNvPr id="16" name="Text 13"/>
          <p:cNvSpPr txBox="1"/>
          <p:nvPr/>
        </p:nvSpPr>
        <p:spPr>
          <a:xfrm>
            <a:off x="457200" y="3813048"/>
            <a:ext cx="548640" cy="548640"/>
          </a:xfrm>
          <a:prstGeom prst="rect">
            <a:avLst/>
          </a:prstGeom>
          <a:noFill/>
          <a:ln/>
        </p:spPr>
        <p:txBody>
          <a:bodyPr wrap="square" lIns="0" tIns="0" rIns="0" bIns="0" rtlCol="0" anchor="t"/>
          <a:lstStyle/>
          <a:p>
            <a:pPr indent="0" marL="0">
              <a:buNone/>
            </a:pPr>
            <a:r>
              <a:rPr lang="en-US" sz="3200" b="1" dirty="0">
                <a:solidFill>
                  <a:schemeClr val="accent1"/>
                </a:solidFill>
                <a:latin typeface="Cambria" pitchFamily="34" charset="0"/>
                <a:ea typeface="Cambria" pitchFamily="34" charset="-122"/>
                <a:cs typeface="Cambria" pitchFamily="34" charset="-120"/>
              </a:rPr>
              <a:t>5</a:t>
            </a:r>
            <a:endParaRPr lang="en-US" sz="3200" dirty="0"/>
          </a:p>
        </p:txBody>
      </p:sp>
      <p:sp>
        <p:nvSpPr>
          <p:cNvPr id="17" name="Text 14"/>
          <p:cNvSpPr txBox="1"/>
          <p:nvPr/>
        </p:nvSpPr>
        <p:spPr>
          <a:xfrm>
            <a:off x="1097280" y="3886200"/>
            <a:ext cx="5120640" cy="457200"/>
          </a:xfrm>
          <a:prstGeom prst="rect">
            <a:avLst/>
          </a:prstGeom>
          <a:noFill/>
          <a:ln/>
        </p:spPr>
        <p:txBody>
          <a:bodyPr wrap="square" lIns="0" tIns="0" rIns="0" bIns="0" rtlCol="0" anchor="ctr"/>
          <a:lstStyle/>
          <a:p>
            <a:pPr indent="0" marL="0">
              <a:buNone/>
            </a:pPr>
            <a:r>
              <a:rPr lang="en-US" sz="1800" dirty="0">
                <a:solidFill>
                  <a:schemeClr val="tx1"/>
                </a:solidFill>
                <a:latin typeface="Cambria" pitchFamily="34" charset="0"/>
                <a:ea typeface="Cambria" pitchFamily="34" charset="-122"/>
                <a:cs typeface="Cambria" pitchFamily="34" charset="-120"/>
              </a:rPr>
              <a:t>What do real databases add on top of an index?</a:t>
            </a:r>
            <a:endParaRPr lang="en-US" sz="1800" dirty="0"/>
          </a:p>
        </p:txBody>
      </p:sp>
      <p:sp>
        <p:nvSpPr>
          <p:cNvPr id="18" name="Text 15"/>
          <p:cNvSpPr txBox="1"/>
          <p:nvPr/>
        </p:nvSpPr>
        <p:spPr>
          <a:xfrm>
            <a:off x="6675120" y="1325880"/>
            <a:ext cx="2011680" cy="274320"/>
          </a:xfrm>
          <a:prstGeom prst="rect">
            <a:avLst/>
          </a:prstGeom>
          <a:noFill/>
          <a:ln/>
        </p:spPr>
        <p:txBody>
          <a:bodyPr wrap="square" lIns="0" tIns="0" rIns="0" bIns="0" rtlCol="0" anchor="t"/>
          <a:lstStyle/>
          <a:p>
            <a:pPr indent="0" marL="0">
              <a:buNone/>
            </a:pPr>
            <a:r>
              <a:rPr lang="en-US" sz="1200" b="1" spc="200" kern="0" dirty="0">
                <a:solidFill>
                  <a:schemeClr val="accent5"/>
                </a:solidFill>
              </a:rPr>
              <a:t>Prerequisites</a:t>
            </a:r>
            <a:endParaRPr lang="en-US" sz="1200" dirty="0"/>
          </a:p>
        </p:txBody>
      </p:sp>
      <p:sp>
        <p:nvSpPr>
          <p:cNvPr id="19" name="Text 16"/>
          <p:cNvSpPr txBox="1"/>
          <p:nvPr/>
        </p:nvSpPr>
        <p:spPr>
          <a:xfrm>
            <a:off x="6675120" y="1645920"/>
            <a:ext cx="2011680" cy="822960"/>
          </a:xfrm>
          <a:prstGeom prst="rect">
            <a:avLst/>
          </a:prstGeom>
          <a:noFill/>
          <a:ln/>
        </p:spPr>
        <p:txBody>
          <a:bodyPr wrap="square" lIns="0" tIns="0" rIns="0" bIns="0" rtlCol="0" anchor="t"/>
          <a:lstStyle/>
          <a:p>
            <a:pPr indent="0" marL="0">
              <a:buNone/>
            </a:pPr>
            <a:r>
              <a:rPr lang="en-US" sz="1400" dirty="0">
                <a:solidFill>
                  <a:schemeClr val="tx1"/>
                </a:solidFill>
              </a:rPr>
              <a:t>Lectures 1 to 3, NumPy.</a:t>
            </a:r>
            <a:endParaRPr lang="en-US" sz="1400" dirty="0"/>
          </a:p>
        </p:txBody>
      </p:sp>
      <p:sp>
        <p:nvSpPr>
          <p:cNvPr id="20" name="Text 17"/>
          <p:cNvSpPr txBox="1"/>
          <p:nvPr/>
        </p:nvSpPr>
        <p:spPr>
          <a:xfrm>
            <a:off x="6675120" y="2651760"/>
            <a:ext cx="2011680" cy="274320"/>
          </a:xfrm>
          <a:prstGeom prst="rect">
            <a:avLst/>
          </a:prstGeom>
          <a:noFill/>
          <a:ln/>
        </p:spPr>
        <p:txBody>
          <a:bodyPr wrap="square" lIns="0" tIns="0" rIns="0" bIns="0" rtlCol="0" anchor="t"/>
          <a:lstStyle/>
          <a:p>
            <a:pPr indent="0" marL="0">
              <a:buNone/>
            </a:pPr>
            <a:r>
              <a:rPr lang="en-US" sz="1200" b="1" spc="200" kern="0" dirty="0">
                <a:solidFill>
                  <a:schemeClr val="accent5"/>
                </a:solidFill>
              </a:rPr>
              <a:t>Lab 4</a:t>
            </a:r>
            <a:endParaRPr lang="en-US" sz="1200" dirty="0"/>
          </a:p>
        </p:txBody>
      </p:sp>
      <p:sp>
        <p:nvSpPr>
          <p:cNvPr id="21" name="Text 18"/>
          <p:cNvSpPr txBox="1"/>
          <p:nvPr/>
        </p:nvSpPr>
        <p:spPr>
          <a:xfrm>
            <a:off x="6675120" y="2971800"/>
            <a:ext cx="2011680" cy="1371600"/>
          </a:xfrm>
          <a:prstGeom prst="rect">
            <a:avLst/>
          </a:prstGeom>
          <a:noFill/>
          <a:ln/>
        </p:spPr>
        <p:txBody>
          <a:bodyPr wrap="square" lIns="0" tIns="0" rIns="0" bIns="0" rtlCol="0" anchor="t"/>
          <a:lstStyle/>
          <a:p>
            <a:pPr indent="0" marL="0">
              <a:buNone/>
            </a:pPr>
            <a:r>
              <a:rPr lang="en-US" sz="1400" dirty="0">
                <a:solidFill>
                  <a:schemeClr val="tx1"/>
                </a:solidFill>
              </a:rPr>
              <a:t>Benchmark Flat, HNSW, IVF-Flat and IVF-PQ in FAISS and plot recall against speed.</a:t>
            </a:r>
            <a:endParaRPr lang="en-US" sz="14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Exact search scans everything</a:t>
            </a:r>
            <a:endParaRPr lang="en-US" sz="3000" dirty="0"/>
          </a:p>
        </p:txBody>
      </p:sp>
      <p:sp>
        <p:nvSpPr>
          <p:cNvPr id="4" name="Shape 1"/>
          <p:cNvSpPr/>
          <p:nvPr/>
        </p:nvSpPr>
        <p:spPr>
          <a:xfrm>
            <a:off x="457200" y="1280160"/>
            <a:ext cx="4206240" cy="3017520"/>
          </a:xfrm>
          <a:prstGeom prst="rect">
            <a:avLst/>
          </a:prstGeom>
          <a:solidFill>
            <a:schemeClr val="bg1"/>
          </a:solidFill>
          <a:ln w="12700">
            <a:solidFill>
              <a:schemeClr val="accent6"/>
            </a:solidFill>
            <a:prstDash val="solid"/>
          </a:ln>
        </p:spPr>
      </p:sp>
      <p:sp>
        <p:nvSpPr>
          <p:cNvPr id="5" name="Shape 2"/>
          <p:cNvSpPr/>
          <p:nvPr/>
        </p:nvSpPr>
        <p:spPr>
          <a:xfrm>
            <a:off x="896112" y="1719072"/>
            <a:ext cx="1664208" cy="1207008"/>
          </a:xfrm>
          <a:prstGeom prst="line">
            <a:avLst/>
          </a:prstGeom>
          <a:noFill/>
          <a:ln w="9525">
            <a:solidFill>
              <a:srgbClr val="6B7280">
                <a:alpha val="45000"/>
              </a:srgbClr>
            </a:solidFill>
            <a:prstDash val="solid"/>
          </a:ln>
        </p:spPr>
      </p:sp>
      <p:sp>
        <p:nvSpPr>
          <p:cNvPr id="6" name="Shape 3"/>
          <p:cNvSpPr/>
          <p:nvPr/>
        </p:nvSpPr>
        <p:spPr>
          <a:xfrm>
            <a:off x="1536192" y="2450592"/>
            <a:ext cx="1024128" cy="475488"/>
          </a:xfrm>
          <a:prstGeom prst="line">
            <a:avLst/>
          </a:prstGeom>
          <a:noFill/>
          <a:ln w="9525">
            <a:solidFill>
              <a:srgbClr val="6B7280">
                <a:alpha val="45000"/>
              </a:srgbClr>
            </a:solidFill>
            <a:prstDash val="solid"/>
          </a:ln>
        </p:spPr>
      </p:sp>
      <p:sp>
        <p:nvSpPr>
          <p:cNvPr id="7" name="Shape 4"/>
          <p:cNvSpPr/>
          <p:nvPr/>
        </p:nvSpPr>
        <p:spPr>
          <a:xfrm flipV="1">
            <a:off x="1170432" y="2926080"/>
            <a:ext cx="1389888" cy="530352"/>
          </a:xfrm>
          <a:prstGeom prst="line">
            <a:avLst/>
          </a:prstGeom>
          <a:noFill/>
          <a:ln w="9525">
            <a:solidFill>
              <a:srgbClr val="6B7280">
                <a:alpha val="45000"/>
              </a:srgbClr>
            </a:solidFill>
            <a:prstDash val="solid"/>
          </a:ln>
        </p:spPr>
      </p:sp>
      <p:sp>
        <p:nvSpPr>
          <p:cNvPr id="8" name="Shape 5"/>
          <p:cNvSpPr/>
          <p:nvPr/>
        </p:nvSpPr>
        <p:spPr>
          <a:xfrm flipV="1">
            <a:off x="804672" y="2926080"/>
            <a:ext cx="1755648" cy="987552"/>
          </a:xfrm>
          <a:prstGeom prst="line">
            <a:avLst/>
          </a:prstGeom>
          <a:noFill/>
          <a:ln w="9525">
            <a:solidFill>
              <a:srgbClr val="6B7280">
                <a:alpha val="45000"/>
              </a:srgbClr>
            </a:solidFill>
            <a:prstDash val="solid"/>
          </a:ln>
        </p:spPr>
      </p:sp>
      <p:sp>
        <p:nvSpPr>
          <p:cNvPr id="9" name="Shape 6"/>
          <p:cNvSpPr/>
          <p:nvPr/>
        </p:nvSpPr>
        <p:spPr>
          <a:xfrm>
            <a:off x="1901952" y="1627632"/>
            <a:ext cx="658368" cy="1298448"/>
          </a:xfrm>
          <a:prstGeom prst="line">
            <a:avLst/>
          </a:prstGeom>
          <a:noFill/>
          <a:ln w="9525">
            <a:solidFill>
              <a:srgbClr val="6B7280">
                <a:alpha val="45000"/>
              </a:srgbClr>
            </a:solidFill>
            <a:prstDash val="solid"/>
          </a:ln>
        </p:spPr>
      </p:sp>
      <p:sp>
        <p:nvSpPr>
          <p:cNvPr id="10" name="Shape 7"/>
          <p:cNvSpPr/>
          <p:nvPr/>
        </p:nvSpPr>
        <p:spPr>
          <a:xfrm flipV="1">
            <a:off x="2084832" y="2926080"/>
            <a:ext cx="475488" cy="987552"/>
          </a:xfrm>
          <a:prstGeom prst="line">
            <a:avLst/>
          </a:prstGeom>
          <a:noFill/>
          <a:ln w="9525">
            <a:solidFill>
              <a:srgbClr val="6B7280">
                <a:alpha val="45000"/>
              </a:srgbClr>
            </a:solidFill>
            <a:prstDash val="solid"/>
          </a:ln>
        </p:spPr>
      </p:sp>
      <p:sp>
        <p:nvSpPr>
          <p:cNvPr id="11" name="Shape 8"/>
          <p:cNvSpPr/>
          <p:nvPr/>
        </p:nvSpPr>
        <p:spPr>
          <a:xfrm flipV="1">
            <a:off x="2560320" y="1810512"/>
            <a:ext cx="347472" cy="1115568"/>
          </a:xfrm>
          <a:prstGeom prst="line">
            <a:avLst/>
          </a:prstGeom>
          <a:noFill/>
          <a:ln w="9525">
            <a:solidFill>
              <a:srgbClr val="6B7280">
                <a:alpha val="45000"/>
              </a:srgbClr>
            </a:solidFill>
            <a:prstDash val="solid"/>
          </a:ln>
        </p:spPr>
      </p:sp>
      <p:sp>
        <p:nvSpPr>
          <p:cNvPr id="12" name="Shape 9"/>
          <p:cNvSpPr/>
          <p:nvPr/>
        </p:nvSpPr>
        <p:spPr>
          <a:xfrm flipV="1">
            <a:off x="2560320" y="2542032"/>
            <a:ext cx="804672" cy="384048"/>
          </a:xfrm>
          <a:prstGeom prst="line">
            <a:avLst/>
          </a:prstGeom>
          <a:noFill/>
          <a:ln w="9525">
            <a:solidFill>
              <a:srgbClr val="6B7280">
                <a:alpha val="45000"/>
              </a:srgbClr>
            </a:solidFill>
            <a:prstDash val="solid"/>
          </a:ln>
        </p:spPr>
      </p:sp>
      <p:sp>
        <p:nvSpPr>
          <p:cNvPr id="13" name="Shape 10"/>
          <p:cNvSpPr/>
          <p:nvPr/>
        </p:nvSpPr>
        <p:spPr>
          <a:xfrm flipV="1">
            <a:off x="2560320" y="1719072"/>
            <a:ext cx="1444752" cy="1207008"/>
          </a:xfrm>
          <a:prstGeom prst="line">
            <a:avLst/>
          </a:prstGeom>
          <a:noFill/>
          <a:ln w="9525">
            <a:solidFill>
              <a:srgbClr val="6B7280">
                <a:alpha val="45000"/>
              </a:srgbClr>
            </a:solidFill>
            <a:prstDash val="solid"/>
          </a:ln>
        </p:spPr>
      </p:sp>
      <p:sp>
        <p:nvSpPr>
          <p:cNvPr id="14" name="Shape 11"/>
          <p:cNvSpPr/>
          <p:nvPr/>
        </p:nvSpPr>
        <p:spPr>
          <a:xfrm flipV="1">
            <a:off x="2560320" y="2816352"/>
            <a:ext cx="1719072" cy="109728"/>
          </a:xfrm>
          <a:prstGeom prst="line">
            <a:avLst/>
          </a:prstGeom>
          <a:noFill/>
          <a:ln w="9525">
            <a:solidFill>
              <a:srgbClr val="6B7280">
                <a:alpha val="45000"/>
              </a:srgbClr>
            </a:solidFill>
            <a:prstDash val="solid"/>
          </a:ln>
        </p:spPr>
      </p:sp>
      <p:sp>
        <p:nvSpPr>
          <p:cNvPr id="15" name="Shape 12"/>
          <p:cNvSpPr/>
          <p:nvPr/>
        </p:nvSpPr>
        <p:spPr>
          <a:xfrm>
            <a:off x="2560320" y="2926080"/>
            <a:ext cx="1353312" cy="987552"/>
          </a:xfrm>
          <a:prstGeom prst="line">
            <a:avLst/>
          </a:prstGeom>
          <a:noFill/>
          <a:ln w="9525">
            <a:solidFill>
              <a:srgbClr val="6B7280">
                <a:alpha val="45000"/>
              </a:srgbClr>
            </a:solidFill>
            <a:prstDash val="solid"/>
          </a:ln>
        </p:spPr>
      </p:sp>
      <p:sp>
        <p:nvSpPr>
          <p:cNvPr id="16" name="Shape 13"/>
          <p:cNvSpPr/>
          <p:nvPr/>
        </p:nvSpPr>
        <p:spPr>
          <a:xfrm>
            <a:off x="2560320" y="2926080"/>
            <a:ext cx="621792" cy="1124712"/>
          </a:xfrm>
          <a:prstGeom prst="line">
            <a:avLst/>
          </a:prstGeom>
          <a:noFill/>
          <a:ln w="9525">
            <a:solidFill>
              <a:srgbClr val="6B7280">
                <a:alpha val="45000"/>
              </a:srgbClr>
            </a:solidFill>
            <a:prstDash val="solid"/>
          </a:ln>
        </p:spPr>
      </p:sp>
      <p:sp>
        <p:nvSpPr>
          <p:cNvPr id="17" name="Shape 14"/>
          <p:cNvSpPr/>
          <p:nvPr/>
        </p:nvSpPr>
        <p:spPr>
          <a:xfrm flipV="1">
            <a:off x="1719072" y="2926080"/>
            <a:ext cx="841248" cy="164592"/>
          </a:xfrm>
          <a:prstGeom prst="line">
            <a:avLst/>
          </a:prstGeom>
          <a:noFill/>
          <a:ln w="9525">
            <a:solidFill>
              <a:srgbClr val="6B7280">
                <a:alpha val="45000"/>
              </a:srgbClr>
            </a:solidFill>
            <a:prstDash val="solid"/>
          </a:ln>
        </p:spPr>
      </p:sp>
      <p:sp>
        <p:nvSpPr>
          <p:cNvPr id="18" name="Shape 15"/>
          <p:cNvSpPr/>
          <p:nvPr/>
        </p:nvSpPr>
        <p:spPr>
          <a:xfrm>
            <a:off x="2560320" y="2926080"/>
            <a:ext cx="896112" cy="530352"/>
          </a:xfrm>
          <a:prstGeom prst="line">
            <a:avLst/>
          </a:prstGeom>
          <a:noFill/>
          <a:ln w="9525">
            <a:solidFill>
              <a:srgbClr val="6B7280">
                <a:alpha val="45000"/>
              </a:srgbClr>
            </a:solidFill>
            <a:prstDash val="solid"/>
          </a:ln>
        </p:spPr>
      </p:sp>
      <p:sp>
        <p:nvSpPr>
          <p:cNvPr id="19" name="Shape 16"/>
          <p:cNvSpPr/>
          <p:nvPr/>
        </p:nvSpPr>
        <p:spPr>
          <a:xfrm>
            <a:off x="2450592" y="2267712"/>
            <a:ext cx="109728" cy="658368"/>
          </a:xfrm>
          <a:prstGeom prst="line">
            <a:avLst/>
          </a:prstGeom>
          <a:noFill/>
          <a:ln w="9525">
            <a:solidFill>
              <a:srgbClr val="6B7280">
                <a:alpha val="45000"/>
              </a:srgbClr>
            </a:solidFill>
            <a:prstDash val="solid"/>
          </a:ln>
        </p:spPr>
      </p:sp>
      <p:sp>
        <p:nvSpPr>
          <p:cNvPr id="20" name="Shape 17"/>
          <p:cNvSpPr/>
          <p:nvPr/>
        </p:nvSpPr>
        <p:spPr>
          <a:xfrm flipV="1">
            <a:off x="2560320" y="2084832"/>
            <a:ext cx="1810512" cy="841248"/>
          </a:xfrm>
          <a:prstGeom prst="line">
            <a:avLst/>
          </a:prstGeom>
          <a:noFill/>
          <a:ln w="9525">
            <a:solidFill>
              <a:srgbClr val="6B7280">
                <a:alpha val="45000"/>
              </a:srgbClr>
            </a:solidFill>
            <a:prstDash val="solid"/>
          </a:ln>
        </p:spPr>
      </p:sp>
      <p:sp>
        <p:nvSpPr>
          <p:cNvPr id="21" name="Shape 18"/>
          <p:cNvSpPr/>
          <p:nvPr/>
        </p:nvSpPr>
        <p:spPr>
          <a:xfrm>
            <a:off x="822960" y="1645920"/>
            <a:ext cx="146304" cy="146304"/>
          </a:xfrm>
          <a:prstGeom prst="ellipse">
            <a:avLst/>
          </a:prstGeom>
          <a:solidFill>
            <a:srgbClr val="2F5D8A"/>
          </a:solidFill>
          <a:ln w="12700">
            <a:solidFill>
              <a:srgbClr val="2F5D8A"/>
            </a:solidFill>
            <a:prstDash val="solid"/>
          </a:ln>
        </p:spPr>
      </p:sp>
      <p:sp>
        <p:nvSpPr>
          <p:cNvPr id="22" name="Shape 19"/>
          <p:cNvSpPr/>
          <p:nvPr/>
        </p:nvSpPr>
        <p:spPr>
          <a:xfrm>
            <a:off x="1463040" y="2377440"/>
            <a:ext cx="146304" cy="146304"/>
          </a:xfrm>
          <a:prstGeom prst="ellipse">
            <a:avLst/>
          </a:prstGeom>
          <a:solidFill>
            <a:srgbClr val="2F5D8A"/>
          </a:solidFill>
          <a:ln w="12700">
            <a:solidFill>
              <a:srgbClr val="2F5D8A"/>
            </a:solidFill>
            <a:prstDash val="solid"/>
          </a:ln>
        </p:spPr>
      </p:sp>
      <p:sp>
        <p:nvSpPr>
          <p:cNvPr id="23" name="Shape 20"/>
          <p:cNvSpPr/>
          <p:nvPr/>
        </p:nvSpPr>
        <p:spPr>
          <a:xfrm>
            <a:off x="1097280" y="3383280"/>
            <a:ext cx="146304" cy="146304"/>
          </a:xfrm>
          <a:prstGeom prst="ellipse">
            <a:avLst/>
          </a:prstGeom>
          <a:solidFill>
            <a:srgbClr val="2F5D8A"/>
          </a:solidFill>
          <a:ln w="12700">
            <a:solidFill>
              <a:srgbClr val="2F5D8A"/>
            </a:solidFill>
            <a:prstDash val="solid"/>
          </a:ln>
        </p:spPr>
      </p:sp>
      <p:sp>
        <p:nvSpPr>
          <p:cNvPr id="24" name="Shape 21"/>
          <p:cNvSpPr/>
          <p:nvPr/>
        </p:nvSpPr>
        <p:spPr>
          <a:xfrm>
            <a:off x="731520" y="3840480"/>
            <a:ext cx="146304" cy="146304"/>
          </a:xfrm>
          <a:prstGeom prst="ellipse">
            <a:avLst/>
          </a:prstGeom>
          <a:solidFill>
            <a:srgbClr val="2F5D8A"/>
          </a:solidFill>
          <a:ln w="12700">
            <a:solidFill>
              <a:srgbClr val="2F5D8A"/>
            </a:solidFill>
            <a:prstDash val="solid"/>
          </a:ln>
        </p:spPr>
      </p:sp>
      <p:sp>
        <p:nvSpPr>
          <p:cNvPr id="25" name="Shape 22"/>
          <p:cNvSpPr/>
          <p:nvPr/>
        </p:nvSpPr>
        <p:spPr>
          <a:xfrm>
            <a:off x="1828800" y="1554480"/>
            <a:ext cx="146304" cy="146304"/>
          </a:xfrm>
          <a:prstGeom prst="ellipse">
            <a:avLst/>
          </a:prstGeom>
          <a:solidFill>
            <a:srgbClr val="2F5D8A"/>
          </a:solidFill>
          <a:ln w="12700">
            <a:solidFill>
              <a:srgbClr val="2F5D8A"/>
            </a:solidFill>
            <a:prstDash val="solid"/>
          </a:ln>
        </p:spPr>
      </p:sp>
      <p:sp>
        <p:nvSpPr>
          <p:cNvPr id="26" name="Shape 23"/>
          <p:cNvSpPr/>
          <p:nvPr/>
        </p:nvSpPr>
        <p:spPr>
          <a:xfrm>
            <a:off x="2011680" y="3840480"/>
            <a:ext cx="146304" cy="146304"/>
          </a:xfrm>
          <a:prstGeom prst="ellipse">
            <a:avLst/>
          </a:prstGeom>
          <a:solidFill>
            <a:srgbClr val="2F5D8A"/>
          </a:solidFill>
          <a:ln w="12700">
            <a:solidFill>
              <a:srgbClr val="2F5D8A"/>
            </a:solidFill>
            <a:prstDash val="solid"/>
          </a:ln>
        </p:spPr>
      </p:sp>
      <p:sp>
        <p:nvSpPr>
          <p:cNvPr id="27" name="Shape 24"/>
          <p:cNvSpPr/>
          <p:nvPr/>
        </p:nvSpPr>
        <p:spPr>
          <a:xfrm>
            <a:off x="2834640" y="1737360"/>
            <a:ext cx="146304" cy="146304"/>
          </a:xfrm>
          <a:prstGeom prst="ellipse">
            <a:avLst/>
          </a:prstGeom>
          <a:solidFill>
            <a:srgbClr val="2F5D8A"/>
          </a:solidFill>
          <a:ln w="12700">
            <a:solidFill>
              <a:srgbClr val="2F5D8A"/>
            </a:solidFill>
            <a:prstDash val="solid"/>
          </a:ln>
        </p:spPr>
      </p:sp>
      <p:sp>
        <p:nvSpPr>
          <p:cNvPr id="28" name="Shape 25"/>
          <p:cNvSpPr/>
          <p:nvPr/>
        </p:nvSpPr>
        <p:spPr>
          <a:xfrm>
            <a:off x="3291840" y="2468880"/>
            <a:ext cx="146304" cy="146304"/>
          </a:xfrm>
          <a:prstGeom prst="ellipse">
            <a:avLst/>
          </a:prstGeom>
          <a:solidFill>
            <a:srgbClr val="2F5D8A"/>
          </a:solidFill>
          <a:ln w="12700">
            <a:solidFill>
              <a:srgbClr val="2F5D8A"/>
            </a:solidFill>
            <a:prstDash val="solid"/>
          </a:ln>
        </p:spPr>
      </p:sp>
      <p:sp>
        <p:nvSpPr>
          <p:cNvPr id="29" name="Shape 26"/>
          <p:cNvSpPr/>
          <p:nvPr/>
        </p:nvSpPr>
        <p:spPr>
          <a:xfrm>
            <a:off x="3931920" y="1645920"/>
            <a:ext cx="146304" cy="146304"/>
          </a:xfrm>
          <a:prstGeom prst="ellipse">
            <a:avLst/>
          </a:prstGeom>
          <a:solidFill>
            <a:srgbClr val="2F5D8A"/>
          </a:solidFill>
          <a:ln w="12700">
            <a:solidFill>
              <a:srgbClr val="2F5D8A"/>
            </a:solidFill>
            <a:prstDash val="solid"/>
          </a:ln>
        </p:spPr>
      </p:sp>
      <p:sp>
        <p:nvSpPr>
          <p:cNvPr id="30" name="Shape 27"/>
          <p:cNvSpPr/>
          <p:nvPr/>
        </p:nvSpPr>
        <p:spPr>
          <a:xfrm>
            <a:off x="4206240" y="2743200"/>
            <a:ext cx="146304" cy="146304"/>
          </a:xfrm>
          <a:prstGeom prst="ellipse">
            <a:avLst/>
          </a:prstGeom>
          <a:solidFill>
            <a:srgbClr val="2F5D8A"/>
          </a:solidFill>
          <a:ln w="12700">
            <a:solidFill>
              <a:srgbClr val="2F5D8A"/>
            </a:solidFill>
            <a:prstDash val="solid"/>
          </a:ln>
        </p:spPr>
      </p:sp>
      <p:sp>
        <p:nvSpPr>
          <p:cNvPr id="31" name="Shape 28"/>
          <p:cNvSpPr/>
          <p:nvPr/>
        </p:nvSpPr>
        <p:spPr>
          <a:xfrm>
            <a:off x="3840480" y="3840480"/>
            <a:ext cx="146304" cy="146304"/>
          </a:xfrm>
          <a:prstGeom prst="ellipse">
            <a:avLst/>
          </a:prstGeom>
          <a:solidFill>
            <a:srgbClr val="2F5D8A"/>
          </a:solidFill>
          <a:ln w="12700">
            <a:solidFill>
              <a:srgbClr val="2F5D8A"/>
            </a:solidFill>
            <a:prstDash val="solid"/>
          </a:ln>
        </p:spPr>
      </p:sp>
      <p:sp>
        <p:nvSpPr>
          <p:cNvPr id="32" name="Shape 29"/>
          <p:cNvSpPr/>
          <p:nvPr/>
        </p:nvSpPr>
        <p:spPr>
          <a:xfrm>
            <a:off x="3108960" y="3977640"/>
            <a:ext cx="146304" cy="146304"/>
          </a:xfrm>
          <a:prstGeom prst="ellipse">
            <a:avLst/>
          </a:prstGeom>
          <a:solidFill>
            <a:srgbClr val="2F5D8A"/>
          </a:solidFill>
          <a:ln w="12700">
            <a:solidFill>
              <a:srgbClr val="2F5D8A"/>
            </a:solidFill>
            <a:prstDash val="solid"/>
          </a:ln>
        </p:spPr>
      </p:sp>
      <p:sp>
        <p:nvSpPr>
          <p:cNvPr id="33" name="Shape 30"/>
          <p:cNvSpPr/>
          <p:nvPr/>
        </p:nvSpPr>
        <p:spPr>
          <a:xfrm>
            <a:off x="1645920" y="3017520"/>
            <a:ext cx="146304" cy="146304"/>
          </a:xfrm>
          <a:prstGeom prst="ellipse">
            <a:avLst/>
          </a:prstGeom>
          <a:solidFill>
            <a:srgbClr val="2F5D8A"/>
          </a:solidFill>
          <a:ln w="12700">
            <a:solidFill>
              <a:srgbClr val="2F5D8A"/>
            </a:solidFill>
            <a:prstDash val="solid"/>
          </a:ln>
        </p:spPr>
      </p:sp>
      <p:sp>
        <p:nvSpPr>
          <p:cNvPr id="34" name="Shape 31"/>
          <p:cNvSpPr/>
          <p:nvPr/>
        </p:nvSpPr>
        <p:spPr>
          <a:xfrm>
            <a:off x="3383280" y="3383280"/>
            <a:ext cx="146304" cy="146304"/>
          </a:xfrm>
          <a:prstGeom prst="ellipse">
            <a:avLst/>
          </a:prstGeom>
          <a:solidFill>
            <a:srgbClr val="2F5D8A"/>
          </a:solidFill>
          <a:ln w="12700">
            <a:solidFill>
              <a:srgbClr val="2F5D8A"/>
            </a:solidFill>
            <a:prstDash val="solid"/>
          </a:ln>
        </p:spPr>
      </p:sp>
      <p:sp>
        <p:nvSpPr>
          <p:cNvPr id="35" name="Shape 32"/>
          <p:cNvSpPr/>
          <p:nvPr/>
        </p:nvSpPr>
        <p:spPr>
          <a:xfrm>
            <a:off x="2377440" y="2194560"/>
            <a:ext cx="146304" cy="146304"/>
          </a:xfrm>
          <a:prstGeom prst="ellipse">
            <a:avLst/>
          </a:prstGeom>
          <a:solidFill>
            <a:srgbClr val="2F5D8A"/>
          </a:solidFill>
          <a:ln w="12700">
            <a:solidFill>
              <a:srgbClr val="2F5D8A"/>
            </a:solidFill>
            <a:prstDash val="solid"/>
          </a:ln>
        </p:spPr>
      </p:sp>
      <p:sp>
        <p:nvSpPr>
          <p:cNvPr id="36" name="Shape 33"/>
          <p:cNvSpPr/>
          <p:nvPr/>
        </p:nvSpPr>
        <p:spPr>
          <a:xfrm>
            <a:off x="4297680" y="2011680"/>
            <a:ext cx="146304" cy="146304"/>
          </a:xfrm>
          <a:prstGeom prst="ellipse">
            <a:avLst/>
          </a:prstGeom>
          <a:solidFill>
            <a:srgbClr val="2F5D8A"/>
          </a:solidFill>
          <a:ln w="12700">
            <a:solidFill>
              <a:srgbClr val="2F5D8A"/>
            </a:solidFill>
            <a:prstDash val="solid"/>
          </a:ln>
        </p:spPr>
      </p:sp>
      <p:sp>
        <p:nvSpPr>
          <p:cNvPr id="37" name="Shape 34"/>
          <p:cNvSpPr/>
          <p:nvPr/>
        </p:nvSpPr>
        <p:spPr>
          <a:xfrm>
            <a:off x="2386584" y="2752344"/>
            <a:ext cx="347472" cy="347472"/>
          </a:xfrm>
          <a:prstGeom prst="star5">
            <a:avLst/>
          </a:prstGeom>
          <a:solidFill>
            <a:srgbClr val="B5432A"/>
          </a:solidFill>
          <a:ln w="12700">
            <a:solidFill>
              <a:srgbClr val="B5432A"/>
            </a:solidFill>
            <a:prstDash val="solid"/>
          </a:ln>
        </p:spPr>
      </p:sp>
      <p:sp>
        <p:nvSpPr>
          <p:cNvPr id="38" name="Text 35"/>
          <p:cNvSpPr txBox="1"/>
          <p:nvPr/>
        </p:nvSpPr>
        <p:spPr>
          <a:xfrm>
            <a:off x="457200" y="4343400"/>
            <a:ext cx="4206240" cy="274320"/>
          </a:xfrm>
          <a:prstGeom prst="rect">
            <a:avLst/>
          </a:prstGeom>
          <a:noFill/>
          <a:ln/>
        </p:spPr>
        <p:txBody>
          <a:bodyPr wrap="square" lIns="0" tIns="0" rIns="0" bIns="0" rtlCol="0" anchor="t"/>
          <a:lstStyle/>
          <a:p>
            <a:pPr indent="0" marL="0">
              <a:buNone/>
            </a:pPr>
            <a:r>
              <a:rPr lang="en-US" sz="1100" i="1" dirty="0">
                <a:solidFill>
                  <a:schemeClr val="accent5"/>
                </a:solidFill>
                <a:latin typeface="Cambria" pitchFamily="34" charset="0"/>
                <a:ea typeface="Cambria" pitchFamily="34" charset="-122"/>
                <a:cs typeface="Cambria" pitchFamily="34" charset="-120"/>
              </a:rPr>
              <a:t>Figure 4.1  One query touches all N vectors</a:t>
            </a:r>
            <a:endParaRPr lang="en-US" sz="1100" dirty="0"/>
          </a:p>
        </p:txBody>
      </p:sp>
      <p:sp>
        <p:nvSpPr>
          <p:cNvPr id="39" name="Text 36"/>
          <p:cNvSpPr txBox="1"/>
          <p:nvPr/>
        </p:nvSpPr>
        <p:spPr>
          <a:xfrm>
            <a:off x="4937760" y="1280160"/>
            <a:ext cx="3749040" cy="36576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Exact but linear</a:t>
            </a:r>
            <a:endParaRPr lang="en-US" sz="2000" dirty="0"/>
          </a:p>
        </p:txBody>
      </p:sp>
      <p:sp>
        <p:nvSpPr>
          <p:cNvPr id="40" name="Text 37"/>
          <p:cNvSpPr txBox="1"/>
          <p:nvPr/>
        </p:nvSpPr>
        <p:spPr>
          <a:xfrm>
            <a:off x="4937760" y="1737360"/>
            <a:ext cx="3749040" cy="13716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Always correct: recall is 100%</a:t>
            </a:r>
            <a:endParaRPr lang="en-US" sz="1400" dirty="0"/>
          </a:p>
          <a:p>
            <a:pPr marL="342900" indent="-342900">
              <a:spcAft>
                <a:spcPts val="800"/>
              </a:spcAft>
              <a:buSzPct val="100000"/>
              <a:buChar char="•"/>
            </a:pPr>
            <a:r>
              <a:rPr lang="en-US" sz="1400" dirty="0">
                <a:solidFill>
                  <a:schemeClr val="tx1"/>
                </a:solidFill>
              </a:rPr>
              <a:t>Fine for thousands of vectors</a:t>
            </a:r>
            <a:endParaRPr lang="en-US" sz="1400" dirty="0"/>
          </a:p>
          <a:p>
            <a:pPr marL="342900" indent="-342900">
              <a:spcAft>
                <a:spcPts val="800"/>
              </a:spcAft>
              <a:buSzPct val="100000"/>
              <a:buChar char="•"/>
            </a:pPr>
            <a:r>
              <a:rPr lang="en-US" sz="1400" dirty="0">
                <a:solidFill>
                  <a:schemeClr val="tx1"/>
                </a:solidFill>
              </a:rPr>
              <a:t>Painful for millions, impossible for billions at low latency</a:t>
            </a:r>
            <a:endParaRPr lang="en-US" sz="1400" dirty="0"/>
          </a:p>
        </p:txBody>
      </p:sp>
      <p:sp>
        <p:nvSpPr>
          <p:cNvPr id="41" name="Shape 38"/>
          <p:cNvSpPr/>
          <p:nvPr/>
        </p:nvSpPr>
        <p:spPr>
          <a:xfrm>
            <a:off x="4937760" y="3291840"/>
            <a:ext cx="3749040" cy="1188720"/>
          </a:xfrm>
          <a:prstGeom prst="rect">
            <a:avLst/>
          </a:prstGeom>
          <a:solidFill>
            <a:srgbClr val="F3F4F6"/>
          </a:solidFill>
          <a:ln w="12700">
            <a:solidFill>
              <a:srgbClr val="F3F4F6"/>
            </a:solidFill>
            <a:prstDash val="solid"/>
          </a:ln>
        </p:spPr>
      </p:sp>
      <p:sp>
        <p:nvSpPr>
          <p:cNvPr id="42" name="Text 39"/>
          <p:cNvSpPr txBox="1"/>
          <p:nvPr/>
        </p:nvSpPr>
        <p:spPr>
          <a:xfrm>
            <a:off x="5120640" y="3383280"/>
            <a:ext cx="3383280" cy="365760"/>
          </a:xfrm>
          <a:prstGeom prst="rect">
            <a:avLst/>
          </a:prstGeom>
          <a:noFill/>
          <a:ln/>
        </p:spPr>
        <p:txBody>
          <a:bodyPr wrap="square" lIns="0" tIns="0" rIns="0" bIns="0" rtlCol="0" anchor="t"/>
          <a:lstStyle/>
          <a:p>
            <a:pPr indent="0" marL="0">
              <a:buNone/>
            </a:pPr>
            <a:r>
              <a:rPr lang="en-US" sz="2000" b="1" dirty="0">
                <a:solidFill>
                  <a:schemeClr val="accent1"/>
                </a:solidFill>
                <a:latin typeface="Cambria" pitchFamily="34" charset="0"/>
                <a:ea typeface="Cambria" pitchFamily="34" charset="-122"/>
                <a:cs typeface="Cambria" pitchFamily="34" charset="-120"/>
              </a:rPr>
              <a:t>cost per query  ~  N x d</a:t>
            </a:r>
            <a:endParaRPr lang="en-US" sz="2000" dirty="0"/>
          </a:p>
        </p:txBody>
      </p:sp>
      <p:sp>
        <p:nvSpPr>
          <p:cNvPr id="43" name="Text 40"/>
          <p:cNvSpPr txBox="1"/>
          <p:nvPr/>
        </p:nvSpPr>
        <p:spPr>
          <a:xfrm>
            <a:off x="5120640" y="3794760"/>
            <a:ext cx="3383280" cy="640080"/>
          </a:xfrm>
          <a:prstGeom prst="rect">
            <a:avLst/>
          </a:prstGeom>
          <a:noFill/>
          <a:ln/>
        </p:spPr>
        <p:txBody>
          <a:bodyPr wrap="square" lIns="0" tIns="0" rIns="0" bIns="0" rtlCol="0" anchor="t"/>
          <a:lstStyle/>
          <a:p>
            <a:pPr indent="0" marL="0">
              <a:buNone/>
            </a:pPr>
            <a:r>
              <a:rPr lang="en-US" sz="1400" dirty="0">
                <a:solidFill>
                  <a:schemeClr val="tx1"/>
                </a:solidFill>
              </a:rPr>
              <a:t>1,000,000 x 768 = 768 million multiply-adds, for one query.</a:t>
            </a:r>
            <a:endParaRPr lang="en-US" sz="14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The cost grows with every vector</a:t>
            </a:r>
            <a:endParaRPr lang="en-US" sz="3000" dirty="0"/>
          </a:p>
        </p:txBody>
      </p:sp>
      <p:graphicFrame>
        <p:nvGraphicFramePr>
          <p:cNvPr id="4" name="Chart 0" descr=""/>
          <p:cNvGraphicFramePr/>
          <p:nvPr/>
        </p:nvGraphicFramePr>
        <p:xfrm>
          <a:off x="457200" y="1280160"/>
          <a:ext cx="4937760" cy="3291840"/>
        </p:xfrm>
        <a:graphic xmlns:a="http://schemas.openxmlformats.org/drawingml/2006/main">
          <a:graphicData uri="http://schemas.openxmlformats.org/drawingml/2006/chart">
            <c:chart xmlns:c="http://schemas.openxmlformats.org/drawingml/2006/chart" r:id="rId1"/>
          </a:graphicData>
        </a:graphic>
      </p:graphicFrame>
      <p:sp>
        <p:nvSpPr>
          <p:cNvPr id="5" name="Text 1"/>
          <p:cNvSpPr txBox="1"/>
          <p:nvPr/>
        </p:nvSpPr>
        <p:spPr>
          <a:xfrm>
            <a:off x="5760720" y="1280160"/>
            <a:ext cx="2926080" cy="457200"/>
          </a:xfrm>
          <a:prstGeom prst="rect">
            <a:avLst/>
          </a:prstGeom>
          <a:noFill/>
          <a:ln/>
        </p:spPr>
        <p:txBody>
          <a:bodyPr wrap="square" lIns="0" tIns="0" rIns="0" bIns="0" rtlCol="0" anchor="t"/>
          <a:lstStyle/>
          <a:p>
            <a:pPr indent="0" marL="0">
              <a:buNone/>
            </a:pPr>
            <a:r>
              <a:rPr lang="en-US" sz="2800" b="1" dirty="0">
                <a:solidFill>
                  <a:schemeClr val="accent1"/>
                </a:solidFill>
                <a:latin typeface="Cambria" pitchFamily="34" charset="0"/>
                <a:ea typeface="Cambria" pitchFamily="34" charset="-122"/>
                <a:cs typeface="Cambria" pitchFamily="34" charset="-120"/>
              </a:rPr>
              <a:t>3.1 GB</a:t>
            </a:r>
            <a:endParaRPr lang="en-US" sz="2800" dirty="0"/>
          </a:p>
        </p:txBody>
      </p:sp>
      <p:sp>
        <p:nvSpPr>
          <p:cNvPr id="6" name="Text 2"/>
          <p:cNvSpPr txBox="1"/>
          <p:nvPr/>
        </p:nvSpPr>
        <p:spPr>
          <a:xfrm>
            <a:off x="5760720" y="1783080"/>
            <a:ext cx="2926080" cy="365760"/>
          </a:xfrm>
          <a:prstGeom prst="rect">
            <a:avLst/>
          </a:prstGeom>
          <a:noFill/>
          <a:ln/>
        </p:spPr>
        <p:txBody>
          <a:bodyPr wrap="square" lIns="0" tIns="0" rIns="0" bIns="0" rtlCol="0" anchor="t"/>
          <a:lstStyle/>
          <a:p>
            <a:pPr indent="0" marL="0">
              <a:buNone/>
            </a:pPr>
            <a:r>
              <a:rPr lang="en-US" sz="1300" dirty="0">
                <a:solidFill>
                  <a:schemeClr val="accent5"/>
                </a:solidFill>
              </a:rPr>
              <a:t>RAM for 1M vectors (768 float32)</a:t>
            </a:r>
            <a:endParaRPr lang="en-US" sz="1300" dirty="0"/>
          </a:p>
        </p:txBody>
      </p:sp>
      <p:sp>
        <p:nvSpPr>
          <p:cNvPr id="7" name="Shape 3"/>
          <p:cNvSpPr/>
          <p:nvPr/>
        </p:nvSpPr>
        <p:spPr>
          <a:xfrm>
            <a:off x="5760720" y="2240280"/>
            <a:ext cx="2926080" cy="0"/>
          </a:xfrm>
          <a:prstGeom prst="line">
            <a:avLst/>
          </a:prstGeom>
          <a:noFill/>
          <a:ln w="6350">
            <a:solidFill>
              <a:schemeClr val="accent6"/>
            </a:solidFill>
            <a:prstDash val="solid"/>
          </a:ln>
        </p:spPr>
      </p:sp>
      <p:sp>
        <p:nvSpPr>
          <p:cNvPr id="8" name="Text 4"/>
          <p:cNvSpPr txBox="1"/>
          <p:nvPr/>
        </p:nvSpPr>
        <p:spPr>
          <a:xfrm>
            <a:off x="5760720" y="2377440"/>
            <a:ext cx="2926080" cy="457200"/>
          </a:xfrm>
          <a:prstGeom prst="rect">
            <a:avLst/>
          </a:prstGeom>
          <a:noFill/>
          <a:ln/>
        </p:spPr>
        <p:txBody>
          <a:bodyPr wrap="square" lIns="0" tIns="0" rIns="0" bIns="0" rtlCol="0" anchor="t"/>
          <a:lstStyle/>
          <a:p>
            <a:pPr indent="0" marL="0">
              <a:buNone/>
            </a:pPr>
            <a:r>
              <a:rPr lang="en-US" sz="2800" b="1" dirty="0">
                <a:solidFill>
                  <a:schemeClr val="accent1"/>
                </a:solidFill>
                <a:latin typeface="Cambria" pitchFamily="34" charset="0"/>
                <a:ea typeface="Cambria" pitchFamily="34" charset="-122"/>
                <a:cs typeface="Cambria" pitchFamily="34" charset="-120"/>
              </a:rPr>
              <a:t>307 GB</a:t>
            </a:r>
            <a:endParaRPr lang="en-US" sz="2800" dirty="0"/>
          </a:p>
        </p:txBody>
      </p:sp>
      <p:sp>
        <p:nvSpPr>
          <p:cNvPr id="9" name="Text 5"/>
          <p:cNvSpPr txBox="1"/>
          <p:nvPr/>
        </p:nvSpPr>
        <p:spPr>
          <a:xfrm>
            <a:off x="5760720" y="2880360"/>
            <a:ext cx="2926080" cy="365760"/>
          </a:xfrm>
          <a:prstGeom prst="rect">
            <a:avLst/>
          </a:prstGeom>
          <a:noFill/>
          <a:ln/>
        </p:spPr>
        <p:txBody>
          <a:bodyPr wrap="square" lIns="0" tIns="0" rIns="0" bIns="0" rtlCol="0" anchor="t"/>
          <a:lstStyle/>
          <a:p>
            <a:pPr indent="0" marL="0">
              <a:buNone/>
            </a:pPr>
            <a:r>
              <a:rPr lang="en-US" sz="1300" dirty="0">
                <a:solidFill>
                  <a:schemeClr val="accent5"/>
                </a:solidFill>
              </a:rPr>
              <a:t>RAM for 100M vectors</a:t>
            </a:r>
            <a:endParaRPr lang="en-US" sz="1300" dirty="0"/>
          </a:p>
        </p:txBody>
      </p:sp>
      <p:sp>
        <p:nvSpPr>
          <p:cNvPr id="10" name="Shape 6"/>
          <p:cNvSpPr/>
          <p:nvPr/>
        </p:nvSpPr>
        <p:spPr>
          <a:xfrm>
            <a:off x="5760720" y="3337560"/>
            <a:ext cx="2926080" cy="0"/>
          </a:xfrm>
          <a:prstGeom prst="line">
            <a:avLst/>
          </a:prstGeom>
          <a:noFill/>
          <a:ln w="6350">
            <a:solidFill>
              <a:schemeClr val="accent6"/>
            </a:solidFill>
            <a:prstDash val="solid"/>
          </a:ln>
        </p:spPr>
      </p:sp>
      <p:sp>
        <p:nvSpPr>
          <p:cNvPr id="11" name="Text 7"/>
          <p:cNvSpPr txBox="1"/>
          <p:nvPr/>
        </p:nvSpPr>
        <p:spPr>
          <a:xfrm>
            <a:off x="5760720" y="3474720"/>
            <a:ext cx="2926080" cy="457200"/>
          </a:xfrm>
          <a:prstGeom prst="rect">
            <a:avLst/>
          </a:prstGeom>
          <a:noFill/>
          <a:ln/>
        </p:spPr>
        <p:txBody>
          <a:bodyPr wrap="square" lIns="0" tIns="0" rIns="0" bIns="0" rtlCol="0" anchor="t"/>
          <a:lstStyle/>
          <a:p>
            <a:pPr indent="0" marL="0">
              <a:buNone/>
            </a:pPr>
            <a:r>
              <a:rPr lang="en-US" sz="2800" b="1" dirty="0">
                <a:solidFill>
                  <a:schemeClr val="accent1"/>
                </a:solidFill>
                <a:latin typeface="Cambria" pitchFamily="34" charset="0"/>
                <a:ea typeface="Cambria" pitchFamily="34" charset="-122"/>
                <a:cs typeface="Cambria" pitchFamily="34" charset="-120"/>
              </a:rPr>
              <a:t>Goal</a:t>
            </a:r>
            <a:endParaRPr lang="en-US" sz="2800" dirty="0"/>
          </a:p>
        </p:txBody>
      </p:sp>
      <p:sp>
        <p:nvSpPr>
          <p:cNvPr id="12" name="Text 8"/>
          <p:cNvSpPr txBox="1"/>
          <p:nvPr/>
        </p:nvSpPr>
        <p:spPr>
          <a:xfrm>
            <a:off x="5760720" y="3977640"/>
            <a:ext cx="2926080" cy="365760"/>
          </a:xfrm>
          <a:prstGeom prst="rect">
            <a:avLst/>
          </a:prstGeom>
          <a:noFill/>
          <a:ln/>
        </p:spPr>
        <p:txBody>
          <a:bodyPr wrap="square" lIns="0" tIns="0" rIns="0" bIns="0" rtlCol="0" anchor="t"/>
          <a:lstStyle/>
          <a:p>
            <a:pPr indent="0" marL="0">
              <a:buNone/>
            </a:pPr>
            <a:r>
              <a:rPr lang="en-US" sz="1300" dirty="0">
                <a:solidFill>
                  <a:schemeClr val="accent5"/>
                </a:solidFill>
              </a:rPr>
              <a:t>10x to 100x faster at 90 to 99% recall</a:t>
            </a:r>
            <a:endParaRPr lang="en-US" sz="1300" dirty="0"/>
          </a:p>
        </p:txBody>
      </p:sp>
      <p:sp>
        <p:nvSpPr>
          <p:cNvPr id="13" name="Shape 9"/>
          <p:cNvSpPr/>
          <p:nvPr/>
        </p:nvSpPr>
        <p:spPr>
          <a:xfrm>
            <a:off x="5760720" y="4434840"/>
            <a:ext cx="2926080" cy="0"/>
          </a:xfrm>
          <a:prstGeom prst="line">
            <a:avLst/>
          </a:prstGeom>
          <a:noFill/>
          <a:ln w="6350">
            <a:solidFill>
              <a:schemeClr val="accent6"/>
            </a:solidFill>
            <a:prstDash val="solid"/>
          </a:ln>
        </p:spPr>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Approximate means measurable</a:t>
            </a:r>
            <a:endParaRPr lang="en-US" sz="3000" dirty="0"/>
          </a:p>
        </p:txBody>
      </p:sp>
      <p:sp>
        <p:nvSpPr>
          <p:cNvPr id="4" name="Text 1"/>
          <p:cNvSpPr txBox="1"/>
          <p:nvPr/>
        </p:nvSpPr>
        <p:spPr>
          <a:xfrm>
            <a:off x="457200" y="1371600"/>
            <a:ext cx="1280160" cy="594360"/>
          </a:xfrm>
          <a:prstGeom prst="rect">
            <a:avLst/>
          </a:prstGeom>
          <a:noFill/>
          <a:ln/>
        </p:spPr>
        <p:txBody>
          <a:bodyPr wrap="square" lIns="0" tIns="0" rIns="0" bIns="0" rtlCol="0" anchor="ctr"/>
          <a:lstStyle/>
          <a:p>
            <a:pPr indent="0" marL="0">
              <a:buNone/>
            </a:pPr>
            <a:r>
              <a:rPr lang="en-US" sz="1400" b="1" dirty="0">
                <a:solidFill>
                  <a:schemeClr val="tx1"/>
                </a:solidFill>
                <a:latin typeface="Cambria" pitchFamily="34" charset="0"/>
                <a:ea typeface="Cambria" pitchFamily="34" charset="-122"/>
                <a:cs typeface="Cambria" pitchFamily="34" charset="-120"/>
              </a:rPr>
              <a:t>Exact (Flat)</a:t>
            </a:r>
            <a:endParaRPr lang="en-US" sz="1400" dirty="0"/>
          </a:p>
        </p:txBody>
      </p:sp>
      <p:sp>
        <p:nvSpPr>
          <p:cNvPr id="5" name="Shape 2"/>
          <p:cNvSpPr/>
          <p:nvPr/>
        </p:nvSpPr>
        <p:spPr>
          <a:xfrm>
            <a:off x="1783080" y="1371600"/>
            <a:ext cx="621792" cy="594360"/>
          </a:xfrm>
          <a:prstGeom prst="rect">
            <a:avLst/>
          </a:prstGeom>
          <a:solidFill>
            <a:schemeClr val="bg1"/>
          </a:solidFill>
          <a:ln w="12700">
            <a:solidFill>
              <a:srgbClr val="1B2A41"/>
            </a:solidFill>
            <a:prstDash val="solid"/>
          </a:ln>
        </p:spPr>
      </p:sp>
      <p:sp>
        <p:nvSpPr>
          <p:cNvPr id="6" name="Text 3"/>
          <p:cNvSpPr txBox="1"/>
          <p:nvPr/>
        </p:nvSpPr>
        <p:spPr>
          <a:xfrm>
            <a:off x="1783080" y="1371600"/>
            <a:ext cx="621792" cy="594360"/>
          </a:xfrm>
          <a:prstGeom prst="rect">
            <a:avLst/>
          </a:prstGeom>
          <a:noFill/>
          <a:ln/>
        </p:spPr>
        <p:txBody>
          <a:bodyPr wrap="square" lIns="0" tIns="0" rIns="0" bIns="0" rtlCol="0" anchor="ctr"/>
          <a:lstStyle/>
          <a:p>
            <a:pPr algn="ctr" indent="0" marL="0">
              <a:buNone/>
            </a:pPr>
            <a:r>
              <a:rPr lang="en-US" sz="1800" b="1" dirty="0">
                <a:solidFill>
                  <a:schemeClr val="tx1"/>
                </a:solidFill>
              </a:rPr>
              <a:t>A</a:t>
            </a:r>
            <a:endParaRPr lang="en-US" sz="1800" dirty="0"/>
          </a:p>
        </p:txBody>
      </p:sp>
      <p:sp>
        <p:nvSpPr>
          <p:cNvPr id="7" name="Shape 4"/>
          <p:cNvSpPr/>
          <p:nvPr/>
        </p:nvSpPr>
        <p:spPr>
          <a:xfrm>
            <a:off x="2496312" y="1371600"/>
            <a:ext cx="621792" cy="594360"/>
          </a:xfrm>
          <a:prstGeom prst="rect">
            <a:avLst/>
          </a:prstGeom>
          <a:solidFill>
            <a:schemeClr val="bg1"/>
          </a:solidFill>
          <a:ln w="12700">
            <a:solidFill>
              <a:srgbClr val="1B2A41"/>
            </a:solidFill>
            <a:prstDash val="solid"/>
          </a:ln>
        </p:spPr>
      </p:sp>
      <p:sp>
        <p:nvSpPr>
          <p:cNvPr id="8" name="Text 5"/>
          <p:cNvSpPr txBox="1"/>
          <p:nvPr/>
        </p:nvSpPr>
        <p:spPr>
          <a:xfrm>
            <a:off x="2496312" y="1371600"/>
            <a:ext cx="621792" cy="594360"/>
          </a:xfrm>
          <a:prstGeom prst="rect">
            <a:avLst/>
          </a:prstGeom>
          <a:noFill/>
          <a:ln/>
        </p:spPr>
        <p:txBody>
          <a:bodyPr wrap="square" lIns="0" tIns="0" rIns="0" bIns="0" rtlCol="0" anchor="ctr"/>
          <a:lstStyle/>
          <a:p>
            <a:pPr algn="ctr" indent="0" marL="0">
              <a:buNone/>
            </a:pPr>
            <a:r>
              <a:rPr lang="en-US" sz="1800" b="1" dirty="0">
                <a:solidFill>
                  <a:schemeClr val="tx1"/>
                </a:solidFill>
              </a:rPr>
              <a:t>B</a:t>
            </a:r>
            <a:endParaRPr lang="en-US" sz="1800" dirty="0"/>
          </a:p>
        </p:txBody>
      </p:sp>
      <p:sp>
        <p:nvSpPr>
          <p:cNvPr id="9" name="Shape 6"/>
          <p:cNvSpPr/>
          <p:nvPr/>
        </p:nvSpPr>
        <p:spPr>
          <a:xfrm>
            <a:off x="3209544" y="1371600"/>
            <a:ext cx="621792" cy="594360"/>
          </a:xfrm>
          <a:prstGeom prst="rect">
            <a:avLst/>
          </a:prstGeom>
          <a:solidFill>
            <a:schemeClr val="bg1"/>
          </a:solidFill>
          <a:ln w="12700">
            <a:solidFill>
              <a:srgbClr val="1B2A41"/>
            </a:solidFill>
            <a:prstDash val="solid"/>
          </a:ln>
        </p:spPr>
      </p:sp>
      <p:sp>
        <p:nvSpPr>
          <p:cNvPr id="10" name="Text 7"/>
          <p:cNvSpPr txBox="1"/>
          <p:nvPr/>
        </p:nvSpPr>
        <p:spPr>
          <a:xfrm>
            <a:off x="3209544" y="1371600"/>
            <a:ext cx="621792" cy="594360"/>
          </a:xfrm>
          <a:prstGeom prst="rect">
            <a:avLst/>
          </a:prstGeom>
          <a:noFill/>
          <a:ln/>
        </p:spPr>
        <p:txBody>
          <a:bodyPr wrap="square" lIns="0" tIns="0" rIns="0" bIns="0" rtlCol="0" anchor="ctr"/>
          <a:lstStyle/>
          <a:p>
            <a:pPr algn="ctr" indent="0" marL="0">
              <a:buNone/>
            </a:pPr>
            <a:r>
              <a:rPr lang="en-US" sz="1800" b="1" dirty="0">
                <a:solidFill>
                  <a:schemeClr val="tx1"/>
                </a:solidFill>
              </a:rPr>
              <a:t>C</a:t>
            </a:r>
            <a:endParaRPr lang="en-US" sz="1800" dirty="0"/>
          </a:p>
        </p:txBody>
      </p:sp>
      <p:sp>
        <p:nvSpPr>
          <p:cNvPr id="11" name="Shape 8"/>
          <p:cNvSpPr/>
          <p:nvPr/>
        </p:nvSpPr>
        <p:spPr>
          <a:xfrm>
            <a:off x="3922776" y="1371600"/>
            <a:ext cx="621792" cy="594360"/>
          </a:xfrm>
          <a:prstGeom prst="rect">
            <a:avLst/>
          </a:prstGeom>
          <a:solidFill>
            <a:schemeClr val="bg1"/>
          </a:solidFill>
          <a:ln w="12700">
            <a:solidFill>
              <a:srgbClr val="1B2A41"/>
            </a:solidFill>
            <a:prstDash val="solid"/>
          </a:ln>
        </p:spPr>
      </p:sp>
      <p:sp>
        <p:nvSpPr>
          <p:cNvPr id="12" name="Text 9"/>
          <p:cNvSpPr txBox="1"/>
          <p:nvPr/>
        </p:nvSpPr>
        <p:spPr>
          <a:xfrm>
            <a:off x="3922776" y="1371600"/>
            <a:ext cx="621792" cy="594360"/>
          </a:xfrm>
          <a:prstGeom prst="rect">
            <a:avLst/>
          </a:prstGeom>
          <a:noFill/>
          <a:ln/>
        </p:spPr>
        <p:txBody>
          <a:bodyPr wrap="square" lIns="0" tIns="0" rIns="0" bIns="0" rtlCol="0" anchor="ctr"/>
          <a:lstStyle/>
          <a:p>
            <a:pPr algn="ctr" indent="0" marL="0">
              <a:buNone/>
            </a:pPr>
            <a:r>
              <a:rPr lang="en-US" sz="1800" b="1" dirty="0">
                <a:solidFill>
                  <a:schemeClr val="tx1"/>
                </a:solidFill>
              </a:rPr>
              <a:t>D</a:t>
            </a:r>
            <a:endParaRPr lang="en-US" sz="1800" dirty="0"/>
          </a:p>
        </p:txBody>
      </p:sp>
      <p:sp>
        <p:nvSpPr>
          <p:cNvPr id="13" name="Shape 10"/>
          <p:cNvSpPr/>
          <p:nvPr/>
        </p:nvSpPr>
        <p:spPr>
          <a:xfrm>
            <a:off x="4636008" y="1371600"/>
            <a:ext cx="621792" cy="594360"/>
          </a:xfrm>
          <a:prstGeom prst="rect">
            <a:avLst/>
          </a:prstGeom>
          <a:solidFill>
            <a:schemeClr val="bg1"/>
          </a:solidFill>
          <a:ln w="12700">
            <a:solidFill>
              <a:srgbClr val="1B2A41"/>
            </a:solidFill>
            <a:prstDash val="solid"/>
          </a:ln>
        </p:spPr>
      </p:sp>
      <p:sp>
        <p:nvSpPr>
          <p:cNvPr id="14" name="Text 11"/>
          <p:cNvSpPr txBox="1"/>
          <p:nvPr/>
        </p:nvSpPr>
        <p:spPr>
          <a:xfrm>
            <a:off x="4636008" y="1371600"/>
            <a:ext cx="621792" cy="594360"/>
          </a:xfrm>
          <a:prstGeom prst="rect">
            <a:avLst/>
          </a:prstGeom>
          <a:noFill/>
          <a:ln/>
        </p:spPr>
        <p:txBody>
          <a:bodyPr wrap="square" lIns="0" tIns="0" rIns="0" bIns="0" rtlCol="0" anchor="ctr"/>
          <a:lstStyle/>
          <a:p>
            <a:pPr algn="ctr" indent="0" marL="0">
              <a:buNone/>
            </a:pPr>
            <a:r>
              <a:rPr lang="en-US" sz="1800" b="1" dirty="0">
                <a:solidFill>
                  <a:schemeClr val="tx1"/>
                </a:solidFill>
              </a:rPr>
              <a:t>E</a:t>
            </a:r>
            <a:endParaRPr lang="en-US" sz="1800" dirty="0"/>
          </a:p>
        </p:txBody>
      </p:sp>
      <p:sp>
        <p:nvSpPr>
          <p:cNvPr id="15" name="Text 12"/>
          <p:cNvSpPr txBox="1"/>
          <p:nvPr/>
        </p:nvSpPr>
        <p:spPr>
          <a:xfrm>
            <a:off x="457200" y="2194560"/>
            <a:ext cx="1280160" cy="594360"/>
          </a:xfrm>
          <a:prstGeom prst="rect">
            <a:avLst/>
          </a:prstGeom>
          <a:noFill/>
          <a:ln/>
        </p:spPr>
        <p:txBody>
          <a:bodyPr wrap="square" lIns="0" tIns="0" rIns="0" bIns="0" rtlCol="0" anchor="ctr"/>
          <a:lstStyle/>
          <a:p>
            <a:pPr indent="0" marL="0">
              <a:buNone/>
            </a:pPr>
            <a:r>
              <a:rPr lang="en-US" sz="1400" b="1" dirty="0">
                <a:solidFill>
                  <a:schemeClr val="tx1"/>
                </a:solidFill>
                <a:latin typeface="Cambria" pitchFamily="34" charset="0"/>
                <a:ea typeface="Cambria" pitchFamily="34" charset="-122"/>
                <a:cs typeface="Cambria" pitchFamily="34" charset="-120"/>
              </a:rPr>
              <a:t>ANN result</a:t>
            </a:r>
            <a:endParaRPr lang="en-US" sz="1400" dirty="0"/>
          </a:p>
        </p:txBody>
      </p:sp>
      <p:sp>
        <p:nvSpPr>
          <p:cNvPr id="16" name="Shape 13"/>
          <p:cNvSpPr/>
          <p:nvPr/>
        </p:nvSpPr>
        <p:spPr>
          <a:xfrm>
            <a:off x="1783080" y="2194560"/>
            <a:ext cx="621792" cy="594360"/>
          </a:xfrm>
          <a:prstGeom prst="rect">
            <a:avLst/>
          </a:prstGeom>
          <a:solidFill>
            <a:schemeClr val="bg1"/>
          </a:solidFill>
          <a:ln w="12700">
            <a:solidFill>
              <a:srgbClr val="1B2A41"/>
            </a:solidFill>
            <a:prstDash val="solid"/>
          </a:ln>
        </p:spPr>
      </p:sp>
      <p:sp>
        <p:nvSpPr>
          <p:cNvPr id="17" name="Text 14"/>
          <p:cNvSpPr txBox="1"/>
          <p:nvPr/>
        </p:nvSpPr>
        <p:spPr>
          <a:xfrm>
            <a:off x="1783080" y="2194560"/>
            <a:ext cx="621792" cy="594360"/>
          </a:xfrm>
          <a:prstGeom prst="rect">
            <a:avLst/>
          </a:prstGeom>
          <a:noFill/>
          <a:ln/>
        </p:spPr>
        <p:txBody>
          <a:bodyPr wrap="square" lIns="0" tIns="0" rIns="0" bIns="0" rtlCol="0" anchor="ctr"/>
          <a:lstStyle/>
          <a:p>
            <a:pPr algn="ctr" indent="0" marL="0">
              <a:buNone/>
            </a:pPr>
            <a:r>
              <a:rPr lang="en-US" sz="1800" b="1" dirty="0">
                <a:solidFill>
                  <a:schemeClr val="tx1"/>
                </a:solidFill>
              </a:rPr>
              <a:t>A</a:t>
            </a:r>
            <a:endParaRPr lang="en-US" sz="1800" dirty="0"/>
          </a:p>
        </p:txBody>
      </p:sp>
      <p:sp>
        <p:nvSpPr>
          <p:cNvPr id="18" name="Shape 15"/>
          <p:cNvSpPr/>
          <p:nvPr/>
        </p:nvSpPr>
        <p:spPr>
          <a:xfrm>
            <a:off x="2496312" y="2194560"/>
            <a:ext cx="621792" cy="594360"/>
          </a:xfrm>
          <a:prstGeom prst="rect">
            <a:avLst/>
          </a:prstGeom>
          <a:solidFill>
            <a:schemeClr val="bg1"/>
          </a:solidFill>
          <a:ln w="12700">
            <a:solidFill>
              <a:srgbClr val="1B2A41"/>
            </a:solidFill>
            <a:prstDash val="solid"/>
          </a:ln>
        </p:spPr>
      </p:sp>
      <p:sp>
        <p:nvSpPr>
          <p:cNvPr id="19" name="Text 16"/>
          <p:cNvSpPr txBox="1"/>
          <p:nvPr/>
        </p:nvSpPr>
        <p:spPr>
          <a:xfrm>
            <a:off x="2496312" y="2194560"/>
            <a:ext cx="621792" cy="594360"/>
          </a:xfrm>
          <a:prstGeom prst="rect">
            <a:avLst/>
          </a:prstGeom>
          <a:noFill/>
          <a:ln/>
        </p:spPr>
        <p:txBody>
          <a:bodyPr wrap="square" lIns="0" tIns="0" rIns="0" bIns="0" rtlCol="0" anchor="ctr"/>
          <a:lstStyle/>
          <a:p>
            <a:pPr algn="ctr" indent="0" marL="0">
              <a:buNone/>
            </a:pPr>
            <a:r>
              <a:rPr lang="en-US" sz="1800" b="1" dirty="0">
                <a:solidFill>
                  <a:schemeClr val="tx1"/>
                </a:solidFill>
              </a:rPr>
              <a:t>B</a:t>
            </a:r>
            <a:endParaRPr lang="en-US" sz="1800" dirty="0"/>
          </a:p>
        </p:txBody>
      </p:sp>
      <p:sp>
        <p:nvSpPr>
          <p:cNvPr id="20" name="Shape 17"/>
          <p:cNvSpPr/>
          <p:nvPr/>
        </p:nvSpPr>
        <p:spPr>
          <a:xfrm>
            <a:off x="3209544" y="2194560"/>
            <a:ext cx="621792" cy="594360"/>
          </a:xfrm>
          <a:prstGeom prst="rect">
            <a:avLst/>
          </a:prstGeom>
          <a:solidFill>
            <a:schemeClr val="bg1"/>
          </a:solidFill>
          <a:ln w="12700">
            <a:solidFill>
              <a:srgbClr val="1B2A41"/>
            </a:solidFill>
            <a:prstDash val="solid"/>
          </a:ln>
        </p:spPr>
      </p:sp>
      <p:sp>
        <p:nvSpPr>
          <p:cNvPr id="21" name="Text 18"/>
          <p:cNvSpPr txBox="1"/>
          <p:nvPr/>
        </p:nvSpPr>
        <p:spPr>
          <a:xfrm>
            <a:off x="3209544" y="2194560"/>
            <a:ext cx="621792" cy="594360"/>
          </a:xfrm>
          <a:prstGeom prst="rect">
            <a:avLst/>
          </a:prstGeom>
          <a:noFill/>
          <a:ln/>
        </p:spPr>
        <p:txBody>
          <a:bodyPr wrap="square" lIns="0" tIns="0" rIns="0" bIns="0" rtlCol="0" anchor="ctr"/>
          <a:lstStyle/>
          <a:p>
            <a:pPr algn="ctr" indent="0" marL="0">
              <a:buNone/>
            </a:pPr>
            <a:r>
              <a:rPr lang="en-US" sz="1800" b="1" dirty="0">
                <a:solidFill>
                  <a:schemeClr val="tx1"/>
                </a:solidFill>
              </a:rPr>
              <a:t>C</a:t>
            </a:r>
            <a:endParaRPr lang="en-US" sz="1800" dirty="0"/>
          </a:p>
        </p:txBody>
      </p:sp>
      <p:sp>
        <p:nvSpPr>
          <p:cNvPr id="22" name="Shape 19"/>
          <p:cNvSpPr/>
          <p:nvPr/>
        </p:nvSpPr>
        <p:spPr>
          <a:xfrm>
            <a:off x="3922776" y="2194560"/>
            <a:ext cx="621792" cy="594360"/>
          </a:xfrm>
          <a:prstGeom prst="rect">
            <a:avLst/>
          </a:prstGeom>
          <a:solidFill>
            <a:srgbClr val="B5432A"/>
          </a:solidFill>
          <a:ln w="12700">
            <a:solidFill>
              <a:srgbClr val="B5432A"/>
            </a:solidFill>
            <a:prstDash val="solid"/>
          </a:ln>
        </p:spPr>
      </p:sp>
      <p:sp>
        <p:nvSpPr>
          <p:cNvPr id="23" name="Text 20"/>
          <p:cNvSpPr txBox="1"/>
          <p:nvPr/>
        </p:nvSpPr>
        <p:spPr>
          <a:xfrm>
            <a:off x="3922776" y="2194560"/>
            <a:ext cx="621792" cy="594360"/>
          </a:xfrm>
          <a:prstGeom prst="rect">
            <a:avLst/>
          </a:prstGeom>
          <a:noFill/>
          <a:ln/>
        </p:spPr>
        <p:txBody>
          <a:bodyPr wrap="square" lIns="0" tIns="0" rIns="0" bIns="0" rtlCol="0" anchor="ctr"/>
          <a:lstStyle/>
          <a:p>
            <a:pPr algn="ctr" indent="0" marL="0">
              <a:buNone/>
            </a:pPr>
            <a:r>
              <a:rPr lang="en-US" sz="1800" b="1" dirty="0">
                <a:solidFill>
                  <a:srgbClr val="FFFFFF"/>
                </a:solidFill>
              </a:rPr>
              <a:t>F</a:t>
            </a:r>
            <a:endParaRPr lang="en-US" sz="1800" dirty="0"/>
          </a:p>
        </p:txBody>
      </p:sp>
      <p:sp>
        <p:nvSpPr>
          <p:cNvPr id="24" name="Shape 21"/>
          <p:cNvSpPr/>
          <p:nvPr/>
        </p:nvSpPr>
        <p:spPr>
          <a:xfrm>
            <a:off x="4636008" y="2194560"/>
            <a:ext cx="621792" cy="594360"/>
          </a:xfrm>
          <a:prstGeom prst="rect">
            <a:avLst/>
          </a:prstGeom>
          <a:solidFill>
            <a:schemeClr val="bg1"/>
          </a:solidFill>
          <a:ln w="12700">
            <a:solidFill>
              <a:srgbClr val="1B2A41"/>
            </a:solidFill>
            <a:prstDash val="solid"/>
          </a:ln>
        </p:spPr>
      </p:sp>
      <p:sp>
        <p:nvSpPr>
          <p:cNvPr id="25" name="Text 22"/>
          <p:cNvSpPr txBox="1"/>
          <p:nvPr/>
        </p:nvSpPr>
        <p:spPr>
          <a:xfrm>
            <a:off x="4636008" y="2194560"/>
            <a:ext cx="621792" cy="594360"/>
          </a:xfrm>
          <a:prstGeom prst="rect">
            <a:avLst/>
          </a:prstGeom>
          <a:noFill/>
          <a:ln/>
        </p:spPr>
        <p:txBody>
          <a:bodyPr wrap="square" lIns="0" tIns="0" rIns="0" bIns="0" rtlCol="0" anchor="ctr"/>
          <a:lstStyle/>
          <a:p>
            <a:pPr algn="ctr" indent="0" marL="0">
              <a:buNone/>
            </a:pPr>
            <a:r>
              <a:rPr lang="en-US" sz="1800" b="1" dirty="0">
                <a:solidFill>
                  <a:schemeClr val="tx1"/>
                </a:solidFill>
              </a:rPr>
              <a:t>E</a:t>
            </a:r>
            <a:endParaRPr lang="en-US" sz="1800" dirty="0"/>
          </a:p>
        </p:txBody>
      </p:sp>
      <p:sp>
        <p:nvSpPr>
          <p:cNvPr id="26" name="Text 23"/>
          <p:cNvSpPr txBox="1"/>
          <p:nvPr/>
        </p:nvSpPr>
        <p:spPr>
          <a:xfrm>
            <a:off x="1783080" y="2834640"/>
            <a:ext cx="4114800" cy="274320"/>
          </a:xfrm>
          <a:prstGeom prst="rect">
            <a:avLst/>
          </a:prstGeom>
          <a:noFill/>
          <a:ln/>
        </p:spPr>
        <p:txBody>
          <a:bodyPr wrap="square" lIns="0" tIns="0" rIns="0" bIns="0" rtlCol="0" anchor="t"/>
          <a:lstStyle/>
          <a:p>
            <a:pPr indent="0" marL="0">
              <a:buNone/>
            </a:pPr>
            <a:r>
              <a:rPr lang="en-US" sz="1100" i="1" dirty="0">
                <a:solidFill>
                  <a:schemeClr val="accent5"/>
                </a:solidFill>
                <a:latin typeface="Cambria" pitchFamily="34" charset="0"/>
                <a:ea typeface="Cambria" pitchFamily="34" charset="-122"/>
                <a:cs typeface="Cambria" pitchFamily="34" charset="-120"/>
              </a:rPr>
              <a:t>Figure 4.2  Top-5 from exact search and from an ANN index</a:t>
            </a:r>
            <a:endParaRPr lang="en-US" sz="1100" dirty="0"/>
          </a:p>
        </p:txBody>
      </p:sp>
      <p:sp>
        <p:nvSpPr>
          <p:cNvPr id="27" name="Shape 24"/>
          <p:cNvSpPr/>
          <p:nvPr/>
        </p:nvSpPr>
        <p:spPr>
          <a:xfrm>
            <a:off x="457200" y="3200400"/>
            <a:ext cx="5394960" cy="1188720"/>
          </a:xfrm>
          <a:prstGeom prst="rect">
            <a:avLst/>
          </a:prstGeom>
          <a:solidFill>
            <a:srgbClr val="1B2A41"/>
          </a:solidFill>
          <a:ln w="12700">
            <a:solidFill>
              <a:srgbClr val="1B2A41"/>
            </a:solidFill>
            <a:prstDash val="solid"/>
          </a:ln>
        </p:spPr>
      </p:sp>
      <p:sp>
        <p:nvSpPr>
          <p:cNvPr id="28" name="Text 25"/>
          <p:cNvSpPr txBox="1"/>
          <p:nvPr/>
        </p:nvSpPr>
        <p:spPr>
          <a:xfrm>
            <a:off x="640080" y="3337560"/>
            <a:ext cx="5029200" cy="457200"/>
          </a:xfrm>
          <a:prstGeom prst="rect">
            <a:avLst/>
          </a:prstGeom>
          <a:noFill/>
          <a:ln/>
        </p:spPr>
        <p:txBody>
          <a:bodyPr wrap="square" lIns="0" tIns="0" rIns="0" bIns="0" rtlCol="0" anchor="t"/>
          <a:lstStyle/>
          <a:p>
            <a:pPr indent="0" marL="0">
              <a:buNone/>
            </a:pPr>
            <a:r>
              <a:rPr lang="en-US" sz="2000" b="1" dirty="0">
                <a:solidFill>
                  <a:schemeClr val="bg1"/>
                </a:solidFill>
                <a:latin typeface="Cambria" pitchFamily="34" charset="0"/>
                <a:ea typeface="Cambria" pitchFamily="34" charset="-122"/>
                <a:cs typeface="Cambria" pitchFamily="34" charset="-120"/>
              </a:rPr>
              <a:t>recall@5 = |exact ∩ ANN| / 5 = 4/5 = 0.8</a:t>
            </a:r>
            <a:endParaRPr lang="en-US" sz="2000" dirty="0"/>
          </a:p>
        </p:txBody>
      </p:sp>
      <p:sp>
        <p:nvSpPr>
          <p:cNvPr id="29" name="Text 26"/>
          <p:cNvSpPr txBox="1"/>
          <p:nvPr/>
        </p:nvSpPr>
        <p:spPr>
          <a:xfrm>
            <a:off x="640080" y="3840480"/>
            <a:ext cx="5029200" cy="365760"/>
          </a:xfrm>
          <a:prstGeom prst="rect">
            <a:avLst/>
          </a:prstGeom>
          <a:noFill/>
          <a:ln/>
        </p:spPr>
        <p:txBody>
          <a:bodyPr wrap="square" lIns="0" tIns="0" rIns="0" bIns="0" rtlCol="0" anchor="t"/>
          <a:lstStyle/>
          <a:p>
            <a:pPr indent="0" marL="0">
              <a:buNone/>
            </a:pPr>
            <a:r>
              <a:rPr lang="en-US" sz="1300" dirty="0">
                <a:solidFill>
                  <a:schemeClr val="accent6"/>
                </a:solidFill>
              </a:rPr>
              <a:t>Always measured against exact search on held-out queries.</a:t>
            </a:r>
            <a:endParaRPr lang="en-US" sz="1300" dirty="0"/>
          </a:p>
        </p:txBody>
      </p:sp>
      <p:sp>
        <p:nvSpPr>
          <p:cNvPr id="30" name="Shape 27"/>
          <p:cNvSpPr/>
          <p:nvPr/>
        </p:nvSpPr>
        <p:spPr>
          <a:xfrm>
            <a:off x="6217920" y="1280160"/>
            <a:ext cx="0" cy="3200400"/>
          </a:xfrm>
          <a:prstGeom prst="line">
            <a:avLst/>
          </a:prstGeom>
          <a:noFill/>
          <a:ln w="9525">
            <a:solidFill>
              <a:schemeClr val="accent6"/>
            </a:solidFill>
            <a:prstDash val="solid"/>
          </a:ln>
        </p:spPr>
      </p:sp>
      <p:sp>
        <p:nvSpPr>
          <p:cNvPr id="31" name="Text 28"/>
          <p:cNvSpPr txBox="1"/>
          <p:nvPr/>
        </p:nvSpPr>
        <p:spPr>
          <a:xfrm>
            <a:off x="6446520" y="1280160"/>
            <a:ext cx="2240280" cy="3200400"/>
          </a:xfrm>
          <a:prstGeom prst="rect">
            <a:avLst/>
          </a:prstGeom>
          <a:noFill/>
          <a:ln/>
        </p:spPr>
        <p:txBody>
          <a:bodyPr wrap="square" lIns="0" tIns="0" rIns="0" bIns="0" rtlCol="0" anchor="t"/>
          <a:lstStyle/>
          <a:p>
            <a:pPr indent="0" marL="0">
              <a:buNone/>
            </a:pPr>
            <a:r>
              <a:rPr lang="en-US" sz="1300" b="1" dirty="0">
                <a:solidFill>
                  <a:schemeClr val="tx1"/>
                </a:solidFill>
              </a:rPr>
              <a:t>Recall@k</a:t>
            </a:r>
            <a:endParaRPr lang="en-US" sz="1300" dirty="0"/>
          </a:p>
          <a:p>
            <a:pPr indent="0" marL="0">
              <a:spcAft>
                <a:spcPts val="800"/>
              </a:spcAft>
              <a:buNone/>
            </a:pPr>
            <a:r>
              <a:rPr lang="en-US" sz="1300" dirty="0">
                <a:solidFill>
                  <a:schemeClr val="tx1"/>
                </a:solidFill>
              </a:rPr>
              <a:t>Share of true top-k found.</a:t>
            </a:r>
            <a:endParaRPr lang="en-US" sz="1300" dirty="0"/>
          </a:p>
          <a:p>
            <a:pPr indent="0" marL="0">
              <a:buNone/>
            </a:pPr>
            <a:r>
              <a:rPr lang="en-US" sz="1300" b="1" dirty="0">
                <a:solidFill>
                  <a:schemeClr val="tx1"/>
                </a:solidFill>
              </a:rPr>
              <a:t>Latency and QPS</a:t>
            </a:r>
            <a:endParaRPr lang="en-US" sz="1300" dirty="0"/>
          </a:p>
          <a:p>
            <a:pPr indent="0" marL="0">
              <a:spcAft>
                <a:spcPts val="800"/>
              </a:spcAft>
              <a:buNone/>
            </a:pPr>
            <a:r>
              <a:rPr lang="en-US" sz="1300" dirty="0">
                <a:solidFill>
                  <a:schemeClr val="tx1"/>
                </a:solidFill>
              </a:rPr>
              <a:t>Milliseconds per query; queries per second. Report p95 too.</a:t>
            </a:r>
            <a:endParaRPr lang="en-US" sz="1300" dirty="0"/>
          </a:p>
          <a:p>
            <a:pPr indent="0" marL="0">
              <a:buNone/>
            </a:pPr>
            <a:r>
              <a:rPr lang="en-US" sz="1300" b="1" dirty="0">
                <a:solidFill>
                  <a:schemeClr val="tx1"/>
                </a:solidFill>
              </a:rPr>
              <a:t>Memory and build time</a:t>
            </a:r>
            <a:endParaRPr lang="en-US" sz="1300" dirty="0"/>
          </a:p>
          <a:p>
            <a:pPr indent="0" marL="0">
              <a:buNone/>
            </a:pPr>
            <a:r>
              <a:rPr lang="en-US" sz="1300" dirty="0">
                <a:solidFill>
                  <a:schemeClr val="tx1"/>
                </a:solidFill>
              </a:rPr>
              <a:t>RAM for vectors plus index; time to construct it.</a:t>
            </a:r>
            <a:endParaRPr lang="en-US" sz="13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Every index trades three things</a:t>
            </a:r>
            <a:endParaRPr lang="en-US" sz="3000" dirty="0"/>
          </a:p>
        </p:txBody>
      </p:sp>
      <p:sp>
        <p:nvSpPr>
          <p:cNvPr id="4" name="Shape 1"/>
          <p:cNvSpPr/>
          <p:nvPr/>
        </p:nvSpPr>
        <p:spPr>
          <a:xfrm>
            <a:off x="457200" y="1280160"/>
            <a:ext cx="4754880" cy="3108960"/>
          </a:xfrm>
          <a:prstGeom prst="rect">
            <a:avLst/>
          </a:prstGeom>
          <a:solidFill>
            <a:schemeClr val="bg1"/>
          </a:solidFill>
          <a:ln w="12700">
            <a:solidFill>
              <a:schemeClr val="accent6"/>
            </a:solidFill>
            <a:prstDash val="solid"/>
          </a:ln>
        </p:spPr>
      </p:sp>
      <p:sp>
        <p:nvSpPr>
          <p:cNvPr id="5" name="Shape 2"/>
          <p:cNvSpPr/>
          <p:nvPr/>
        </p:nvSpPr>
        <p:spPr>
          <a:xfrm flipV="1">
            <a:off x="1097280" y="1783080"/>
            <a:ext cx="1737360" cy="2103120"/>
          </a:xfrm>
          <a:prstGeom prst="line">
            <a:avLst/>
          </a:prstGeom>
          <a:noFill/>
          <a:ln w="15875">
            <a:solidFill>
              <a:srgbClr val="1B2A41"/>
            </a:solidFill>
            <a:prstDash val="solid"/>
          </a:ln>
        </p:spPr>
      </p:sp>
      <p:sp>
        <p:nvSpPr>
          <p:cNvPr id="6" name="Shape 3"/>
          <p:cNvSpPr/>
          <p:nvPr/>
        </p:nvSpPr>
        <p:spPr>
          <a:xfrm>
            <a:off x="2834640" y="1783080"/>
            <a:ext cx="1737360" cy="2103120"/>
          </a:xfrm>
          <a:prstGeom prst="line">
            <a:avLst/>
          </a:prstGeom>
          <a:noFill/>
          <a:ln w="15875">
            <a:solidFill>
              <a:srgbClr val="1B2A41"/>
            </a:solidFill>
            <a:prstDash val="solid"/>
          </a:ln>
        </p:spPr>
      </p:sp>
      <p:sp>
        <p:nvSpPr>
          <p:cNvPr id="7" name="Shape 4"/>
          <p:cNvSpPr/>
          <p:nvPr/>
        </p:nvSpPr>
        <p:spPr>
          <a:xfrm>
            <a:off x="1097280" y="3886200"/>
            <a:ext cx="3474720" cy="0"/>
          </a:xfrm>
          <a:prstGeom prst="line">
            <a:avLst/>
          </a:prstGeom>
          <a:noFill/>
          <a:ln w="15875">
            <a:solidFill>
              <a:srgbClr val="1B2A41"/>
            </a:solidFill>
            <a:prstDash val="solid"/>
          </a:ln>
        </p:spPr>
      </p:sp>
      <p:sp>
        <p:nvSpPr>
          <p:cNvPr id="8" name="Text 5"/>
          <p:cNvSpPr txBox="1"/>
          <p:nvPr/>
        </p:nvSpPr>
        <p:spPr>
          <a:xfrm>
            <a:off x="2377440" y="1371600"/>
            <a:ext cx="914400" cy="274320"/>
          </a:xfrm>
          <a:prstGeom prst="rect">
            <a:avLst/>
          </a:prstGeom>
          <a:noFill/>
          <a:ln/>
        </p:spPr>
        <p:txBody>
          <a:bodyPr wrap="square" lIns="0" tIns="0" rIns="0" bIns="0" rtlCol="0" anchor="t"/>
          <a:lstStyle/>
          <a:p>
            <a:pPr algn="ctr" indent="0" marL="0">
              <a:buNone/>
            </a:pPr>
            <a:r>
              <a:rPr lang="en-US" sz="1500" b="1" dirty="0">
                <a:solidFill>
                  <a:schemeClr val="tx1"/>
                </a:solidFill>
                <a:latin typeface="Cambria" pitchFamily="34" charset="0"/>
                <a:ea typeface="Cambria" pitchFamily="34" charset="-122"/>
                <a:cs typeface="Cambria" pitchFamily="34" charset="-120"/>
              </a:rPr>
              <a:t>Recall</a:t>
            </a:r>
            <a:endParaRPr lang="en-US" sz="1500" dirty="0"/>
          </a:p>
        </p:txBody>
      </p:sp>
      <p:sp>
        <p:nvSpPr>
          <p:cNvPr id="9" name="Text 6"/>
          <p:cNvSpPr txBox="1"/>
          <p:nvPr/>
        </p:nvSpPr>
        <p:spPr>
          <a:xfrm>
            <a:off x="594360" y="3977640"/>
            <a:ext cx="1097280" cy="274320"/>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Speed</a:t>
            </a:r>
            <a:endParaRPr lang="en-US" sz="1500" dirty="0"/>
          </a:p>
        </p:txBody>
      </p:sp>
      <p:sp>
        <p:nvSpPr>
          <p:cNvPr id="10" name="Text 7"/>
          <p:cNvSpPr txBox="1"/>
          <p:nvPr/>
        </p:nvSpPr>
        <p:spPr>
          <a:xfrm>
            <a:off x="3566160" y="3977640"/>
            <a:ext cx="1645920" cy="274320"/>
          </a:xfrm>
          <a:prstGeom prst="rect">
            <a:avLst/>
          </a:prstGeom>
          <a:noFill/>
          <a:ln/>
        </p:spPr>
        <p:txBody>
          <a:bodyPr wrap="square" lIns="0" tIns="0" rIns="0" bIns="0" rtlCol="0" anchor="t"/>
          <a:lstStyle/>
          <a:p>
            <a:pPr algn="r" indent="0" marL="0">
              <a:buNone/>
            </a:pPr>
            <a:r>
              <a:rPr lang="en-US" sz="1500" b="1" dirty="0">
                <a:solidFill>
                  <a:schemeClr val="tx1"/>
                </a:solidFill>
                <a:latin typeface="Cambria" pitchFamily="34" charset="0"/>
                <a:ea typeface="Cambria" pitchFamily="34" charset="-122"/>
                <a:cs typeface="Cambria" pitchFamily="34" charset="-120"/>
              </a:rPr>
              <a:t>Memory efficiency</a:t>
            </a:r>
            <a:endParaRPr lang="en-US" sz="1500" dirty="0"/>
          </a:p>
        </p:txBody>
      </p:sp>
      <p:sp>
        <p:nvSpPr>
          <p:cNvPr id="11" name="Shape 8"/>
          <p:cNvSpPr/>
          <p:nvPr/>
        </p:nvSpPr>
        <p:spPr>
          <a:xfrm>
            <a:off x="2697480" y="2295144"/>
            <a:ext cx="91440" cy="91440"/>
          </a:xfrm>
          <a:prstGeom prst="ellipse">
            <a:avLst/>
          </a:prstGeom>
          <a:solidFill>
            <a:srgbClr val="1B2A41"/>
          </a:solidFill>
          <a:ln w="12700">
            <a:solidFill>
              <a:srgbClr val="1B2A41"/>
            </a:solidFill>
            <a:prstDash val="solid"/>
          </a:ln>
        </p:spPr>
      </p:sp>
      <p:sp>
        <p:nvSpPr>
          <p:cNvPr id="12" name="Text 9"/>
          <p:cNvSpPr txBox="1"/>
          <p:nvPr/>
        </p:nvSpPr>
        <p:spPr>
          <a:xfrm>
            <a:off x="2852928" y="2240280"/>
            <a:ext cx="1188720" cy="228600"/>
          </a:xfrm>
          <a:prstGeom prst="rect">
            <a:avLst/>
          </a:prstGeom>
          <a:noFill/>
          <a:ln/>
        </p:spPr>
        <p:txBody>
          <a:bodyPr wrap="square" lIns="0" tIns="0" rIns="0" bIns="0" rtlCol="0" anchor="t"/>
          <a:lstStyle/>
          <a:p>
            <a:pPr indent="0" marL="0">
              <a:buNone/>
            </a:pPr>
            <a:r>
              <a:rPr lang="en-US" sz="1400" b="1" dirty="0">
                <a:solidFill>
                  <a:srgbClr val="1B2A41"/>
                </a:solidFill>
                <a:latin typeface="Cambria" pitchFamily="34" charset="0"/>
                <a:ea typeface="Cambria" pitchFamily="34" charset="-122"/>
                <a:cs typeface="Cambria" pitchFamily="34" charset="-120"/>
              </a:rPr>
              <a:t>Flat</a:t>
            </a:r>
            <a:endParaRPr lang="en-US" sz="1400" dirty="0"/>
          </a:p>
        </p:txBody>
      </p:sp>
      <p:sp>
        <p:nvSpPr>
          <p:cNvPr id="13" name="Shape 10"/>
          <p:cNvSpPr/>
          <p:nvPr/>
        </p:nvSpPr>
        <p:spPr>
          <a:xfrm>
            <a:off x="1691640" y="2980944"/>
            <a:ext cx="91440" cy="91440"/>
          </a:xfrm>
          <a:prstGeom prst="ellipse">
            <a:avLst/>
          </a:prstGeom>
          <a:solidFill>
            <a:srgbClr val="B5432A"/>
          </a:solidFill>
          <a:ln w="12700">
            <a:solidFill>
              <a:srgbClr val="B5432A"/>
            </a:solidFill>
            <a:prstDash val="solid"/>
          </a:ln>
        </p:spPr>
      </p:sp>
      <p:sp>
        <p:nvSpPr>
          <p:cNvPr id="14" name="Text 11"/>
          <p:cNvSpPr txBox="1"/>
          <p:nvPr/>
        </p:nvSpPr>
        <p:spPr>
          <a:xfrm>
            <a:off x="1847088" y="2926080"/>
            <a:ext cx="1188720" cy="228600"/>
          </a:xfrm>
          <a:prstGeom prst="rect">
            <a:avLst/>
          </a:prstGeom>
          <a:noFill/>
          <a:ln/>
        </p:spPr>
        <p:txBody>
          <a:bodyPr wrap="square" lIns="0" tIns="0" rIns="0" bIns="0" rtlCol="0" anchor="t"/>
          <a:lstStyle/>
          <a:p>
            <a:pPr indent="0" marL="0">
              <a:buNone/>
            </a:pPr>
            <a:r>
              <a:rPr lang="en-US" sz="1400" b="1" dirty="0">
                <a:solidFill>
                  <a:srgbClr val="B5432A"/>
                </a:solidFill>
                <a:latin typeface="Cambria" pitchFamily="34" charset="0"/>
                <a:ea typeface="Cambria" pitchFamily="34" charset="-122"/>
                <a:cs typeface="Cambria" pitchFamily="34" charset="-120"/>
              </a:rPr>
              <a:t>HNSW</a:t>
            </a:r>
            <a:endParaRPr lang="en-US" sz="1400" dirty="0"/>
          </a:p>
        </p:txBody>
      </p:sp>
      <p:sp>
        <p:nvSpPr>
          <p:cNvPr id="15" name="Shape 12"/>
          <p:cNvSpPr/>
          <p:nvPr/>
        </p:nvSpPr>
        <p:spPr>
          <a:xfrm>
            <a:off x="2697480" y="3209544"/>
            <a:ext cx="91440" cy="91440"/>
          </a:xfrm>
          <a:prstGeom prst="ellipse">
            <a:avLst/>
          </a:prstGeom>
          <a:solidFill>
            <a:srgbClr val="2F5D8A"/>
          </a:solidFill>
          <a:ln w="12700">
            <a:solidFill>
              <a:srgbClr val="2F5D8A"/>
            </a:solidFill>
            <a:prstDash val="solid"/>
          </a:ln>
        </p:spPr>
      </p:sp>
      <p:sp>
        <p:nvSpPr>
          <p:cNvPr id="16" name="Text 13"/>
          <p:cNvSpPr txBox="1"/>
          <p:nvPr/>
        </p:nvSpPr>
        <p:spPr>
          <a:xfrm>
            <a:off x="2852928" y="3154680"/>
            <a:ext cx="1188720" cy="228600"/>
          </a:xfrm>
          <a:prstGeom prst="rect">
            <a:avLst/>
          </a:prstGeom>
          <a:noFill/>
          <a:ln/>
        </p:spPr>
        <p:txBody>
          <a:bodyPr wrap="square" lIns="0" tIns="0" rIns="0" bIns="0" rtlCol="0" anchor="t"/>
          <a:lstStyle/>
          <a:p>
            <a:pPr indent="0" marL="0">
              <a:buNone/>
            </a:pPr>
            <a:r>
              <a:rPr lang="en-US" sz="1400" b="1" dirty="0">
                <a:solidFill>
                  <a:srgbClr val="2F5D8A"/>
                </a:solidFill>
                <a:latin typeface="Cambria" pitchFamily="34" charset="0"/>
                <a:ea typeface="Cambria" pitchFamily="34" charset="-122"/>
                <a:cs typeface="Cambria" pitchFamily="34" charset="-120"/>
              </a:rPr>
              <a:t>IVF-Flat</a:t>
            </a:r>
            <a:endParaRPr lang="en-US" sz="1400" dirty="0"/>
          </a:p>
        </p:txBody>
      </p:sp>
      <p:sp>
        <p:nvSpPr>
          <p:cNvPr id="17" name="Shape 14"/>
          <p:cNvSpPr/>
          <p:nvPr/>
        </p:nvSpPr>
        <p:spPr>
          <a:xfrm>
            <a:off x="2697480" y="3712464"/>
            <a:ext cx="91440" cy="91440"/>
          </a:xfrm>
          <a:prstGeom prst="ellipse">
            <a:avLst/>
          </a:prstGeom>
          <a:solidFill>
            <a:srgbClr val="3B7A57"/>
          </a:solidFill>
          <a:ln w="12700">
            <a:solidFill>
              <a:srgbClr val="3B7A57"/>
            </a:solidFill>
            <a:prstDash val="solid"/>
          </a:ln>
        </p:spPr>
      </p:sp>
      <p:sp>
        <p:nvSpPr>
          <p:cNvPr id="18" name="Text 15"/>
          <p:cNvSpPr txBox="1"/>
          <p:nvPr/>
        </p:nvSpPr>
        <p:spPr>
          <a:xfrm>
            <a:off x="2852928" y="3657600"/>
            <a:ext cx="1188720" cy="228600"/>
          </a:xfrm>
          <a:prstGeom prst="rect">
            <a:avLst/>
          </a:prstGeom>
          <a:noFill/>
          <a:ln/>
        </p:spPr>
        <p:txBody>
          <a:bodyPr wrap="square" lIns="0" tIns="0" rIns="0" bIns="0" rtlCol="0" anchor="t"/>
          <a:lstStyle/>
          <a:p>
            <a:pPr indent="0" marL="0">
              <a:buNone/>
            </a:pPr>
            <a:r>
              <a:rPr lang="en-US" sz="1400" b="1" dirty="0">
                <a:solidFill>
                  <a:srgbClr val="3B7A57"/>
                </a:solidFill>
                <a:latin typeface="Cambria" pitchFamily="34" charset="0"/>
                <a:ea typeface="Cambria" pitchFamily="34" charset="-122"/>
                <a:cs typeface="Cambria" pitchFamily="34" charset="-120"/>
              </a:rPr>
              <a:t>IVF-PQ</a:t>
            </a:r>
            <a:endParaRPr lang="en-US" sz="1400" dirty="0"/>
          </a:p>
        </p:txBody>
      </p:sp>
      <p:sp>
        <p:nvSpPr>
          <p:cNvPr id="19" name="Text 16"/>
          <p:cNvSpPr txBox="1"/>
          <p:nvPr/>
        </p:nvSpPr>
        <p:spPr>
          <a:xfrm>
            <a:off x="594360" y="4434840"/>
            <a:ext cx="4754880" cy="274320"/>
          </a:xfrm>
          <a:prstGeom prst="rect">
            <a:avLst/>
          </a:prstGeom>
          <a:noFill/>
          <a:ln/>
        </p:spPr>
        <p:txBody>
          <a:bodyPr wrap="square" lIns="0" tIns="0" rIns="0" bIns="0" rtlCol="0" anchor="t"/>
          <a:lstStyle/>
          <a:p>
            <a:pPr indent="0" marL="0">
              <a:buNone/>
            </a:pPr>
            <a:r>
              <a:rPr lang="en-US" sz="1100" i="1" dirty="0">
                <a:solidFill>
                  <a:schemeClr val="accent5"/>
                </a:solidFill>
                <a:latin typeface="Cambria" pitchFamily="34" charset="0"/>
                <a:ea typeface="Cambria" pitchFamily="34" charset="-122"/>
                <a:cs typeface="Cambria" pitchFamily="34" charset="-120"/>
              </a:rPr>
              <a:t>Figure 4.3  Qualitative sketch of where each index sits</a:t>
            </a:r>
            <a:endParaRPr lang="en-US" sz="1100" dirty="0"/>
          </a:p>
        </p:txBody>
      </p:sp>
      <p:sp>
        <p:nvSpPr>
          <p:cNvPr id="20" name="Text 17"/>
          <p:cNvSpPr txBox="1"/>
          <p:nvPr/>
        </p:nvSpPr>
        <p:spPr>
          <a:xfrm>
            <a:off x="5486400" y="1280160"/>
            <a:ext cx="3200400" cy="3108960"/>
          </a:xfrm>
          <a:prstGeom prst="rect">
            <a:avLst/>
          </a:prstGeom>
          <a:noFill/>
          <a:ln/>
        </p:spPr>
        <p:txBody>
          <a:bodyPr wrap="square" lIns="0" tIns="0" rIns="0" bIns="0" rtlCol="0" anchor="t"/>
          <a:lstStyle/>
          <a:p>
            <a:pPr indent="0" marL="0">
              <a:buNone/>
            </a:pPr>
            <a:r>
              <a:rPr lang="en-US" sz="1400" dirty="0">
                <a:solidFill>
                  <a:schemeClr val="tx1"/>
                </a:solidFill>
              </a:rPr>
              <a:t>You can usually buy </a:t>
            </a:r>
            <a:pPr indent="0" marL="0">
              <a:buNone/>
            </a:pPr>
            <a:r>
              <a:rPr lang="en-US" sz="1400" b="1" dirty="0">
                <a:solidFill>
                  <a:schemeClr val="tx1"/>
                </a:solidFill>
              </a:rPr>
              <a:t>more recall</a:t>
            </a:r>
            <a:pPr indent="0" marL="0">
              <a:buNone/>
            </a:pPr>
            <a:r>
              <a:rPr lang="en-US" sz="1400" dirty="0">
                <a:solidFill>
                  <a:schemeClr val="tx1"/>
                </a:solidFill>
              </a:rPr>
              <a:t> with more time, and </a:t>
            </a:r>
            <a:pPr indent="0" marL="0">
              <a:buNone/>
            </a:pPr>
            <a:r>
              <a:rPr lang="en-US" sz="1400" b="1" dirty="0">
                <a:solidFill>
                  <a:schemeClr val="tx1"/>
                </a:solidFill>
              </a:rPr>
              <a:t>less memory</a:t>
            </a:r>
            <a:pPr indent="0" marL="0">
              <a:spcAft>
                <a:spcPts val="1200"/>
              </a:spcAft>
              <a:buNone/>
            </a:pPr>
            <a:r>
              <a:rPr lang="en-US" sz="1400" dirty="0">
                <a:solidFill>
                  <a:schemeClr val="tx1"/>
                </a:solidFill>
              </a:rPr>
              <a:t> with lower recall. Indexes are points on this surface, and their parameters slide you along it.</a:t>
            </a:r>
            <a:endParaRPr lang="en-US" sz="1400" dirty="0"/>
          </a:p>
          <a:p>
            <a:pPr indent="0" marL="0">
              <a:buNone/>
            </a:pPr>
            <a:r>
              <a:rPr lang="en-US" sz="1400" i="1" dirty="0">
                <a:solidFill>
                  <a:srgbClr val="B5432A"/>
                </a:solidFill>
                <a:latin typeface="Cambria" pitchFamily="34" charset="0"/>
                <a:ea typeface="Cambria" pitchFamily="34" charset="-122"/>
                <a:cs typeface="Cambria" pitchFamily="34" charset="-120"/>
              </a:rPr>
              <a:t>Pick the corner your product cares about.</a:t>
            </a:r>
            <a:endParaRPr lang="en-US" sz="14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Four ways to avoid scanning everything</a:t>
            </a:r>
            <a:endParaRPr lang="en-US" sz="3000" dirty="0"/>
          </a:p>
        </p:txBody>
      </p:sp>
      <p:sp>
        <p:nvSpPr>
          <p:cNvPr id="4" name="Text 1"/>
          <p:cNvSpPr txBox="1"/>
          <p:nvPr/>
        </p:nvSpPr>
        <p:spPr>
          <a:xfrm>
            <a:off x="457200" y="1280160"/>
            <a:ext cx="1280160" cy="548640"/>
          </a:xfrm>
          <a:prstGeom prst="rect">
            <a:avLst/>
          </a:prstGeom>
          <a:noFill/>
          <a:ln/>
        </p:spPr>
        <p:txBody>
          <a:bodyPr wrap="square" lIns="0" tIns="0" rIns="0" bIns="0" rtlCol="0" anchor="ctr"/>
          <a:lstStyle/>
          <a:p>
            <a:pPr indent="0" marL="0">
              <a:buNone/>
            </a:pPr>
            <a:r>
              <a:rPr lang="en-US" sz="2600" b="1" dirty="0">
                <a:solidFill>
                  <a:schemeClr val="accent1"/>
                </a:solidFill>
                <a:latin typeface="Cambria" pitchFamily="34" charset="0"/>
                <a:ea typeface="Cambria" pitchFamily="34" charset="-122"/>
                <a:cs typeface="Cambria" pitchFamily="34" charset="-120"/>
              </a:rPr>
              <a:t>LSH</a:t>
            </a:r>
            <a:endParaRPr lang="en-US" sz="2600" dirty="0"/>
          </a:p>
        </p:txBody>
      </p:sp>
      <p:sp>
        <p:nvSpPr>
          <p:cNvPr id="5" name="Text 2"/>
          <p:cNvSpPr txBox="1"/>
          <p:nvPr/>
        </p:nvSpPr>
        <p:spPr>
          <a:xfrm>
            <a:off x="1828800" y="1280160"/>
            <a:ext cx="2011680" cy="548640"/>
          </a:xfrm>
          <a:prstGeom prst="rect">
            <a:avLst/>
          </a:prstGeom>
          <a:noFill/>
          <a:ln/>
        </p:spPr>
        <p:txBody>
          <a:bodyPr wrap="square" lIns="0" tIns="0" rIns="0" bIns="0" rtlCol="0" anchor="ctr"/>
          <a:lstStyle/>
          <a:p>
            <a:pPr indent="0" marL="0">
              <a:buNone/>
            </a:pPr>
            <a:r>
              <a:rPr lang="en-US" sz="1800" i="1" dirty="0">
                <a:solidFill>
                  <a:schemeClr val="tx1"/>
                </a:solidFill>
                <a:latin typeface="Cambria" pitchFamily="34" charset="0"/>
                <a:ea typeface="Cambria" pitchFamily="34" charset="-122"/>
                <a:cs typeface="Cambria" pitchFamily="34" charset="-120"/>
              </a:rPr>
              <a:t>Hashing</a:t>
            </a:r>
            <a:endParaRPr lang="en-US" sz="1800" dirty="0"/>
          </a:p>
        </p:txBody>
      </p:sp>
      <p:sp>
        <p:nvSpPr>
          <p:cNvPr id="6" name="Text 3"/>
          <p:cNvSpPr txBox="1"/>
          <p:nvPr/>
        </p:nvSpPr>
        <p:spPr>
          <a:xfrm>
            <a:off x="3931920" y="1280160"/>
            <a:ext cx="4754880" cy="548640"/>
          </a:xfrm>
          <a:prstGeom prst="rect">
            <a:avLst/>
          </a:prstGeom>
          <a:noFill/>
          <a:ln/>
        </p:spPr>
        <p:txBody>
          <a:bodyPr wrap="square" lIns="0" tIns="0" rIns="0" bIns="0" rtlCol="0" anchor="ctr"/>
          <a:lstStyle/>
          <a:p>
            <a:pPr indent="0" marL="0">
              <a:buNone/>
            </a:pPr>
            <a:r>
              <a:rPr lang="en-US" sz="1400" dirty="0">
                <a:solidFill>
                  <a:schemeClr val="tx1"/>
                </a:solidFill>
              </a:rPr>
              <a:t>Fewer comparisons: only vectors in the query's bucket.</a:t>
            </a:r>
            <a:endParaRPr lang="en-US" sz="1400" dirty="0"/>
          </a:p>
        </p:txBody>
      </p:sp>
      <p:sp>
        <p:nvSpPr>
          <p:cNvPr id="7" name="Shape 4"/>
          <p:cNvSpPr/>
          <p:nvPr/>
        </p:nvSpPr>
        <p:spPr>
          <a:xfrm>
            <a:off x="457200" y="1938528"/>
            <a:ext cx="8229600" cy="0"/>
          </a:xfrm>
          <a:prstGeom prst="line">
            <a:avLst/>
          </a:prstGeom>
          <a:noFill/>
          <a:ln w="6350">
            <a:solidFill>
              <a:schemeClr val="accent6"/>
            </a:solidFill>
            <a:prstDash val="solid"/>
          </a:ln>
        </p:spPr>
      </p:sp>
      <p:sp>
        <p:nvSpPr>
          <p:cNvPr id="8" name="Text 5"/>
          <p:cNvSpPr txBox="1"/>
          <p:nvPr/>
        </p:nvSpPr>
        <p:spPr>
          <a:xfrm>
            <a:off x="457200" y="2057400"/>
            <a:ext cx="1280160" cy="548640"/>
          </a:xfrm>
          <a:prstGeom prst="rect">
            <a:avLst/>
          </a:prstGeom>
          <a:noFill/>
          <a:ln/>
        </p:spPr>
        <p:txBody>
          <a:bodyPr wrap="square" lIns="0" tIns="0" rIns="0" bIns="0" rtlCol="0" anchor="ctr"/>
          <a:lstStyle/>
          <a:p>
            <a:pPr indent="0" marL="0">
              <a:buNone/>
            </a:pPr>
            <a:r>
              <a:rPr lang="en-US" sz="2600" b="1" dirty="0">
                <a:solidFill>
                  <a:schemeClr val="accent1"/>
                </a:solidFill>
                <a:latin typeface="Cambria" pitchFamily="34" charset="0"/>
                <a:ea typeface="Cambria" pitchFamily="34" charset="-122"/>
                <a:cs typeface="Cambria" pitchFamily="34" charset="-120"/>
              </a:rPr>
              <a:t>IVF</a:t>
            </a:r>
            <a:endParaRPr lang="en-US" sz="2600" dirty="0"/>
          </a:p>
        </p:txBody>
      </p:sp>
      <p:sp>
        <p:nvSpPr>
          <p:cNvPr id="9" name="Text 6"/>
          <p:cNvSpPr txBox="1"/>
          <p:nvPr/>
        </p:nvSpPr>
        <p:spPr>
          <a:xfrm>
            <a:off x="1828800" y="2057400"/>
            <a:ext cx="2011680" cy="548640"/>
          </a:xfrm>
          <a:prstGeom prst="rect">
            <a:avLst/>
          </a:prstGeom>
          <a:noFill/>
          <a:ln/>
        </p:spPr>
        <p:txBody>
          <a:bodyPr wrap="square" lIns="0" tIns="0" rIns="0" bIns="0" rtlCol="0" anchor="ctr"/>
          <a:lstStyle/>
          <a:p>
            <a:pPr indent="0" marL="0">
              <a:buNone/>
            </a:pPr>
            <a:r>
              <a:rPr lang="en-US" sz="1800" i="1" dirty="0">
                <a:solidFill>
                  <a:schemeClr val="tx1"/>
                </a:solidFill>
                <a:latin typeface="Cambria" pitchFamily="34" charset="0"/>
                <a:ea typeface="Cambria" pitchFamily="34" charset="-122"/>
                <a:cs typeface="Cambria" pitchFamily="34" charset="-120"/>
              </a:rPr>
              <a:t>Clustering</a:t>
            </a:r>
            <a:endParaRPr lang="en-US" sz="1800" dirty="0"/>
          </a:p>
        </p:txBody>
      </p:sp>
      <p:sp>
        <p:nvSpPr>
          <p:cNvPr id="10" name="Text 7"/>
          <p:cNvSpPr txBox="1"/>
          <p:nvPr/>
        </p:nvSpPr>
        <p:spPr>
          <a:xfrm>
            <a:off x="3931920" y="2057400"/>
            <a:ext cx="4754880" cy="548640"/>
          </a:xfrm>
          <a:prstGeom prst="rect">
            <a:avLst/>
          </a:prstGeom>
          <a:noFill/>
          <a:ln/>
        </p:spPr>
        <p:txBody>
          <a:bodyPr wrap="square" lIns="0" tIns="0" rIns="0" bIns="0" rtlCol="0" anchor="ctr"/>
          <a:lstStyle/>
          <a:p>
            <a:pPr indent="0" marL="0">
              <a:buNone/>
            </a:pPr>
            <a:r>
              <a:rPr lang="en-US" sz="1400" dirty="0">
                <a:solidFill>
                  <a:schemeClr val="tx1"/>
                </a:solidFill>
              </a:rPr>
              <a:t>Fewer comparisons: only the cells nearest to the query.</a:t>
            </a:r>
            <a:endParaRPr lang="en-US" sz="1400" dirty="0"/>
          </a:p>
        </p:txBody>
      </p:sp>
      <p:sp>
        <p:nvSpPr>
          <p:cNvPr id="11" name="Shape 8"/>
          <p:cNvSpPr/>
          <p:nvPr/>
        </p:nvSpPr>
        <p:spPr>
          <a:xfrm>
            <a:off x="457200" y="2715768"/>
            <a:ext cx="8229600" cy="0"/>
          </a:xfrm>
          <a:prstGeom prst="line">
            <a:avLst/>
          </a:prstGeom>
          <a:noFill/>
          <a:ln w="6350">
            <a:solidFill>
              <a:schemeClr val="accent6"/>
            </a:solidFill>
            <a:prstDash val="solid"/>
          </a:ln>
        </p:spPr>
      </p:sp>
      <p:sp>
        <p:nvSpPr>
          <p:cNvPr id="12" name="Text 9"/>
          <p:cNvSpPr txBox="1"/>
          <p:nvPr/>
        </p:nvSpPr>
        <p:spPr>
          <a:xfrm>
            <a:off x="457200" y="2834640"/>
            <a:ext cx="1280160" cy="548640"/>
          </a:xfrm>
          <a:prstGeom prst="rect">
            <a:avLst/>
          </a:prstGeom>
          <a:noFill/>
          <a:ln/>
        </p:spPr>
        <p:txBody>
          <a:bodyPr wrap="square" lIns="0" tIns="0" rIns="0" bIns="0" rtlCol="0" anchor="ctr"/>
          <a:lstStyle/>
          <a:p>
            <a:pPr indent="0" marL="0">
              <a:buNone/>
            </a:pPr>
            <a:r>
              <a:rPr lang="en-US" sz="2600" b="1" dirty="0">
                <a:solidFill>
                  <a:schemeClr val="accent1"/>
                </a:solidFill>
                <a:latin typeface="Cambria" pitchFamily="34" charset="0"/>
                <a:ea typeface="Cambria" pitchFamily="34" charset="-122"/>
                <a:cs typeface="Cambria" pitchFamily="34" charset="-120"/>
              </a:rPr>
              <a:t>PQ</a:t>
            </a:r>
            <a:endParaRPr lang="en-US" sz="2600" dirty="0"/>
          </a:p>
        </p:txBody>
      </p:sp>
      <p:sp>
        <p:nvSpPr>
          <p:cNvPr id="13" name="Text 10"/>
          <p:cNvSpPr txBox="1"/>
          <p:nvPr/>
        </p:nvSpPr>
        <p:spPr>
          <a:xfrm>
            <a:off x="1828800" y="2834640"/>
            <a:ext cx="2011680" cy="548640"/>
          </a:xfrm>
          <a:prstGeom prst="rect">
            <a:avLst/>
          </a:prstGeom>
          <a:noFill/>
          <a:ln/>
        </p:spPr>
        <p:txBody>
          <a:bodyPr wrap="square" lIns="0" tIns="0" rIns="0" bIns="0" rtlCol="0" anchor="ctr"/>
          <a:lstStyle/>
          <a:p>
            <a:pPr indent="0" marL="0">
              <a:buNone/>
            </a:pPr>
            <a:r>
              <a:rPr lang="en-US" sz="1800" i="1" dirty="0">
                <a:solidFill>
                  <a:schemeClr val="tx1"/>
                </a:solidFill>
                <a:latin typeface="Cambria" pitchFamily="34" charset="0"/>
                <a:ea typeface="Cambria" pitchFamily="34" charset="-122"/>
                <a:cs typeface="Cambria" pitchFamily="34" charset="-120"/>
              </a:rPr>
              <a:t>Compression</a:t>
            </a:r>
            <a:endParaRPr lang="en-US" sz="1800" dirty="0"/>
          </a:p>
        </p:txBody>
      </p:sp>
      <p:sp>
        <p:nvSpPr>
          <p:cNvPr id="14" name="Text 11"/>
          <p:cNvSpPr txBox="1"/>
          <p:nvPr/>
        </p:nvSpPr>
        <p:spPr>
          <a:xfrm>
            <a:off x="3931920" y="2834640"/>
            <a:ext cx="4754880" cy="548640"/>
          </a:xfrm>
          <a:prstGeom prst="rect">
            <a:avLst/>
          </a:prstGeom>
          <a:noFill/>
          <a:ln/>
        </p:spPr>
        <p:txBody>
          <a:bodyPr wrap="square" lIns="0" tIns="0" rIns="0" bIns="0" rtlCol="0" anchor="ctr"/>
          <a:lstStyle/>
          <a:p>
            <a:pPr indent="0" marL="0">
              <a:buNone/>
            </a:pPr>
            <a:r>
              <a:rPr lang="en-US" sz="1400" dirty="0">
                <a:solidFill>
                  <a:schemeClr val="tx1"/>
                </a:solidFill>
              </a:rPr>
              <a:t>Cheaper comparisons and tiny memory: distances from lookup tables.</a:t>
            </a:r>
            <a:endParaRPr lang="en-US" sz="1400" dirty="0"/>
          </a:p>
        </p:txBody>
      </p:sp>
      <p:sp>
        <p:nvSpPr>
          <p:cNvPr id="15" name="Shape 12"/>
          <p:cNvSpPr/>
          <p:nvPr/>
        </p:nvSpPr>
        <p:spPr>
          <a:xfrm>
            <a:off x="457200" y="3493008"/>
            <a:ext cx="8229600" cy="0"/>
          </a:xfrm>
          <a:prstGeom prst="line">
            <a:avLst/>
          </a:prstGeom>
          <a:noFill/>
          <a:ln w="6350">
            <a:solidFill>
              <a:schemeClr val="accent6"/>
            </a:solidFill>
            <a:prstDash val="solid"/>
          </a:ln>
        </p:spPr>
      </p:sp>
      <p:sp>
        <p:nvSpPr>
          <p:cNvPr id="16" name="Text 13"/>
          <p:cNvSpPr txBox="1"/>
          <p:nvPr/>
        </p:nvSpPr>
        <p:spPr>
          <a:xfrm>
            <a:off x="457200" y="3611880"/>
            <a:ext cx="1280160" cy="548640"/>
          </a:xfrm>
          <a:prstGeom prst="rect">
            <a:avLst/>
          </a:prstGeom>
          <a:noFill/>
          <a:ln/>
        </p:spPr>
        <p:txBody>
          <a:bodyPr wrap="square" lIns="0" tIns="0" rIns="0" bIns="0" rtlCol="0" anchor="ctr"/>
          <a:lstStyle/>
          <a:p>
            <a:pPr indent="0" marL="0">
              <a:buNone/>
            </a:pPr>
            <a:r>
              <a:rPr lang="en-US" sz="2600" b="1" dirty="0">
                <a:solidFill>
                  <a:schemeClr val="accent1"/>
                </a:solidFill>
                <a:latin typeface="Cambria" pitchFamily="34" charset="0"/>
                <a:ea typeface="Cambria" pitchFamily="34" charset="-122"/>
                <a:cs typeface="Cambria" pitchFamily="34" charset="-120"/>
              </a:rPr>
              <a:t>HNSW</a:t>
            </a:r>
            <a:endParaRPr lang="en-US" sz="2600" dirty="0"/>
          </a:p>
        </p:txBody>
      </p:sp>
      <p:sp>
        <p:nvSpPr>
          <p:cNvPr id="17" name="Text 14"/>
          <p:cNvSpPr txBox="1"/>
          <p:nvPr/>
        </p:nvSpPr>
        <p:spPr>
          <a:xfrm>
            <a:off x="1828800" y="3611880"/>
            <a:ext cx="2011680" cy="548640"/>
          </a:xfrm>
          <a:prstGeom prst="rect">
            <a:avLst/>
          </a:prstGeom>
          <a:noFill/>
          <a:ln/>
        </p:spPr>
        <p:txBody>
          <a:bodyPr wrap="square" lIns="0" tIns="0" rIns="0" bIns="0" rtlCol="0" anchor="ctr"/>
          <a:lstStyle/>
          <a:p>
            <a:pPr indent="0" marL="0">
              <a:buNone/>
            </a:pPr>
            <a:r>
              <a:rPr lang="en-US" sz="1800" i="1" dirty="0">
                <a:solidFill>
                  <a:schemeClr val="tx1"/>
                </a:solidFill>
                <a:latin typeface="Cambria" pitchFamily="34" charset="0"/>
                <a:ea typeface="Cambria" pitchFamily="34" charset="-122"/>
                <a:cs typeface="Cambria" pitchFamily="34" charset="-120"/>
              </a:rPr>
              <a:t>Graph</a:t>
            </a:r>
            <a:endParaRPr lang="en-US" sz="1800" dirty="0"/>
          </a:p>
        </p:txBody>
      </p:sp>
      <p:sp>
        <p:nvSpPr>
          <p:cNvPr id="18" name="Text 15"/>
          <p:cNvSpPr txBox="1"/>
          <p:nvPr/>
        </p:nvSpPr>
        <p:spPr>
          <a:xfrm>
            <a:off x="3931920" y="3611880"/>
            <a:ext cx="4754880" cy="548640"/>
          </a:xfrm>
          <a:prstGeom prst="rect">
            <a:avLst/>
          </a:prstGeom>
          <a:noFill/>
          <a:ln/>
        </p:spPr>
        <p:txBody>
          <a:bodyPr wrap="square" lIns="0" tIns="0" rIns="0" bIns="0" rtlCol="0" anchor="ctr"/>
          <a:lstStyle/>
          <a:p>
            <a:pPr indent="0" marL="0">
              <a:buNone/>
            </a:pPr>
            <a:r>
              <a:rPr lang="en-US" sz="1400" dirty="0">
                <a:solidFill>
                  <a:schemeClr val="tx1"/>
                </a:solidFill>
              </a:rPr>
              <a:t>Fewer comparisons: walk from neighbor to neighbor toward the query.</a:t>
            </a:r>
            <a:endParaRPr lang="en-US" sz="1400" dirty="0"/>
          </a:p>
        </p:txBody>
      </p:sp>
      <p:sp>
        <p:nvSpPr>
          <p:cNvPr id="19" name="Shape 16"/>
          <p:cNvSpPr/>
          <p:nvPr/>
        </p:nvSpPr>
        <p:spPr>
          <a:xfrm>
            <a:off x="457200" y="4270248"/>
            <a:ext cx="8229600" cy="0"/>
          </a:xfrm>
          <a:prstGeom prst="line">
            <a:avLst/>
          </a:prstGeom>
          <a:noFill/>
          <a:ln w="6350">
            <a:solidFill>
              <a:schemeClr val="accent6"/>
            </a:solidFill>
            <a:prstDash val="solid"/>
          </a:ln>
        </p:spPr>
      </p:sp>
      <p:sp>
        <p:nvSpPr>
          <p:cNvPr id="20" name="Text 17"/>
          <p:cNvSpPr txBox="1"/>
          <p:nvPr/>
        </p:nvSpPr>
        <p:spPr>
          <a:xfrm>
            <a:off x="457200" y="4389120"/>
            <a:ext cx="8229600" cy="320040"/>
          </a:xfrm>
          <a:prstGeom prst="rect">
            <a:avLst/>
          </a:prstGeom>
          <a:noFill/>
          <a:ln/>
        </p:spPr>
        <p:txBody>
          <a:bodyPr wrap="square" lIns="0" tIns="0" rIns="0" bIns="0" rtlCol="0" anchor="t"/>
          <a:lstStyle/>
          <a:p>
            <a:pPr indent="0" marL="0">
              <a:buNone/>
            </a:pPr>
            <a:r>
              <a:rPr lang="en-US" sz="1400" i="1" dirty="0">
                <a:solidFill>
                  <a:schemeClr val="accent5"/>
                </a:solidFill>
                <a:latin typeface="Cambria" pitchFamily="34" charset="0"/>
                <a:ea typeface="Cambria" pitchFamily="34" charset="-122"/>
                <a:cs typeface="Cambria" pitchFamily="34" charset="-120"/>
              </a:rPr>
              <a:t>Real systems combine them: IVF-PQ, or HNSW over quantized vectors.</a:t>
            </a:r>
            <a:endParaRPr lang="en-US" sz="14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LSH: similar vectors collide</a:t>
            </a:r>
            <a:endParaRPr lang="en-US" sz="3000" dirty="0"/>
          </a:p>
        </p:txBody>
      </p:sp>
      <p:sp>
        <p:nvSpPr>
          <p:cNvPr id="4" name="Shape 1"/>
          <p:cNvSpPr/>
          <p:nvPr/>
        </p:nvSpPr>
        <p:spPr>
          <a:xfrm>
            <a:off x="457200" y="1280160"/>
            <a:ext cx="4389120" cy="3108960"/>
          </a:xfrm>
          <a:prstGeom prst="rect">
            <a:avLst/>
          </a:prstGeom>
          <a:solidFill>
            <a:schemeClr val="bg1"/>
          </a:solidFill>
          <a:ln w="12700">
            <a:solidFill>
              <a:schemeClr val="accent6"/>
            </a:solidFill>
            <a:prstDash val="solid"/>
          </a:ln>
        </p:spPr>
      </p:sp>
      <p:sp>
        <p:nvSpPr>
          <p:cNvPr id="5" name="Shape 2"/>
          <p:cNvSpPr/>
          <p:nvPr/>
        </p:nvSpPr>
        <p:spPr>
          <a:xfrm>
            <a:off x="2651760" y="1280160"/>
            <a:ext cx="0" cy="3108960"/>
          </a:xfrm>
          <a:prstGeom prst="line">
            <a:avLst/>
          </a:prstGeom>
          <a:noFill/>
          <a:ln w="19050">
            <a:solidFill>
              <a:srgbClr val="B5432A"/>
            </a:solidFill>
            <a:prstDash val="dash"/>
          </a:ln>
        </p:spPr>
      </p:sp>
      <p:sp>
        <p:nvSpPr>
          <p:cNvPr id="6" name="Shape 3"/>
          <p:cNvSpPr/>
          <p:nvPr/>
        </p:nvSpPr>
        <p:spPr>
          <a:xfrm>
            <a:off x="457200" y="2834640"/>
            <a:ext cx="4389120" cy="0"/>
          </a:xfrm>
          <a:prstGeom prst="line">
            <a:avLst/>
          </a:prstGeom>
          <a:noFill/>
          <a:ln w="19050">
            <a:solidFill>
              <a:srgbClr val="B5432A"/>
            </a:solidFill>
            <a:prstDash val="dash"/>
          </a:ln>
        </p:spPr>
      </p:sp>
      <p:sp>
        <p:nvSpPr>
          <p:cNvPr id="7" name="Shape 4"/>
          <p:cNvSpPr/>
          <p:nvPr/>
        </p:nvSpPr>
        <p:spPr>
          <a:xfrm>
            <a:off x="914400" y="1737360"/>
            <a:ext cx="182880" cy="182880"/>
          </a:xfrm>
          <a:prstGeom prst="ellipse">
            <a:avLst/>
          </a:prstGeom>
          <a:solidFill>
            <a:srgbClr val="2F5D8A"/>
          </a:solidFill>
          <a:ln w="12700">
            <a:solidFill>
              <a:srgbClr val="2F5D8A"/>
            </a:solidFill>
            <a:prstDash val="solid"/>
          </a:ln>
        </p:spPr>
      </p:sp>
      <p:sp>
        <p:nvSpPr>
          <p:cNvPr id="8" name="Shape 5"/>
          <p:cNvSpPr/>
          <p:nvPr/>
        </p:nvSpPr>
        <p:spPr>
          <a:xfrm>
            <a:off x="1554480" y="2194560"/>
            <a:ext cx="182880" cy="182880"/>
          </a:xfrm>
          <a:prstGeom prst="ellipse">
            <a:avLst/>
          </a:prstGeom>
          <a:solidFill>
            <a:srgbClr val="2F5D8A"/>
          </a:solidFill>
          <a:ln w="12700">
            <a:solidFill>
              <a:srgbClr val="2F5D8A"/>
            </a:solidFill>
            <a:prstDash val="solid"/>
          </a:ln>
        </p:spPr>
      </p:sp>
      <p:sp>
        <p:nvSpPr>
          <p:cNvPr id="9" name="Shape 6"/>
          <p:cNvSpPr/>
          <p:nvPr/>
        </p:nvSpPr>
        <p:spPr>
          <a:xfrm>
            <a:off x="2011680" y="1645920"/>
            <a:ext cx="182880" cy="182880"/>
          </a:xfrm>
          <a:prstGeom prst="ellipse">
            <a:avLst/>
          </a:prstGeom>
          <a:solidFill>
            <a:srgbClr val="2F5D8A"/>
          </a:solidFill>
          <a:ln w="12700">
            <a:solidFill>
              <a:srgbClr val="2F5D8A"/>
            </a:solidFill>
            <a:prstDash val="solid"/>
          </a:ln>
        </p:spPr>
      </p:sp>
      <p:sp>
        <p:nvSpPr>
          <p:cNvPr id="10" name="Shape 7"/>
          <p:cNvSpPr/>
          <p:nvPr/>
        </p:nvSpPr>
        <p:spPr>
          <a:xfrm>
            <a:off x="1188720" y="2468880"/>
            <a:ext cx="182880" cy="182880"/>
          </a:xfrm>
          <a:prstGeom prst="ellipse">
            <a:avLst/>
          </a:prstGeom>
          <a:solidFill>
            <a:srgbClr val="2F5D8A"/>
          </a:solidFill>
          <a:ln w="12700">
            <a:solidFill>
              <a:srgbClr val="2F5D8A"/>
            </a:solidFill>
            <a:prstDash val="solid"/>
          </a:ln>
        </p:spPr>
      </p:sp>
      <p:sp>
        <p:nvSpPr>
          <p:cNvPr id="11" name="Shape 8"/>
          <p:cNvSpPr/>
          <p:nvPr/>
        </p:nvSpPr>
        <p:spPr>
          <a:xfrm>
            <a:off x="3108960" y="1737360"/>
            <a:ext cx="182880" cy="182880"/>
          </a:xfrm>
          <a:prstGeom prst="ellipse">
            <a:avLst/>
          </a:prstGeom>
          <a:solidFill>
            <a:srgbClr val="8A6D1F"/>
          </a:solidFill>
          <a:ln w="12700">
            <a:solidFill>
              <a:srgbClr val="8A6D1F"/>
            </a:solidFill>
            <a:prstDash val="solid"/>
          </a:ln>
        </p:spPr>
      </p:sp>
      <p:sp>
        <p:nvSpPr>
          <p:cNvPr id="12" name="Shape 9"/>
          <p:cNvSpPr/>
          <p:nvPr/>
        </p:nvSpPr>
        <p:spPr>
          <a:xfrm>
            <a:off x="3840480" y="2103120"/>
            <a:ext cx="182880" cy="182880"/>
          </a:xfrm>
          <a:prstGeom prst="ellipse">
            <a:avLst/>
          </a:prstGeom>
          <a:solidFill>
            <a:srgbClr val="8A6D1F"/>
          </a:solidFill>
          <a:ln w="12700">
            <a:solidFill>
              <a:srgbClr val="8A6D1F"/>
            </a:solidFill>
            <a:prstDash val="solid"/>
          </a:ln>
        </p:spPr>
      </p:sp>
      <p:sp>
        <p:nvSpPr>
          <p:cNvPr id="13" name="Shape 10"/>
          <p:cNvSpPr/>
          <p:nvPr/>
        </p:nvSpPr>
        <p:spPr>
          <a:xfrm>
            <a:off x="4297680" y="1645920"/>
            <a:ext cx="182880" cy="182880"/>
          </a:xfrm>
          <a:prstGeom prst="ellipse">
            <a:avLst/>
          </a:prstGeom>
          <a:solidFill>
            <a:srgbClr val="8A6D1F"/>
          </a:solidFill>
          <a:ln w="12700">
            <a:solidFill>
              <a:srgbClr val="8A6D1F"/>
            </a:solidFill>
            <a:prstDash val="solid"/>
          </a:ln>
        </p:spPr>
      </p:sp>
      <p:sp>
        <p:nvSpPr>
          <p:cNvPr id="14" name="Shape 11"/>
          <p:cNvSpPr/>
          <p:nvPr/>
        </p:nvSpPr>
        <p:spPr>
          <a:xfrm>
            <a:off x="3474720" y="2468880"/>
            <a:ext cx="182880" cy="182880"/>
          </a:xfrm>
          <a:prstGeom prst="ellipse">
            <a:avLst/>
          </a:prstGeom>
          <a:solidFill>
            <a:srgbClr val="8A6D1F"/>
          </a:solidFill>
          <a:ln w="12700">
            <a:solidFill>
              <a:srgbClr val="8A6D1F"/>
            </a:solidFill>
            <a:prstDash val="solid"/>
          </a:ln>
        </p:spPr>
      </p:sp>
      <p:sp>
        <p:nvSpPr>
          <p:cNvPr id="15" name="Shape 12"/>
          <p:cNvSpPr/>
          <p:nvPr/>
        </p:nvSpPr>
        <p:spPr>
          <a:xfrm>
            <a:off x="1005840" y="3291840"/>
            <a:ext cx="182880" cy="182880"/>
          </a:xfrm>
          <a:prstGeom prst="ellipse">
            <a:avLst/>
          </a:prstGeom>
          <a:solidFill>
            <a:srgbClr val="3B7A57"/>
          </a:solidFill>
          <a:ln w="12700">
            <a:solidFill>
              <a:srgbClr val="3B7A57"/>
            </a:solidFill>
            <a:prstDash val="solid"/>
          </a:ln>
        </p:spPr>
      </p:sp>
      <p:sp>
        <p:nvSpPr>
          <p:cNvPr id="16" name="Shape 13"/>
          <p:cNvSpPr/>
          <p:nvPr/>
        </p:nvSpPr>
        <p:spPr>
          <a:xfrm>
            <a:off x="1737360" y="3840480"/>
            <a:ext cx="182880" cy="182880"/>
          </a:xfrm>
          <a:prstGeom prst="ellipse">
            <a:avLst/>
          </a:prstGeom>
          <a:solidFill>
            <a:srgbClr val="3B7A57"/>
          </a:solidFill>
          <a:ln w="12700">
            <a:solidFill>
              <a:srgbClr val="3B7A57"/>
            </a:solidFill>
            <a:prstDash val="solid"/>
          </a:ln>
        </p:spPr>
      </p:sp>
      <p:sp>
        <p:nvSpPr>
          <p:cNvPr id="17" name="Shape 14"/>
          <p:cNvSpPr/>
          <p:nvPr/>
        </p:nvSpPr>
        <p:spPr>
          <a:xfrm>
            <a:off x="2194560" y="3200400"/>
            <a:ext cx="182880" cy="182880"/>
          </a:xfrm>
          <a:prstGeom prst="ellipse">
            <a:avLst/>
          </a:prstGeom>
          <a:solidFill>
            <a:srgbClr val="3B7A57"/>
          </a:solidFill>
          <a:ln w="12700">
            <a:solidFill>
              <a:srgbClr val="3B7A57"/>
            </a:solidFill>
            <a:prstDash val="solid"/>
          </a:ln>
        </p:spPr>
      </p:sp>
      <p:sp>
        <p:nvSpPr>
          <p:cNvPr id="18" name="Shape 15"/>
          <p:cNvSpPr/>
          <p:nvPr/>
        </p:nvSpPr>
        <p:spPr>
          <a:xfrm>
            <a:off x="3200400" y="3383280"/>
            <a:ext cx="182880" cy="182880"/>
          </a:xfrm>
          <a:prstGeom prst="ellipse">
            <a:avLst/>
          </a:prstGeom>
          <a:solidFill>
            <a:srgbClr val="B5432A"/>
          </a:solidFill>
          <a:ln w="12700">
            <a:solidFill>
              <a:srgbClr val="B5432A"/>
            </a:solidFill>
            <a:prstDash val="solid"/>
          </a:ln>
        </p:spPr>
      </p:sp>
      <p:sp>
        <p:nvSpPr>
          <p:cNvPr id="19" name="Shape 16"/>
          <p:cNvSpPr/>
          <p:nvPr/>
        </p:nvSpPr>
        <p:spPr>
          <a:xfrm>
            <a:off x="3931920" y="3931920"/>
            <a:ext cx="182880" cy="182880"/>
          </a:xfrm>
          <a:prstGeom prst="ellipse">
            <a:avLst/>
          </a:prstGeom>
          <a:solidFill>
            <a:srgbClr val="B5432A"/>
          </a:solidFill>
          <a:ln w="12700">
            <a:solidFill>
              <a:srgbClr val="B5432A"/>
            </a:solidFill>
            <a:prstDash val="solid"/>
          </a:ln>
        </p:spPr>
      </p:sp>
      <p:sp>
        <p:nvSpPr>
          <p:cNvPr id="20" name="Shape 17"/>
          <p:cNvSpPr/>
          <p:nvPr/>
        </p:nvSpPr>
        <p:spPr>
          <a:xfrm>
            <a:off x="4206240" y="3200400"/>
            <a:ext cx="182880" cy="182880"/>
          </a:xfrm>
          <a:prstGeom prst="ellipse">
            <a:avLst/>
          </a:prstGeom>
          <a:solidFill>
            <a:srgbClr val="B5432A"/>
          </a:solidFill>
          <a:ln w="12700">
            <a:solidFill>
              <a:srgbClr val="B5432A"/>
            </a:solidFill>
            <a:prstDash val="solid"/>
          </a:ln>
        </p:spPr>
      </p:sp>
      <p:sp>
        <p:nvSpPr>
          <p:cNvPr id="21" name="Text 18"/>
          <p:cNvSpPr txBox="1"/>
          <p:nvPr/>
        </p:nvSpPr>
        <p:spPr>
          <a:xfrm>
            <a:off x="548640" y="1325880"/>
            <a:ext cx="365760" cy="274320"/>
          </a:xfrm>
          <a:prstGeom prst="rect">
            <a:avLst/>
          </a:prstGeom>
          <a:noFill/>
          <a:ln/>
        </p:spPr>
        <p:txBody>
          <a:bodyPr wrap="square" lIns="0" tIns="0" rIns="0" bIns="0" rtlCol="0" anchor="t"/>
          <a:lstStyle/>
          <a:p>
            <a:pPr indent="0" marL="0">
              <a:buNone/>
            </a:pPr>
            <a:r>
              <a:rPr lang="en-US" sz="1200" b="1" dirty="0">
                <a:solidFill>
                  <a:schemeClr val="accent5"/>
                </a:solidFill>
              </a:rPr>
              <a:t>00</a:t>
            </a:r>
            <a:endParaRPr lang="en-US" sz="1200" dirty="0"/>
          </a:p>
        </p:txBody>
      </p:sp>
      <p:sp>
        <p:nvSpPr>
          <p:cNvPr id="22" name="Text 19"/>
          <p:cNvSpPr txBox="1"/>
          <p:nvPr/>
        </p:nvSpPr>
        <p:spPr>
          <a:xfrm>
            <a:off x="4343400" y="1325880"/>
            <a:ext cx="365760" cy="274320"/>
          </a:xfrm>
          <a:prstGeom prst="rect">
            <a:avLst/>
          </a:prstGeom>
          <a:noFill/>
          <a:ln/>
        </p:spPr>
        <p:txBody>
          <a:bodyPr wrap="square" lIns="0" tIns="0" rIns="0" bIns="0" rtlCol="0" anchor="t"/>
          <a:lstStyle/>
          <a:p>
            <a:pPr indent="0" marL="0">
              <a:buNone/>
            </a:pPr>
            <a:r>
              <a:rPr lang="en-US" sz="1200" b="1" dirty="0">
                <a:solidFill>
                  <a:schemeClr val="accent5"/>
                </a:solidFill>
              </a:rPr>
              <a:t>01</a:t>
            </a:r>
            <a:endParaRPr lang="en-US" sz="1200" dirty="0"/>
          </a:p>
        </p:txBody>
      </p:sp>
      <p:sp>
        <p:nvSpPr>
          <p:cNvPr id="23" name="Text 20"/>
          <p:cNvSpPr txBox="1"/>
          <p:nvPr/>
        </p:nvSpPr>
        <p:spPr>
          <a:xfrm>
            <a:off x="548640" y="4069080"/>
            <a:ext cx="365760" cy="274320"/>
          </a:xfrm>
          <a:prstGeom prst="rect">
            <a:avLst/>
          </a:prstGeom>
          <a:noFill/>
          <a:ln/>
        </p:spPr>
        <p:txBody>
          <a:bodyPr wrap="square" lIns="0" tIns="0" rIns="0" bIns="0" rtlCol="0" anchor="t"/>
          <a:lstStyle/>
          <a:p>
            <a:pPr indent="0" marL="0">
              <a:buNone/>
            </a:pPr>
            <a:r>
              <a:rPr lang="en-US" sz="1200" b="1" dirty="0">
                <a:solidFill>
                  <a:schemeClr val="accent5"/>
                </a:solidFill>
              </a:rPr>
              <a:t>10</a:t>
            </a:r>
            <a:endParaRPr lang="en-US" sz="1200" dirty="0"/>
          </a:p>
        </p:txBody>
      </p:sp>
      <p:sp>
        <p:nvSpPr>
          <p:cNvPr id="24" name="Text 21"/>
          <p:cNvSpPr txBox="1"/>
          <p:nvPr/>
        </p:nvSpPr>
        <p:spPr>
          <a:xfrm>
            <a:off x="4343400" y="4069080"/>
            <a:ext cx="365760" cy="274320"/>
          </a:xfrm>
          <a:prstGeom prst="rect">
            <a:avLst/>
          </a:prstGeom>
          <a:noFill/>
          <a:ln/>
        </p:spPr>
        <p:txBody>
          <a:bodyPr wrap="square" lIns="0" tIns="0" rIns="0" bIns="0" rtlCol="0" anchor="t"/>
          <a:lstStyle/>
          <a:p>
            <a:pPr indent="0" marL="0">
              <a:buNone/>
            </a:pPr>
            <a:r>
              <a:rPr lang="en-US" sz="1200" b="1" dirty="0">
                <a:solidFill>
                  <a:schemeClr val="accent5"/>
                </a:solidFill>
              </a:rPr>
              <a:t>11</a:t>
            </a:r>
            <a:endParaRPr lang="en-US" sz="1200" dirty="0"/>
          </a:p>
        </p:txBody>
      </p:sp>
      <p:sp>
        <p:nvSpPr>
          <p:cNvPr id="25" name="Text 22"/>
          <p:cNvSpPr txBox="1"/>
          <p:nvPr/>
        </p:nvSpPr>
        <p:spPr>
          <a:xfrm>
            <a:off x="457200" y="4434840"/>
            <a:ext cx="4572000" cy="274320"/>
          </a:xfrm>
          <a:prstGeom prst="rect">
            <a:avLst/>
          </a:prstGeom>
          <a:noFill/>
          <a:ln/>
        </p:spPr>
        <p:txBody>
          <a:bodyPr wrap="square" lIns="0" tIns="0" rIns="0" bIns="0" rtlCol="0" anchor="t"/>
          <a:lstStyle/>
          <a:p>
            <a:pPr indent="0" marL="0">
              <a:buNone/>
            </a:pPr>
            <a:r>
              <a:rPr lang="en-US" sz="1100" i="1" dirty="0">
                <a:solidFill>
                  <a:schemeClr val="accent5"/>
                </a:solidFill>
                <a:latin typeface="Cambria" pitchFamily="34" charset="0"/>
                <a:ea typeface="Cambria" pitchFamily="34" charset="-122"/>
                <a:cs typeface="Cambria" pitchFamily="34" charset="-120"/>
              </a:rPr>
              <a:t>Figure 4.4  Two random hyperplanes give a 2-bit bucket key</a:t>
            </a:r>
            <a:endParaRPr lang="en-US" sz="1100" dirty="0"/>
          </a:p>
        </p:txBody>
      </p:sp>
      <p:sp>
        <p:nvSpPr>
          <p:cNvPr id="26" name="Text 23"/>
          <p:cNvSpPr txBox="1"/>
          <p:nvPr/>
        </p:nvSpPr>
        <p:spPr>
          <a:xfrm>
            <a:off x="5120640" y="1280160"/>
            <a:ext cx="3566160" cy="36576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Hash with random planes</a:t>
            </a:r>
            <a:endParaRPr lang="en-US" sz="1800" dirty="0"/>
          </a:p>
        </p:txBody>
      </p:sp>
      <p:sp>
        <p:nvSpPr>
          <p:cNvPr id="27" name="Text 24"/>
          <p:cNvSpPr txBox="1"/>
          <p:nvPr/>
        </p:nvSpPr>
        <p:spPr>
          <a:xfrm>
            <a:off x="5120640" y="1737360"/>
            <a:ext cx="3566160" cy="17373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Each hyperplane gives 1 bit: sign(w · x)</a:t>
            </a:r>
            <a:endParaRPr lang="en-US" sz="1400" dirty="0"/>
          </a:p>
          <a:p>
            <a:pPr marL="342900" indent="-342900">
              <a:spcAft>
                <a:spcPts val="600"/>
              </a:spcAft>
              <a:buSzPct val="100000"/>
              <a:buChar char="•"/>
            </a:pPr>
            <a:r>
              <a:rPr lang="en-US" sz="1400" dirty="0">
                <a:solidFill>
                  <a:schemeClr val="tx1"/>
                </a:solidFill>
              </a:rPr>
              <a:t>The bits form a bucket key</a:t>
            </a:r>
            <a:endParaRPr lang="en-US" sz="1400" dirty="0"/>
          </a:p>
          <a:p>
            <a:pPr marL="342900" indent="-342900">
              <a:spcAft>
                <a:spcPts val="600"/>
              </a:spcAft>
              <a:buSzPct val="100000"/>
              <a:buChar char="•"/>
            </a:pPr>
            <a:r>
              <a:rPr lang="en-US" sz="1400" dirty="0">
                <a:solidFill>
                  <a:schemeClr val="tx1"/>
                </a:solidFill>
              </a:rPr>
              <a:t>Search only the query's bucket</a:t>
            </a:r>
            <a:endParaRPr lang="en-US" sz="1400" dirty="0"/>
          </a:p>
          <a:p>
            <a:pPr marL="342900" indent="-342900">
              <a:spcAft>
                <a:spcPts val="600"/>
              </a:spcAft>
              <a:buSzPct val="100000"/>
              <a:buChar char="•"/>
            </a:pPr>
            <a:r>
              <a:rPr lang="en-US" sz="1400" dirty="0">
                <a:solidFill>
                  <a:schemeClr val="tx1"/>
                </a:solidFill>
              </a:rPr>
              <a:t>Several tables raise recall</a:t>
            </a:r>
            <a:endParaRPr lang="en-US" sz="1400" dirty="0"/>
          </a:p>
        </p:txBody>
      </p:sp>
      <p:sp>
        <p:nvSpPr>
          <p:cNvPr id="28" name="Text 25"/>
          <p:cNvSpPr txBox="1"/>
          <p:nvPr/>
        </p:nvSpPr>
        <p:spPr>
          <a:xfrm>
            <a:off x="5120640" y="3520440"/>
            <a:ext cx="3566160" cy="1005840"/>
          </a:xfrm>
          <a:prstGeom prst="rect">
            <a:avLst/>
          </a:prstGeom>
          <a:noFill/>
          <a:ln/>
        </p:spPr>
        <p:txBody>
          <a:bodyPr wrap="square" lIns="0" tIns="0" rIns="0" bIns="0" rtlCol="0" anchor="t"/>
          <a:lstStyle/>
          <a:p>
            <a:pPr indent="0" marL="0">
              <a:buNone/>
            </a:pPr>
            <a:r>
              <a:rPr lang="en-US" sz="1400" b="1" dirty="0">
                <a:solidFill>
                  <a:srgbClr val="B5432A"/>
                </a:solidFill>
                <a:latin typeface="Cambria" pitchFamily="34" charset="0"/>
                <a:ea typeface="Cambria" pitchFamily="34" charset="-122"/>
                <a:cs typeface="Cambria" pitchFamily="34" charset="-120"/>
              </a:rPr>
              <a:t>Trade-off  </a:t>
            </a:r>
            <a:pPr indent="0" marL="0">
              <a:buNone/>
            </a:pPr>
            <a:r>
              <a:rPr lang="en-US" sz="1400" dirty="0">
                <a:solidFill>
                  <a:schemeClr val="tx1"/>
                </a:solidFill>
                <a:latin typeface="Cambria" pitchFamily="34" charset="0"/>
                <a:ea typeface="Cambria" pitchFamily="34" charset="-122"/>
                <a:cs typeface="Cambria" pitchFamily="34" charset="-120"/>
              </a:rPr>
              <a:t>Cheap to build and update, but needs many tables for high recall on dense embeddings.</a:t>
            </a:r>
            <a:endParaRPr lang="en-US" sz="14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IVF: search only the nearest cells</a:t>
            </a:r>
            <a:endParaRPr lang="en-US" sz="3000" dirty="0"/>
          </a:p>
        </p:txBody>
      </p:sp>
      <p:sp>
        <p:nvSpPr>
          <p:cNvPr id="4" name="Shape 1"/>
          <p:cNvSpPr/>
          <p:nvPr/>
        </p:nvSpPr>
        <p:spPr>
          <a:xfrm>
            <a:off x="457200" y="1280160"/>
            <a:ext cx="4389120" cy="3108960"/>
          </a:xfrm>
          <a:prstGeom prst="rect">
            <a:avLst/>
          </a:prstGeom>
          <a:solidFill>
            <a:schemeClr val="bg1"/>
          </a:solidFill>
          <a:ln w="12700">
            <a:solidFill>
              <a:schemeClr val="accent6"/>
            </a:solidFill>
            <a:prstDash val="solid"/>
          </a:ln>
        </p:spPr>
      </p:sp>
      <p:sp>
        <p:nvSpPr>
          <p:cNvPr id="5" name="Shape 2"/>
          <p:cNvSpPr/>
          <p:nvPr/>
        </p:nvSpPr>
        <p:spPr>
          <a:xfrm>
            <a:off x="594360" y="1325880"/>
            <a:ext cx="1737360" cy="1737360"/>
          </a:xfrm>
          <a:prstGeom prst="ellipse">
            <a:avLst/>
          </a:prstGeom>
          <a:solidFill>
            <a:srgbClr val="2F5D8A">
              <a:alpha val="18000"/>
            </a:srgbClr>
          </a:solidFill>
          <a:ln w="12700">
            <a:solidFill>
              <a:srgbClr val="6B7280"/>
            </a:solidFill>
            <a:prstDash val="dash"/>
          </a:ln>
        </p:spPr>
      </p:sp>
      <p:sp>
        <p:nvSpPr>
          <p:cNvPr id="6" name="Shape 3"/>
          <p:cNvSpPr/>
          <p:nvPr/>
        </p:nvSpPr>
        <p:spPr>
          <a:xfrm>
            <a:off x="1033272" y="1856232"/>
            <a:ext cx="128016" cy="128016"/>
          </a:xfrm>
          <a:prstGeom prst="ellipse">
            <a:avLst/>
          </a:prstGeom>
          <a:solidFill>
            <a:srgbClr val="2F5D8A"/>
          </a:solidFill>
          <a:ln w="12700">
            <a:solidFill>
              <a:srgbClr val="2F5D8A"/>
            </a:solidFill>
            <a:prstDash val="solid"/>
          </a:ln>
        </p:spPr>
      </p:sp>
      <p:sp>
        <p:nvSpPr>
          <p:cNvPr id="7" name="Shape 4"/>
          <p:cNvSpPr/>
          <p:nvPr/>
        </p:nvSpPr>
        <p:spPr>
          <a:xfrm>
            <a:off x="1719072" y="1719072"/>
            <a:ext cx="128016" cy="128016"/>
          </a:xfrm>
          <a:prstGeom prst="ellipse">
            <a:avLst/>
          </a:prstGeom>
          <a:solidFill>
            <a:srgbClr val="2F5D8A"/>
          </a:solidFill>
          <a:ln w="12700">
            <a:solidFill>
              <a:srgbClr val="2F5D8A"/>
            </a:solidFill>
            <a:prstDash val="solid"/>
          </a:ln>
        </p:spPr>
      </p:sp>
      <p:sp>
        <p:nvSpPr>
          <p:cNvPr id="8" name="Shape 5"/>
          <p:cNvSpPr/>
          <p:nvPr/>
        </p:nvSpPr>
        <p:spPr>
          <a:xfrm>
            <a:off x="1856232" y="2313432"/>
            <a:ext cx="128016" cy="128016"/>
          </a:xfrm>
          <a:prstGeom prst="ellipse">
            <a:avLst/>
          </a:prstGeom>
          <a:solidFill>
            <a:srgbClr val="2F5D8A"/>
          </a:solidFill>
          <a:ln w="12700">
            <a:solidFill>
              <a:srgbClr val="2F5D8A"/>
            </a:solidFill>
            <a:prstDash val="solid"/>
          </a:ln>
        </p:spPr>
      </p:sp>
      <p:sp>
        <p:nvSpPr>
          <p:cNvPr id="9" name="Shape 6"/>
          <p:cNvSpPr/>
          <p:nvPr/>
        </p:nvSpPr>
        <p:spPr>
          <a:xfrm>
            <a:off x="1216152" y="2587752"/>
            <a:ext cx="128016" cy="128016"/>
          </a:xfrm>
          <a:prstGeom prst="ellipse">
            <a:avLst/>
          </a:prstGeom>
          <a:solidFill>
            <a:srgbClr val="2F5D8A"/>
          </a:solidFill>
          <a:ln w="12700">
            <a:solidFill>
              <a:srgbClr val="2F5D8A"/>
            </a:solidFill>
            <a:prstDash val="solid"/>
          </a:ln>
        </p:spPr>
      </p:sp>
      <p:sp>
        <p:nvSpPr>
          <p:cNvPr id="10" name="Shape 7"/>
          <p:cNvSpPr/>
          <p:nvPr/>
        </p:nvSpPr>
        <p:spPr>
          <a:xfrm>
            <a:off x="1490472" y="2130552"/>
            <a:ext cx="128016" cy="128016"/>
          </a:xfrm>
          <a:prstGeom prst="ellipse">
            <a:avLst/>
          </a:prstGeom>
          <a:solidFill>
            <a:srgbClr val="2F5D8A"/>
          </a:solidFill>
          <a:ln w="12700">
            <a:solidFill>
              <a:srgbClr val="2F5D8A"/>
            </a:solidFill>
            <a:prstDash val="solid"/>
          </a:ln>
        </p:spPr>
      </p:sp>
      <p:sp>
        <p:nvSpPr>
          <p:cNvPr id="11" name="Shape 8"/>
          <p:cNvSpPr/>
          <p:nvPr/>
        </p:nvSpPr>
        <p:spPr>
          <a:xfrm>
            <a:off x="1389888" y="2121408"/>
            <a:ext cx="146304" cy="146304"/>
          </a:xfrm>
          <a:prstGeom prst="rect">
            <a:avLst/>
          </a:prstGeom>
          <a:solidFill>
            <a:srgbClr val="1B2A41"/>
          </a:solidFill>
          <a:ln w="12700">
            <a:solidFill>
              <a:srgbClr val="1B2A41"/>
            </a:solidFill>
            <a:prstDash val="solid"/>
          </a:ln>
        </p:spPr>
      </p:sp>
      <p:sp>
        <p:nvSpPr>
          <p:cNvPr id="12" name="Shape 9"/>
          <p:cNvSpPr/>
          <p:nvPr/>
        </p:nvSpPr>
        <p:spPr>
          <a:xfrm>
            <a:off x="2788920" y="1325880"/>
            <a:ext cx="1737360" cy="1737360"/>
          </a:xfrm>
          <a:prstGeom prst="ellipse">
            <a:avLst/>
          </a:prstGeom>
          <a:solidFill>
            <a:srgbClr val="8A6D1F">
              <a:alpha val="18000"/>
            </a:srgbClr>
          </a:solidFill>
          <a:ln w="28575">
            <a:solidFill>
              <a:srgbClr val="B5432A"/>
            </a:solidFill>
            <a:prstDash val="solid"/>
          </a:ln>
        </p:spPr>
      </p:sp>
      <p:sp>
        <p:nvSpPr>
          <p:cNvPr id="13" name="Shape 10"/>
          <p:cNvSpPr/>
          <p:nvPr/>
        </p:nvSpPr>
        <p:spPr>
          <a:xfrm>
            <a:off x="3227832" y="1856232"/>
            <a:ext cx="128016" cy="128016"/>
          </a:xfrm>
          <a:prstGeom prst="ellipse">
            <a:avLst/>
          </a:prstGeom>
          <a:solidFill>
            <a:srgbClr val="8A6D1F"/>
          </a:solidFill>
          <a:ln w="12700">
            <a:solidFill>
              <a:srgbClr val="8A6D1F"/>
            </a:solidFill>
            <a:prstDash val="solid"/>
          </a:ln>
        </p:spPr>
      </p:sp>
      <p:sp>
        <p:nvSpPr>
          <p:cNvPr id="14" name="Shape 11"/>
          <p:cNvSpPr/>
          <p:nvPr/>
        </p:nvSpPr>
        <p:spPr>
          <a:xfrm>
            <a:off x="3913632" y="1719072"/>
            <a:ext cx="128016" cy="128016"/>
          </a:xfrm>
          <a:prstGeom prst="ellipse">
            <a:avLst/>
          </a:prstGeom>
          <a:solidFill>
            <a:srgbClr val="8A6D1F"/>
          </a:solidFill>
          <a:ln w="12700">
            <a:solidFill>
              <a:srgbClr val="8A6D1F"/>
            </a:solidFill>
            <a:prstDash val="solid"/>
          </a:ln>
        </p:spPr>
      </p:sp>
      <p:sp>
        <p:nvSpPr>
          <p:cNvPr id="15" name="Shape 12"/>
          <p:cNvSpPr/>
          <p:nvPr/>
        </p:nvSpPr>
        <p:spPr>
          <a:xfrm>
            <a:off x="4050792" y="2313432"/>
            <a:ext cx="128016" cy="128016"/>
          </a:xfrm>
          <a:prstGeom prst="ellipse">
            <a:avLst/>
          </a:prstGeom>
          <a:solidFill>
            <a:srgbClr val="8A6D1F"/>
          </a:solidFill>
          <a:ln w="12700">
            <a:solidFill>
              <a:srgbClr val="8A6D1F"/>
            </a:solidFill>
            <a:prstDash val="solid"/>
          </a:ln>
        </p:spPr>
      </p:sp>
      <p:sp>
        <p:nvSpPr>
          <p:cNvPr id="16" name="Shape 13"/>
          <p:cNvSpPr/>
          <p:nvPr/>
        </p:nvSpPr>
        <p:spPr>
          <a:xfrm>
            <a:off x="3410712" y="2587752"/>
            <a:ext cx="128016" cy="128016"/>
          </a:xfrm>
          <a:prstGeom prst="ellipse">
            <a:avLst/>
          </a:prstGeom>
          <a:solidFill>
            <a:srgbClr val="8A6D1F"/>
          </a:solidFill>
          <a:ln w="12700">
            <a:solidFill>
              <a:srgbClr val="8A6D1F"/>
            </a:solidFill>
            <a:prstDash val="solid"/>
          </a:ln>
        </p:spPr>
      </p:sp>
      <p:sp>
        <p:nvSpPr>
          <p:cNvPr id="17" name="Shape 14"/>
          <p:cNvSpPr/>
          <p:nvPr/>
        </p:nvSpPr>
        <p:spPr>
          <a:xfrm>
            <a:off x="3685032" y="2130552"/>
            <a:ext cx="128016" cy="128016"/>
          </a:xfrm>
          <a:prstGeom prst="ellipse">
            <a:avLst/>
          </a:prstGeom>
          <a:solidFill>
            <a:srgbClr val="8A6D1F"/>
          </a:solidFill>
          <a:ln w="12700">
            <a:solidFill>
              <a:srgbClr val="8A6D1F"/>
            </a:solidFill>
            <a:prstDash val="solid"/>
          </a:ln>
        </p:spPr>
      </p:sp>
      <p:sp>
        <p:nvSpPr>
          <p:cNvPr id="18" name="Shape 15"/>
          <p:cNvSpPr/>
          <p:nvPr/>
        </p:nvSpPr>
        <p:spPr>
          <a:xfrm>
            <a:off x="3584448" y="2121408"/>
            <a:ext cx="146304" cy="146304"/>
          </a:xfrm>
          <a:prstGeom prst="rect">
            <a:avLst/>
          </a:prstGeom>
          <a:solidFill>
            <a:srgbClr val="1B2A41"/>
          </a:solidFill>
          <a:ln w="12700">
            <a:solidFill>
              <a:srgbClr val="1B2A41"/>
            </a:solidFill>
            <a:prstDash val="solid"/>
          </a:ln>
        </p:spPr>
      </p:sp>
      <p:sp>
        <p:nvSpPr>
          <p:cNvPr id="19" name="Shape 16"/>
          <p:cNvSpPr/>
          <p:nvPr/>
        </p:nvSpPr>
        <p:spPr>
          <a:xfrm>
            <a:off x="868680" y="2697480"/>
            <a:ext cx="1737360" cy="1737360"/>
          </a:xfrm>
          <a:prstGeom prst="ellipse">
            <a:avLst/>
          </a:prstGeom>
          <a:solidFill>
            <a:srgbClr val="3B7A57">
              <a:alpha val="18000"/>
            </a:srgbClr>
          </a:solidFill>
          <a:ln w="28575">
            <a:solidFill>
              <a:srgbClr val="B5432A"/>
            </a:solidFill>
            <a:prstDash val="solid"/>
          </a:ln>
        </p:spPr>
      </p:sp>
      <p:sp>
        <p:nvSpPr>
          <p:cNvPr id="20" name="Shape 17"/>
          <p:cNvSpPr/>
          <p:nvPr/>
        </p:nvSpPr>
        <p:spPr>
          <a:xfrm>
            <a:off x="1307592" y="3227832"/>
            <a:ext cx="128016" cy="128016"/>
          </a:xfrm>
          <a:prstGeom prst="ellipse">
            <a:avLst/>
          </a:prstGeom>
          <a:solidFill>
            <a:srgbClr val="3B7A57"/>
          </a:solidFill>
          <a:ln w="12700">
            <a:solidFill>
              <a:srgbClr val="3B7A57"/>
            </a:solidFill>
            <a:prstDash val="solid"/>
          </a:ln>
        </p:spPr>
      </p:sp>
      <p:sp>
        <p:nvSpPr>
          <p:cNvPr id="21" name="Shape 18"/>
          <p:cNvSpPr/>
          <p:nvPr/>
        </p:nvSpPr>
        <p:spPr>
          <a:xfrm>
            <a:off x="1993392" y="3090672"/>
            <a:ext cx="128016" cy="128016"/>
          </a:xfrm>
          <a:prstGeom prst="ellipse">
            <a:avLst/>
          </a:prstGeom>
          <a:solidFill>
            <a:srgbClr val="3B7A57"/>
          </a:solidFill>
          <a:ln w="12700">
            <a:solidFill>
              <a:srgbClr val="3B7A57"/>
            </a:solidFill>
            <a:prstDash val="solid"/>
          </a:ln>
        </p:spPr>
      </p:sp>
      <p:sp>
        <p:nvSpPr>
          <p:cNvPr id="22" name="Shape 19"/>
          <p:cNvSpPr/>
          <p:nvPr/>
        </p:nvSpPr>
        <p:spPr>
          <a:xfrm>
            <a:off x="2130552" y="3685032"/>
            <a:ext cx="128016" cy="128016"/>
          </a:xfrm>
          <a:prstGeom prst="ellipse">
            <a:avLst/>
          </a:prstGeom>
          <a:solidFill>
            <a:srgbClr val="3B7A57"/>
          </a:solidFill>
          <a:ln w="12700">
            <a:solidFill>
              <a:srgbClr val="3B7A57"/>
            </a:solidFill>
            <a:prstDash val="solid"/>
          </a:ln>
        </p:spPr>
      </p:sp>
      <p:sp>
        <p:nvSpPr>
          <p:cNvPr id="23" name="Shape 20"/>
          <p:cNvSpPr/>
          <p:nvPr/>
        </p:nvSpPr>
        <p:spPr>
          <a:xfrm>
            <a:off x="1490472" y="3959352"/>
            <a:ext cx="128016" cy="128016"/>
          </a:xfrm>
          <a:prstGeom prst="ellipse">
            <a:avLst/>
          </a:prstGeom>
          <a:solidFill>
            <a:srgbClr val="3B7A57"/>
          </a:solidFill>
          <a:ln w="12700">
            <a:solidFill>
              <a:srgbClr val="3B7A57"/>
            </a:solidFill>
            <a:prstDash val="solid"/>
          </a:ln>
        </p:spPr>
      </p:sp>
      <p:sp>
        <p:nvSpPr>
          <p:cNvPr id="24" name="Shape 21"/>
          <p:cNvSpPr/>
          <p:nvPr/>
        </p:nvSpPr>
        <p:spPr>
          <a:xfrm>
            <a:off x="1764792" y="3502152"/>
            <a:ext cx="128016" cy="128016"/>
          </a:xfrm>
          <a:prstGeom prst="ellipse">
            <a:avLst/>
          </a:prstGeom>
          <a:solidFill>
            <a:srgbClr val="3B7A57"/>
          </a:solidFill>
          <a:ln w="12700">
            <a:solidFill>
              <a:srgbClr val="3B7A57"/>
            </a:solidFill>
            <a:prstDash val="solid"/>
          </a:ln>
        </p:spPr>
      </p:sp>
      <p:sp>
        <p:nvSpPr>
          <p:cNvPr id="25" name="Shape 22"/>
          <p:cNvSpPr/>
          <p:nvPr/>
        </p:nvSpPr>
        <p:spPr>
          <a:xfrm>
            <a:off x="1664208" y="3493008"/>
            <a:ext cx="146304" cy="146304"/>
          </a:xfrm>
          <a:prstGeom prst="rect">
            <a:avLst/>
          </a:prstGeom>
          <a:solidFill>
            <a:srgbClr val="1B2A41"/>
          </a:solidFill>
          <a:ln w="12700">
            <a:solidFill>
              <a:srgbClr val="1B2A41"/>
            </a:solidFill>
            <a:prstDash val="solid"/>
          </a:ln>
        </p:spPr>
      </p:sp>
      <p:sp>
        <p:nvSpPr>
          <p:cNvPr id="26" name="Shape 23"/>
          <p:cNvSpPr/>
          <p:nvPr/>
        </p:nvSpPr>
        <p:spPr>
          <a:xfrm>
            <a:off x="2880360" y="2697480"/>
            <a:ext cx="1737360" cy="1737360"/>
          </a:xfrm>
          <a:prstGeom prst="ellipse">
            <a:avLst/>
          </a:prstGeom>
          <a:solidFill>
            <a:srgbClr val="D1D5DB">
              <a:alpha val="18000"/>
            </a:srgbClr>
          </a:solidFill>
          <a:ln w="12700">
            <a:solidFill>
              <a:srgbClr val="6B7280"/>
            </a:solidFill>
            <a:prstDash val="dash"/>
          </a:ln>
        </p:spPr>
      </p:sp>
      <p:sp>
        <p:nvSpPr>
          <p:cNvPr id="27" name="Shape 24"/>
          <p:cNvSpPr/>
          <p:nvPr/>
        </p:nvSpPr>
        <p:spPr>
          <a:xfrm>
            <a:off x="3319272" y="3227832"/>
            <a:ext cx="128016" cy="128016"/>
          </a:xfrm>
          <a:prstGeom prst="ellipse">
            <a:avLst/>
          </a:prstGeom>
          <a:solidFill>
            <a:srgbClr val="D1D5DB"/>
          </a:solidFill>
          <a:ln w="12700">
            <a:solidFill>
              <a:srgbClr val="D1D5DB"/>
            </a:solidFill>
            <a:prstDash val="solid"/>
          </a:ln>
        </p:spPr>
      </p:sp>
      <p:sp>
        <p:nvSpPr>
          <p:cNvPr id="28" name="Shape 25"/>
          <p:cNvSpPr/>
          <p:nvPr/>
        </p:nvSpPr>
        <p:spPr>
          <a:xfrm>
            <a:off x="4005072" y="3090672"/>
            <a:ext cx="128016" cy="128016"/>
          </a:xfrm>
          <a:prstGeom prst="ellipse">
            <a:avLst/>
          </a:prstGeom>
          <a:solidFill>
            <a:srgbClr val="D1D5DB"/>
          </a:solidFill>
          <a:ln w="12700">
            <a:solidFill>
              <a:srgbClr val="D1D5DB"/>
            </a:solidFill>
            <a:prstDash val="solid"/>
          </a:ln>
        </p:spPr>
      </p:sp>
      <p:sp>
        <p:nvSpPr>
          <p:cNvPr id="29" name="Shape 26"/>
          <p:cNvSpPr/>
          <p:nvPr/>
        </p:nvSpPr>
        <p:spPr>
          <a:xfrm>
            <a:off x="4142232" y="3685032"/>
            <a:ext cx="128016" cy="128016"/>
          </a:xfrm>
          <a:prstGeom prst="ellipse">
            <a:avLst/>
          </a:prstGeom>
          <a:solidFill>
            <a:srgbClr val="D1D5DB"/>
          </a:solidFill>
          <a:ln w="12700">
            <a:solidFill>
              <a:srgbClr val="D1D5DB"/>
            </a:solidFill>
            <a:prstDash val="solid"/>
          </a:ln>
        </p:spPr>
      </p:sp>
      <p:sp>
        <p:nvSpPr>
          <p:cNvPr id="30" name="Shape 27"/>
          <p:cNvSpPr/>
          <p:nvPr/>
        </p:nvSpPr>
        <p:spPr>
          <a:xfrm>
            <a:off x="3502152" y="3959352"/>
            <a:ext cx="128016" cy="128016"/>
          </a:xfrm>
          <a:prstGeom prst="ellipse">
            <a:avLst/>
          </a:prstGeom>
          <a:solidFill>
            <a:srgbClr val="D1D5DB"/>
          </a:solidFill>
          <a:ln w="12700">
            <a:solidFill>
              <a:srgbClr val="D1D5DB"/>
            </a:solidFill>
            <a:prstDash val="solid"/>
          </a:ln>
        </p:spPr>
      </p:sp>
      <p:sp>
        <p:nvSpPr>
          <p:cNvPr id="31" name="Shape 28"/>
          <p:cNvSpPr/>
          <p:nvPr/>
        </p:nvSpPr>
        <p:spPr>
          <a:xfrm>
            <a:off x="3776472" y="3502152"/>
            <a:ext cx="128016" cy="128016"/>
          </a:xfrm>
          <a:prstGeom prst="ellipse">
            <a:avLst/>
          </a:prstGeom>
          <a:solidFill>
            <a:srgbClr val="D1D5DB"/>
          </a:solidFill>
          <a:ln w="12700">
            <a:solidFill>
              <a:srgbClr val="D1D5DB"/>
            </a:solidFill>
            <a:prstDash val="solid"/>
          </a:ln>
        </p:spPr>
      </p:sp>
      <p:sp>
        <p:nvSpPr>
          <p:cNvPr id="32" name="Shape 29"/>
          <p:cNvSpPr/>
          <p:nvPr/>
        </p:nvSpPr>
        <p:spPr>
          <a:xfrm>
            <a:off x="3675888" y="3493008"/>
            <a:ext cx="146304" cy="146304"/>
          </a:xfrm>
          <a:prstGeom prst="rect">
            <a:avLst/>
          </a:prstGeom>
          <a:solidFill>
            <a:srgbClr val="1B2A41"/>
          </a:solidFill>
          <a:ln w="12700">
            <a:solidFill>
              <a:srgbClr val="1B2A41"/>
            </a:solidFill>
            <a:prstDash val="solid"/>
          </a:ln>
        </p:spPr>
      </p:sp>
      <p:sp>
        <p:nvSpPr>
          <p:cNvPr id="33" name="Shape 30"/>
          <p:cNvSpPr/>
          <p:nvPr/>
        </p:nvSpPr>
        <p:spPr>
          <a:xfrm>
            <a:off x="2487168" y="2761488"/>
            <a:ext cx="329184" cy="329184"/>
          </a:xfrm>
          <a:prstGeom prst="star5">
            <a:avLst/>
          </a:prstGeom>
          <a:solidFill>
            <a:srgbClr val="B5432A"/>
          </a:solidFill>
          <a:ln w="12700">
            <a:solidFill>
              <a:srgbClr val="B5432A"/>
            </a:solidFill>
            <a:prstDash val="solid"/>
          </a:ln>
        </p:spPr>
      </p:sp>
      <p:sp>
        <p:nvSpPr>
          <p:cNvPr id="34" name="Text 31"/>
          <p:cNvSpPr txBox="1"/>
          <p:nvPr/>
        </p:nvSpPr>
        <p:spPr>
          <a:xfrm>
            <a:off x="457200" y="4434840"/>
            <a:ext cx="4572000" cy="274320"/>
          </a:xfrm>
          <a:prstGeom prst="rect">
            <a:avLst/>
          </a:prstGeom>
          <a:noFill/>
          <a:ln/>
        </p:spPr>
        <p:txBody>
          <a:bodyPr wrap="square" lIns="0" tIns="0" rIns="0" bIns="0" rtlCol="0" anchor="t"/>
          <a:lstStyle/>
          <a:p>
            <a:pPr indent="0" marL="0">
              <a:buNone/>
            </a:pPr>
            <a:r>
              <a:rPr lang="en-US" sz="1100" i="1" dirty="0">
                <a:solidFill>
                  <a:schemeClr val="accent5"/>
                </a:solidFill>
                <a:latin typeface="Cambria" pitchFamily="34" charset="0"/>
                <a:ea typeface="Cambria" pitchFamily="34" charset="-122"/>
                <a:cs typeface="Cambria" pitchFamily="34" charset="-120"/>
              </a:rPr>
              <a:t>Figure 4.5  Squares are centroids; outlined cells are probed (nprobe = 2)</a:t>
            </a:r>
            <a:endParaRPr lang="en-US" sz="1100" dirty="0"/>
          </a:p>
        </p:txBody>
      </p:sp>
      <p:sp>
        <p:nvSpPr>
          <p:cNvPr id="35" name="Text 32"/>
          <p:cNvSpPr txBox="1"/>
          <p:nvPr/>
        </p:nvSpPr>
        <p:spPr>
          <a:xfrm>
            <a:off x="5120640" y="1280160"/>
            <a:ext cx="3566160" cy="36576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Cluster first, then search locally</a:t>
            </a:r>
            <a:endParaRPr lang="en-US" sz="1800" dirty="0"/>
          </a:p>
        </p:txBody>
      </p:sp>
      <p:sp>
        <p:nvSpPr>
          <p:cNvPr id="36" name="Text 33"/>
          <p:cNvSpPr txBox="1"/>
          <p:nvPr/>
        </p:nvSpPr>
        <p:spPr>
          <a:xfrm>
            <a:off x="5120640" y="1737360"/>
            <a:ext cx="3566160" cy="16459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Train: k-means gives nlist centroids</a:t>
            </a:r>
            <a:endParaRPr lang="en-US" sz="1400" dirty="0"/>
          </a:p>
          <a:p>
            <a:pPr marL="342900" indent="-342900">
              <a:spcAft>
                <a:spcPts val="600"/>
              </a:spcAft>
              <a:buSzPct val="100000"/>
              <a:buChar char="•"/>
            </a:pPr>
            <a:r>
              <a:rPr lang="en-US" sz="1400" dirty="0">
                <a:solidFill>
                  <a:schemeClr val="tx1"/>
                </a:solidFill>
              </a:rPr>
              <a:t>Add: each vector joins its nearest cell</a:t>
            </a:r>
            <a:endParaRPr lang="en-US" sz="1400" dirty="0"/>
          </a:p>
          <a:p>
            <a:pPr marL="342900" indent="-342900">
              <a:spcAft>
                <a:spcPts val="600"/>
              </a:spcAft>
              <a:buSzPct val="100000"/>
              <a:buChar char="•"/>
            </a:pPr>
            <a:r>
              <a:rPr lang="en-US" sz="1400" dirty="0">
                <a:solidFill>
                  <a:schemeClr val="tx1"/>
                </a:solidFill>
              </a:rPr>
              <a:t>Search: scan the nprobe nearest cells</a:t>
            </a:r>
            <a:endParaRPr lang="en-US" sz="1400" dirty="0"/>
          </a:p>
          <a:p>
            <a:pPr marL="342900" indent="-342900">
              <a:spcAft>
                <a:spcPts val="600"/>
              </a:spcAft>
              <a:buSzPct val="100000"/>
              <a:buChar char="•"/>
            </a:pPr>
            <a:r>
              <a:rPr lang="en-US" sz="1400" dirty="0">
                <a:solidFill>
                  <a:schemeClr val="tx1"/>
                </a:solidFill>
              </a:rPr>
              <a:t>More nprobe: higher recall, slower</a:t>
            </a:r>
            <a:endParaRPr lang="en-US" sz="1400" dirty="0"/>
          </a:p>
        </p:txBody>
      </p:sp>
      <p:sp>
        <p:nvSpPr>
          <p:cNvPr id="37" name="Text 34"/>
          <p:cNvSpPr txBox="1"/>
          <p:nvPr/>
        </p:nvSpPr>
        <p:spPr>
          <a:xfrm>
            <a:off x="5120640" y="3429000"/>
            <a:ext cx="3566160" cy="1143000"/>
          </a:xfrm>
          <a:prstGeom prst="rect">
            <a:avLst/>
          </a:prstGeom>
          <a:noFill/>
          <a:ln/>
        </p:spPr>
        <p:txBody>
          <a:bodyPr wrap="square" lIns="0" tIns="0" rIns="0" bIns="0" rtlCol="0" anchor="t"/>
          <a:lstStyle/>
          <a:p>
            <a:pPr indent="0" marL="0">
              <a:buNone/>
            </a:pPr>
            <a:r>
              <a:rPr lang="en-US" sz="1300" b="1" dirty="0">
                <a:solidFill>
                  <a:srgbClr val="B5432A"/>
                </a:solidFill>
                <a:latin typeface="Cambria" pitchFamily="34" charset="0"/>
                <a:ea typeface="Cambria" pitchFamily="34" charset="-122"/>
                <a:cs typeface="Cambria" pitchFamily="34" charset="-120"/>
              </a:rPr>
              <a:t>Cost  </a:t>
            </a:r>
            <a:pPr indent="0" marL="0">
              <a:buNone/>
            </a:pPr>
            <a:r>
              <a:rPr lang="en-US" sz="1300" dirty="0">
                <a:solidFill>
                  <a:schemeClr val="tx1"/>
                </a:solidFill>
                <a:latin typeface="Cambria" pitchFamily="34" charset="0"/>
                <a:ea typeface="Cambria" pitchFamily="34" charset="-122"/>
                <a:cs typeface="Cambria" pitchFamily="34" charset="-120"/>
              </a:rPr>
              <a:t>nlist + nprobe x N / nlist. For N = 1M, nlist = 1024, nprobe = 8 that is about 8,837 distances, roughly 113x fewer than a full scan.</a:t>
            </a:r>
            <a:endParaRPr lang="en-US" sz="13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PQ: compress vectors into a few bytes</a:t>
            </a:r>
            <a:endParaRPr lang="en-US" sz="3000" dirty="0"/>
          </a:p>
        </p:txBody>
      </p:sp>
      <p:sp>
        <p:nvSpPr>
          <p:cNvPr id="4" name="Text 1"/>
          <p:cNvSpPr txBox="1"/>
          <p:nvPr/>
        </p:nvSpPr>
        <p:spPr>
          <a:xfrm>
            <a:off x="457200" y="1234440"/>
            <a:ext cx="8229600" cy="274320"/>
          </a:xfrm>
          <a:prstGeom prst="rect">
            <a:avLst/>
          </a:prstGeom>
          <a:noFill/>
          <a:ln/>
        </p:spPr>
        <p:txBody>
          <a:bodyPr wrap="square" lIns="0" tIns="0" rIns="0" bIns="0" rtlCol="0" anchor="t"/>
          <a:lstStyle/>
          <a:p>
            <a:pPr indent="0" marL="0">
              <a:buNone/>
            </a:pPr>
            <a:r>
              <a:rPr lang="en-US" sz="1400" b="1" dirty="0">
                <a:solidFill>
                  <a:schemeClr val="tx1"/>
                </a:solidFill>
              </a:rPr>
              <a:t>Original vector: 768 floats = 3,072 bytes</a:t>
            </a:r>
            <a:endParaRPr lang="en-US" sz="1400" dirty="0"/>
          </a:p>
        </p:txBody>
      </p:sp>
      <p:sp>
        <p:nvSpPr>
          <p:cNvPr id="5" name="Shape 2"/>
          <p:cNvSpPr/>
          <p:nvPr/>
        </p:nvSpPr>
        <p:spPr>
          <a:xfrm>
            <a:off x="457200" y="1600200"/>
            <a:ext cx="960120" cy="502920"/>
          </a:xfrm>
          <a:prstGeom prst="rect">
            <a:avLst/>
          </a:prstGeom>
          <a:solidFill>
            <a:srgbClr val="2F5D8A"/>
          </a:solidFill>
          <a:ln w="12700">
            <a:solidFill>
              <a:srgbClr val="2F5D8A"/>
            </a:solidFill>
            <a:prstDash val="solid"/>
          </a:ln>
        </p:spPr>
      </p:sp>
      <p:sp>
        <p:nvSpPr>
          <p:cNvPr id="6" name="Text 3"/>
          <p:cNvSpPr txBox="1"/>
          <p:nvPr/>
        </p:nvSpPr>
        <p:spPr>
          <a:xfrm>
            <a:off x="457200" y="1600200"/>
            <a:ext cx="960120" cy="502920"/>
          </a:xfrm>
          <a:prstGeom prst="rect">
            <a:avLst/>
          </a:prstGeom>
          <a:noFill/>
          <a:ln/>
        </p:spPr>
        <p:txBody>
          <a:bodyPr wrap="square" lIns="0" tIns="0" rIns="0" bIns="0" rtlCol="0" anchor="ctr"/>
          <a:lstStyle/>
          <a:p>
            <a:pPr algn="ctr" indent="0" marL="0">
              <a:buNone/>
            </a:pPr>
            <a:r>
              <a:rPr lang="en-US" sz="1200" b="1" dirty="0">
                <a:solidFill>
                  <a:srgbClr val="FFFFFF"/>
                </a:solidFill>
              </a:rPr>
              <a:t>part 1 (96-d)</a:t>
            </a:r>
            <a:endParaRPr lang="en-US" sz="1200" dirty="0"/>
          </a:p>
        </p:txBody>
      </p:sp>
      <p:sp>
        <p:nvSpPr>
          <p:cNvPr id="7" name="Shape 4"/>
          <p:cNvSpPr/>
          <p:nvPr/>
        </p:nvSpPr>
        <p:spPr>
          <a:xfrm>
            <a:off x="937260" y="2103120"/>
            <a:ext cx="0" cy="594360"/>
          </a:xfrm>
          <a:prstGeom prst="line">
            <a:avLst/>
          </a:prstGeom>
          <a:noFill/>
          <a:ln w="15875">
            <a:solidFill>
              <a:srgbClr val="6B7280"/>
            </a:solidFill>
            <a:prstDash val="solid"/>
            <a:tailEnd type="triangle"/>
          </a:ln>
        </p:spPr>
      </p:sp>
      <p:sp>
        <p:nvSpPr>
          <p:cNvPr id="8" name="Shape 5"/>
          <p:cNvSpPr/>
          <p:nvPr/>
        </p:nvSpPr>
        <p:spPr>
          <a:xfrm>
            <a:off x="457200" y="2743200"/>
            <a:ext cx="960120" cy="457200"/>
          </a:xfrm>
          <a:prstGeom prst="rect">
            <a:avLst/>
          </a:prstGeom>
          <a:solidFill>
            <a:schemeClr val="bg1"/>
          </a:solidFill>
          <a:ln w="25400">
            <a:solidFill>
              <a:srgbClr val="2F5D8A"/>
            </a:solidFill>
            <a:prstDash val="solid"/>
          </a:ln>
        </p:spPr>
      </p:sp>
      <p:sp>
        <p:nvSpPr>
          <p:cNvPr id="9" name="Text 6"/>
          <p:cNvSpPr txBox="1"/>
          <p:nvPr/>
        </p:nvSpPr>
        <p:spPr>
          <a:xfrm>
            <a:off x="457200" y="2743200"/>
            <a:ext cx="960120" cy="457200"/>
          </a:xfrm>
          <a:prstGeom prst="rect">
            <a:avLst/>
          </a:prstGeom>
          <a:noFill/>
          <a:ln/>
        </p:spPr>
        <p:txBody>
          <a:bodyPr wrap="square" lIns="0" tIns="0" rIns="0" bIns="0" rtlCol="0" anchor="ctr"/>
          <a:lstStyle/>
          <a:p>
            <a:pPr algn="ctr" indent="0" marL="0">
              <a:buNone/>
            </a:pPr>
            <a:r>
              <a:rPr lang="en-US" sz="1600" b="1" dirty="0">
                <a:solidFill>
                  <a:schemeClr val="tx1"/>
                </a:solidFill>
              </a:rPr>
              <a:t>17</a:t>
            </a:r>
            <a:endParaRPr lang="en-US" sz="1600" dirty="0"/>
          </a:p>
        </p:txBody>
      </p:sp>
      <p:sp>
        <p:nvSpPr>
          <p:cNvPr id="10" name="Shape 7"/>
          <p:cNvSpPr/>
          <p:nvPr/>
        </p:nvSpPr>
        <p:spPr>
          <a:xfrm>
            <a:off x="1490472" y="1600200"/>
            <a:ext cx="960120" cy="502920"/>
          </a:xfrm>
          <a:prstGeom prst="rect">
            <a:avLst/>
          </a:prstGeom>
          <a:solidFill>
            <a:srgbClr val="8A6D1F"/>
          </a:solidFill>
          <a:ln w="12700">
            <a:solidFill>
              <a:srgbClr val="8A6D1F"/>
            </a:solidFill>
            <a:prstDash val="solid"/>
          </a:ln>
        </p:spPr>
      </p:sp>
      <p:sp>
        <p:nvSpPr>
          <p:cNvPr id="11" name="Text 8"/>
          <p:cNvSpPr txBox="1"/>
          <p:nvPr/>
        </p:nvSpPr>
        <p:spPr>
          <a:xfrm>
            <a:off x="1490472" y="1600200"/>
            <a:ext cx="960120" cy="502920"/>
          </a:xfrm>
          <a:prstGeom prst="rect">
            <a:avLst/>
          </a:prstGeom>
          <a:noFill/>
          <a:ln/>
        </p:spPr>
        <p:txBody>
          <a:bodyPr wrap="square" lIns="0" tIns="0" rIns="0" bIns="0" rtlCol="0" anchor="ctr"/>
          <a:lstStyle/>
          <a:p>
            <a:pPr algn="ctr" indent="0" marL="0">
              <a:buNone/>
            </a:pPr>
            <a:r>
              <a:rPr lang="en-US" sz="1200" b="1" dirty="0">
                <a:solidFill>
                  <a:srgbClr val="FFFFFF"/>
                </a:solidFill>
              </a:rPr>
              <a:t>part 2 (96-d)</a:t>
            </a:r>
            <a:endParaRPr lang="en-US" sz="1200" dirty="0"/>
          </a:p>
        </p:txBody>
      </p:sp>
      <p:sp>
        <p:nvSpPr>
          <p:cNvPr id="12" name="Shape 9"/>
          <p:cNvSpPr/>
          <p:nvPr/>
        </p:nvSpPr>
        <p:spPr>
          <a:xfrm>
            <a:off x="1970532" y="2103120"/>
            <a:ext cx="0" cy="594360"/>
          </a:xfrm>
          <a:prstGeom prst="line">
            <a:avLst/>
          </a:prstGeom>
          <a:noFill/>
          <a:ln w="15875">
            <a:solidFill>
              <a:srgbClr val="6B7280"/>
            </a:solidFill>
            <a:prstDash val="solid"/>
            <a:tailEnd type="triangle"/>
          </a:ln>
        </p:spPr>
      </p:sp>
      <p:sp>
        <p:nvSpPr>
          <p:cNvPr id="13" name="Shape 10"/>
          <p:cNvSpPr/>
          <p:nvPr/>
        </p:nvSpPr>
        <p:spPr>
          <a:xfrm>
            <a:off x="1490472" y="2743200"/>
            <a:ext cx="960120" cy="457200"/>
          </a:xfrm>
          <a:prstGeom prst="rect">
            <a:avLst/>
          </a:prstGeom>
          <a:solidFill>
            <a:schemeClr val="bg1"/>
          </a:solidFill>
          <a:ln w="25400">
            <a:solidFill>
              <a:srgbClr val="8A6D1F"/>
            </a:solidFill>
            <a:prstDash val="solid"/>
          </a:ln>
        </p:spPr>
      </p:sp>
      <p:sp>
        <p:nvSpPr>
          <p:cNvPr id="14" name="Text 11"/>
          <p:cNvSpPr txBox="1"/>
          <p:nvPr/>
        </p:nvSpPr>
        <p:spPr>
          <a:xfrm>
            <a:off x="1490472" y="2743200"/>
            <a:ext cx="960120" cy="457200"/>
          </a:xfrm>
          <a:prstGeom prst="rect">
            <a:avLst/>
          </a:prstGeom>
          <a:noFill/>
          <a:ln/>
        </p:spPr>
        <p:txBody>
          <a:bodyPr wrap="square" lIns="0" tIns="0" rIns="0" bIns="0" rtlCol="0" anchor="ctr"/>
          <a:lstStyle/>
          <a:p>
            <a:pPr algn="ctr" indent="0" marL="0">
              <a:buNone/>
            </a:pPr>
            <a:r>
              <a:rPr lang="en-US" sz="1600" b="1" dirty="0">
                <a:solidFill>
                  <a:schemeClr val="tx1"/>
                </a:solidFill>
              </a:rPr>
              <a:t>203</a:t>
            </a:r>
            <a:endParaRPr lang="en-US" sz="1600" dirty="0"/>
          </a:p>
        </p:txBody>
      </p:sp>
      <p:sp>
        <p:nvSpPr>
          <p:cNvPr id="15" name="Shape 12"/>
          <p:cNvSpPr/>
          <p:nvPr/>
        </p:nvSpPr>
        <p:spPr>
          <a:xfrm>
            <a:off x="2523744" y="1600200"/>
            <a:ext cx="960120" cy="502920"/>
          </a:xfrm>
          <a:prstGeom prst="rect">
            <a:avLst/>
          </a:prstGeom>
          <a:solidFill>
            <a:srgbClr val="3B7A57"/>
          </a:solidFill>
          <a:ln w="12700">
            <a:solidFill>
              <a:srgbClr val="3B7A57"/>
            </a:solidFill>
            <a:prstDash val="solid"/>
          </a:ln>
        </p:spPr>
      </p:sp>
      <p:sp>
        <p:nvSpPr>
          <p:cNvPr id="16" name="Text 13"/>
          <p:cNvSpPr txBox="1"/>
          <p:nvPr/>
        </p:nvSpPr>
        <p:spPr>
          <a:xfrm>
            <a:off x="2523744" y="1600200"/>
            <a:ext cx="960120" cy="502920"/>
          </a:xfrm>
          <a:prstGeom prst="rect">
            <a:avLst/>
          </a:prstGeom>
          <a:noFill/>
          <a:ln/>
        </p:spPr>
        <p:txBody>
          <a:bodyPr wrap="square" lIns="0" tIns="0" rIns="0" bIns="0" rtlCol="0" anchor="ctr"/>
          <a:lstStyle/>
          <a:p>
            <a:pPr algn="ctr" indent="0" marL="0">
              <a:buNone/>
            </a:pPr>
            <a:r>
              <a:rPr lang="en-US" sz="1200" b="1" dirty="0">
                <a:solidFill>
                  <a:srgbClr val="FFFFFF"/>
                </a:solidFill>
              </a:rPr>
              <a:t>part 3 (96-d)</a:t>
            </a:r>
            <a:endParaRPr lang="en-US" sz="1200" dirty="0"/>
          </a:p>
        </p:txBody>
      </p:sp>
      <p:sp>
        <p:nvSpPr>
          <p:cNvPr id="17" name="Shape 14"/>
          <p:cNvSpPr/>
          <p:nvPr/>
        </p:nvSpPr>
        <p:spPr>
          <a:xfrm>
            <a:off x="3003804" y="2103120"/>
            <a:ext cx="0" cy="594360"/>
          </a:xfrm>
          <a:prstGeom prst="line">
            <a:avLst/>
          </a:prstGeom>
          <a:noFill/>
          <a:ln w="15875">
            <a:solidFill>
              <a:srgbClr val="6B7280"/>
            </a:solidFill>
            <a:prstDash val="solid"/>
            <a:tailEnd type="triangle"/>
          </a:ln>
        </p:spPr>
      </p:sp>
      <p:sp>
        <p:nvSpPr>
          <p:cNvPr id="18" name="Shape 15"/>
          <p:cNvSpPr/>
          <p:nvPr/>
        </p:nvSpPr>
        <p:spPr>
          <a:xfrm>
            <a:off x="2523744" y="2743200"/>
            <a:ext cx="960120" cy="457200"/>
          </a:xfrm>
          <a:prstGeom prst="rect">
            <a:avLst/>
          </a:prstGeom>
          <a:solidFill>
            <a:schemeClr val="bg1"/>
          </a:solidFill>
          <a:ln w="25400">
            <a:solidFill>
              <a:srgbClr val="3B7A57"/>
            </a:solidFill>
            <a:prstDash val="solid"/>
          </a:ln>
        </p:spPr>
      </p:sp>
      <p:sp>
        <p:nvSpPr>
          <p:cNvPr id="19" name="Text 16"/>
          <p:cNvSpPr txBox="1"/>
          <p:nvPr/>
        </p:nvSpPr>
        <p:spPr>
          <a:xfrm>
            <a:off x="2523744" y="2743200"/>
            <a:ext cx="960120" cy="457200"/>
          </a:xfrm>
          <a:prstGeom prst="rect">
            <a:avLst/>
          </a:prstGeom>
          <a:noFill/>
          <a:ln/>
        </p:spPr>
        <p:txBody>
          <a:bodyPr wrap="square" lIns="0" tIns="0" rIns="0" bIns="0" rtlCol="0" anchor="ctr"/>
          <a:lstStyle/>
          <a:p>
            <a:pPr algn="ctr" indent="0" marL="0">
              <a:buNone/>
            </a:pPr>
            <a:r>
              <a:rPr lang="en-US" sz="1600" b="1" dirty="0">
                <a:solidFill>
                  <a:schemeClr val="tx1"/>
                </a:solidFill>
              </a:rPr>
              <a:t>5</a:t>
            </a:r>
            <a:endParaRPr lang="en-US" sz="1600" dirty="0"/>
          </a:p>
        </p:txBody>
      </p:sp>
      <p:sp>
        <p:nvSpPr>
          <p:cNvPr id="20" name="Shape 17"/>
          <p:cNvSpPr/>
          <p:nvPr/>
        </p:nvSpPr>
        <p:spPr>
          <a:xfrm>
            <a:off x="3557016" y="1600200"/>
            <a:ext cx="960120" cy="502920"/>
          </a:xfrm>
          <a:prstGeom prst="rect">
            <a:avLst/>
          </a:prstGeom>
          <a:solidFill>
            <a:srgbClr val="B5432A"/>
          </a:solidFill>
          <a:ln w="12700">
            <a:solidFill>
              <a:srgbClr val="B5432A"/>
            </a:solidFill>
            <a:prstDash val="solid"/>
          </a:ln>
        </p:spPr>
      </p:sp>
      <p:sp>
        <p:nvSpPr>
          <p:cNvPr id="21" name="Text 18"/>
          <p:cNvSpPr txBox="1"/>
          <p:nvPr/>
        </p:nvSpPr>
        <p:spPr>
          <a:xfrm>
            <a:off x="3557016" y="1600200"/>
            <a:ext cx="960120" cy="502920"/>
          </a:xfrm>
          <a:prstGeom prst="rect">
            <a:avLst/>
          </a:prstGeom>
          <a:noFill/>
          <a:ln/>
        </p:spPr>
        <p:txBody>
          <a:bodyPr wrap="square" lIns="0" tIns="0" rIns="0" bIns="0" rtlCol="0" anchor="ctr"/>
          <a:lstStyle/>
          <a:p>
            <a:pPr algn="ctr" indent="0" marL="0">
              <a:buNone/>
            </a:pPr>
            <a:r>
              <a:rPr lang="en-US" sz="1200" b="1" dirty="0">
                <a:solidFill>
                  <a:srgbClr val="FFFFFF"/>
                </a:solidFill>
              </a:rPr>
              <a:t>part 4 (96-d)</a:t>
            </a:r>
            <a:endParaRPr lang="en-US" sz="1200" dirty="0"/>
          </a:p>
        </p:txBody>
      </p:sp>
      <p:sp>
        <p:nvSpPr>
          <p:cNvPr id="22" name="Shape 19"/>
          <p:cNvSpPr/>
          <p:nvPr/>
        </p:nvSpPr>
        <p:spPr>
          <a:xfrm>
            <a:off x="4037076" y="2103120"/>
            <a:ext cx="0" cy="594360"/>
          </a:xfrm>
          <a:prstGeom prst="line">
            <a:avLst/>
          </a:prstGeom>
          <a:noFill/>
          <a:ln w="15875">
            <a:solidFill>
              <a:srgbClr val="6B7280"/>
            </a:solidFill>
            <a:prstDash val="solid"/>
            <a:tailEnd type="triangle"/>
          </a:ln>
        </p:spPr>
      </p:sp>
      <p:sp>
        <p:nvSpPr>
          <p:cNvPr id="23" name="Shape 20"/>
          <p:cNvSpPr/>
          <p:nvPr/>
        </p:nvSpPr>
        <p:spPr>
          <a:xfrm>
            <a:off x="3557016" y="2743200"/>
            <a:ext cx="960120" cy="457200"/>
          </a:xfrm>
          <a:prstGeom prst="rect">
            <a:avLst/>
          </a:prstGeom>
          <a:solidFill>
            <a:schemeClr val="bg1"/>
          </a:solidFill>
          <a:ln w="25400">
            <a:solidFill>
              <a:srgbClr val="B5432A"/>
            </a:solidFill>
            <a:prstDash val="solid"/>
          </a:ln>
        </p:spPr>
      </p:sp>
      <p:sp>
        <p:nvSpPr>
          <p:cNvPr id="24" name="Text 21"/>
          <p:cNvSpPr txBox="1"/>
          <p:nvPr/>
        </p:nvSpPr>
        <p:spPr>
          <a:xfrm>
            <a:off x="3557016" y="2743200"/>
            <a:ext cx="960120" cy="457200"/>
          </a:xfrm>
          <a:prstGeom prst="rect">
            <a:avLst/>
          </a:prstGeom>
          <a:noFill/>
          <a:ln/>
        </p:spPr>
        <p:txBody>
          <a:bodyPr wrap="square" lIns="0" tIns="0" rIns="0" bIns="0" rtlCol="0" anchor="ctr"/>
          <a:lstStyle/>
          <a:p>
            <a:pPr algn="ctr" indent="0" marL="0">
              <a:buNone/>
            </a:pPr>
            <a:r>
              <a:rPr lang="en-US" sz="1600" b="1" dirty="0">
                <a:solidFill>
                  <a:schemeClr val="tx1"/>
                </a:solidFill>
              </a:rPr>
              <a:t>88</a:t>
            </a:r>
            <a:endParaRPr lang="en-US" sz="1600" dirty="0"/>
          </a:p>
        </p:txBody>
      </p:sp>
      <p:sp>
        <p:nvSpPr>
          <p:cNvPr id="25" name="Shape 22"/>
          <p:cNvSpPr/>
          <p:nvPr/>
        </p:nvSpPr>
        <p:spPr>
          <a:xfrm>
            <a:off x="4590288" y="1600200"/>
            <a:ext cx="960120" cy="502920"/>
          </a:xfrm>
          <a:prstGeom prst="rect">
            <a:avLst/>
          </a:prstGeom>
          <a:solidFill>
            <a:srgbClr val="2F5D8A"/>
          </a:solidFill>
          <a:ln w="12700">
            <a:solidFill>
              <a:srgbClr val="2F5D8A"/>
            </a:solidFill>
            <a:prstDash val="solid"/>
          </a:ln>
        </p:spPr>
      </p:sp>
      <p:sp>
        <p:nvSpPr>
          <p:cNvPr id="26" name="Text 23"/>
          <p:cNvSpPr txBox="1"/>
          <p:nvPr/>
        </p:nvSpPr>
        <p:spPr>
          <a:xfrm>
            <a:off x="4590288" y="1600200"/>
            <a:ext cx="960120" cy="502920"/>
          </a:xfrm>
          <a:prstGeom prst="rect">
            <a:avLst/>
          </a:prstGeom>
          <a:noFill/>
          <a:ln/>
        </p:spPr>
        <p:txBody>
          <a:bodyPr wrap="square" lIns="0" tIns="0" rIns="0" bIns="0" rtlCol="0" anchor="ctr"/>
          <a:lstStyle/>
          <a:p>
            <a:pPr algn="ctr" indent="0" marL="0">
              <a:buNone/>
            </a:pPr>
            <a:r>
              <a:rPr lang="en-US" sz="1200" b="1" dirty="0">
                <a:solidFill>
                  <a:srgbClr val="FFFFFF"/>
                </a:solidFill>
              </a:rPr>
              <a:t>part 5 (96-d)</a:t>
            </a:r>
            <a:endParaRPr lang="en-US" sz="1200" dirty="0"/>
          </a:p>
        </p:txBody>
      </p:sp>
      <p:sp>
        <p:nvSpPr>
          <p:cNvPr id="27" name="Shape 24"/>
          <p:cNvSpPr/>
          <p:nvPr/>
        </p:nvSpPr>
        <p:spPr>
          <a:xfrm>
            <a:off x="5070348" y="2103120"/>
            <a:ext cx="0" cy="594360"/>
          </a:xfrm>
          <a:prstGeom prst="line">
            <a:avLst/>
          </a:prstGeom>
          <a:noFill/>
          <a:ln w="15875">
            <a:solidFill>
              <a:srgbClr val="6B7280"/>
            </a:solidFill>
            <a:prstDash val="solid"/>
            <a:tailEnd type="triangle"/>
          </a:ln>
        </p:spPr>
      </p:sp>
      <p:sp>
        <p:nvSpPr>
          <p:cNvPr id="28" name="Shape 25"/>
          <p:cNvSpPr/>
          <p:nvPr/>
        </p:nvSpPr>
        <p:spPr>
          <a:xfrm>
            <a:off x="4590288" y="2743200"/>
            <a:ext cx="960120" cy="457200"/>
          </a:xfrm>
          <a:prstGeom prst="rect">
            <a:avLst/>
          </a:prstGeom>
          <a:solidFill>
            <a:schemeClr val="bg1"/>
          </a:solidFill>
          <a:ln w="25400">
            <a:solidFill>
              <a:srgbClr val="2F5D8A"/>
            </a:solidFill>
            <a:prstDash val="solid"/>
          </a:ln>
        </p:spPr>
      </p:sp>
      <p:sp>
        <p:nvSpPr>
          <p:cNvPr id="29" name="Text 26"/>
          <p:cNvSpPr txBox="1"/>
          <p:nvPr/>
        </p:nvSpPr>
        <p:spPr>
          <a:xfrm>
            <a:off x="4590288" y="2743200"/>
            <a:ext cx="960120" cy="457200"/>
          </a:xfrm>
          <a:prstGeom prst="rect">
            <a:avLst/>
          </a:prstGeom>
          <a:noFill/>
          <a:ln/>
        </p:spPr>
        <p:txBody>
          <a:bodyPr wrap="square" lIns="0" tIns="0" rIns="0" bIns="0" rtlCol="0" anchor="ctr"/>
          <a:lstStyle/>
          <a:p>
            <a:pPr algn="ctr" indent="0" marL="0">
              <a:buNone/>
            </a:pPr>
            <a:r>
              <a:rPr lang="en-US" sz="1600" b="1" dirty="0">
                <a:solidFill>
                  <a:schemeClr val="tx1"/>
                </a:solidFill>
              </a:rPr>
              <a:t>142</a:t>
            </a:r>
            <a:endParaRPr lang="en-US" sz="1600" dirty="0"/>
          </a:p>
        </p:txBody>
      </p:sp>
      <p:sp>
        <p:nvSpPr>
          <p:cNvPr id="30" name="Shape 27"/>
          <p:cNvSpPr/>
          <p:nvPr/>
        </p:nvSpPr>
        <p:spPr>
          <a:xfrm>
            <a:off x="5623560" y="1600200"/>
            <a:ext cx="960120" cy="502920"/>
          </a:xfrm>
          <a:prstGeom prst="rect">
            <a:avLst/>
          </a:prstGeom>
          <a:solidFill>
            <a:srgbClr val="8A6D1F"/>
          </a:solidFill>
          <a:ln w="12700">
            <a:solidFill>
              <a:srgbClr val="8A6D1F"/>
            </a:solidFill>
            <a:prstDash val="solid"/>
          </a:ln>
        </p:spPr>
      </p:sp>
      <p:sp>
        <p:nvSpPr>
          <p:cNvPr id="31" name="Text 28"/>
          <p:cNvSpPr txBox="1"/>
          <p:nvPr/>
        </p:nvSpPr>
        <p:spPr>
          <a:xfrm>
            <a:off x="5623560" y="1600200"/>
            <a:ext cx="960120" cy="502920"/>
          </a:xfrm>
          <a:prstGeom prst="rect">
            <a:avLst/>
          </a:prstGeom>
          <a:noFill/>
          <a:ln/>
        </p:spPr>
        <p:txBody>
          <a:bodyPr wrap="square" lIns="0" tIns="0" rIns="0" bIns="0" rtlCol="0" anchor="ctr"/>
          <a:lstStyle/>
          <a:p>
            <a:pPr algn="ctr" indent="0" marL="0">
              <a:buNone/>
            </a:pPr>
            <a:r>
              <a:rPr lang="en-US" sz="1200" b="1" dirty="0">
                <a:solidFill>
                  <a:srgbClr val="FFFFFF"/>
                </a:solidFill>
              </a:rPr>
              <a:t>part 6 (96-d)</a:t>
            </a:r>
            <a:endParaRPr lang="en-US" sz="1200" dirty="0"/>
          </a:p>
        </p:txBody>
      </p:sp>
      <p:sp>
        <p:nvSpPr>
          <p:cNvPr id="32" name="Shape 29"/>
          <p:cNvSpPr/>
          <p:nvPr/>
        </p:nvSpPr>
        <p:spPr>
          <a:xfrm>
            <a:off x="6103620" y="2103120"/>
            <a:ext cx="0" cy="594360"/>
          </a:xfrm>
          <a:prstGeom prst="line">
            <a:avLst/>
          </a:prstGeom>
          <a:noFill/>
          <a:ln w="15875">
            <a:solidFill>
              <a:srgbClr val="6B7280"/>
            </a:solidFill>
            <a:prstDash val="solid"/>
            <a:tailEnd type="triangle"/>
          </a:ln>
        </p:spPr>
      </p:sp>
      <p:sp>
        <p:nvSpPr>
          <p:cNvPr id="33" name="Shape 30"/>
          <p:cNvSpPr/>
          <p:nvPr/>
        </p:nvSpPr>
        <p:spPr>
          <a:xfrm>
            <a:off x="5623560" y="2743200"/>
            <a:ext cx="960120" cy="457200"/>
          </a:xfrm>
          <a:prstGeom prst="rect">
            <a:avLst/>
          </a:prstGeom>
          <a:solidFill>
            <a:schemeClr val="bg1"/>
          </a:solidFill>
          <a:ln w="25400">
            <a:solidFill>
              <a:srgbClr val="8A6D1F"/>
            </a:solidFill>
            <a:prstDash val="solid"/>
          </a:ln>
        </p:spPr>
      </p:sp>
      <p:sp>
        <p:nvSpPr>
          <p:cNvPr id="34" name="Text 31"/>
          <p:cNvSpPr txBox="1"/>
          <p:nvPr/>
        </p:nvSpPr>
        <p:spPr>
          <a:xfrm>
            <a:off x="5623560" y="2743200"/>
            <a:ext cx="960120" cy="457200"/>
          </a:xfrm>
          <a:prstGeom prst="rect">
            <a:avLst/>
          </a:prstGeom>
          <a:noFill/>
          <a:ln/>
        </p:spPr>
        <p:txBody>
          <a:bodyPr wrap="square" lIns="0" tIns="0" rIns="0" bIns="0" rtlCol="0" anchor="ctr"/>
          <a:lstStyle/>
          <a:p>
            <a:pPr algn="ctr" indent="0" marL="0">
              <a:buNone/>
            </a:pPr>
            <a:r>
              <a:rPr lang="en-US" sz="1600" b="1" dirty="0">
                <a:solidFill>
                  <a:schemeClr val="tx1"/>
                </a:solidFill>
              </a:rPr>
              <a:t>31</a:t>
            </a:r>
            <a:endParaRPr lang="en-US" sz="1600" dirty="0"/>
          </a:p>
        </p:txBody>
      </p:sp>
      <p:sp>
        <p:nvSpPr>
          <p:cNvPr id="35" name="Shape 32"/>
          <p:cNvSpPr/>
          <p:nvPr/>
        </p:nvSpPr>
        <p:spPr>
          <a:xfrm>
            <a:off x="6656832" y="1600200"/>
            <a:ext cx="960120" cy="502920"/>
          </a:xfrm>
          <a:prstGeom prst="rect">
            <a:avLst/>
          </a:prstGeom>
          <a:solidFill>
            <a:srgbClr val="3B7A57"/>
          </a:solidFill>
          <a:ln w="12700">
            <a:solidFill>
              <a:srgbClr val="3B7A57"/>
            </a:solidFill>
            <a:prstDash val="solid"/>
          </a:ln>
        </p:spPr>
      </p:sp>
      <p:sp>
        <p:nvSpPr>
          <p:cNvPr id="36" name="Text 33"/>
          <p:cNvSpPr txBox="1"/>
          <p:nvPr/>
        </p:nvSpPr>
        <p:spPr>
          <a:xfrm>
            <a:off x="6656832" y="1600200"/>
            <a:ext cx="960120" cy="502920"/>
          </a:xfrm>
          <a:prstGeom prst="rect">
            <a:avLst/>
          </a:prstGeom>
          <a:noFill/>
          <a:ln/>
        </p:spPr>
        <p:txBody>
          <a:bodyPr wrap="square" lIns="0" tIns="0" rIns="0" bIns="0" rtlCol="0" anchor="ctr"/>
          <a:lstStyle/>
          <a:p>
            <a:pPr algn="ctr" indent="0" marL="0">
              <a:buNone/>
            </a:pPr>
            <a:r>
              <a:rPr lang="en-US" sz="1200" b="1" dirty="0">
                <a:solidFill>
                  <a:srgbClr val="FFFFFF"/>
                </a:solidFill>
              </a:rPr>
              <a:t>part 7 (96-d)</a:t>
            </a:r>
            <a:endParaRPr lang="en-US" sz="1200" dirty="0"/>
          </a:p>
        </p:txBody>
      </p:sp>
      <p:sp>
        <p:nvSpPr>
          <p:cNvPr id="37" name="Shape 34"/>
          <p:cNvSpPr/>
          <p:nvPr/>
        </p:nvSpPr>
        <p:spPr>
          <a:xfrm>
            <a:off x="7136892" y="2103120"/>
            <a:ext cx="0" cy="594360"/>
          </a:xfrm>
          <a:prstGeom prst="line">
            <a:avLst/>
          </a:prstGeom>
          <a:noFill/>
          <a:ln w="15875">
            <a:solidFill>
              <a:srgbClr val="6B7280"/>
            </a:solidFill>
            <a:prstDash val="solid"/>
            <a:tailEnd type="triangle"/>
          </a:ln>
        </p:spPr>
      </p:sp>
      <p:sp>
        <p:nvSpPr>
          <p:cNvPr id="38" name="Shape 35"/>
          <p:cNvSpPr/>
          <p:nvPr/>
        </p:nvSpPr>
        <p:spPr>
          <a:xfrm>
            <a:off x="6656832" y="2743200"/>
            <a:ext cx="960120" cy="457200"/>
          </a:xfrm>
          <a:prstGeom prst="rect">
            <a:avLst/>
          </a:prstGeom>
          <a:solidFill>
            <a:schemeClr val="bg1"/>
          </a:solidFill>
          <a:ln w="25400">
            <a:solidFill>
              <a:srgbClr val="3B7A57"/>
            </a:solidFill>
            <a:prstDash val="solid"/>
          </a:ln>
        </p:spPr>
      </p:sp>
      <p:sp>
        <p:nvSpPr>
          <p:cNvPr id="39" name="Text 36"/>
          <p:cNvSpPr txBox="1"/>
          <p:nvPr/>
        </p:nvSpPr>
        <p:spPr>
          <a:xfrm>
            <a:off x="6656832" y="2743200"/>
            <a:ext cx="960120" cy="457200"/>
          </a:xfrm>
          <a:prstGeom prst="rect">
            <a:avLst/>
          </a:prstGeom>
          <a:noFill/>
          <a:ln/>
        </p:spPr>
        <p:txBody>
          <a:bodyPr wrap="square" lIns="0" tIns="0" rIns="0" bIns="0" rtlCol="0" anchor="ctr"/>
          <a:lstStyle/>
          <a:p>
            <a:pPr algn="ctr" indent="0" marL="0">
              <a:buNone/>
            </a:pPr>
            <a:r>
              <a:rPr lang="en-US" sz="1600" b="1" dirty="0">
                <a:solidFill>
                  <a:schemeClr val="tx1"/>
                </a:solidFill>
              </a:rPr>
              <a:t>250</a:t>
            </a:r>
            <a:endParaRPr lang="en-US" sz="1600" dirty="0"/>
          </a:p>
        </p:txBody>
      </p:sp>
      <p:sp>
        <p:nvSpPr>
          <p:cNvPr id="40" name="Shape 37"/>
          <p:cNvSpPr/>
          <p:nvPr/>
        </p:nvSpPr>
        <p:spPr>
          <a:xfrm>
            <a:off x="7690104" y="1600200"/>
            <a:ext cx="960120" cy="502920"/>
          </a:xfrm>
          <a:prstGeom prst="rect">
            <a:avLst/>
          </a:prstGeom>
          <a:solidFill>
            <a:srgbClr val="B5432A"/>
          </a:solidFill>
          <a:ln w="12700">
            <a:solidFill>
              <a:srgbClr val="B5432A"/>
            </a:solidFill>
            <a:prstDash val="solid"/>
          </a:ln>
        </p:spPr>
      </p:sp>
      <p:sp>
        <p:nvSpPr>
          <p:cNvPr id="41" name="Text 38"/>
          <p:cNvSpPr txBox="1"/>
          <p:nvPr/>
        </p:nvSpPr>
        <p:spPr>
          <a:xfrm>
            <a:off x="7690104" y="1600200"/>
            <a:ext cx="960120" cy="502920"/>
          </a:xfrm>
          <a:prstGeom prst="rect">
            <a:avLst/>
          </a:prstGeom>
          <a:noFill/>
          <a:ln/>
        </p:spPr>
        <p:txBody>
          <a:bodyPr wrap="square" lIns="0" tIns="0" rIns="0" bIns="0" rtlCol="0" anchor="ctr"/>
          <a:lstStyle/>
          <a:p>
            <a:pPr algn="ctr" indent="0" marL="0">
              <a:buNone/>
            </a:pPr>
            <a:r>
              <a:rPr lang="en-US" sz="1200" b="1" dirty="0">
                <a:solidFill>
                  <a:srgbClr val="FFFFFF"/>
                </a:solidFill>
              </a:rPr>
              <a:t>part 8 (96-d)</a:t>
            </a:r>
            <a:endParaRPr lang="en-US" sz="1200" dirty="0"/>
          </a:p>
        </p:txBody>
      </p:sp>
      <p:sp>
        <p:nvSpPr>
          <p:cNvPr id="42" name="Shape 39"/>
          <p:cNvSpPr/>
          <p:nvPr/>
        </p:nvSpPr>
        <p:spPr>
          <a:xfrm>
            <a:off x="8170164" y="2103120"/>
            <a:ext cx="0" cy="594360"/>
          </a:xfrm>
          <a:prstGeom prst="line">
            <a:avLst/>
          </a:prstGeom>
          <a:noFill/>
          <a:ln w="15875">
            <a:solidFill>
              <a:srgbClr val="6B7280"/>
            </a:solidFill>
            <a:prstDash val="solid"/>
            <a:tailEnd type="triangle"/>
          </a:ln>
        </p:spPr>
      </p:sp>
      <p:sp>
        <p:nvSpPr>
          <p:cNvPr id="43" name="Shape 40"/>
          <p:cNvSpPr/>
          <p:nvPr/>
        </p:nvSpPr>
        <p:spPr>
          <a:xfrm>
            <a:off x="7690104" y="2743200"/>
            <a:ext cx="960120" cy="457200"/>
          </a:xfrm>
          <a:prstGeom prst="rect">
            <a:avLst/>
          </a:prstGeom>
          <a:solidFill>
            <a:schemeClr val="bg1"/>
          </a:solidFill>
          <a:ln w="25400">
            <a:solidFill>
              <a:srgbClr val="B5432A"/>
            </a:solidFill>
            <a:prstDash val="solid"/>
          </a:ln>
        </p:spPr>
      </p:sp>
      <p:sp>
        <p:nvSpPr>
          <p:cNvPr id="44" name="Text 41"/>
          <p:cNvSpPr txBox="1"/>
          <p:nvPr/>
        </p:nvSpPr>
        <p:spPr>
          <a:xfrm>
            <a:off x="7690104" y="2743200"/>
            <a:ext cx="960120" cy="457200"/>
          </a:xfrm>
          <a:prstGeom prst="rect">
            <a:avLst/>
          </a:prstGeom>
          <a:noFill/>
          <a:ln/>
        </p:spPr>
        <p:txBody>
          <a:bodyPr wrap="square" lIns="0" tIns="0" rIns="0" bIns="0" rtlCol="0" anchor="ctr"/>
          <a:lstStyle/>
          <a:p>
            <a:pPr algn="ctr" indent="0" marL="0">
              <a:buNone/>
            </a:pPr>
            <a:r>
              <a:rPr lang="en-US" sz="1600" b="1" dirty="0">
                <a:solidFill>
                  <a:schemeClr val="tx1"/>
                </a:solidFill>
              </a:rPr>
              <a:t>9</a:t>
            </a:r>
            <a:endParaRPr lang="en-US" sz="1600" dirty="0"/>
          </a:p>
        </p:txBody>
      </p:sp>
      <p:sp>
        <p:nvSpPr>
          <p:cNvPr id="45" name="Text 42"/>
          <p:cNvSpPr txBox="1"/>
          <p:nvPr/>
        </p:nvSpPr>
        <p:spPr>
          <a:xfrm>
            <a:off x="457200" y="3291840"/>
            <a:ext cx="8229600" cy="274320"/>
          </a:xfrm>
          <a:prstGeom prst="rect">
            <a:avLst/>
          </a:prstGeom>
          <a:noFill/>
          <a:ln/>
        </p:spPr>
        <p:txBody>
          <a:bodyPr wrap="square" lIns="0" tIns="0" rIns="0" bIns="0" rtlCol="0" anchor="t"/>
          <a:lstStyle/>
          <a:p>
            <a:pPr indent="0" marL="0">
              <a:buNone/>
            </a:pPr>
            <a:r>
              <a:rPr lang="en-US" sz="1400" b="1" dirty="0">
                <a:solidFill>
                  <a:schemeClr val="accent1"/>
                </a:solidFill>
              </a:rPr>
              <a:t>Each part snaps to 1 of 256 centroids (1 byte): the PQ code is 8 bytes, 384x smaller</a:t>
            </a:r>
            <a:endParaRPr lang="en-US" sz="1400" dirty="0"/>
          </a:p>
        </p:txBody>
      </p:sp>
      <p:sp>
        <p:nvSpPr>
          <p:cNvPr id="46" name="Text 43"/>
          <p:cNvSpPr txBox="1"/>
          <p:nvPr/>
        </p:nvSpPr>
        <p:spPr>
          <a:xfrm>
            <a:off x="457200" y="3749040"/>
            <a:ext cx="8229600" cy="640080"/>
          </a:xfrm>
          <a:prstGeom prst="rect">
            <a:avLst/>
          </a:prstGeom>
          <a:noFill/>
          <a:ln/>
        </p:spPr>
        <p:txBody>
          <a:bodyPr wrap="square" lIns="0" tIns="0" rIns="0" bIns="0" rtlCol="0" anchor="t"/>
          <a:lstStyle/>
          <a:p>
            <a:pPr indent="0" marL="0">
              <a:buNone/>
            </a:pPr>
            <a:r>
              <a:rPr lang="en-US" sz="1400" b="1" dirty="0">
                <a:solidFill>
                  <a:srgbClr val="B5432A"/>
                </a:solidFill>
                <a:latin typeface="Cambria" pitchFamily="34" charset="0"/>
                <a:ea typeface="Cambria" pitchFamily="34" charset="-122"/>
                <a:cs typeface="Cambria" pitchFamily="34" charset="-120"/>
              </a:rPr>
              <a:t>Cost  </a:t>
            </a:r>
            <a:pPr indent="0" marL="0">
              <a:buNone/>
            </a:pPr>
            <a:r>
              <a:rPr lang="en-US" sz="1400" dirty="0">
                <a:solidFill>
                  <a:schemeClr val="tx1"/>
                </a:solidFill>
                <a:latin typeface="Cambria" pitchFamily="34" charset="0"/>
                <a:ea typeface="Cambria" pitchFamily="34" charset="-122"/>
                <a:cs typeface="Cambria" pitchFamily="34" charset="-120"/>
              </a:rPr>
              <a:t>Compression is lossy, so recall drops. The usual remedy is to re-rank the top candidates with the full vectors.</a:t>
            </a:r>
            <a:endParaRPr lang="en-US" sz="14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PQ search uses lookup tables</a:t>
            </a:r>
            <a:endParaRPr lang="en-US" sz="3000" dirty="0"/>
          </a:p>
        </p:txBody>
      </p:sp>
      <p:sp>
        <p:nvSpPr>
          <p:cNvPr id="4" name="Shape 1"/>
          <p:cNvSpPr/>
          <p:nvPr/>
        </p:nvSpPr>
        <p:spPr>
          <a:xfrm>
            <a:off x="457200" y="1280160"/>
            <a:ext cx="4937760" cy="3108960"/>
          </a:xfrm>
          <a:prstGeom prst="rect">
            <a:avLst/>
          </a:prstGeom>
          <a:solidFill>
            <a:schemeClr val="bg1"/>
          </a:solidFill>
          <a:ln w="12700">
            <a:solidFill>
              <a:schemeClr val="accent6"/>
            </a:solidFill>
            <a:prstDash val="solid"/>
          </a:ln>
        </p:spPr>
      </p:sp>
      <p:sp>
        <p:nvSpPr>
          <p:cNvPr id="5" name="Text 2"/>
          <p:cNvSpPr txBox="1"/>
          <p:nvPr/>
        </p:nvSpPr>
        <p:spPr>
          <a:xfrm>
            <a:off x="640080" y="1417320"/>
            <a:ext cx="1371600" cy="274320"/>
          </a:xfrm>
          <a:prstGeom prst="rect">
            <a:avLst/>
          </a:prstGeom>
          <a:noFill/>
          <a:ln/>
        </p:spPr>
        <p:txBody>
          <a:bodyPr wrap="square" lIns="0" tIns="0" rIns="0" bIns="0" rtlCol="0" anchor="t"/>
          <a:lstStyle/>
          <a:p>
            <a:pPr indent="0" marL="0">
              <a:buNone/>
            </a:pPr>
            <a:r>
              <a:rPr lang="en-US" sz="1200" i="1" dirty="0">
                <a:solidFill>
                  <a:schemeClr val="accent5"/>
                </a:solidFill>
                <a:latin typeface="Cambria" pitchFamily="34" charset="0"/>
                <a:ea typeface="Cambria" pitchFamily="34" charset="-122"/>
                <a:cs typeface="Cambria" pitchFamily="34" charset="-120"/>
              </a:rPr>
              <a:t>table 1</a:t>
            </a:r>
            <a:endParaRPr lang="en-US" sz="1200" dirty="0"/>
          </a:p>
        </p:txBody>
      </p:sp>
      <p:sp>
        <p:nvSpPr>
          <p:cNvPr id="6" name="Shape 3"/>
          <p:cNvSpPr/>
          <p:nvPr/>
        </p:nvSpPr>
        <p:spPr>
          <a:xfrm>
            <a:off x="640080" y="1783080"/>
            <a:ext cx="347472" cy="384048"/>
          </a:xfrm>
          <a:prstGeom prst="rect">
            <a:avLst/>
          </a:prstGeom>
          <a:solidFill>
            <a:schemeClr val="bg1"/>
          </a:solidFill>
          <a:ln w="12700">
            <a:solidFill>
              <a:srgbClr val="6B7280"/>
            </a:solidFill>
            <a:prstDash val="solid"/>
          </a:ln>
        </p:spPr>
      </p:sp>
      <p:sp>
        <p:nvSpPr>
          <p:cNvPr id="7" name="Text 4"/>
          <p:cNvSpPr txBox="1"/>
          <p:nvPr/>
        </p:nvSpPr>
        <p:spPr>
          <a:xfrm>
            <a:off x="640080" y="1783080"/>
            <a:ext cx="347472" cy="384048"/>
          </a:xfrm>
          <a:prstGeom prst="rect">
            <a:avLst/>
          </a:prstGeom>
          <a:noFill/>
          <a:ln/>
        </p:spPr>
        <p:txBody>
          <a:bodyPr wrap="square" lIns="0" tIns="0" rIns="0" bIns="0" rtlCol="0" anchor="ctr"/>
          <a:lstStyle/>
          <a:p>
            <a:pPr algn="ctr" indent="0" marL="0">
              <a:buNone/>
            </a:pPr>
            <a:r>
              <a:rPr lang="en-US" sz="1200" dirty="0">
                <a:solidFill>
                  <a:schemeClr val="tx1"/>
                </a:solidFill>
              </a:rPr>
              <a:t>0.9</a:t>
            </a:r>
            <a:endParaRPr lang="en-US" sz="1200" dirty="0"/>
          </a:p>
        </p:txBody>
      </p:sp>
      <p:sp>
        <p:nvSpPr>
          <p:cNvPr id="8" name="Text 5"/>
          <p:cNvSpPr txBox="1"/>
          <p:nvPr/>
        </p:nvSpPr>
        <p:spPr>
          <a:xfrm>
            <a:off x="640080" y="2194560"/>
            <a:ext cx="347472" cy="228600"/>
          </a:xfrm>
          <a:prstGeom prst="rect">
            <a:avLst/>
          </a:prstGeom>
          <a:noFill/>
          <a:ln/>
        </p:spPr>
        <p:txBody>
          <a:bodyPr wrap="square" lIns="0" tIns="0" rIns="0" bIns="0" rtlCol="0" anchor="t"/>
          <a:lstStyle/>
          <a:p>
            <a:pPr algn="ctr" indent="0" marL="0">
              <a:buNone/>
            </a:pPr>
            <a:r>
              <a:rPr lang="en-US" sz="1100" dirty="0">
                <a:solidFill>
                  <a:schemeClr val="accent5"/>
                </a:solidFill>
              </a:rPr>
              <a:t>0</a:t>
            </a:r>
            <a:endParaRPr lang="en-US" sz="1100" dirty="0"/>
          </a:p>
        </p:txBody>
      </p:sp>
      <p:sp>
        <p:nvSpPr>
          <p:cNvPr id="9" name="Shape 6"/>
          <p:cNvSpPr/>
          <p:nvPr/>
        </p:nvSpPr>
        <p:spPr>
          <a:xfrm>
            <a:off x="987552" y="1783080"/>
            <a:ext cx="347472" cy="384048"/>
          </a:xfrm>
          <a:prstGeom prst="rect">
            <a:avLst/>
          </a:prstGeom>
          <a:solidFill>
            <a:schemeClr val="bg1"/>
          </a:solidFill>
          <a:ln w="12700">
            <a:solidFill>
              <a:srgbClr val="6B7280"/>
            </a:solidFill>
            <a:prstDash val="solid"/>
          </a:ln>
        </p:spPr>
      </p:sp>
      <p:sp>
        <p:nvSpPr>
          <p:cNvPr id="10" name="Text 7"/>
          <p:cNvSpPr txBox="1"/>
          <p:nvPr/>
        </p:nvSpPr>
        <p:spPr>
          <a:xfrm>
            <a:off x="987552" y="1783080"/>
            <a:ext cx="347472" cy="384048"/>
          </a:xfrm>
          <a:prstGeom prst="rect">
            <a:avLst/>
          </a:prstGeom>
          <a:noFill/>
          <a:ln/>
        </p:spPr>
        <p:txBody>
          <a:bodyPr wrap="square" lIns="0" tIns="0" rIns="0" bIns="0" rtlCol="0" anchor="ctr"/>
          <a:lstStyle/>
          <a:p>
            <a:pPr algn="ctr" indent="0" marL="0">
              <a:buNone/>
            </a:pPr>
            <a:r>
              <a:rPr lang="en-US" sz="1200" dirty="0">
                <a:solidFill>
                  <a:schemeClr val="tx1"/>
                </a:solidFill>
              </a:rPr>
              <a:t>0.3</a:t>
            </a:r>
            <a:endParaRPr lang="en-US" sz="1200" dirty="0"/>
          </a:p>
        </p:txBody>
      </p:sp>
      <p:sp>
        <p:nvSpPr>
          <p:cNvPr id="11" name="Text 8"/>
          <p:cNvSpPr txBox="1"/>
          <p:nvPr/>
        </p:nvSpPr>
        <p:spPr>
          <a:xfrm>
            <a:off x="987552" y="2194560"/>
            <a:ext cx="347472" cy="228600"/>
          </a:xfrm>
          <a:prstGeom prst="rect">
            <a:avLst/>
          </a:prstGeom>
          <a:noFill/>
          <a:ln/>
        </p:spPr>
        <p:txBody>
          <a:bodyPr wrap="square" lIns="0" tIns="0" rIns="0" bIns="0" rtlCol="0" anchor="t"/>
          <a:lstStyle/>
          <a:p>
            <a:pPr algn="ctr" indent="0" marL="0">
              <a:buNone/>
            </a:pPr>
            <a:r>
              <a:rPr lang="en-US" sz="1100" dirty="0">
                <a:solidFill>
                  <a:schemeClr val="accent5"/>
                </a:solidFill>
              </a:rPr>
              <a:t>1</a:t>
            </a:r>
            <a:endParaRPr lang="en-US" sz="1100" dirty="0"/>
          </a:p>
        </p:txBody>
      </p:sp>
      <p:sp>
        <p:nvSpPr>
          <p:cNvPr id="12" name="Shape 9"/>
          <p:cNvSpPr/>
          <p:nvPr/>
        </p:nvSpPr>
        <p:spPr>
          <a:xfrm>
            <a:off x="1335024" y="1783080"/>
            <a:ext cx="347472" cy="384048"/>
          </a:xfrm>
          <a:prstGeom prst="rect">
            <a:avLst/>
          </a:prstGeom>
          <a:solidFill>
            <a:srgbClr val="B5432A"/>
          </a:solidFill>
          <a:ln w="12700">
            <a:solidFill>
              <a:srgbClr val="6B7280"/>
            </a:solidFill>
            <a:prstDash val="solid"/>
          </a:ln>
        </p:spPr>
      </p:sp>
      <p:sp>
        <p:nvSpPr>
          <p:cNvPr id="13" name="Text 10"/>
          <p:cNvSpPr txBox="1"/>
          <p:nvPr/>
        </p:nvSpPr>
        <p:spPr>
          <a:xfrm>
            <a:off x="1335024" y="1783080"/>
            <a:ext cx="347472" cy="384048"/>
          </a:xfrm>
          <a:prstGeom prst="rect">
            <a:avLst/>
          </a:prstGeom>
          <a:noFill/>
          <a:ln/>
        </p:spPr>
        <p:txBody>
          <a:bodyPr wrap="square" lIns="0" tIns="0" rIns="0" bIns="0" rtlCol="0" anchor="ctr"/>
          <a:lstStyle/>
          <a:p>
            <a:pPr algn="ctr" indent="0" marL="0">
              <a:buNone/>
            </a:pPr>
            <a:r>
              <a:rPr lang="en-US" sz="1200" b="1" dirty="0">
                <a:solidFill>
                  <a:srgbClr val="FFFFFF"/>
                </a:solidFill>
              </a:rPr>
              <a:t>0.1</a:t>
            </a:r>
            <a:endParaRPr lang="en-US" sz="1200" dirty="0"/>
          </a:p>
        </p:txBody>
      </p:sp>
      <p:sp>
        <p:nvSpPr>
          <p:cNvPr id="14" name="Text 11"/>
          <p:cNvSpPr txBox="1"/>
          <p:nvPr/>
        </p:nvSpPr>
        <p:spPr>
          <a:xfrm>
            <a:off x="1335024" y="2194560"/>
            <a:ext cx="347472" cy="228600"/>
          </a:xfrm>
          <a:prstGeom prst="rect">
            <a:avLst/>
          </a:prstGeom>
          <a:noFill/>
          <a:ln/>
        </p:spPr>
        <p:txBody>
          <a:bodyPr wrap="square" lIns="0" tIns="0" rIns="0" bIns="0" rtlCol="0" anchor="t"/>
          <a:lstStyle/>
          <a:p>
            <a:pPr algn="ctr" indent="0" marL="0">
              <a:buNone/>
            </a:pPr>
            <a:r>
              <a:rPr lang="en-US" sz="1100" dirty="0">
                <a:solidFill>
                  <a:schemeClr val="accent5"/>
                </a:solidFill>
              </a:rPr>
              <a:t>2</a:t>
            </a:r>
            <a:endParaRPr lang="en-US" sz="1100" dirty="0"/>
          </a:p>
        </p:txBody>
      </p:sp>
      <p:sp>
        <p:nvSpPr>
          <p:cNvPr id="15" name="Shape 12"/>
          <p:cNvSpPr/>
          <p:nvPr/>
        </p:nvSpPr>
        <p:spPr>
          <a:xfrm>
            <a:off x="1682496" y="1783080"/>
            <a:ext cx="347472" cy="384048"/>
          </a:xfrm>
          <a:prstGeom prst="rect">
            <a:avLst/>
          </a:prstGeom>
          <a:solidFill>
            <a:schemeClr val="bg1"/>
          </a:solidFill>
          <a:ln w="12700">
            <a:solidFill>
              <a:srgbClr val="6B7280"/>
            </a:solidFill>
            <a:prstDash val="solid"/>
          </a:ln>
        </p:spPr>
      </p:sp>
      <p:sp>
        <p:nvSpPr>
          <p:cNvPr id="16" name="Text 13"/>
          <p:cNvSpPr txBox="1"/>
          <p:nvPr/>
        </p:nvSpPr>
        <p:spPr>
          <a:xfrm>
            <a:off x="1682496" y="1783080"/>
            <a:ext cx="347472" cy="384048"/>
          </a:xfrm>
          <a:prstGeom prst="rect">
            <a:avLst/>
          </a:prstGeom>
          <a:noFill/>
          <a:ln/>
        </p:spPr>
        <p:txBody>
          <a:bodyPr wrap="square" lIns="0" tIns="0" rIns="0" bIns="0" rtlCol="0" anchor="ctr"/>
          <a:lstStyle/>
          <a:p>
            <a:pPr algn="ctr" indent="0" marL="0">
              <a:buNone/>
            </a:pPr>
            <a:r>
              <a:rPr lang="en-US" sz="1200" dirty="0">
                <a:solidFill>
                  <a:schemeClr val="tx1"/>
                </a:solidFill>
              </a:rPr>
              <a:t>0.7</a:t>
            </a:r>
            <a:endParaRPr lang="en-US" sz="1200" dirty="0"/>
          </a:p>
        </p:txBody>
      </p:sp>
      <p:sp>
        <p:nvSpPr>
          <p:cNvPr id="17" name="Text 14"/>
          <p:cNvSpPr txBox="1"/>
          <p:nvPr/>
        </p:nvSpPr>
        <p:spPr>
          <a:xfrm>
            <a:off x="1682496" y="2194560"/>
            <a:ext cx="347472" cy="228600"/>
          </a:xfrm>
          <a:prstGeom prst="rect">
            <a:avLst/>
          </a:prstGeom>
          <a:noFill/>
          <a:ln/>
        </p:spPr>
        <p:txBody>
          <a:bodyPr wrap="square" lIns="0" tIns="0" rIns="0" bIns="0" rtlCol="0" anchor="t"/>
          <a:lstStyle/>
          <a:p>
            <a:pPr algn="ctr" indent="0" marL="0">
              <a:buNone/>
            </a:pPr>
            <a:r>
              <a:rPr lang="en-US" sz="1100" dirty="0">
                <a:solidFill>
                  <a:schemeClr val="accent5"/>
                </a:solidFill>
              </a:rPr>
              <a:t>3</a:t>
            </a:r>
            <a:endParaRPr lang="en-US" sz="1100" dirty="0"/>
          </a:p>
        </p:txBody>
      </p:sp>
      <p:sp>
        <p:nvSpPr>
          <p:cNvPr id="18" name="Text 15"/>
          <p:cNvSpPr txBox="1"/>
          <p:nvPr/>
        </p:nvSpPr>
        <p:spPr>
          <a:xfrm>
            <a:off x="2240280" y="1417320"/>
            <a:ext cx="1371600" cy="274320"/>
          </a:xfrm>
          <a:prstGeom prst="rect">
            <a:avLst/>
          </a:prstGeom>
          <a:noFill/>
          <a:ln/>
        </p:spPr>
        <p:txBody>
          <a:bodyPr wrap="square" lIns="0" tIns="0" rIns="0" bIns="0" rtlCol="0" anchor="t"/>
          <a:lstStyle/>
          <a:p>
            <a:pPr indent="0" marL="0">
              <a:buNone/>
            </a:pPr>
            <a:r>
              <a:rPr lang="en-US" sz="1200" i="1" dirty="0">
                <a:solidFill>
                  <a:schemeClr val="accent5"/>
                </a:solidFill>
                <a:latin typeface="Cambria" pitchFamily="34" charset="0"/>
                <a:ea typeface="Cambria" pitchFamily="34" charset="-122"/>
                <a:cs typeface="Cambria" pitchFamily="34" charset="-120"/>
              </a:rPr>
              <a:t>table 2</a:t>
            </a:r>
            <a:endParaRPr lang="en-US" sz="1200" dirty="0"/>
          </a:p>
        </p:txBody>
      </p:sp>
      <p:sp>
        <p:nvSpPr>
          <p:cNvPr id="19" name="Shape 16"/>
          <p:cNvSpPr/>
          <p:nvPr/>
        </p:nvSpPr>
        <p:spPr>
          <a:xfrm>
            <a:off x="2240280" y="1783080"/>
            <a:ext cx="347472" cy="384048"/>
          </a:xfrm>
          <a:prstGeom prst="rect">
            <a:avLst/>
          </a:prstGeom>
          <a:solidFill>
            <a:srgbClr val="B5432A"/>
          </a:solidFill>
          <a:ln w="12700">
            <a:solidFill>
              <a:srgbClr val="6B7280"/>
            </a:solidFill>
            <a:prstDash val="solid"/>
          </a:ln>
        </p:spPr>
      </p:sp>
      <p:sp>
        <p:nvSpPr>
          <p:cNvPr id="20" name="Text 17"/>
          <p:cNvSpPr txBox="1"/>
          <p:nvPr/>
        </p:nvSpPr>
        <p:spPr>
          <a:xfrm>
            <a:off x="2240280" y="1783080"/>
            <a:ext cx="347472" cy="384048"/>
          </a:xfrm>
          <a:prstGeom prst="rect">
            <a:avLst/>
          </a:prstGeom>
          <a:noFill/>
          <a:ln/>
        </p:spPr>
        <p:txBody>
          <a:bodyPr wrap="square" lIns="0" tIns="0" rIns="0" bIns="0" rtlCol="0" anchor="ctr"/>
          <a:lstStyle/>
          <a:p>
            <a:pPr algn="ctr" indent="0" marL="0">
              <a:buNone/>
            </a:pPr>
            <a:r>
              <a:rPr lang="en-US" sz="1200" b="1" dirty="0">
                <a:solidFill>
                  <a:srgbClr val="FFFFFF"/>
                </a:solidFill>
              </a:rPr>
              <a:t>0.2</a:t>
            </a:r>
            <a:endParaRPr lang="en-US" sz="1200" dirty="0"/>
          </a:p>
        </p:txBody>
      </p:sp>
      <p:sp>
        <p:nvSpPr>
          <p:cNvPr id="21" name="Text 18"/>
          <p:cNvSpPr txBox="1"/>
          <p:nvPr/>
        </p:nvSpPr>
        <p:spPr>
          <a:xfrm>
            <a:off x="2240280" y="2194560"/>
            <a:ext cx="347472" cy="228600"/>
          </a:xfrm>
          <a:prstGeom prst="rect">
            <a:avLst/>
          </a:prstGeom>
          <a:noFill/>
          <a:ln/>
        </p:spPr>
        <p:txBody>
          <a:bodyPr wrap="square" lIns="0" tIns="0" rIns="0" bIns="0" rtlCol="0" anchor="t"/>
          <a:lstStyle/>
          <a:p>
            <a:pPr algn="ctr" indent="0" marL="0">
              <a:buNone/>
            </a:pPr>
            <a:r>
              <a:rPr lang="en-US" sz="1100" dirty="0">
                <a:solidFill>
                  <a:schemeClr val="accent5"/>
                </a:solidFill>
              </a:rPr>
              <a:t>0</a:t>
            </a:r>
            <a:endParaRPr lang="en-US" sz="1100" dirty="0"/>
          </a:p>
        </p:txBody>
      </p:sp>
      <p:sp>
        <p:nvSpPr>
          <p:cNvPr id="22" name="Shape 19"/>
          <p:cNvSpPr/>
          <p:nvPr/>
        </p:nvSpPr>
        <p:spPr>
          <a:xfrm>
            <a:off x="2587752" y="1783080"/>
            <a:ext cx="347472" cy="384048"/>
          </a:xfrm>
          <a:prstGeom prst="rect">
            <a:avLst/>
          </a:prstGeom>
          <a:solidFill>
            <a:schemeClr val="bg1"/>
          </a:solidFill>
          <a:ln w="12700">
            <a:solidFill>
              <a:srgbClr val="6B7280"/>
            </a:solidFill>
            <a:prstDash val="solid"/>
          </a:ln>
        </p:spPr>
      </p:sp>
      <p:sp>
        <p:nvSpPr>
          <p:cNvPr id="23" name="Text 20"/>
          <p:cNvSpPr txBox="1"/>
          <p:nvPr/>
        </p:nvSpPr>
        <p:spPr>
          <a:xfrm>
            <a:off x="2587752" y="1783080"/>
            <a:ext cx="347472" cy="384048"/>
          </a:xfrm>
          <a:prstGeom prst="rect">
            <a:avLst/>
          </a:prstGeom>
          <a:noFill/>
          <a:ln/>
        </p:spPr>
        <p:txBody>
          <a:bodyPr wrap="square" lIns="0" tIns="0" rIns="0" bIns="0" rtlCol="0" anchor="ctr"/>
          <a:lstStyle/>
          <a:p>
            <a:pPr algn="ctr" indent="0" marL="0">
              <a:buNone/>
            </a:pPr>
            <a:r>
              <a:rPr lang="en-US" sz="1200" dirty="0">
                <a:solidFill>
                  <a:schemeClr val="tx1"/>
                </a:solidFill>
              </a:rPr>
              <a:t>0.8</a:t>
            </a:r>
            <a:endParaRPr lang="en-US" sz="1200" dirty="0"/>
          </a:p>
        </p:txBody>
      </p:sp>
      <p:sp>
        <p:nvSpPr>
          <p:cNvPr id="24" name="Text 21"/>
          <p:cNvSpPr txBox="1"/>
          <p:nvPr/>
        </p:nvSpPr>
        <p:spPr>
          <a:xfrm>
            <a:off x="2587752" y="2194560"/>
            <a:ext cx="347472" cy="228600"/>
          </a:xfrm>
          <a:prstGeom prst="rect">
            <a:avLst/>
          </a:prstGeom>
          <a:noFill/>
          <a:ln/>
        </p:spPr>
        <p:txBody>
          <a:bodyPr wrap="square" lIns="0" tIns="0" rIns="0" bIns="0" rtlCol="0" anchor="t"/>
          <a:lstStyle/>
          <a:p>
            <a:pPr algn="ctr" indent="0" marL="0">
              <a:buNone/>
            </a:pPr>
            <a:r>
              <a:rPr lang="en-US" sz="1100" dirty="0">
                <a:solidFill>
                  <a:schemeClr val="accent5"/>
                </a:solidFill>
              </a:rPr>
              <a:t>1</a:t>
            </a:r>
            <a:endParaRPr lang="en-US" sz="1100" dirty="0"/>
          </a:p>
        </p:txBody>
      </p:sp>
      <p:sp>
        <p:nvSpPr>
          <p:cNvPr id="25" name="Shape 22"/>
          <p:cNvSpPr/>
          <p:nvPr/>
        </p:nvSpPr>
        <p:spPr>
          <a:xfrm>
            <a:off x="2935224" y="1783080"/>
            <a:ext cx="347472" cy="384048"/>
          </a:xfrm>
          <a:prstGeom prst="rect">
            <a:avLst/>
          </a:prstGeom>
          <a:solidFill>
            <a:schemeClr val="bg1"/>
          </a:solidFill>
          <a:ln w="12700">
            <a:solidFill>
              <a:srgbClr val="6B7280"/>
            </a:solidFill>
            <a:prstDash val="solid"/>
          </a:ln>
        </p:spPr>
      </p:sp>
      <p:sp>
        <p:nvSpPr>
          <p:cNvPr id="26" name="Text 23"/>
          <p:cNvSpPr txBox="1"/>
          <p:nvPr/>
        </p:nvSpPr>
        <p:spPr>
          <a:xfrm>
            <a:off x="2935224" y="1783080"/>
            <a:ext cx="347472" cy="384048"/>
          </a:xfrm>
          <a:prstGeom prst="rect">
            <a:avLst/>
          </a:prstGeom>
          <a:noFill/>
          <a:ln/>
        </p:spPr>
        <p:txBody>
          <a:bodyPr wrap="square" lIns="0" tIns="0" rIns="0" bIns="0" rtlCol="0" anchor="ctr"/>
          <a:lstStyle/>
          <a:p>
            <a:pPr algn="ctr" indent="0" marL="0">
              <a:buNone/>
            </a:pPr>
            <a:r>
              <a:rPr lang="en-US" sz="1200" dirty="0">
                <a:solidFill>
                  <a:schemeClr val="tx1"/>
                </a:solidFill>
              </a:rPr>
              <a:t>0.5</a:t>
            </a:r>
            <a:endParaRPr lang="en-US" sz="1200" dirty="0"/>
          </a:p>
        </p:txBody>
      </p:sp>
      <p:sp>
        <p:nvSpPr>
          <p:cNvPr id="27" name="Text 24"/>
          <p:cNvSpPr txBox="1"/>
          <p:nvPr/>
        </p:nvSpPr>
        <p:spPr>
          <a:xfrm>
            <a:off x="2935224" y="2194560"/>
            <a:ext cx="347472" cy="228600"/>
          </a:xfrm>
          <a:prstGeom prst="rect">
            <a:avLst/>
          </a:prstGeom>
          <a:noFill/>
          <a:ln/>
        </p:spPr>
        <p:txBody>
          <a:bodyPr wrap="square" lIns="0" tIns="0" rIns="0" bIns="0" rtlCol="0" anchor="t"/>
          <a:lstStyle/>
          <a:p>
            <a:pPr algn="ctr" indent="0" marL="0">
              <a:buNone/>
            </a:pPr>
            <a:r>
              <a:rPr lang="en-US" sz="1100" dirty="0">
                <a:solidFill>
                  <a:schemeClr val="accent5"/>
                </a:solidFill>
              </a:rPr>
              <a:t>2</a:t>
            </a:r>
            <a:endParaRPr lang="en-US" sz="1100" dirty="0"/>
          </a:p>
        </p:txBody>
      </p:sp>
      <p:sp>
        <p:nvSpPr>
          <p:cNvPr id="28" name="Shape 25"/>
          <p:cNvSpPr/>
          <p:nvPr/>
        </p:nvSpPr>
        <p:spPr>
          <a:xfrm>
            <a:off x="3282696" y="1783080"/>
            <a:ext cx="347472" cy="384048"/>
          </a:xfrm>
          <a:prstGeom prst="rect">
            <a:avLst/>
          </a:prstGeom>
          <a:solidFill>
            <a:schemeClr val="bg1"/>
          </a:solidFill>
          <a:ln w="12700">
            <a:solidFill>
              <a:srgbClr val="6B7280"/>
            </a:solidFill>
            <a:prstDash val="solid"/>
          </a:ln>
        </p:spPr>
      </p:sp>
      <p:sp>
        <p:nvSpPr>
          <p:cNvPr id="29" name="Text 26"/>
          <p:cNvSpPr txBox="1"/>
          <p:nvPr/>
        </p:nvSpPr>
        <p:spPr>
          <a:xfrm>
            <a:off x="3282696" y="1783080"/>
            <a:ext cx="347472" cy="384048"/>
          </a:xfrm>
          <a:prstGeom prst="rect">
            <a:avLst/>
          </a:prstGeom>
          <a:noFill/>
          <a:ln/>
        </p:spPr>
        <p:txBody>
          <a:bodyPr wrap="square" lIns="0" tIns="0" rIns="0" bIns="0" rtlCol="0" anchor="ctr"/>
          <a:lstStyle/>
          <a:p>
            <a:pPr algn="ctr" indent="0" marL="0">
              <a:buNone/>
            </a:pPr>
            <a:r>
              <a:rPr lang="en-US" sz="1200" dirty="0">
                <a:solidFill>
                  <a:schemeClr val="tx1"/>
                </a:solidFill>
              </a:rPr>
              <a:t>0.6</a:t>
            </a:r>
            <a:endParaRPr lang="en-US" sz="1200" dirty="0"/>
          </a:p>
        </p:txBody>
      </p:sp>
      <p:sp>
        <p:nvSpPr>
          <p:cNvPr id="30" name="Text 27"/>
          <p:cNvSpPr txBox="1"/>
          <p:nvPr/>
        </p:nvSpPr>
        <p:spPr>
          <a:xfrm>
            <a:off x="3282696" y="2194560"/>
            <a:ext cx="347472" cy="228600"/>
          </a:xfrm>
          <a:prstGeom prst="rect">
            <a:avLst/>
          </a:prstGeom>
          <a:noFill/>
          <a:ln/>
        </p:spPr>
        <p:txBody>
          <a:bodyPr wrap="square" lIns="0" tIns="0" rIns="0" bIns="0" rtlCol="0" anchor="t"/>
          <a:lstStyle/>
          <a:p>
            <a:pPr algn="ctr" indent="0" marL="0">
              <a:buNone/>
            </a:pPr>
            <a:r>
              <a:rPr lang="en-US" sz="1100" dirty="0">
                <a:solidFill>
                  <a:schemeClr val="accent5"/>
                </a:solidFill>
              </a:rPr>
              <a:t>3</a:t>
            </a:r>
            <a:endParaRPr lang="en-US" sz="1100" dirty="0"/>
          </a:p>
        </p:txBody>
      </p:sp>
      <p:sp>
        <p:nvSpPr>
          <p:cNvPr id="31" name="Text 28"/>
          <p:cNvSpPr txBox="1"/>
          <p:nvPr/>
        </p:nvSpPr>
        <p:spPr>
          <a:xfrm>
            <a:off x="3840480" y="1417320"/>
            <a:ext cx="1371600" cy="274320"/>
          </a:xfrm>
          <a:prstGeom prst="rect">
            <a:avLst/>
          </a:prstGeom>
          <a:noFill/>
          <a:ln/>
        </p:spPr>
        <p:txBody>
          <a:bodyPr wrap="square" lIns="0" tIns="0" rIns="0" bIns="0" rtlCol="0" anchor="t"/>
          <a:lstStyle/>
          <a:p>
            <a:pPr indent="0" marL="0">
              <a:buNone/>
            </a:pPr>
            <a:r>
              <a:rPr lang="en-US" sz="1200" i="1" dirty="0">
                <a:solidFill>
                  <a:schemeClr val="accent5"/>
                </a:solidFill>
                <a:latin typeface="Cambria" pitchFamily="34" charset="0"/>
                <a:ea typeface="Cambria" pitchFamily="34" charset="-122"/>
                <a:cs typeface="Cambria" pitchFamily="34" charset="-120"/>
              </a:rPr>
              <a:t>table 3</a:t>
            </a:r>
            <a:endParaRPr lang="en-US" sz="1200" dirty="0"/>
          </a:p>
        </p:txBody>
      </p:sp>
      <p:sp>
        <p:nvSpPr>
          <p:cNvPr id="32" name="Shape 29"/>
          <p:cNvSpPr/>
          <p:nvPr/>
        </p:nvSpPr>
        <p:spPr>
          <a:xfrm>
            <a:off x="3840480" y="1783080"/>
            <a:ext cx="347472" cy="384048"/>
          </a:xfrm>
          <a:prstGeom prst="rect">
            <a:avLst/>
          </a:prstGeom>
          <a:solidFill>
            <a:schemeClr val="bg1"/>
          </a:solidFill>
          <a:ln w="12700">
            <a:solidFill>
              <a:srgbClr val="6B7280"/>
            </a:solidFill>
            <a:prstDash val="solid"/>
          </a:ln>
        </p:spPr>
      </p:sp>
      <p:sp>
        <p:nvSpPr>
          <p:cNvPr id="33" name="Text 30"/>
          <p:cNvSpPr txBox="1"/>
          <p:nvPr/>
        </p:nvSpPr>
        <p:spPr>
          <a:xfrm>
            <a:off x="3840480" y="1783080"/>
            <a:ext cx="347472" cy="384048"/>
          </a:xfrm>
          <a:prstGeom prst="rect">
            <a:avLst/>
          </a:prstGeom>
          <a:noFill/>
          <a:ln/>
        </p:spPr>
        <p:txBody>
          <a:bodyPr wrap="square" lIns="0" tIns="0" rIns="0" bIns="0" rtlCol="0" anchor="ctr"/>
          <a:lstStyle/>
          <a:p>
            <a:pPr algn="ctr" indent="0" marL="0">
              <a:buNone/>
            </a:pPr>
            <a:r>
              <a:rPr lang="en-US" sz="1200" dirty="0">
                <a:solidFill>
                  <a:schemeClr val="tx1"/>
                </a:solidFill>
              </a:rPr>
              <a:t>0.4</a:t>
            </a:r>
            <a:endParaRPr lang="en-US" sz="1200" dirty="0"/>
          </a:p>
        </p:txBody>
      </p:sp>
      <p:sp>
        <p:nvSpPr>
          <p:cNvPr id="34" name="Text 31"/>
          <p:cNvSpPr txBox="1"/>
          <p:nvPr/>
        </p:nvSpPr>
        <p:spPr>
          <a:xfrm>
            <a:off x="3840480" y="2194560"/>
            <a:ext cx="347472" cy="228600"/>
          </a:xfrm>
          <a:prstGeom prst="rect">
            <a:avLst/>
          </a:prstGeom>
          <a:noFill/>
          <a:ln/>
        </p:spPr>
        <p:txBody>
          <a:bodyPr wrap="square" lIns="0" tIns="0" rIns="0" bIns="0" rtlCol="0" anchor="t"/>
          <a:lstStyle/>
          <a:p>
            <a:pPr algn="ctr" indent="0" marL="0">
              <a:buNone/>
            </a:pPr>
            <a:r>
              <a:rPr lang="en-US" sz="1100" dirty="0">
                <a:solidFill>
                  <a:schemeClr val="accent5"/>
                </a:solidFill>
              </a:rPr>
              <a:t>0</a:t>
            </a:r>
            <a:endParaRPr lang="en-US" sz="1100" dirty="0"/>
          </a:p>
        </p:txBody>
      </p:sp>
      <p:sp>
        <p:nvSpPr>
          <p:cNvPr id="35" name="Shape 32"/>
          <p:cNvSpPr/>
          <p:nvPr/>
        </p:nvSpPr>
        <p:spPr>
          <a:xfrm>
            <a:off x="4187952" y="1783080"/>
            <a:ext cx="347472" cy="384048"/>
          </a:xfrm>
          <a:prstGeom prst="rect">
            <a:avLst/>
          </a:prstGeom>
          <a:solidFill>
            <a:schemeClr val="bg1"/>
          </a:solidFill>
          <a:ln w="12700">
            <a:solidFill>
              <a:srgbClr val="6B7280"/>
            </a:solidFill>
            <a:prstDash val="solid"/>
          </a:ln>
        </p:spPr>
      </p:sp>
      <p:sp>
        <p:nvSpPr>
          <p:cNvPr id="36" name="Text 33"/>
          <p:cNvSpPr txBox="1"/>
          <p:nvPr/>
        </p:nvSpPr>
        <p:spPr>
          <a:xfrm>
            <a:off x="4187952" y="1783080"/>
            <a:ext cx="347472" cy="384048"/>
          </a:xfrm>
          <a:prstGeom prst="rect">
            <a:avLst/>
          </a:prstGeom>
          <a:noFill/>
          <a:ln/>
        </p:spPr>
        <p:txBody>
          <a:bodyPr wrap="square" lIns="0" tIns="0" rIns="0" bIns="0" rtlCol="0" anchor="ctr"/>
          <a:lstStyle/>
          <a:p>
            <a:pPr algn="ctr" indent="0" marL="0">
              <a:buNone/>
            </a:pPr>
            <a:r>
              <a:rPr lang="en-US" sz="1200" dirty="0">
                <a:solidFill>
                  <a:schemeClr val="tx1"/>
                </a:solidFill>
              </a:rPr>
              <a:t>0.9</a:t>
            </a:r>
            <a:endParaRPr lang="en-US" sz="1200" dirty="0"/>
          </a:p>
        </p:txBody>
      </p:sp>
      <p:sp>
        <p:nvSpPr>
          <p:cNvPr id="37" name="Text 34"/>
          <p:cNvSpPr txBox="1"/>
          <p:nvPr/>
        </p:nvSpPr>
        <p:spPr>
          <a:xfrm>
            <a:off x="4187952" y="2194560"/>
            <a:ext cx="347472" cy="228600"/>
          </a:xfrm>
          <a:prstGeom prst="rect">
            <a:avLst/>
          </a:prstGeom>
          <a:noFill/>
          <a:ln/>
        </p:spPr>
        <p:txBody>
          <a:bodyPr wrap="square" lIns="0" tIns="0" rIns="0" bIns="0" rtlCol="0" anchor="t"/>
          <a:lstStyle/>
          <a:p>
            <a:pPr algn="ctr" indent="0" marL="0">
              <a:buNone/>
            </a:pPr>
            <a:r>
              <a:rPr lang="en-US" sz="1100" dirty="0">
                <a:solidFill>
                  <a:schemeClr val="accent5"/>
                </a:solidFill>
              </a:rPr>
              <a:t>1</a:t>
            </a:r>
            <a:endParaRPr lang="en-US" sz="1100" dirty="0"/>
          </a:p>
        </p:txBody>
      </p:sp>
      <p:sp>
        <p:nvSpPr>
          <p:cNvPr id="38" name="Shape 35"/>
          <p:cNvSpPr/>
          <p:nvPr/>
        </p:nvSpPr>
        <p:spPr>
          <a:xfrm>
            <a:off x="4535424" y="1783080"/>
            <a:ext cx="347472" cy="384048"/>
          </a:xfrm>
          <a:prstGeom prst="rect">
            <a:avLst/>
          </a:prstGeom>
          <a:solidFill>
            <a:schemeClr val="bg1"/>
          </a:solidFill>
          <a:ln w="12700">
            <a:solidFill>
              <a:srgbClr val="6B7280"/>
            </a:solidFill>
            <a:prstDash val="solid"/>
          </a:ln>
        </p:spPr>
      </p:sp>
      <p:sp>
        <p:nvSpPr>
          <p:cNvPr id="39" name="Text 36"/>
          <p:cNvSpPr txBox="1"/>
          <p:nvPr/>
        </p:nvSpPr>
        <p:spPr>
          <a:xfrm>
            <a:off x="4535424" y="1783080"/>
            <a:ext cx="347472" cy="384048"/>
          </a:xfrm>
          <a:prstGeom prst="rect">
            <a:avLst/>
          </a:prstGeom>
          <a:noFill/>
          <a:ln/>
        </p:spPr>
        <p:txBody>
          <a:bodyPr wrap="square" lIns="0" tIns="0" rIns="0" bIns="0" rtlCol="0" anchor="ctr"/>
          <a:lstStyle/>
          <a:p>
            <a:pPr algn="ctr" indent="0" marL="0">
              <a:buNone/>
            </a:pPr>
            <a:r>
              <a:rPr lang="en-US" sz="1200" dirty="0">
                <a:solidFill>
                  <a:schemeClr val="tx1"/>
                </a:solidFill>
              </a:rPr>
              <a:t>0.6</a:t>
            </a:r>
            <a:endParaRPr lang="en-US" sz="1200" dirty="0"/>
          </a:p>
        </p:txBody>
      </p:sp>
      <p:sp>
        <p:nvSpPr>
          <p:cNvPr id="40" name="Text 37"/>
          <p:cNvSpPr txBox="1"/>
          <p:nvPr/>
        </p:nvSpPr>
        <p:spPr>
          <a:xfrm>
            <a:off x="4535424" y="2194560"/>
            <a:ext cx="347472" cy="228600"/>
          </a:xfrm>
          <a:prstGeom prst="rect">
            <a:avLst/>
          </a:prstGeom>
          <a:noFill/>
          <a:ln/>
        </p:spPr>
        <p:txBody>
          <a:bodyPr wrap="square" lIns="0" tIns="0" rIns="0" bIns="0" rtlCol="0" anchor="t"/>
          <a:lstStyle/>
          <a:p>
            <a:pPr algn="ctr" indent="0" marL="0">
              <a:buNone/>
            </a:pPr>
            <a:r>
              <a:rPr lang="en-US" sz="1100" dirty="0">
                <a:solidFill>
                  <a:schemeClr val="accent5"/>
                </a:solidFill>
              </a:rPr>
              <a:t>2</a:t>
            </a:r>
            <a:endParaRPr lang="en-US" sz="1100" dirty="0"/>
          </a:p>
        </p:txBody>
      </p:sp>
      <p:sp>
        <p:nvSpPr>
          <p:cNvPr id="41" name="Shape 38"/>
          <p:cNvSpPr/>
          <p:nvPr/>
        </p:nvSpPr>
        <p:spPr>
          <a:xfrm>
            <a:off x="4882896" y="1783080"/>
            <a:ext cx="347472" cy="384048"/>
          </a:xfrm>
          <a:prstGeom prst="rect">
            <a:avLst/>
          </a:prstGeom>
          <a:solidFill>
            <a:srgbClr val="B5432A"/>
          </a:solidFill>
          <a:ln w="12700">
            <a:solidFill>
              <a:srgbClr val="6B7280"/>
            </a:solidFill>
            <a:prstDash val="solid"/>
          </a:ln>
        </p:spPr>
      </p:sp>
      <p:sp>
        <p:nvSpPr>
          <p:cNvPr id="42" name="Text 39"/>
          <p:cNvSpPr txBox="1"/>
          <p:nvPr/>
        </p:nvSpPr>
        <p:spPr>
          <a:xfrm>
            <a:off x="4882896" y="1783080"/>
            <a:ext cx="347472" cy="384048"/>
          </a:xfrm>
          <a:prstGeom prst="rect">
            <a:avLst/>
          </a:prstGeom>
          <a:noFill/>
          <a:ln/>
        </p:spPr>
        <p:txBody>
          <a:bodyPr wrap="square" lIns="0" tIns="0" rIns="0" bIns="0" rtlCol="0" anchor="ctr"/>
          <a:lstStyle/>
          <a:p>
            <a:pPr algn="ctr" indent="0" marL="0">
              <a:buNone/>
            </a:pPr>
            <a:r>
              <a:rPr lang="en-US" sz="1200" b="1" dirty="0">
                <a:solidFill>
                  <a:srgbClr val="FFFFFF"/>
                </a:solidFill>
              </a:rPr>
              <a:t>0.3</a:t>
            </a:r>
            <a:endParaRPr lang="en-US" sz="1200" dirty="0"/>
          </a:p>
        </p:txBody>
      </p:sp>
      <p:sp>
        <p:nvSpPr>
          <p:cNvPr id="43" name="Text 40"/>
          <p:cNvSpPr txBox="1"/>
          <p:nvPr/>
        </p:nvSpPr>
        <p:spPr>
          <a:xfrm>
            <a:off x="4882896" y="2194560"/>
            <a:ext cx="347472" cy="228600"/>
          </a:xfrm>
          <a:prstGeom prst="rect">
            <a:avLst/>
          </a:prstGeom>
          <a:noFill/>
          <a:ln/>
        </p:spPr>
        <p:txBody>
          <a:bodyPr wrap="square" lIns="0" tIns="0" rIns="0" bIns="0" rtlCol="0" anchor="t"/>
          <a:lstStyle/>
          <a:p>
            <a:pPr algn="ctr" indent="0" marL="0">
              <a:buNone/>
            </a:pPr>
            <a:r>
              <a:rPr lang="en-US" sz="1100" dirty="0">
                <a:solidFill>
                  <a:schemeClr val="accent5"/>
                </a:solidFill>
              </a:rPr>
              <a:t>3</a:t>
            </a:r>
            <a:endParaRPr lang="en-US" sz="1100" dirty="0"/>
          </a:p>
        </p:txBody>
      </p:sp>
      <p:sp>
        <p:nvSpPr>
          <p:cNvPr id="44" name="Text 41"/>
          <p:cNvSpPr txBox="1"/>
          <p:nvPr/>
        </p:nvSpPr>
        <p:spPr>
          <a:xfrm>
            <a:off x="640080" y="2743200"/>
            <a:ext cx="4572000" cy="320040"/>
          </a:xfrm>
          <a:prstGeom prst="rect">
            <a:avLst/>
          </a:prstGeom>
          <a:noFill/>
          <a:ln/>
        </p:spPr>
        <p:txBody>
          <a:bodyPr wrap="square" lIns="0" tIns="0" rIns="0" bIns="0" rtlCol="0" anchor="t"/>
          <a:lstStyle/>
          <a:p>
            <a:pPr indent="0" marL="0">
              <a:buNone/>
            </a:pPr>
            <a:r>
              <a:rPr lang="en-US" sz="1500" dirty="0">
                <a:solidFill>
                  <a:schemeClr val="tx1"/>
                </a:solidFill>
                <a:latin typeface="Courier New" pitchFamily="34" charset="0"/>
                <a:ea typeface="Courier New" pitchFamily="34" charset="-122"/>
                <a:cs typeface="Courier New" pitchFamily="34" charset="-120"/>
              </a:rPr>
              <a:t>stored code = [ 2, 0, 3 ]</a:t>
            </a:r>
            <a:endParaRPr lang="en-US" sz="1500" dirty="0"/>
          </a:p>
        </p:txBody>
      </p:sp>
      <p:sp>
        <p:nvSpPr>
          <p:cNvPr id="45" name="Text 42"/>
          <p:cNvSpPr txBox="1"/>
          <p:nvPr/>
        </p:nvSpPr>
        <p:spPr>
          <a:xfrm>
            <a:off x="640080" y="3246120"/>
            <a:ext cx="4663440" cy="457200"/>
          </a:xfrm>
          <a:prstGeom prst="rect">
            <a:avLst/>
          </a:prstGeom>
          <a:noFill/>
          <a:ln/>
        </p:spPr>
        <p:txBody>
          <a:bodyPr wrap="square" lIns="0" tIns="0" rIns="0" bIns="0" rtlCol="0" anchor="t"/>
          <a:lstStyle/>
          <a:p>
            <a:pPr indent="0" marL="0">
              <a:buNone/>
            </a:pPr>
            <a:r>
              <a:rPr lang="en-US" sz="1800" b="1" dirty="0">
                <a:solidFill>
                  <a:schemeClr val="accent1"/>
                </a:solidFill>
                <a:latin typeface="Cambria" pitchFamily="34" charset="0"/>
                <a:ea typeface="Cambria" pitchFamily="34" charset="-122"/>
                <a:cs typeface="Cambria" pitchFamily="34" charset="-120"/>
              </a:rPr>
              <a:t>distance(q, x)  ≈  0.1 + 0.2 + 0.3 = 0.6</a:t>
            </a:r>
            <a:endParaRPr lang="en-US" sz="1800" dirty="0"/>
          </a:p>
        </p:txBody>
      </p:sp>
      <p:sp>
        <p:nvSpPr>
          <p:cNvPr id="46" name="Text 43"/>
          <p:cNvSpPr txBox="1"/>
          <p:nvPr/>
        </p:nvSpPr>
        <p:spPr>
          <a:xfrm>
            <a:off x="594360" y="4114800"/>
            <a:ext cx="4754880" cy="274320"/>
          </a:xfrm>
          <a:prstGeom prst="rect">
            <a:avLst/>
          </a:prstGeom>
          <a:noFill/>
          <a:ln/>
        </p:spPr>
        <p:txBody>
          <a:bodyPr wrap="square" lIns="0" tIns="0" rIns="0" bIns="0" rtlCol="0" anchor="t"/>
          <a:lstStyle/>
          <a:p>
            <a:pPr indent="0" marL="0">
              <a:buNone/>
            </a:pPr>
            <a:r>
              <a:rPr lang="en-US" sz="1100" i="1" dirty="0">
                <a:solidFill>
                  <a:schemeClr val="accent5"/>
                </a:solidFill>
                <a:latin typeface="Cambria" pitchFamily="34" charset="0"/>
                <a:ea typeface="Cambria" pitchFamily="34" charset="-122"/>
                <a:cs typeface="Cambria" pitchFamily="34" charset="-120"/>
              </a:rPr>
              <a:t>Figure 4.6  Three lookups replace a 3-part vector comparison (4 centroids shown; real tables have 256)</a:t>
            </a:r>
            <a:endParaRPr lang="en-US" sz="1100" dirty="0"/>
          </a:p>
        </p:txBody>
      </p:sp>
      <p:sp>
        <p:nvSpPr>
          <p:cNvPr id="47" name="Text 44"/>
          <p:cNvSpPr txBox="1"/>
          <p:nvPr/>
        </p:nvSpPr>
        <p:spPr>
          <a:xfrm>
            <a:off x="5669280" y="1280160"/>
            <a:ext cx="3017520" cy="32004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Table build: m x 256 distances, once per query</a:t>
            </a:r>
            <a:endParaRPr lang="en-US" sz="1400" dirty="0"/>
          </a:p>
          <a:p>
            <a:pPr marL="342900" indent="-342900">
              <a:spcAft>
                <a:spcPts val="800"/>
              </a:spcAft>
              <a:buSzPct val="100000"/>
              <a:buChar char="•"/>
            </a:pPr>
            <a:r>
              <a:rPr lang="en-US" sz="1400" dirty="0">
                <a:solidFill>
                  <a:schemeClr val="tx1"/>
                </a:solidFill>
              </a:rPr>
              <a:t>Per stored vector: m lookups and additions</a:t>
            </a:r>
            <a:endParaRPr lang="en-US" sz="1400" dirty="0"/>
          </a:p>
          <a:p>
            <a:pPr marL="342900" indent="-342900">
              <a:spcAft>
                <a:spcPts val="800"/>
              </a:spcAft>
              <a:buSzPct val="100000"/>
              <a:buChar char="•"/>
            </a:pPr>
            <a:r>
              <a:rPr lang="en-US" sz="1400" dirty="0">
                <a:solidFill>
                  <a:schemeClr val="tx1"/>
                </a:solidFill>
              </a:rPr>
              <a:t>Memory: m bytes per vector plus codebooks</a:t>
            </a:r>
            <a:endParaRPr lang="en-US" sz="1400" dirty="0"/>
          </a:p>
          <a:p>
            <a:pPr marL="342900" indent="-342900">
              <a:spcAft>
                <a:spcPts val="800"/>
              </a:spcAft>
              <a:buSzPct val="100000"/>
              <a:buChar char="•"/>
            </a:pPr>
            <a:r>
              <a:rPr lang="en-US" sz="1400" dirty="0">
                <a:solidFill>
                  <a:schemeClr val="tx1"/>
                </a:solidFill>
              </a:rPr>
              <a:t>Often paired with IVF (IVF-PQ)</a:t>
            </a:r>
            <a:endParaRPr lang="en-US" sz="14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HNSW: navigate a layered graph</a:t>
            </a:r>
            <a:endParaRPr lang="en-US" sz="3000" dirty="0"/>
          </a:p>
        </p:txBody>
      </p:sp>
      <p:sp>
        <p:nvSpPr>
          <p:cNvPr id="4" name="Shape 1"/>
          <p:cNvSpPr/>
          <p:nvPr/>
        </p:nvSpPr>
        <p:spPr>
          <a:xfrm>
            <a:off x="457200" y="1280160"/>
            <a:ext cx="4937760" cy="960120"/>
          </a:xfrm>
          <a:prstGeom prst="rect">
            <a:avLst/>
          </a:prstGeom>
          <a:solidFill>
            <a:schemeClr val="bg1"/>
          </a:solidFill>
          <a:ln w="12700">
            <a:solidFill>
              <a:schemeClr val="accent6"/>
            </a:solidFill>
            <a:prstDash val="solid"/>
          </a:ln>
        </p:spPr>
      </p:sp>
      <p:sp>
        <p:nvSpPr>
          <p:cNvPr id="5" name="Text 2"/>
          <p:cNvSpPr txBox="1"/>
          <p:nvPr/>
        </p:nvSpPr>
        <p:spPr>
          <a:xfrm>
            <a:off x="548640" y="1325880"/>
            <a:ext cx="914400" cy="228600"/>
          </a:xfrm>
          <a:prstGeom prst="rect">
            <a:avLst/>
          </a:prstGeom>
          <a:noFill/>
          <a:ln/>
        </p:spPr>
        <p:txBody>
          <a:bodyPr wrap="square" lIns="0" tIns="0" rIns="0" bIns="0" rtlCol="0" anchor="t"/>
          <a:lstStyle/>
          <a:p>
            <a:pPr indent="0" marL="0">
              <a:buNone/>
            </a:pPr>
            <a:r>
              <a:rPr lang="en-US" sz="1000" b="1" dirty="0">
                <a:solidFill>
                  <a:schemeClr val="accent5"/>
                </a:solidFill>
              </a:rPr>
              <a:t>layer 2</a:t>
            </a:r>
            <a:endParaRPr lang="en-US" sz="1000" dirty="0"/>
          </a:p>
        </p:txBody>
      </p:sp>
      <p:sp>
        <p:nvSpPr>
          <p:cNvPr id="6" name="Shape 3"/>
          <p:cNvSpPr/>
          <p:nvPr/>
        </p:nvSpPr>
        <p:spPr>
          <a:xfrm>
            <a:off x="914400" y="1847088"/>
            <a:ext cx="2194560" cy="0"/>
          </a:xfrm>
          <a:prstGeom prst="line">
            <a:avLst/>
          </a:prstGeom>
          <a:noFill/>
          <a:ln w="12700">
            <a:solidFill>
              <a:srgbClr val="6B7280"/>
            </a:solidFill>
            <a:prstDash val="solid"/>
          </a:ln>
        </p:spPr>
      </p:sp>
      <p:sp>
        <p:nvSpPr>
          <p:cNvPr id="7" name="Shape 4"/>
          <p:cNvSpPr/>
          <p:nvPr/>
        </p:nvSpPr>
        <p:spPr>
          <a:xfrm>
            <a:off x="457200" y="2377440"/>
            <a:ext cx="4937760" cy="960120"/>
          </a:xfrm>
          <a:prstGeom prst="rect">
            <a:avLst/>
          </a:prstGeom>
          <a:solidFill>
            <a:schemeClr val="bg1"/>
          </a:solidFill>
          <a:ln w="12700">
            <a:solidFill>
              <a:schemeClr val="accent6"/>
            </a:solidFill>
            <a:prstDash val="solid"/>
          </a:ln>
        </p:spPr>
      </p:sp>
      <p:sp>
        <p:nvSpPr>
          <p:cNvPr id="8" name="Text 5"/>
          <p:cNvSpPr txBox="1"/>
          <p:nvPr/>
        </p:nvSpPr>
        <p:spPr>
          <a:xfrm>
            <a:off x="548640" y="2423160"/>
            <a:ext cx="914400" cy="228600"/>
          </a:xfrm>
          <a:prstGeom prst="rect">
            <a:avLst/>
          </a:prstGeom>
          <a:noFill/>
          <a:ln/>
        </p:spPr>
        <p:txBody>
          <a:bodyPr wrap="square" lIns="0" tIns="0" rIns="0" bIns="0" rtlCol="0" anchor="t"/>
          <a:lstStyle/>
          <a:p>
            <a:pPr indent="0" marL="0">
              <a:buNone/>
            </a:pPr>
            <a:r>
              <a:rPr lang="en-US" sz="1000" b="1" dirty="0">
                <a:solidFill>
                  <a:schemeClr val="accent5"/>
                </a:solidFill>
              </a:rPr>
              <a:t>layer 1</a:t>
            </a:r>
            <a:endParaRPr lang="en-US" sz="1000" dirty="0"/>
          </a:p>
        </p:txBody>
      </p:sp>
      <p:sp>
        <p:nvSpPr>
          <p:cNvPr id="9" name="Shape 6"/>
          <p:cNvSpPr/>
          <p:nvPr/>
        </p:nvSpPr>
        <p:spPr>
          <a:xfrm>
            <a:off x="914400" y="2944368"/>
            <a:ext cx="1097280" cy="0"/>
          </a:xfrm>
          <a:prstGeom prst="line">
            <a:avLst/>
          </a:prstGeom>
          <a:noFill/>
          <a:ln w="12700">
            <a:solidFill>
              <a:srgbClr val="6B7280"/>
            </a:solidFill>
            <a:prstDash val="solid"/>
          </a:ln>
        </p:spPr>
      </p:sp>
      <p:sp>
        <p:nvSpPr>
          <p:cNvPr id="10" name="Shape 7"/>
          <p:cNvSpPr/>
          <p:nvPr/>
        </p:nvSpPr>
        <p:spPr>
          <a:xfrm>
            <a:off x="2011680" y="2944368"/>
            <a:ext cx="1097280" cy="0"/>
          </a:xfrm>
          <a:prstGeom prst="line">
            <a:avLst/>
          </a:prstGeom>
          <a:noFill/>
          <a:ln w="12700">
            <a:solidFill>
              <a:srgbClr val="6B7280"/>
            </a:solidFill>
            <a:prstDash val="solid"/>
          </a:ln>
        </p:spPr>
      </p:sp>
      <p:sp>
        <p:nvSpPr>
          <p:cNvPr id="11" name="Shape 8"/>
          <p:cNvSpPr/>
          <p:nvPr/>
        </p:nvSpPr>
        <p:spPr>
          <a:xfrm>
            <a:off x="3108960" y="2944368"/>
            <a:ext cx="1097280" cy="0"/>
          </a:xfrm>
          <a:prstGeom prst="line">
            <a:avLst/>
          </a:prstGeom>
          <a:noFill/>
          <a:ln w="12700">
            <a:solidFill>
              <a:srgbClr val="6B7280"/>
            </a:solidFill>
            <a:prstDash val="solid"/>
          </a:ln>
        </p:spPr>
      </p:sp>
      <p:sp>
        <p:nvSpPr>
          <p:cNvPr id="12" name="Shape 9"/>
          <p:cNvSpPr/>
          <p:nvPr/>
        </p:nvSpPr>
        <p:spPr>
          <a:xfrm>
            <a:off x="457200" y="3474720"/>
            <a:ext cx="4937760" cy="960120"/>
          </a:xfrm>
          <a:prstGeom prst="rect">
            <a:avLst/>
          </a:prstGeom>
          <a:solidFill>
            <a:schemeClr val="bg1"/>
          </a:solidFill>
          <a:ln w="12700">
            <a:solidFill>
              <a:schemeClr val="accent6"/>
            </a:solidFill>
            <a:prstDash val="solid"/>
          </a:ln>
        </p:spPr>
      </p:sp>
      <p:sp>
        <p:nvSpPr>
          <p:cNvPr id="13" name="Text 10"/>
          <p:cNvSpPr txBox="1"/>
          <p:nvPr/>
        </p:nvSpPr>
        <p:spPr>
          <a:xfrm>
            <a:off x="548640" y="3520440"/>
            <a:ext cx="914400" cy="228600"/>
          </a:xfrm>
          <a:prstGeom prst="rect">
            <a:avLst/>
          </a:prstGeom>
          <a:noFill/>
          <a:ln/>
        </p:spPr>
        <p:txBody>
          <a:bodyPr wrap="square" lIns="0" tIns="0" rIns="0" bIns="0" rtlCol="0" anchor="t"/>
          <a:lstStyle/>
          <a:p>
            <a:pPr indent="0" marL="0">
              <a:buNone/>
            </a:pPr>
            <a:r>
              <a:rPr lang="en-US" sz="1000" b="1" dirty="0">
                <a:solidFill>
                  <a:schemeClr val="accent5"/>
                </a:solidFill>
              </a:rPr>
              <a:t>layer 0</a:t>
            </a:r>
            <a:endParaRPr lang="en-US" sz="1000" dirty="0"/>
          </a:p>
        </p:txBody>
      </p:sp>
      <p:sp>
        <p:nvSpPr>
          <p:cNvPr id="14" name="Shape 11"/>
          <p:cNvSpPr/>
          <p:nvPr/>
        </p:nvSpPr>
        <p:spPr>
          <a:xfrm>
            <a:off x="914400" y="4041648"/>
            <a:ext cx="548640" cy="0"/>
          </a:xfrm>
          <a:prstGeom prst="line">
            <a:avLst/>
          </a:prstGeom>
          <a:noFill/>
          <a:ln w="12700">
            <a:solidFill>
              <a:srgbClr val="6B7280"/>
            </a:solidFill>
            <a:prstDash val="solid"/>
          </a:ln>
        </p:spPr>
      </p:sp>
      <p:sp>
        <p:nvSpPr>
          <p:cNvPr id="15" name="Shape 12"/>
          <p:cNvSpPr/>
          <p:nvPr/>
        </p:nvSpPr>
        <p:spPr>
          <a:xfrm>
            <a:off x="1463040" y="4041648"/>
            <a:ext cx="548640" cy="0"/>
          </a:xfrm>
          <a:prstGeom prst="line">
            <a:avLst/>
          </a:prstGeom>
          <a:noFill/>
          <a:ln w="12700">
            <a:solidFill>
              <a:srgbClr val="6B7280"/>
            </a:solidFill>
            <a:prstDash val="solid"/>
          </a:ln>
        </p:spPr>
      </p:sp>
      <p:sp>
        <p:nvSpPr>
          <p:cNvPr id="16" name="Shape 13"/>
          <p:cNvSpPr/>
          <p:nvPr/>
        </p:nvSpPr>
        <p:spPr>
          <a:xfrm>
            <a:off x="2011680" y="4041648"/>
            <a:ext cx="548640" cy="0"/>
          </a:xfrm>
          <a:prstGeom prst="line">
            <a:avLst/>
          </a:prstGeom>
          <a:noFill/>
          <a:ln w="12700">
            <a:solidFill>
              <a:srgbClr val="6B7280"/>
            </a:solidFill>
            <a:prstDash val="solid"/>
          </a:ln>
        </p:spPr>
      </p:sp>
      <p:sp>
        <p:nvSpPr>
          <p:cNvPr id="17" name="Shape 14"/>
          <p:cNvSpPr/>
          <p:nvPr/>
        </p:nvSpPr>
        <p:spPr>
          <a:xfrm>
            <a:off x="2560320" y="4041648"/>
            <a:ext cx="548640" cy="0"/>
          </a:xfrm>
          <a:prstGeom prst="line">
            <a:avLst/>
          </a:prstGeom>
          <a:noFill/>
          <a:ln w="12700">
            <a:solidFill>
              <a:srgbClr val="6B7280"/>
            </a:solidFill>
            <a:prstDash val="solid"/>
          </a:ln>
        </p:spPr>
      </p:sp>
      <p:sp>
        <p:nvSpPr>
          <p:cNvPr id="18" name="Shape 15"/>
          <p:cNvSpPr/>
          <p:nvPr/>
        </p:nvSpPr>
        <p:spPr>
          <a:xfrm>
            <a:off x="3108960" y="4041648"/>
            <a:ext cx="548640" cy="0"/>
          </a:xfrm>
          <a:prstGeom prst="line">
            <a:avLst/>
          </a:prstGeom>
          <a:noFill/>
          <a:ln w="12700">
            <a:solidFill>
              <a:srgbClr val="6B7280"/>
            </a:solidFill>
            <a:prstDash val="solid"/>
          </a:ln>
        </p:spPr>
      </p:sp>
      <p:sp>
        <p:nvSpPr>
          <p:cNvPr id="19" name="Shape 16"/>
          <p:cNvSpPr/>
          <p:nvPr/>
        </p:nvSpPr>
        <p:spPr>
          <a:xfrm>
            <a:off x="3657600" y="4041648"/>
            <a:ext cx="548640" cy="0"/>
          </a:xfrm>
          <a:prstGeom prst="line">
            <a:avLst/>
          </a:prstGeom>
          <a:noFill/>
          <a:ln w="12700">
            <a:solidFill>
              <a:srgbClr val="6B7280"/>
            </a:solidFill>
            <a:prstDash val="solid"/>
          </a:ln>
        </p:spPr>
      </p:sp>
      <p:sp>
        <p:nvSpPr>
          <p:cNvPr id="20" name="Shape 17"/>
          <p:cNvSpPr/>
          <p:nvPr/>
        </p:nvSpPr>
        <p:spPr>
          <a:xfrm>
            <a:off x="4206240" y="4041648"/>
            <a:ext cx="548640" cy="0"/>
          </a:xfrm>
          <a:prstGeom prst="line">
            <a:avLst/>
          </a:prstGeom>
          <a:noFill/>
          <a:ln w="12700">
            <a:solidFill>
              <a:srgbClr val="6B7280"/>
            </a:solidFill>
            <a:prstDash val="solid"/>
          </a:ln>
        </p:spPr>
      </p:sp>
      <p:sp>
        <p:nvSpPr>
          <p:cNvPr id="21" name="Shape 18"/>
          <p:cNvSpPr/>
          <p:nvPr/>
        </p:nvSpPr>
        <p:spPr>
          <a:xfrm>
            <a:off x="914400" y="1847088"/>
            <a:ext cx="2194560" cy="0"/>
          </a:xfrm>
          <a:prstGeom prst="line">
            <a:avLst/>
          </a:prstGeom>
          <a:noFill/>
          <a:ln w="28575">
            <a:solidFill>
              <a:srgbClr val="B5432A"/>
            </a:solidFill>
            <a:prstDash val="solid"/>
            <a:tailEnd type="triangle"/>
          </a:ln>
        </p:spPr>
      </p:sp>
      <p:sp>
        <p:nvSpPr>
          <p:cNvPr id="22" name="Shape 19"/>
          <p:cNvSpPr/>
          <p:nvPr/>
        </p:nvSpPr>
        <p:spPr>
          <a:xfrm>
            <a:off x="3108960" y="1847088"/>
            <a:ext cx="0" cy="2194560"/>
          </a:xfrm>
          <a:prstGeom prst="line">
            <a:avLst/>
          </a:prstGeom>
          <a:noFill/>
          <a:ln w="22225">
            <a:solidFill>
              <a:srgbClr val="B5432A"/>
            </a:solidFill>
            <a:prstDash val="dash"/>
          </a:ln>
        </p:spPr>
      </p:sp>
      <p:sp>
        <p:nvSpPr>
          <p:cNvPr id="23" name="Shape 20"/>
          <p:cNvSpPr/>
          <p:nvPr/>
        </p:nvSpPr>
        <p:spPr>
          <a:xfrm>
            <a:off x="3108960" y="4041648"/>
            <a:ext cx="502920" cy="0"/>
          </a:xfrm>
          <a:prstGeom prst="line">
            <a:avLst/>
          </a:prstGeom>
          <a:noFill/>
          <a:ln w="28575">
            <a:solidFill>
              <a:srgbClr val="B5432A"/>
            </a:solidFill>
            <a:prstDash val="solid"/>
            <a:tailEnd type="triangle"/>
          </a:ln>
        </p:spPr>
      </p:sp>
      <p:sp>
        <p:nvSpPr>
          <p:cNvPr id="24" name="Shape 21"/>
          <p:cNvSpPr/>
          <p:nvPr/>
        </p:nvSpPr>
        <p:spPr>
          <a:xfrm>
            <a:off x="822960" y="1755648"/>
            <a:ext cx="182880" cy="182880"/>
          </a:xfrm>
          <a:prstGeom prst="ellipse">
            <a:avLst/>
          </a:prstGeom>
          <a:solidFill>
            <a:srgbClr val="B5432A"/>
          </a:solidFill>
          <a:ln w="12700">
            <a:solidFill>
              <a:srgbClr val="B5432A"/>
            </a:solidFill>
            <a:prstDash val="solid"/>
          </a:ln>
        </p:spPr>
      </p:sp>
      <p:sp>
        <p:nvSpPr>
          <p:cNvPr id="25" name="Shape 22"/>
          <p:cNvSpPr/>
          <p:nvPr/>
        </p:nvSpPr>
        <p:spPr>
          <a:xfrm>
            <a:off x="3017520" y="1755648"/>
            <a:ext cx="182880" cy="182880"/>
          </a:xfrm>
          <a:prstGeom prst="ellipse">
            <a:avLst/>
          </a:prstGeom>
          <a:solidFill>
            <a:srgbClr val="B5432A"/>
          </a:solidFill>
          <a:ln w="12700">
            <a:solidFill>
              <a:srgbClr val="B5432A"/>
            </a:solidFill>
            <a:prstDash val="solid"/>
          </a:ln>
        </p:spPr>
      </p:sp>
      <p:sp>
        <p:nvSpPr>
          <p:cNvPr id="26" name="Shape 23"/>
          <p:cNvSpPr/>
          <p:nvPr/>
        </p:nvSpPr>
        <p:spPr>
          <a:xfrm>
            <a:off x="822960" y="2852928"/>
            <a:ext cx="182880" cy="182880"/>
          </a:xfrm>
          <a:prstGeom prst="ellipse">
            <a:avLst/>
          </a:prstGeom>
          <a:solidFill>
            <a:srgbClr val="2F5D8A"/>
          </a:solidFill>
          <a:ln w="12700">
            <a:solidFill>
              <a:srgbClr val="2F5D8A"/>
            </a:solidFill>
            <a:prstDash val="solid"/>
          </a:ln>
        </p:spPr>
      </p:sp>
      <p:sp>
        <p:nvSpPr>
          <p:cNvPr id="27" name="Shape 24"/>
          <p:cNvSpPr/>
          <p:nvPr/>
        </p:nvSpPr>
        <p:spPr>
          <a:xfrm>
            <a:off x="1920240" y="2852928"/>
            <a:ext cx="182880" cy="182880"/>
          </a:xfrm>
          <a:prstGeom prst="ellipse">
            <a:avLst/>
          </a:prstGeom>
          <a:solidFill>
            <a:srgbClr val="2F5D8A"/>
          </a:solidFill>
          <a:ln w="12700">
            <a:solidFill>
              <a:srgbClr val="2F5D8A"/>
            </a:solidFill>
            <a:prstDash val="solid"/>
          </a:ln>
        </p:spPr>
      </p:sp>
      <p:sp>
        <p:nvSpPr>
          <p:cNvPr id="28" name="Shape 25"/>
          <p:cNvSpPr/>
          <p:nvPr/>
        </p:nvSpPr>
        <p:spPr>
          <a:xfrm>
            <a:off x="3017520" y="2852928"/>
            <a:ext cx="182880" cy="182880"/>
          </a:xfrm>
          <a:prstGeom prst="ellipse">
            <a:avLst/>
          </a:prstGeom>
          <a:solidFill>
            <a:srgbClr val="B5432A"/>
          </a:solidFill>
          <a:ln w="12700">
            <a:solidFill>
              <a:srgbClr val="B5432A"/>
            </a:solidFill>
            <a:prstDash val="solid"/>
          </a:ln>
        </p:spPr>
      </p:sp>
      <p:sp>
        <p:nvSpPr>
          <p:cNvPr id="29" name="Shape 26"/>
          <p:cNvSpPr/>
          <p:nvPr/>
        </p:nvSpPr>
        <p:spPr>
          <a:xfrm>
            <a:off x="4114800" y="2852928"/>
            <a:ext cx="182880" cy="182880"/>
          </a:xfrm>
          <a:prstGeom prst="ellipse">
            <a:avLst/>
          </a:prstGeom>
          <a:solidFill>
            <a:srgbClr val="2F5D8A"/>
          </a:solidFill>
          <a:ln w="12700">
            <a:solidFill>
              <a:srgbClr val="2F5D8A"/>
            </a:solidFill>
            <a:prstDash val="solid"/>
          </a:ln>
        </p:spPr>
      </p:sp>
      <p:sp>
        <p:nvSpPr>
          <p:cNvPr id="30" name="Shape 27"/>
          <p:cNvSpPr/>
          <p:nvPr/>
        </p:nvSpPr>
        <p:spPr>
          <a:xfrm>
            <a:off x="822960" y="3950208"/>
            <a:ext cx="182880" cy="182880"/>
          </a:xfrm>
          <a:prstGeom prst="ellipse">
            <a:avLst/>
          </a:prstGeom>
          <a:solidFill>
            <a:srgbClr val="2F5D8A"/>
          </a:solidFill>
          <a:ln w="12700">
            <a:solidFill>
              <a:srgbClr val="2F5D8A"/>
            </a:solidFill>
            <a:prstDash val="solid"/>
          </a:ln>
        </p:spPr>
      </p:sp>
      <p:sp>
        <p:nvSpPr>
          <p:cNvPr id="31" name="Shape 28"/>
          <p:cNvSpPr/>
          <p:nvPr/>
        </p:nvSpPr>
        <p:spPr>
          <a:xfrm>
            <a:off x="1371600" y="3950208"/>
            <a:ext cx="182880" cy="182880"/>
          </a:xfrm>
          <a:prstGeom prst="ellipse">
            <a:avLst/>
          </a:prstGeom>
          <a:solidFill>
            <a:srgbClr val="2F5D8A"/>
          </a:solidFill>
          <a:ln w="12700">
            <a:solidFill>
              <a:srgbClr val="2F5D8A"/>
            </a:solidFill>
            <a:prstDash val="solid"/>
          </a:ln>
        </p:spPr>
      </p:sp>
      <p:sp>
        <p:nvSpPr>
          <p:cNvPr id="32" name="Shape 29"/>
          <p:cNvSpPr/>
          <p:nvPr/>
        </p:nvSpPr>
        <p:spPr>
          <a:xfrm>
            <a:off x="1920240" y="3950208"/>
            <a:ext cx="182880" cy="182880"/>
          </a:xfrm>
          <a:prstGeom prst="ellipse">
            <a:avLst/>
          </a:prstGeom>
          <a:solidFill>
            <a:srgbClr val="2F5D8A"/>
          </a:solidFill>
          <a:ln w="12700">
            <a:solidFill>
              <a:srgbClr val="2F5D8A"/>
            </a:solidFill>
            <a:prstDash val="solid"/>
          </a:ln>
        </p:spPr>
      </p:sp>
      <p:sp>
        <p:nvSpPr>
          <p:cNvPr id="33" name="Shape 30"/>
          <p:cNvSpPr/>
          <p:nvPr/>
        </p:nvSpPr>
        <p:spPr>
          <a:xfrm>
            <a:off x="2468880" y="3950208"/>
            <a:ext cx="182880" cy="182880"/>
          </a:xfrm>
          <a:prstGeom prst="ellipse">
            <a:avLst/>
          </a:prstGeom>
          <a:solidFill>
            <a:srgbClr val="2F5D8A"/>
          </a:solidFill>
          <a:ln w="12700">
            <a:solidFill>
              <a:srgbClr val="2F5D8A"/>
            </a:solidFill>
            <a:prstDash val="solid"/>
          </a:ln>
        </p:spPr>
      </p:sp>
      <p:sp>
        <p:nvSpPr>
          <p:cNvPr id="34" name="Shape 31"/>
          <p:cNvSpPr/>
          <p:nvPr/>
        </p:nvSpPr>
        <p:spPr>
          <a:xfrm>
            <a:off x="3017520" y="3950208"/>
            <a:ext cx="182880" cy="182880"/>
          </a:xfrm>
          <a:prstGeom prst="ellipse">
            <a:avLst/>
          </a:prstGeom>
          <a:solidFill>
            <a:srgbClr val="B5432A"/>
          </a:solidFill>
          <a:ln w="12700">
            <a:solidFill>
              <a:srgbClr val="B5432A"/>
            </a:solidFill>
            <a:prstDash val="solid"/>
          </a:ln>
        </p:spPr>
      </p:sp>
      <p:sp>
        <p:nvSpPr>
          <p:cNvPr id="35" name="Shape 32"/>
          <p:cNvSpPr/>
          <p:nvPr/>
        </p:nvSpPr>
        <p:spPr>
          <a:xfrm>
            <a:off x="3502152" y="3886200"/>
            <a:ext cx="310896" cy="310896"/>
          </a:xfrm>
          <a:prstGeom prst="star5">
            <a:avLst/>
          </a:prstGeom>
          <a:solidFill>
            <a:srgbClr val="B5432A"/>
          </a:solidFill>
          <a:ln w="12700">
            <a:solidFill>
              <a:srgbClr val="B5432A"/>
            </a:solidFill>
            <a:prstDash val="solid"/>
          </a:ln>
        </p:spPr>
      </p:sp>
      <p:sp>
        <p:nvSpPr>
          <p:cNvPr id="36" name="Shape 33"/>
          <p:cNvSpPr/>
          <p:nvPr/>
        </p:nvSpPr>
        <p:spPr>
          <a:xfrm>
            <a:off x="4114800" y="3950208"/>
            <a:ext cx="182880" cy="182880"/>
          </a:xfrm>
          <a:prstGeom prst="ellipse">
            <a:avLst/>
          </a:prstGeom>
          <a:solidFill>
            <a:srgbClr val="2F5D8A"/>
          </a:solidFill>
          <a:ln w="12700">
            <a:solidFill>
              <a:srgbClr val="2F5D8A"/>
            </a:solidFill>
            <a:prstDash val="solid"/>
          </a:ln>
        </p:spPr>
      </p:sp>
      <p:sp>
        <p:nvSpPr>
          <p:cNvPr id="37" name="Shape 34"/>
          <p:cNvSpPr/>
          <p:nvPr/>
        </p:nvSpPr>
        <p:spPr>
          <a:xfrm>
            <a:off x="4663440" y="3950208"/>
            <a:ext cx="182880" cy="182880"/>
          </a:xfrm>
          <a:prstGeom prst="ellipse">
            <a:avLst/>
          </a:prstGeom>
          <a:solidFill>
            <a:srgbClr val="2F5D8A"/>
          </a:solidFill>
          <a:ln w="12700">
            <a:solidFill>
              <a:srgbClr val="2F5D8A"/>
            </a:solidFill>
            <a:prstDash val="solid"/>
          </a:ln>
        </p:spPr>
      </p:sp>
      <p:sp>
        <p:nvSpPr>
          <p:cNvPr id="38" name="Text 35"/>
          <p:cNvSpPr txBox="1"/>
          <p:nvPr/>
        </p:nvSpPr>
        <p:spPr>
          <a:xfrm>
            <a:off x="457200" y="4572000"/>
            <a:ext cx="4937760" cy="274320"/>
          </a:xfrm>
          <a:prstGeom prst="rect">
            <a:avLst/>
          </a:prstGeom>
          <a:noFill/>
          <a:ln/>
        </p:spPr>
        <p:txBody>
          <a:bodyPr wrap="square" lIns="0" tIns="0" rIns="0" bIns="0" rtlCol="0" anchor="t"/>
          <a:lstStyle/>
          <a:p>
            <a:pPr indent="0" marL="0">
              <a:buNone/>
            </a:pPr>
            <a:r>
              <a:rPr lang="en-US" sz="1100" i="1" dirty="0">
                <a:solidFill>
                  <a:schemeClr val="accent5"/>
                </a:solidFill>
                <a:latin typeface="Cambria" pitchFamily="34" charset="0"/>
                <a:ea typeface="Cambria" pitchFamily="34" charset="-122"/>
                <a:cs typeface="Cambria" pitchFamily="34" charset="-120"/>
              </a:rPr>
              <a:t>Figure 4.7  A query descends layers, hopping greedily</a:t>
            </a:r>
            <a:endParaRPr lang="en-US" sz="1100" dirty="0"/>
          </a:p>
        </p:txBody>
      </p:sp>
      <p:sp>
        <p:nvSpPr>
          <p:cNvPr id="39" name="Text 36"/>
          <p:cNvSpPr txBox="1"/>
          <p:nvPr/>
        </p:nvSpPr>
        <p:spPr>
          <a:xfrm>
            <a:off x="5669280" y="1280160"/>
            <a:ext cx="3017520" cy="36576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Why it works</a:t>
            </a:r>
            <a:endParaRPr lang="en-US" sz="1800" dirty="0"/>
          </a:p>
        </p:txBody>
      </p:sp>
      <p:sp>
        <p:nvSpPr>
          <p:cNvPr id="40" name="Text 37"/>
          <p:cNvSpPr txBox="1"/>
          <p:nvPr/>
        </p:nvSpPr>
        <p:spPr>
          <a:xfrm>
            <a:off x="5669280" y="1737360"/>
            <a:ext cx="3017520" cy="20116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Small-world graphs reach any node in few hops</a:t>
            </a:r>
            <a:endParaRPr lang="en-US" sz="1400" dirty="0"/>
          </a:p>
          <a:p>
            <a:pPr marL="342900" indent="-342900">
              <a:spcAft>
                <a:spcPts val="800"/>
              </a:spcAft>
              <a:buSzPct val="100000"/>
              <a:buChar char="•"/>
            </a:pPr>
            <a:r>
              <a:rPr lang="en-US" sz="1400" dirty="0">
                <a:solidFill>
                  <a:schemeClr val="tx1"/>
                </a:solidFill>
              </a:rPr>
              <a:t>Upper layers skip most of the space</a:t>
            </a:r>
            <a:endParaRPr lang="en-US" sz="1400" dirty="0"/>
          </a:p>
          <a:p>
            <a:pPr marL="342900" indent="-342900">
              <a:spcAft>
                <a:spcPts val="800"/>
              </a:spcAft>
              <a:buSzPct val="100000"/>
              <a:buChar char="•"/>
            </a:pPr>
            <a:r>
              <a:rPr lang="en-US" sz="1400" dirty="0">
                <a:solidFill>
                  <a:schemeClr val="tx1"/>
                </a:solidFill>
              </a:rPr>
              <a:t>Query cost grows roughly with log N</a:t>
            </a:r>
            <a:endParaRPr lang="en-US" sz="1400" dirty="0"/>
          </a:p>
          <a:p>
            <a:pPr marL="342900" indent="-342900">
              <a:spcAft>
                <a:spcPts val="800"/>
              </a:spcAft>
              <a:buSzPct val="100000"/>
              <a:buChar char="•"/>
            </a:pPr>
            <a:r>
              <a:rPr lang="en-US" sz="1400" dirty="0">
                <a:solidFill>
                  <a:schemeClr val="tx1"/>
                </a:solidFill>
              </a:rPr>
              <a:t>Inserts are incremental: no training step</a:t>
            </a:r>
            <a:endParaRPr lang="en-US" sz="1400" dirty="0"/>
          </a:p>
        </p:txBody>
      </p:sp>
      <p:sp>
        <p:nvSpPr>
          <p:cNvPr id="41" name="Text 38"/>
          <p:cNvSpPr txBox="1"/>
          <p:nvPr/>
        </p:nvSpPr>
        <p:spPr>
          <a:xfrm>
            <a:off x="5669280" y="3703320"/>
            <a:ext cx="3017520" cy="868680"/>
          </a:xfrm>
          <a:prstGeom prst="rect">
            <a:avLst/>
          </a:prstGeom>
          <a:noFill/>
          <a:ln/>
        </p:spPr>
        <p:txBody>
          <a:bodyPr wrap="square" lIns="0" tIns="0" rIns="0" bIns="0" rtlCol="0" anchor="t"/>
          <a:lstStyle/>
          <a:p>
            <a:pPr indent="0" marL="0">
              <a:buNone/>
            </a:pPr>
            <a:r>
              <a:rPr lang="en-US" sz="1300" b="1" dirty="0">
                <a:solidFill>
                  <a:srgbClr val="B5432A"/>
                </a:solidFill>
                <a:latin typeface="Cambria" pitchFamily="34" charset="0"/>
                <a:ea typeface="Cambria" pitchFamily="34" charset="-122"/>
                <a:cs typeface="Cambria" pitchFamily="34" charset="-120"/>
              </a:rPr>
              <a:t>Cost  </a:t>
            </a:r>
            <a:pPr indent="0" marL="0">
              <a:buNone/>
            </a:pPr>
            <a:r>
              <a:rPr lang="en-US" sz="1300" dirty="0">
                <a:solidFill>
                  <a:schemeClr val="tx1"/>
                </a:solidFill>
                <a:latin typeface="Cambria" pitchFamily="34" charset="0"/>
                <a:ea typeface="Cambria" pitchFamily="34" charset="-122"/>
                <a:cs typeface="Cambria" pitchFamily="34" charset="-120"/>
              </a:rPr>
              <a:t>The links need memory (about 8 x M bytes per vector) and building is slow.</a:t>
            </a:r>
            <a:endParaRPr lang="en-US" sz="13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Tuning HNSW: three knobs</a:t>
            </a:r>
            <a:endParaRPr lang="en-US" sz="3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1645920"/>
                <a:gridCol w="2560320"/>
                <a:gridCol w="4023360"/>
              </a:tblGrid>
              <a:tr h="41148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Parameter</a:t>
                      </a:r>
                      <a:endParaRPr lang="en-US" sz="14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1"/>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Controls</a:t>
                      </a:r>
                      <a:endParaRPr lang="en-US" sz="14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1"/>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Higher value means</a:t>
                      </a:r>
                      <a:endParaRPr lang="en-US" sz="14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1"/>
                    </a:solidFill>
                  </a:tcPr>
                </a:tc>
              </a:tr>
              <a:tr h="502920">
                <a:tc>
                  <a:txBody>
                    <a:bodyPr/>
                    <a:lstStyle/>
                    <a:p>
                      <a:pPr indent="0" marL="0">
                        <a:buNone/>
                      </a:pPr>
                      <a:r>
                        <a:rPr lang="en-US" sz="1400" dirty="0">
                          <a:solidFill>
                            <a:srgbClr val="1B2A41"/>
                          </a:solidFill>
                          <a:latin typeface="Calibri" pitchFamily="34" charset="0"/>
                          <a:ea typeface="Calibri" pitchFamily="34" charset="-122"/>
                          <a:cs typeface="Calibri" pitchFamily="34" charset="-120"/>
                        </a:rPr>
                        <a:t>M</a:t>
                      </a:r>
                      <a:endParaRPr lang="en-US" sz="14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400" dirty="0">
                          <a:solidFill>
                            <a:srgbClr val="1B2A41"/>
                          </a:solidFill>
                          <a:latin typeface="Calibri" pitchFamily="34" charset="0"/>
                          <a:ea typeface="Calibri" pitchFamily="34" charset="-122"/>
                          <a:cs typeface="Calibri" pitchFamily="34" charset="-120"/>
                        </a:rPr>
                        <a:t>Links per node</a:t>
                      </a:r>
                      <a:endParaRPr lang="en-US" sz="14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400" dirty="0">
                          <a:solidFill>
                            <a:srgbClr val="1B2A41"/>
                          </a:solidFill>
                          <a:latin typeface="Calibri" pitchFamily="34" charset="0"/>
                          <a:ea typeface="Calibri" pitchFamily="34" charset="-122"/>
                          <a:cs typeface="Calibri" pitchFamily="34" charset="-120"/>
                        </a:rPr>
                        <a:t>More recall, more memory, slower build</a:t>
                      </a:r>
                      <a:endParaRPr lang="en-US" sz="14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502920">
                <a:tc>
                  <a:txBody>
                    <a:bodyPr/>
                    <a:lstStyle/>
                    <a:p>
                      <a:pPr indent="0" marL="0">
                        <a:buNone/>
                      </a:pPr>
                      <a:r>
                        <a:rPr lang="en-US" sz="1400" dirty="0">
                          <a:solidFill>
                            <a:srgbClr val="1B2A41"/>
                          </a:solidFill>
                          <a:latin typeface="Calibri" pitchFamily="34" charset="0"/>
                          <a:ea typeface="Calibri" pitchFamily="34" charset="-122"/>
                          <a:cs typeface="Calibri" pitchFamily="34" charset="-120"/>
                        </a:rPr>
                        <a:t>efConstruction</a:t>
                      </a:r>
                      <a:endParaRPr lang="en-US" sz="14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400" dirty="0">
                          <a:solidFill>
                            <a:srgbClr val="1B2A41"/>
                          </a:solidFill>
                          <a:latin typeface="Calibri" pitchFamily="34" charset="0"/>
                          <a:ea typeface="Calibri" pitchFamily="34" charset="-122"/>
                          <a:cs typeface="Calibri" pitchFamily="34" charset="-120"/>
                        </a:rPr>
                        <a:t>Beam width while building</a:t>
                      </a:r>
                      <a:endParaRPr lang="en-US" sz="14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400" dirty="0">
                          <a:solidFill>
                            <a:srgbClr val="1B2A41"/>
                          </a:solidFill>
                          <a:latin typeface="Calibri" pitchFamily="34" charset="0"/>
                          <a:ea typeface="Calibri" pitchFamily="34" charset="-122"/>
                          <a:cs typeface="Calibri" pitchFamily="34" charset="-120"/>
                        </a:rPr>
                        <a:t>Better graph quality, slower build</a:t>
                      </a:r>
                      <a:endParaRPr lang="en-US" sz="14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502920">
                <a:tc>
                  <a:txBody>
                    <a:bodyPr/>
                    <a:lstStyle/>
                    <a:p>
                      <a:pPr indent="0" marL="0">
                        <a:buNone/>
                      </a:pPr>
                      <a:r>
                        <a:rPr lang="en-US" sz="1400" dirty="0">
                          <a:solidFill>
                            <a:srgbClr val="1B2A41"/>
                          </a:solidFill>
                          <a:latin typeface="Calibri" pitchFamily="34" charset="0"/>
                          <a:ea typeface="Calibri" pitchFamily="34" charset="-122"/>
                          <a:cs typeface="Calibri" pitchFamily="34" charset="-120"/>
                        </a:rPr>
                        <a:t>efSearch</a:t>
                      </a:r>
                      <a:endParaRPr lang="en-US" sz="14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400" dirty="0">
                          <a:solidFill>
                            <a:srgbClr val="1B2A41"/>
                          </a:solidFill>
                          <a:latin typeface="Calibri" pitchFamily="34" charset="0"/>
                          <a:ea typeface="Calibri" pitchFamily="34" charset="-122"/>
                          <a:cs typeface="Calibri" pitchFamily="34" charset="-120"/>
                        </a:rPr>
                        <a:t>Beam width while querying</a:t>
                      </a:r>
                      <a:endParaRPr lang="en-US" sz="14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400" dirty="0">
                          <a:solidFill>
                            <a:srgbClr val="1B2A41"/>
                          </a:solidFill>
                          <a:latin typeface="Calibri" pitchFamily="34" charset="0"/>
                          <a:ea typeface="Calibri" pitchFamily="34" charset="-122"/>
                          <a:cs typeface="Calibri" pitchFamily="34" charset="-120"/>
                        </a:rPr>
                        <a:t>More recall, higher latency (no rebuild)</a:t>
                      </a:r>
                      <a:endParaRPr lang="en-US" sz="14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bl>
          </a:graphicData>
        </a:graphic>
      </p:graphicFrame>
      <p:sp>
        <p:nvSpPr>
          <p:cNvPr id="5" name="Text 1"/>
          <p:cNvSpPr txBox="1"/>
          <p:nvPr/>
        </p:nvSpPr>
        <p:spPr>
          <a:xfrm>
            <a:off x="457200" y="3383280"/>
            <a:ext cx="8229600" cy="1188720"/>
          </a:xfrm>
          <a:prstGeom prst="rect">
            <a:avLst/>
          </a:prstGeom>
          <a:noFill/>
          <a:ln/>
        </p:spPr>
        <p:txBody>
          <a:bodyPr wrap="square" lIns="0" tIns="0" rIns="0" bIns="0" rtlCol="0" anchor="t"/>
          <a:lstStyle/>
          <a:p>
            <a:pPr indent="0" marL="0">
              <a:buNone/>
            </a:pPr>
            <a:r>
              <a:rPr lang="en-US" sz="1500" b="1" dirty="0">
                <a:solidFill>
                  <a:schemeClr val="tx1"/>
                </a:solidFill>
              </a:rPr>
              <a:t>Starting point: </a:t>
            </a:r>
            <a:pPr indent="0" marL="0">
              <a:spcAft>
                <a:spcPts val="1000"/>
              </a:spcAft>
              <a:buNone/>
            </a:pPr>
            <a:r>
              <a:rPr lang="en-US" sz="1500" dirty="0">
                <a:solidFill>
                  <a:schemeClr val="tx1"/>
                </a:solidFill>
              </a:rPr>
              <a:t>M = 16 to 32, efConstruction = 200, then sweep efSearch until recall meets your target.</a:t>
            </a:r>
            <a:endParaRPr lang="en-US" sz="1500" dirty="0"/>
          </a:p>
          <a:p>
            <a:pPr indent="0" marL="0">
              <a:buNone/>
            </a:pPr>
            <a:r>
              <a:rPr lang="en-US" sz="1500" b="1" dirty="0">
                <a:solidFill>
                  <a:schemeClr val="tx1"/>
                </a:solidFill>
              </a:rPr>
              <a:t>Memory rule: </a:t>
            </a:r>
            <a:pPr indent="0" marL="0">
              <a:buNone/>
            </a:pPr>
            <a:r>
              <a:rPr lang="en-US" sz="1500" dirty="0">
                <a:solidFill>
                  <a:schemeClr val="tx1"/>
                </a:solidFill>
              </a:rPr>
              <a:t>graph overhead is about 8 x M bytes per vector, added to the vectors themselves.</a:t>
            </a:r>
            <a:endParaRPr lang="en-US" sz="15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Comparing the families</a:t>
            </a:r>
            <a:endParaRPr lang="en-US" sz="3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1097280"/>
                <a:gridCol w="1371600"/>
                <a:gridCol w="1737360"/>
                <a:gridCol w="1280160"/>
                <a:gridCol w="1280160"/>
                <a:gridCol w="1463040"/>
              </a:tblGrid>
              <a:tr h="36576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Index</a:t>
                      </a:r>
                      <a:endParaRPr lang="en-US" sz="12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Build</a:t>
                      </a:r>
                      <a:endParaRPr lang="en-US" sz="12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Query</a:t>
                      </a:r>
                      <a:endParaRPr lang="en-US" sz="12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Memory</a:t>
                      </a:r>
                      <a:endParaRPr lang="en-US" sz="12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Recall</a:t>
                      </a:r>
                      <a:endParaRPr lang="en-US" sz="12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Updates</a:t>
                      </a:r>
                      <a:endParaRPr lang="en-US" sz="12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1"/>
                    </a:solidFill>
                  </a:tcPr>
                </a:tc>
              </a:tr>
              <a:tr h="502920">
                <a:tc>
                  <a:txBody>
                    <a:bodyPr/>
                    <a:lstStyle/>
                    <a:p>
                      <a:pPr indent="0" marL="0">
                        <a:buNone/>
                      </a:pPr>
                      <a:r>
                        <a:rPr lang="en-US" sz="1200" dirty="0">
                          <a:solidFill>
                            <a:srgbClr val="1B2A41"/>
                          </a:solidFill>
                          <a:latin typeface="Calibri" pitchFamily="34" charset="0"/>
                          <a:ea typeface="Calibri" pitchFamily="34" charset="-122"/>
                          <a:cs typeface="Calibri" pitchFamily="34" charset="-120"/>
                        </a:rPr>
                        <a:t>Flat</a:t>
                      </a:r>
                      <a:endParaRPr lang="en-US" sz="12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1B2A41"/>
                          </a:solidFill>
                          <a:latin typeface="Calibri" pitchFamily="34" charset="0"/>
                          <a:ea typeface="Calibri" pitchFamily="34" charset="-122"/>
                          <a:cs typeface="Calibri" pitchFamily="34" charset="-120"/>
                        </a:rPr>
                        <a:t>none</a:t>
                      </a:r>
                      <a:endParaRPr lang="en-US" sz="12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1B2A41"/>
                          </a:solidFill>
                          <a:latin typeface="Calibri" pitchFamily="34" charset="0"/>
                          <a:ea typeface="Calibri" pitchFamily="34" charset="-122"/>
                          <a:cs typeface="Calibri" pitchFamily="34" charset="-120"/>
                        </a:rPr>
                        <a:t>N x d</a:t>
                      </a:r>
                      <a:endParaRPr lang="en-US" sz="12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1B2A41"/>
                          </a:solidFill>
                          <a:latin typeface="Calibri" pitchFamily="34" charset="0"/>
                          <a:ea typeface="Calibri" pitchFamily="34" charset="-122"/>
                          <a:cs typeface="Calibri" pitchFamily="34" charset="-120"/>
                        </a:rPr>
                        <a:t>full vectors</a:t>
                      </a:r>
                      <a:endParaRPr lang="en-US" sz="12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1B2A41"/>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1B2A41"/>
                          </a:solidFill>
                          <a:latin typeface="Calibri" pitchFamily="34" charset="0"/>
                          <a:ea typeface="Calibri" pitchFamily="34" charset="-122"/>
                          <a:cs typeface="Calibri" pitchFamily="34" charset="-120"/>
                        </a:rPr>
                        <a:t>trivial</a:t>
                      </a:r>
                      <a:endParaRPr lang="en-US" sz="12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566928">
                <a:tc>
                  <a:txBody>
                    <a:bodyPr/>
                    <a:lstStyle/>
                    <a:p>
                      <a:pPr indent="0" marL="0">
                        <a:buNone/>
                      </a:pPr>
                      <a:r>
                        <a:rPr lang="en-US" sz="1200" dirty="0">
                          <a:solidFill>
                            <a:srgbClr val="1B2A41"/>
                          </a:solidFill>
                          <a:latin typeface="Calibri" pitchFamily="34" charset="0"/>
                          <a:ea typeface="Calibri" pitchFamily="34" charset="-122"/>
                          <a:cs typeface="Calibri" pitchFamily="34" charset="-120"/>
                        </a:rPr>
                        <a:t>IVF-Flat</a:t>
                      </a:r>
                      <a:endParaRPr lang="en-US" sz="12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1B2A41"/>
                          </a:solidFill>
                          <a:latin typeface="Calibri" pitchFamily="34" charset="0"/>
                          <a:ea typeface="Calibri" pitchFamily="34" charset="-122"/>
                          <a:cs typeface="Calibri" pitchFamily="34" charset="-120"/>
                        </a:rPr>
                        <a:t>k-means training</a:t>
                      </a:r>
                      <a:endParaRPr lang="en-US" sz="12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1B2A41"/>
                          </a:solidFill>
                          <a:latin typeface="Calibri" pitchFamily="34" charset="0"/>
                          <a:ea typeface="Calibri" pitchFamily="34" charset="-122"/>
                          <a:cs typeface="Calibri" pitchFamily="34" charset="-120"/>
                        </a:rPr>
                        <a:t>nlist + nprobe x N/nlist</a:t>
                      </a:r>
                      <a:endParaRPr lang="en-US" sz="12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1B2A41"/>
                          </a:solidFill>
                          <a:latin typeface="Calibri" pitchFamily="34" charset="0"/>
                          <a:ea typeface="Calibri" pitchFamily="34" charset="-122"/>
                          <a:cs typeface="Calibri" pitchFamily="34" charset="-120"/>
                        </a:rPr>
                        <a:t>full vectors</a:t>
                      </a:r>
                      <a:endParaRPr lang="en-US" sz="12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1B2A41"/>
                          </a:solidFill>
                          <a:latin typeface="Calibri" pitchFamily="34" charset="0"/>
                          <a:ea typeface="Calibri" pitchFamily="34" charset="-122"/>
                          <a:cs typeface="Calibri" pitchFamily="34" charset="-120"/>
                        </a:rPr>
                        <a:t>high (nprobe)</a:t>
                      </a:r>
                      <a:endParaRPr lang="en-US" sz="12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1B2A41"/>
                          </a:solidFill>
                          <a:latin typeface="Calibri" pitchFamily="34" charset="0"/>
                          <a:ea typeface="Calibri" pitchFamily="34" charset="-122"/>
                          <a:cs typeface="Calibri" pitchFamily="34" charset="-120"/>
                        </a:rPr>
                        <a:t>append; retrain on drift</a:t>
                      </a:r>
                      <a:endParaRPr lang="en-US" sz="12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566928">
                <a:tc>
                  <a:txBody>
                    <a:bodyPr/>
                    <a:lstStyle/>
                    <a:p>
                      <a:pPr indent="0" marL="0">
                        <a:buNone/>
                      </a:pPr>
                      <a:r>
                        <a:rPr lang="en-US" sz="1200" dirty="0">
                          <a:solidFill>
                            <a:srgbClr val="1B2A41"/>
                          </a:solidFill>
                          <a:latin typeface="Calibri" pitchFamily="34" charset="0"/>
                          <a:ea typeface="Calibri" pitchFamily="34" charset="-122"/>
                          <a:cs typeface="Calibri" pitchFamily="34" charset="-120"/>
                        </a:rPr>
                        <a:t>IVF-PQ</a:t>
                      </a:r>
                      <a:endParaRPr lang="en-US" sz="12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1B2A41"/>
                          </a:solidFill>
                          <a:latin typeface="Calibri" pitchFamily="34" charset="0"/>
                          <a:ea typeface="Calibri" pitchFamily="34" charset="-122"/>
                          <a:cs typeface="Calibri" pitchFamily="34" charset="-120"/>
                        </a:rPr>
                        <a:t>training + codebooks</a:t>
                      </a:r>
                      <a:endParaRPr lang="en-US" sz="12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1B2A41"/>
                          </a:solidFill>
                          <a:latin typeface="Calibri" pitchFamily="34" charset="0"/>
                          <a:ea typeface="Calibri" pitchFamily="34" charset="-122"/>
                          <a:cs typeface="Calibri" pitchFamily="34" charset="-120"/>
                        </a:rPr>
                        <a:t>as IVF, cheaper distances</a:t>
                      </a:r>
                      <a:endParaRPr lang="en-US" sz="12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1B2A41"/>
                          </a:solidFill>
                          <a:latin typeface="Calibri" pitchFamily="34" charset="0"/>
                          <a:ea typeface="Calibri" pitchFamily="34" charset="-122"/>
                          <a:cs typeface="Calibri" pitchFamily="34" charset="-120"/>
                        </a:rPr>
                        <a:t>tiny codes</a:t>
                      </a:r>
                      <a:endParaRPr lang="en-US" sz="12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1B2A41"/>
                          </a:solidFill>
                          <a:latin typeface="Calibri" pitchFamily="34" charset="0"/>
                          <a:ea typeface="Calibri" pitchFamily="34" charset="-122"/>
                          <a:cs typeface="Calibri" pitchFamily="34" charset="-120"/>
                        </a:rPr>
                        <a:t>medium</a:t>
                      </a:r>
                      <a:endParaRPr lang="en-US" sz="12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1B2A41"/>
                          </a:solidFill>
                          <a:latin typeface="Calibri" pitchFamily="34" charset="0"/>
                          <a:ea typeface="Calibri" pitchFamily="34" charset="-122"/>
                          <a:cs typeface="Calibri" pitchFamily="34" charset="-120"/>
                        </a:rPr>
                        <a:t>as IVF</a:t>
                      </a:r>
                      <a:endParaRPr lang="en-US" sz="12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566928">
                <a:tc>
                  <a:txBody>
                    <a:bodyPr/>
                    <a:lstStyle/>
                    <a:p>
                      <a:pPr indent="0" marL="0">
                        <a:buNone/>
                      </a:pPr>
                      <a:r>
                        <a:rPr lang="en-US" sz="1200" dirty="0">
                          <a:solidFill>
                            <a:srgbClr val="1B2A41"/>
                          </a:solidFill>
                          <a:latin typeface="Calibri" pitchFamily="34" charset="0"/>
                          <a:ea typeface="Calibri" pitchFamily="34" charset="-122"/>
                          <a:cs typeface="Calibri" pitchFamily="34" charset="-120"/>
                        </a:rPr>
                        <a:t>HNSW</a:t>
                      </a:r>
                      <a:endParaRPr lang="en-US" sz="12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1B2A41"/>
                          </a:solidFill>
                          <a:latin typeface="Calibri" pitchFamily="34" charset="0"/>
                          <a:ea typeface="Calibri" pitchFamily="34" charset="-122"/>
                          <a:cs typeface="Calibri" pitchFamily="34" charset="-120"/>
                        </a:rPr>
                        <a:t>slow, no training</a:t>
                      </a:r>
                      <a:endParaRPr lang="en-US" sz="12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1B2A41"/>
                          </a:solidFill>
                          <a:latin typeface="Calibri" pitchFamily="34" charset="0"/>
                          <a:ea typeface="Calibri" pitchFamily="34" charset="-122"/>
                          <a:cs typeface="Calibri" pitchFamily="34" charset="-120"/>
                        </a:rPr>
                        <a:t>about log N</a:t>
                      </a:r>
                      <a:endParaRPr lang="en-US" sz="12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1B2A41"/>
                          </a:solidFill>
                          <a:latin typeface="Calibri" pitchFamily="34" charset="0"/>
                          <a:ea typeface="Calibri" pitchFamily="34" charset="-122"/>
                          <a:cs typeface="Calibri" pitchFamily="34" charset="-120"/>
                        </a:rPr>
                        <a:t>vectors + graph</a:t>
                      </a:r>
                      <a:endParaRPr lang="en-US" sz="12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1B2A41"/>
                          </a:solidFill>
                          <a:latin typeface="Calibri" pitchFamily="34" charset="0"/>
                          <a:ea typeface="Calibri" pitchFamily="34" charset="-122"/>
                          <a:cs typeface="Calibri" pitchFamily="34" charset="-120"/>
                        </a:rPr>
                        <a:t>very high</a:t>
                      </a:r>
                      <a:endParaRPr lang="en-US" sz="12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1B2A41"/>
                          </a:solidFill>
                          <a:latin typeface="Calibri" pitchFamily="34" charset="0"/>
                          <a:ea typeface="Calibri" pitchFamily="34" charset="-122"/>
                          <a:cs typeface="Calibri" pitchFamily="34" charset="-120"/>
                        </a:rPr>
                        <a:t>easy inserts; deletes are soft</a:t>
                      </a:r>
                      <a:endParaRPr lang="en-US" sz="12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502920">
                <a:tc>
                  <a:txBody>
                    <a:bodyPr/>
                    <a:lstStyle/>
                    <a:p>
                      <a:pPr indent="0" marL="0">
                        <a:buNone/>
                      </a:pPr>
                      <a:r>
                        <a:rPr lang="en-US" sz="1200" dirty="0">
                          <a:solidFill>
                            <a:srgbClr val="1B2A41"/>
                          </a:solidFill>
                          <a:latin typeface="Calibri" pitchFamily="34" charset="0"/>
                          <a:ea typeface="Calibri" pitchFamily="34" charset="-122"/>
                          <a:cs typeface="Calibri" pitchFamily="34" charset="-120"/>
                        </a:rPr>
                        <a:t>LSH</a:t>
                      </a:r>
                      <a:endParaRPr lang="en-US" sz="12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1B2A41"/>
                          </a:solidFill>
                          <a:latin typeface="Calibri" pitchFamily="34" charset="0"/>
                          <a:ea typeface="Calibri" pitchFamily="34" charset="-122"/>
                          <a:cs typeface="Calibri" pitchFamily="34" charset="-120"/>
                        </a:rPr>
                        <a:t>cheap</a:t>
                      </a:r>
                      <a:endParaRPr lang="en-US" sz="12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1B2A41"/>
                          </a:solidFill>
                          <a:latin typeface="Calibri" pitchFamily="34" charset="0"/>
                          <a:ea typeface="Calibri" pitchFamily="34" charset="-122"/>
                          <a:cs typeface="Calibri" pitchFamily="34" charset="-120"/>
                        </a:rPr>
                        <a:t>sublinear</a:t>
                      </a:r>
                      <a:endParaRPr lang="en-US" sz="12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1B2A41"/>
                          </a:solidFill>
                          <a:latin typeface="Calibri" pitchFamily="34" charset="0"/>
                          <a:ea typeface="Calibri" pitchFamily="34" charset="-122"/>
                          <a:cs typeface="Calibri" pitchFamily="34" charset="-120"/>
                        </a:rPr>
                        <a:t>hash tables</a:t>
                      </a:r>
                      <a:endParaRPr lang="en-US" sz="12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1B2A41"/>
                          </a:solidFill>
                          <a:latin typeface="Calibri" pitchFamily="34" charset="0"/>
                          <a:ea typeface="Calibri" pitchFamily="34" charset="-122"/>
                          <a:cs typeface="Calibri" pitchFamily="34" charset="-120"/>
                        </a:rPr>
                        <a:t>lower on dense data</a:t>
                      </a:r>
                      <a:endParaRPr lang="en-US" sz="12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1B2A41"/>
                          </a:solidFill>
                          <a:latin typeface="Calibri" pitchFamily="34" charset="0"/>
                          <a:ea typeface="Calibri" pitchFamily="34" charset="-122"/>
                          <a:cs typeface="Calibri" pitchFamily="34" charset="-120"/>
                        </a:rPr>
                        <a:t>easy</a:t>
                      </a:r>
                      <a:endParaRPr lang="en-US" sz="12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Choosing an index</a:t>
            </a:r>
            <a:endParaRPr lang="en-US" sz="3000" dirty="0"/>
          </a:p>
        </p:txBody>
      </p:sp>
      <p:sp>
        <p:nvSpPr>
          <p:cNvPr id="4" name="Shape 1"/>
          <p:cNvSpPr/>
          <p:nvPr/>
        </p:nvSpPr>
        <p:spPr>
          <a:xfrm>
            <a:off x="2834640" y="1280160"/>
            <a:ext cx="3474720" cy="548640"/>
          </a:xfrm>
          <a:prstGeom prst="rect">
            <a:avLst/>
          </a:prstGeom>
          <a:solidFill>
            <a:srgbClr val="1B2A41"/>
          </a:solidFill>
          <a:ln w="12700">
            <a:solidFill>
              <a:srgbClr val="1B2A41"/>
            </a:solidFill>
            <a:prstDash val="solid"/>
          </a:ln>
        </p:spPr>
      </p:sp>
      <p:sp>
        <p:nvSpPr>
          <p:cNvPr id="5" name="Text 2"/>
          <p:cNvSpPr txBox="1"/>
          <p:nvPr/>
        </p:nvSpPr>
        <p:spPr>
          <a:xfrm>
            <a:off x="2834640" y="1280160"/>
            <a:ext cx="3474720" cy="548640"/>
          </a:xfrm>
          <a:prstGeom prst="rect">
            <a:avLst/>
          </a:prstGeom>
          <a:noFill/>
          <a:ln/>
        </p:spPr>
        <p:txBody>
          <a:bodyPr wrap="square" lIns="0" tIns="0" rIns="0" bIns="0" rtlCol="0" anchor="ctr"/>
          <a:lstStyle/>
          <a:p>
            <a:pPr algn="ctr" indent="0" marL="0">
              <a:buNone/>
            </a:pPr>
            <a:r>
              <a:rPr lang="en-US" sz="1500" b="1" dirty="0">
                <a:solidFill>
                  <a:srgbClr val="FFFFFF"/>
                </a:solidFill>
              </a:rPr>
              <a:t>How many vectors, and how much RAM?</a:t>
            </a:r>
            <a:endParaRPr lang="en-US" sz="1500" dirty="0"/>
          </a:p>
        </p:txBody>
      </p:sp>
      <p:sp>
        <p:nvSpPr>
          <p:cNvPr id="6" name="Shape 3"/>
          <p:cNvSpPr/>
          <p:nvPr/>
        </p:nvSpPr>
        <p:spPr>
          <a:xfrm flipV="1">
            <a:off x="1737360" y="1828800"/>
            <a:ext cx="2834640" cy="502920"/>
          </a:xfrm>
          <a:prstGeom prst="line">
            <a:avLst/>
          </a:prstGeom>
          <a:noFill/>
          <a:ln w="15875">
            <a:solidFill>
              <a:srgbClr val="6B7280"/>
            </a:solidFill>
            <a:prstDash val="solid"/>
            <a:tailEnd type="triangle"/>
          </a:ln>
        </p:spPr>
      </p:sp>
      <p:sp>
        <p:nvSpPr>
          <p:cNvPr id="7" name="Shape 4"/>
          <p:cNvSpPr/>
          <p:nvPr/>
        </p:nvSpPr>
        <p:spPr>
          <a:xfrm>
            <a:off x="457200" y="2377440"/>
            <a:ext cx="2560320" cy="1325880"/>
          </a:xfrm>
          <a:prstGeom prst="rect">
            <a:avLst/>
          </a:prstGeom>
          <a:solidFill>
            <a:schemeClr val="bg1"/>
          </a:solidFill>
          <a:ln w="12700">
            <a:solidFill>
              <a:schemeClr val="accent6"/>
            </a:solidFill>
            <a:prstDash val="solid"/>
          </a:ln>
        </p:spPr>
      </p:sp>
      <p:sp>
        <p:nvSpPr>
          <p:cNvPr id="8" name="Text 5"/>
          <p:cNvSpPr txBox="1"/>
          <p:nvPr/>
        </p:nvSpPr>
        <p:spPr>
          <a:xfrm>
            <a:off x="594360" y="2450592"/>
            <a:ext cx="2286000" cy="457200"/>
          </a:xfrm>
          <a:prstGeom prst="rect">
            <a:avLst/>
          </a:prstGeom>
          <a:noFill/>
          <a:ln/>
        </p:spPr>
        <p:txBody>
          <a:bodyPr wrap="square" lIns="0" tIns="0" rIns="0" bIns="0" rtlCol="0" anchor="t"/>
          <a:lstStyle/>
          <a:p>
            <a:pPr indent="0" marL="0">
              <a:buNone/>
            </a:pPr>
            <a:r>
              <a:rPr lang="en-US" sz="1300" b="1" dirty="0">
                <a:solidFill>
                  <a:schemeClr val="accent1"/>
                </a:solidFill>
                <a:latin typeface="Cambria" pitchFamily="34" charset="0"/>
                <a:ea typeface="Cambria" pitchFamily="34" charset="-122"/>
                <a:cs typeface="Cambria" pitchFamily="34" charset="-120"/>
              </a:rPr>
              <a:t>Under about 100k</a:t>
            </a:r>
            <a:endParaRPr lang="en-US" sz="1300" dirty="0"/>
          </a:p>
        </p:txBody>
      </p:sp>
      <p:sp>
        <p:nvSpPr>
          <p:cNvPr id="9" name="Text 6"/>
          <p:cNvSpPr txBox="1"/>
          <p:nvPr/>
        </p:nvSpPr>
        <p:spPr>
          <a:xfrm>
            <a:off x="594360" y="2926080"/>
            <a:ext cx="2286000" cy="731520"/>
          </a:xfrm>
          <a:prstGeom prst="rect">
            <a:avLst/>
          </a:prstGeom>
          <a:noFill/>
          <a:ln/>
        </p:spPr>
        <p:txBody>
          <a:bodyPr wrap="square" lIns="0" tIns="0" rIns="0" bIns="0" rtlCol="0" anchor="t"/>
          <a:lstStyle/>
          <a:p>
            <a:pPr indent="0" marL="0">
              <a:buNone/>
            </a:pPr>
            <a:r>
              <a:rPr lang="en-US" sz="1300" dirty="0">
                <a:solidFill>
                  <a:schemeClr val="tx1"/>
                </a:solidFill>
              </a:rPr>
              <a:t>Flat. Exact, simplest, fast enough.</a:t>
            </a:r>
            <a:endParaRPr lang="en-US" sz="1300" dirty="0"/>
          </a:p>
        </p:txBody>
      </p:sp>
      <p:sp>
        <p:nvSpPr>
          <p:cNvPr id="10" name="Shape 7"/>
          <p:cNvSpPr/>
          <p:nvPr/>
        </p:nvSpPr>
        <p:spPr>
          <a:xfrm>
            <a:off x="4572000" y="1828800"/>
            <a:ext cx="0" cy="502920"/>
          </a:xfrm>
          <a:prstGeom prst="line">
            <a:avLst/>
          </a:prstGeom>
          <a:noFill/>
          <a:ln w="15875">
            <a:solidFill>
              <a:srgbClr val="6B7280"/>
            </a:solidFill>
            <a:prstDash val="solid"/>
            <a:tailEnd type="triangle"/>
          </a:ln>
        </p:spPr>
      </p:sp>
      <p:sp>
        <p:nvSpPr>
          <p:cNvPr id="11" name="Shape 8"/>
          <p:cNvSpPr/>
          <p:nvPr/>
        </p:nvSpPr>
        <p:spPr>
          <a:xfrm>
            <a:off x="3291840" y="2377440"/>
            <a:ext cx="2560320" cy="1325880"/>
          </a:xfrm>
          <a:prstGeom prst="rect">
            <a:avLst/>
          </a:prstGeom>
          <a:solidFill>
            <a:schemeClr val="bg1"/>
          </a:solidFill>
          <a:ln w="12700">
            <a:solidFill>
              <a:schemeClr val="accent6"/>
            </a:solidFill>
            <a:prstDash val="solid"/>
          </a:ln>
        </p:spPr>
      </p:sp>
      <p:sp>
        <p:nvSpPr>
          <p:cNvPr id="12" name="Text 9"/>
          <p:cNvSpPr txBox="1"/>
          <p:nvPr/>
        </p:nvSpPr>
        <p:spPr>
          <a:xfrm>
            <a:off x="3429000" y="2450592"/>
            <a:ext cx="2286000" cy="457200"/>
          </a:xfrm>
          <a:prstGeom prst="rect">
            <a:avLst/>
          </a:prstGeom>
          <a:noFill/>
          <a:ln/>
        </p:spPr>
        <p:txBody>
          <a:bodyPr wrap="square" lIns="0" tIns="0" rIns="0" bIns="0" rtlCol="0" anchor="t"/>
          <a:lstStyle/>
          <a:p>
            <a:pPr indent="0" marL="0">
              <a:buNone/>
            </a:pPr>
            <a:r>
              <a:rPr lang="en-US" sz="1300" b="1" dirty="0">
                <a:solidFill>
                  <a:schemeClr val="accent1"/>
                </a:solidFill>
                <a:latin typeface="Cambria" pitchFamily="34" charset="0"/>
                <a:ea typeface="Cambria" pitchFamily="34" charset="-122"/>
                <a:cs typeface="Cambria" pitchFamily="34" charset="-120"/>
              </a:rPr>
              <a:t>100k to about 10M, fits in RAM</a:t>
            </a:r>
            <a:endParaRPr lang="en-US" sz="1300" dirty="0"/>
          </a:p>
        </p:txBody>
      </p:sp>
      <p:sp>
        <p:nvSpPr>
          <p:cNvPr id="13" name="Text 10"/>
          <p:cNvSpPr txBox="1"/>
          <p:nvPr/>
        </p:nvSpPr>
        <p:spPr>
          <a:xfrm>
            <a:off x="3429000" y="2926080"/>
            <a:ext cx="2286000" cy="731520"/>
          </a:xfrm>
          <a:prstGeom prst="rect">
            <a:avLst/>
          </a:prstGeom>
          <a:noFill/>
          <a:ln/>
        </p:spPr>
        <p:txBody>
          <a:bodyPr wrap="square" lIns="0" tIns="0" rIns="0" bIns="0" rtlCol="0" anchor="t"/>
          <a:lstStyle/>
          <a:p>
            <a:pPr indent="0" marL="0">
              <a:buNone/>
            </a:pPr>
            <a:r>
              <a:rPr lang="en-US" sz="1300" dirty="0">
                <a:solidFill>
                  <a:schemeClr val="tx1"/>
                </a:solidFill>
              </a:rPr>
              <a:t>HNSW for low latency; IVF-Flat for faster builds and lower memory.</a:t>
            </a:r>
            <a:endParaRPr lang="en-US" sz="1300" dirty="0"/>
          </a:p>
        </p:txBody>
      </p:sp>
      <p:sp>
        <p:nvSpPr>
          <p:cNvPr id="14" name="Shape 11"/>
          <p:cNvSpPr/>
          <p:nvPr/>
        </p:nvSpPr>
        <p:spPr>
          <a:xfrm>
            <a:off x="4572000" y="1828800"/>
            <a:ext cx="2834640" cy="502920"/>
          </a:xfrm>
          <a:prstGeom prst="line">
            <a:avLst/>
          </a:prstGeom>
          <a:noFill/>
          <a:ln w="15875">
            <a:solidFill>
              <a:srgbClr val="6B7280"/>
            </a:solidFill>
            <a:prstDash val="solid"/>
            <a:tailEnd type="triangle"/>
          </a:ln>
        </p:spPr>
      </p:sp>
      <p:sp>
        <p:nvSpPr>
          <p:cNvPr id="15" name="Shape 12"/>
          <p:cNvSpPr/>
          <p:nvPr/>
        </p:nvSpPr>
        <p:spPr>
          <a:xfrm>
            <a:off x="6126480" y="2377440"/>
            <a:ext cx="2560320" cy="1325880"/>
          </a:xfrm>
          <a:prstGeom prst="rect">
            <a:avLst/>
          </a:prstGeom>
          <a:solidFill>
            <a:schemeClr val="bg1"/>
          </a:solidFill>
          <a:ln w="12700">
            <a:solidFill>
              <a:schemeClr val="accent6"/>
            </a:solidFill>
            <a:prstDash val="solid"/>
          </a:ln>
        </p:spPr>
      </p:sp>
      <p:sp>
        <p:nvSpPr>
          <p:cNvPr id="16" name="Text 13"/>
          <p:cNvSpPr txBox="1"/>
          <p:nvPr/>
        </p:nvSpPr>
        <p:spPr>
          <a:xfrm>
            <a:off x="6263640" y="2450592"/>
            <a:ext cx="2286000" cy="457200"/>
          </a:xfrm>
          <a:prstGeom prst="rect">
            <a:avLst/>
          </a:prstGeom>
          <a:noFill/>
          <a:ln/>
        </p:spPr>
        <p:txBody>
          <a:bodyPr wrap="square" lIns="0" tIns="0" rIns="0" bIns="0" rtlCol="0" anchor="t"/>
          <a:lstStyle/>
          <a:p>
            <a:pPr indent="0" marL="0">
              <a:buNone/>
            </a:pPr>
            <a:r>
              <a:rPr lang="en-US" sz="1300" b="1" dirty="0">
                <a:solidFill>
                  <a:schemeClr val="accent1"/>
                </a:solidFill>
                <a:latin typeface="Cambria" pitchFamily="34" charset="0"/>
                <a:ea typeface="Cambria" pitchFamily="34" charset="-122"/>
                <a:cs typeface="Cambria" pitchFamily="34" charset="-120"/>
              </a:rPr>
              <a:t>Tens of millions or more, or RAM-limited</a:t>
            </a:r>
            <a:endParaRPr lang="en-US" sz="1300" dirty="0"/>
          </a:p>
        </p:txBody>
      </p:sp>
      <p:sp>
        <p:nvSpPr>
          <p:cNvPr id="17" name="Text 14"/>
          <p:cNvSpPr txBox="1"/>
          <p:nvPr/>
        </p:nvSpPr>
        <p:spPr>
          <a:xfrm>
            <a:off x="6263640" y="2926080"/>
            <a:ext cx="2286000" cy="731520"/>
          </a:xfrm>
          <a:prstGeom prst="rect">
            <a:avLst/>
          </a:prstGeom>
          <a:noFill/>
          <a:ln/>
        </p:spPr>
        <p:txBody>
          <a:bodyPr wrap="square" lIns="0" tIns="0" rIns="0" bIns="0" rtlCol="0" anchor="t"/>
          <a:lstStyle/>
          <a:p>
            <a:pPr indent="0" marL="0">
              <a:buNone/>
            </a:pPr>
            <a:r>
              <a:rPr lang="en-US" sz="1300" dirty="0">
                <a:solidFill>
                  <a:schemeClr val="tx1"/>
                </a:solidFill>
              </a:rPr>
              <a:t>IVF-PQ, or disk-based indexes; plan sharding.</a:t>
            </a:r>
            <a:endParaRPr lang="en-US" sz="1300" dirty="0"/>
          </a:p>
        </p:txBody>
      </p:sp>
      <p:sp>
        <p:nvSpPr>
          <p:cNvPr id="18" name="Text 15"/>
          <p:cNvSpPr txBox="1"/>
          <p:nvPr/>
        </p:nvSpPr>
        <p:spPr>
          <a:xfrm>
            <a:off x="457200" y="3931920"/>
            <a:ext cx="8229600" cy="640080"/>
          </a:xfrm>
          <a:prstGeom prst="rect">
            <a:avLst/>
          </a:prstGeom>
          <a:noFill/>
          <a:ln/>
        </p:spPr>
        <p:txBody>
          <a:bodyPr wrap="square" lIns="0" tIns="0" rIns="0" bIns="0" rtlCol="0" anchor="t"/>
          <a:lstStyle/>
          <a:p>
            <a:pPr indent="0" marL="0">
              <a:buNone/>
            </a:pPr>
            <a:r>
              <a:rPr lang="en-US" sz="1400" b="1" dirty="0">
                <a:solidFill>
                  <a:schemeClr val="tx1"/>
                </a:solidFill>
              </a:rPr>
              <a:t>Then adjust: </a:t>
            </a:r>
            <a:pPr indent="0" marL="0">
              <a:buNone/>
            </a:pPr>
            <a:r>
              <a:rPr lang="en-US" sz="1400" dirty="0">
                <a:solidFill>
                  <a:schemeClr val="tx1"/>
                </a:solidFill>
              </a:rPr>
              <a:t>frequent updates favor HNSW or Flat; strict metadata filters need filter-aware search; a hard recall of 100% means Flat.</a:t>
            </a:r>
            <a:endParaRPr lang="en-US" sz="14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Benchmark the curve, not a point</a:t>
            </a:r>
            <a:endParaRPr lang="en-US" sz="3000" dirty="0"/>
          </a:p>
        </p:txBody>
      </p:sp>
      <p:sp>
        <p:nvSpPr>
          <p:cNvPr id="4" name="Shape 1"/>
          <p:cNvSpPr/>
          <p:nvPr/>
        </p:nvSpPr>
        <p:spPr>
          <a:xfrm>
            <a:off x="457200" y="1280160"/>
            <a:ext cx="4937760" cy="3108960"/>
          </a:xfrm>
          <a:prstGeom prst="rect">
            <a:avLst/>
          </a:prstGeom>
          <a:solidFill>
            <a:schemeClr val="bg1"/>
          </a:solidFill>
          <a:ln w="12700">
            <a:solidFill>
              <a:schemeClr val="accent6"/>
            </a:solidFill>
            <a:prstDash val="solid"/>
          </a:ln>
        </p:spPr>
      </p:sp>
      <p:sp>
        <p:nvSpPr>
          <p:cNvPr id="5" name="Shape 2"/>
          <p:cNvSpPr/>
          <p:nvPr/>
        </p:nvSpPr>
        <p:spPr>
          <a:xfrm>
            <a:off x="914400" y="4023360"/>
            <a:ext cx="4206240" cy="0"/>
          </a:xfrm>
          <a:prstGeom prst="line">
            <a:avLst/>
          </a:prstGeom>
          <a:noFill/>
          <a:ln w="12700">
            <a:solidFill>
              <a:srgbClr val="6B7280"/>
            </a:solidFill>
            <a:prstDash val="solid"/>
            <a:tailEnd type="triangle"/>
          </a:ln>
        </p:spPr>
      </p:sp>
      <p:sp>
        <p:nvSpPr>
          <p:cNvPr id="6" name="Shape 3"/>
          <p:cNvSpPr/>
          <p:nvPr/>
        </p:nvSpPr>
        <p:spPr>
          <a:xfrm>
            <a:off x="914400" y="1463040"/>
            <a:ext cx="0" cy="2560320"/>
          </a:xfrm>
          <a:prstGeom prst="line">
            <a:avLst/>
          </a:prstGeom>
          <a:noFill/>
          <a:ln w="12700">
            <a:solidFill>
              <a:srgbClr val="6B7280"/>
            </a:solidFill>
            <a:prstDash val="solid"/>
            <a:tailEnd type="triangle"/>
          </a:ln>
        </p:spPr>
      </p:sp>
      <p:sp>
        <p:nvSpPr>
          <p:cNvPr id="7" name="Text 4"/>
          <p:cNvSpPr txBox="1"/>
          <p:nvPr/>
        </p:nvSpPr>
        <p:spPr>
          <a:xfrm>
            <a:off x="3108960" y="4069080"/>
            <a:ext cx="1371600" cy="228600"/>
          </a:xfrm>
          <a:prstGeom prst="rect">
            <a:avLst/>
          </a:prstGeom>
          <a:noFill/>
          <a:ln/>
        </p:spPr>
        <p:txBody>
          <a:bodyPr wrap="square" lIns="0" tIns="0" rIns="0" bIns="0" rtlCol="0" anchor="t"/>
          <a:lstStyle/>
          <a:p>
            <a:pPr indent="0" marL="0">
              <a:buNone/>
            </a:pPr>
            <a:r>
              <a:rPr lang="en-US" sz="1200" i="1" dirty="0">
                <a:solidFill>
                  <a:schemeClr val="accent5"/>
                </a:solidFill>
                <a:latin typeface="Cambria" pitchFamily="34" charset="0"/>
                <a:ea typeface="Cambria" pitchFamily="34" charset="-122"/>
                <a:cs typeface="Cambria" pitchFamily="34" charset="-120"/>
              </a:rPr>
              <a:t>recall@10</a:t>
            </a:r>
            <a:endParaRPr lang="en-US" sz="1200" dirty="0"/>
          </a:p>
        </p:txBody>
      </p:sp>
      <p:sp>
        <p:nvSpPr>
          <p:cNvPr id="8" name="Text 5"/>
          <p:cNvSpPr txBox="1"/>
          <p:nvPr/>
        </p:nvSpPr>
        <p:spPr>
          <a:xfrm>
            <a:off x="548640" y="1325880"/>
            <a:ext cx="1097280" cy="228600"/>
          </a:xfrm>
          <a:prstGeom prst="rect">
            <a:avLst/>
          </a:prstGeom>
          <a:noFill/>
          <a:ln/>
        </p:spPr>
        <p:txBody>
          <a:bodyPr wrap="square" lIns="0" tIns="0" rIns="0" bIns="0" rtlCol="0" anchor="t"/>
          <a:lstStyle/>
          <a:p>
            <a:pPr indent="0" marL="0">
              <a:buNone/>
            </a:pPr>
            <a:r>
              <a:rPr lang="en-US" sz="1200" i="1" dirty="0">
                <a:solidFill>
                  <a:schemeClr val="accent5"/>
                </a:solidFill>
                <a:latin typeface="Cambria" pitchFamily="34" charset="0"/>
                <a:ea typeface="Cambria" pitchFamily="34" charset="-122"/>
                <a:cs typeface="Cambria" pitchFamily="34" charset="-120"/>
              </a:rPr>
              <a:t>QPS (log)</a:t>
            </a:r>
            <a:endParaRPr lang="en-US" sz="1200" dirty="0"/>
          </a:p>
        </p:txBody>
      </p:sp>
      <p:sp>
        <p:nvSpPr>
          <p:cNvPr id="9" name="Shape 6"/>
          <p:cNvSpPr/>
          <p:nvPr/>
        </p:nvSpPr>
        <p:spPr>
          <a:xfrm>
            <a:off x="1737360" y="1828800"/>
            <a:ext cx="1005840" cy="182880"/>
          </a:xfrm>
          <a:prstGeom prst="line">
            <a:avLst/>
          </a:prstGeom>
          <a:noFill/>
          <a:ln w="25400">
            <a:solidFill>
              <a:srgbClr val="B5432A"/>
            </a:solidFill>
            <a:prstDash val="solid"/>
          </a:ln>
        </p:spPr>
      </p:sp>
      <p:sp>
        <p:nvSpPr>
          <p:cNvPr id="10" name="Shape 7"/>
          <p:cNvSpPr/>
          <p:nvPr/>
        </p:nvSpPr>
        <p:spPr>
          <a:xfrm>
            <a:off x="2743200" y="2011680"/>
            <a:ext cx="1097280" cy="411480"/>
          </a:xfrm>
          <a:prstGeom prst="line">
            <a:avLst/>
          </a:prstGeom>
          <a:noFill/>
          <a:ln w="25400">
            <a:solidFill>
              <a:srgbClr val="B5432A"/>
            </a:solidFill>
            <a:prstDash val="solid"/>
          </a:ln>
        </p:spPr>
      </p:sp>
      <p:sp>
        <p:nvSpPr>
          <p:cNvPr id="11" name="Shape 8"/>
          <p:cNvSpPr/>
          <p:nvPr/>
        </p:nvSpPr>
        <p:spPr>
          <a:xfrm>
            <a:off x="3840480" y="2423160"/>
            <a:ext cx="731520" cy="594360"/>
          </a:xfrm>
          <a:prstGeom prst="line">
            <a:avLst/>
          </a:prstGeom>
          <a:noFill/>
          <a:ln w="25400">
            <a:solidFill>
              <a:srgbClr val="B5432A"/>
            </a:solidFill>
            <a:prstDash val="solid"/>
          </a:ln>
        </p:spPr>
      </p:sp>
      <p:sp>
        <p:nvSpPr>
          <p:cNvPr id="12" name="Shape 9"/>
          <p:cNvSpPr/>
          <p:nvPr/>
        </p:nvSpPr>
        <p:spPr>
          <a:xfrm>
            <a:off x="1682496" y="1773936"/>
            <a:ext cx="109728" cy="109728"/>
          </a:xfrm>
          <a:prstGeom prst="ellipse">
            <a:avLst/>
          </a:prstGeom>
          <a:solidFill>
            <a:srgbClr val="B5432A"/>
          </a:solidFill>
          <a:ln w="12700">
            <a:solidFill>
              <a:srgbClr val="B5432A"/>
            </a:solidFill>
            <a:prstDash val="solid"/>
          </a:ln>
        </p:spPr>
      </p:sp>
      <p:sp>
        <p:nvSpPr>
          <p:cNvPr id="13" name="Shape 10"/>
          <p:cNvSpPr/>
          <p:nvPr/>
        </p:nvSpPr>
        <p:spPr>
          <a:xfrm>
            <a:off x="2688336" y="1956816"/>
            <a:ext cx="109728" cy="109728"/>
          </a:xfrm>
          <a:prstGeom prst="ellipse">
            <a:avLst/>
          </a:prstGeom>
          <a:solidFill>
            <a:srgbClr val="B5432A"/>
          </a:solidFill>
          <a:ln w="12700">
            <a:solidFill>
              <a:srgbClr val="B5432A"/>
            </a:solidFill>
            <a:prstDash val="solid"/>
          </a:ln>
        </p:spPr>
      </p:sp>
      <p:sp>
        <p:nvSpPr>
          <p:cNvPr id="14" name="Shape 11"/>
          <p:cNvSpPr/>
          <p:nvPr/>
        </p:nvSpPr>
        <p:spPr>
          <a:xfrm>
            <a:off x="3785616" y="2368296"/>
            <a:ext cx="109728" cy="109728"/>
          </a:xfrm>
          <a:prstGeom prst="ellipse">
            <a:avLst/>
          </a:prstGeom>
          <a:solidFill>
            <a:srgbClr val="B5432A"/>
          </a:solidFill>
          <a:ln w="12700">
            <a:solidFill>
              <a:srgbClr val="B5432A"/>
            </a:solidFill>
            <a:prstDash val="solid"/>
          </a:ln>
        </p:spPr>
      </p:sp>
      <p:sp>
        <p:nvSpPr>
          <p:cNvPr id="15" name="Shape 12"/>
          <p:cNvSpPr/>
          <p:nvPr/>
        </p:nvSpPr>
        <p:spPr>
          <a:xfrm>
            <a:off x="4517136" y="2962656"/>
            <a:ext cx="109728" cy="109728"/>
          </a:xfrm>
          <a:prstGeom prst="ellipse">
            <a:avLst/>
          </a:prstGeom>
          <a:solidFill>
            <a:srgbClr val="B5432A"/>
          </a:solidFill>
          <a:ln w="12700">
            <a:solidFill>
              <a:srgbClr val="B5432A"/>
            </a:solidFill>
            <a:prstDash val="solid"/>
          </a:ln>
        </p:spPr>
      </p:sp>
      <p:sp>
        <p:nvSpPr>
          <p:cNvPr id="16" name="Shape 13"/>
          <p:cNvSpPr/>
          <p:nvPr/>
        </p:nvSpPr>
        <p:spPr>
          <a:xfrm>
            <a:off x="1737360" y="2423160"/>
            <a:ext cx="1005840" cy="274320"/>
          </a:xfrm>
          <a:prstGeom prst="line">
            <a:avLst/>
          </a:prstGeom>
          <a:noFill/>
          <a:ln w="25400">
            <a:solidFill>
              <a:srgbClr val="2F5D8A"/>
            </a:solidFill>
            <a:prstDash val="solid"/>
          </a:ln>
        </p:spPr>
      </p:sp>
      <p:sp>
        <p:nvSpPr>
          <p:cNvPr id="17" name="Shape 14"/>
          <p:cNvSpPr/>
          <p:nvPr/>
        </p:nvSpPr>
        <p:spPr>
          <a:xfrm>
            <a:off x="2743200" y="2697480"/>
            <a:ext cx="1097280" cy="457200"/>
          </a:xfrm>
          <a:prstGeom prst="line">
            <a:avLst/>
          </a:prstGeom>
          <a:noFill/>
          <a:ln w="25400">
            <a:solidFill>
              <a:srgbClr val="2F5D8A"/>
            </a:solidFill>
            <a:prstDash val="solid"/>
          </a:ln>
        </p:spPr>
      </p:sp>
      <p:sp>
        <p:nvSpPr>
          <p:cNvPr id="18" name="Shape 15"/>
          <p:cNvSpPr/>
          <p:nvPr/>
        </p:nvSpPr>
        <p:spPr>
          <a:xfrm>
            <a:off x="3840480" y="3154680"/>
            <a:ext cx="731520" cy="411480"/>
          </a:xfrm>
          <a:prstGeom prst="line">
            <a:avLst/>
          </a:prstGeom>
          <a:noFill/>
          <a:ln w="25400">
            <a:solidFill>
              <a:srgbClr val="2F5D8A"/>
            </a:solidFill>
            <a:prstDash val="solid"/>
          </a:ln>
        </p:spPr>
      </p:sp>
      <p:sp>
        <p:nvSpPr>
          <p:cNvPr id="19" name="Shape 16"/>
          <p:cNvSpPr/>
          <p:nvPr/>
        </p:nvSpPr>
        <p:spPr>
          <a:xfrm>
            <a:off x="1682496" y="2368296"/>
            <a:ext cx="109728" cy="109728"/>
          </a:xfrm>
          <a:prstGeom prst="ellipse">
            <a:avLst/>
          </a:prstGeom>
          <a:solidFill>
            <a:srgbClr val="2F5D8A"/>
          </a:solidFill>
          <a:ln w="12700">
            <a:solidFill>
              <a:srgbClr val="2F5D8A"/>
            </a:solidFill>
            <a:prstDash val="solid"/>
          </a:ln>
        </p:spPr>
      </p:sp>
      <p:sp>
        <p:nvSpPr>
          <p:cNvPr id="20" name="Shape 17"/>
          <p:cNvSpPr/>
          <p:nvPr/>
        </p:nvSpPr>
        <p:spPr>
          <a:xfrm>
            <a:off x="2688336" y="2642616"/>
            <a:ext cx="109728" cy="109728"/>
          </a:xfrm>
          <a:prstGeom prst="ellipse">
            <a:avLst/>
          </a:prstGeom>
          <a:solidFill>
            <a:srgbClr val="2F5D8A"/>
          </a:solidFill>
          <a:ln w="12700">
            <a:solidFill>
              <a:srgbClr val="2F5D8A"/>
            </a:solidFill>
            <a:prstDash val="solid"/>
          </a:ln>
        </p:spPr>
      </p:sp>
      <p:sp>
        <p:nvSpPr>
          <p:cNvPr id="21" name="Shape 18"/>
          <p:cNvSpPr/>
          <p:nvPr/>
        </p:nvSpPr>
        <p:spPr>
          <a:xfrm>
            <a:off x="3785616" y="3099816"/>
            <a:ext cx="109728" cy="109728"/>
          </a:xfrm>
          <a:prstGeom prst="ellipse">
            <a:avLst/>
          </a:prstGeom>
          <a:solidFill>
            <a:srgbClr val="2F5D8A"/>
          </a:solidFill>
          <a:ln w="12700">
            <a:solidFill>
              <a:srgbClr val="2F5D8A"/>
            </a:solidFill>
            <a:prstDash val="solid"/>
          </a:ln>
        </p:spPr>
      </p:sp>
      <p:sp>
        <p:nvSpPr>
          <p:cNvPr id="22" name="Shape 19"/>
          <p:cNvSpPr/>
          <p:nvPr/>
        </p:nvSpPr>
        <p:spPr>
          <a:xfrm>
            <a:off x="4517136" y="3511296"/>
            <a:ext cx="109728" cy="109728"/>
          </a:xfrm>
          <a:prstGeom prst="ellipse">
            <a:avLst/>
          </a:prstGeom>
          <a:solidFill>
            <a:srgbClr val="2F5D8A"/>
          </a:solidFill>
          <a:ln w="12700">
            <a:solidFill>
              <a:srgbClr val="2F5D8A"/>
            </a:solidFill>
            <a:prstDash val="solid"/>
          </a:ln>
        </p:spPr>
      </p:sp>
      <p:sp>
        <p:nvSpPr>
          <p:cNvPr id="23" name="Shape 20"/>
          <p:cNvSpPr/>
          <p:nvPr/>
        </p:nvSpPr>
        <p:spPr>
          <a:xfrm>
            <a:off x="4882896" y="3694176"/>
            <a:ext cx="128016" cy="128016"/>
          </a:xfrm>
          <a:prstGeom prst="ellipse">
            <a:avLst/>
          </a:prstGeom>
          <a:solidFill>
            <a:srgbClr val="1B2A41"/>
          </a:solidFill>
          <a:ln w="12700">
            <a:solidFill>
              <a:srgbClr val="1B2A41"/>
            </a:solidFill>
            <a:prstDash val="solid"/>
          </a:ln>
        </p:spPr>
      </p:sp>
      <p:sp>
        <p:nvSpPr>
          <p:cNvPr id="24" name="Text 21"/>
          <p:cNvSpPr txBox="1"/>
          <p:nvPr/>
        </p:nvSpPr>
        <p:spPr>
          <a:xfrm>
            <a:off x="1005840" y="1600200"/>
            <a:ext cx="822960" cy="228600"/>
          </a:xfrm>
          <a:prstGeom prst="rect">
            <a:avLst/>
          </a:prstGeom>
          <a:noFill/>
          <a:ln/>
        </p:spPr>
        <p:txBody>
          <a:bodyPr wrap="square" lIns="0" tIns="0" rIns="0" bIns="0" rtlCol="0" anchor="t"/>
          <a:lstStyle/>
          <a:p>
            <a:pPr indent="0" marL="0">
              <a:buNone/>
            </a:pPr>
            <a:r>
              <a:rPr lang="en-US" sz="1200" b="1" dirty="0">
                <a:solidFill>
                  <a:schemeClr val="accent1"/>
                </a:solidFill>
              </a:rPr>
              <a:t>HNSW</a:t>
            </a:r>
            <a:endParaRPr lang="en-US" sz="1200" dirty="0"/>
          </a:p>
        </p:txBody>
      </p:sp>
      <p:sp>
        <p:nvSpPr>
          <p:cNvPr id="25" name="Text 22"/>
          <p:cNvSpPr txBox="1"/>
          <p:nvPr/>
        </p:nvSpPr>
        <p:spPr>
          <a:xfrm>
            <a:off x="1005840" y="2697480"/>
            <a:ext cx="822960" cy="228600"/>
          </a:xfrm>
          <a:prstGeom prst="rect">
            <a:avLst/>
          </a:prstGeom>
          <a:noFill/>
          <a:ln/>
        </p:spPr>
        <p:txBody>
          <a:bodyPr wrap="square" lIns="0" tIns="0" rIns="0" bIns="0" rtlCol="0" anchor="t"/>
          <a:lstStyle/>
          <a:p>
            <a:pPr indent="0" marL="0">
              <a:buNone/>
            </a:pPr>
            <a:r>
              <a:rPr lang="en-US" sz="1200" b="1" dirty="0">
                <a:solidFill>
                  <a:schemeClr val="accent2"/>
                </a:solidFill>
              </a:rPr>
              <a:t>IVF-Flat</a:t>
            </a:r>
            <a:endParaRPr lang="en-US" sz="1200" dirty="0"/>
          </a:p>
        </p:txBody>
      </p:sp>
      <p:sp>
        <p:nvSpPr>
          <p:cNvPr id="26" name="Text 23"/>
          <p:cNvSpPr txBox="1"/>
          <p:nvPr/>
        </p:nvSpPr>
        <p:spPr>
          <a:xfrm>
            <a:off x="4434840" y="3749040"/>
            <a:ext cx="457200" cy="228600"/>
          </a:xfrm>
          <a:prstGeom prst="rect">
            <a:avLst/>
          </a:prstGeom>
          <a:noFill/>
          <a:ln/>
        </p:spPr>
        <p:txBody>
          <a:bodyPr wrap="square" lIns="0" tIns="0" rIns="0" bIns="0" rtlCol="0" anchor="t"/>
          <a:lstStyle/>
          <a:p>
            <a:pPr indent="0" marL="0">
              <a:buNone/>
            </a:pPr>
            <a:r>
              <a:rPr lang="en-US" sz="1200" b="1" dirty="0">
                <a:solidFill>
                  <a:schemeClr val="tx1"/>
                </a:solidFill>
              </a:rPr>
              <a:t>Flat</a:t>
            </a:r>
            <a:endParaRPr lang="en-US" sz="1200" dirty="0"/>
          </a:p>
        </p:txBody>
      </p:sp>
      <p:sp>
        <p:nvSpPr>
          <p:cNvPr id="27" name="Text 24"/>
          <p:cNvSpPr txBox="1"/>
          <p:nvPr/>
        </p:nvSpPr>
        <p:spPr>
          <a:xfrm>
            <a:off x="594360" y="4434840"/>
            <a:ext cx="4754880" cy="274320"/>
          </a:xfrm>
          <a:prstGeom prst="rect">
            <a:avLst/>
          </a:prstGeom>
          <a:noFill/>
          <a:ln/>
        </p:spPr>
        <p:txBody>
          <a:bodyPr wrap="square" lIns="0" tIns="0" rIns="0" bIns="0" rtlCol="0" anchor="t"/>
          <a:lstStyle/>
          <a:p>
            <a:pPr indent="0" marL="0">
              <a:buNone/>
            </a:pPr>
            <a:r>
              <a:rPr lang="en-US" sz="1100" i="1" dirty="0">
                <a:solidFill>
                  <a:schemeClr val="accent5"/>
                </a:solidFill>
                <a:latin typeface="Cambria" pitchFamily="34" charset="0"/>
                <a:ea typeface="Cambria" pitchFamily="34" charset="-122"/>
                <a:cs typeface="Cambria" pitchFamily="34" charset="-120"/>
              </a:rPr>
              <a:t>Figure 4.8  Illustrative recall versus throughput curves</a:t>
            </a:r>
            <a:endParaRPr lang="en-US" sz="1100" dirty="0"/>
          </a:p>
        </p:txBody>
      </p:sp>
      <p:sp>
        <p:nvSpPr>
          <p:cNvPr id="28" name="Text 25"/>
          <p:cNvSpPr txBox="1"/>
          <p:nvPr/>
        </p:nvSpPr>
        <p:spPr>
          <a:xfrm>
            <a:off x="5669280" y="1280160"/>
            <a:ext cx="3017520" cy="32004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Build ground truth with Flat</a:t>
            </a:r>
            <a:endParaRPr lang="en-US" sz="1400" dirty="0"/>
          </a:p>
          <a:p>
            <a:pPr marL="342900" indent="-342900">
              <a:spcAft>
                <a:spcPts val="800"/>
              </a:spcAft>
              <a:buSzPct val="100000"/>
              <a:buChar char="•"/>
            </a:pPr>
            <a:r>
              <a:rPr lang="en-US" sz="1400" dirty="0">
                <a:solidFill>
                  <a:schemeClr val="tx1"/>
                </a:solidFill>
              </a:rPr>
              <a:t>Sweep efSearch or nprobe</a:t>
            </a:r>
            <a:endParaRPr lang="en-US" sz="1400" dirty="0"/>
          </a:p>
          <a:p>
            <a:pPr marL="342900" indent="-342900">
              <a:spcAft>
                <a:spcPts val="800"/>
              </a:spcAft>
              <a:buSzPct val="100000"/>
              <a:buChar char="•"/>
            </a:pPr>
            <a:r>
              <a:rPr lang="en-US" sz="1400" dirty="0">
                <a:solidFill>
                  <a:schemeClr val="tx1"/>
                </a:solidFill>
              </a:rPr>
              <a:t>Fix a target recall, such as 0.95</a:t>
            </a:r>
            <a:endParaRPr lang="en-US" sz="1400" dirty="0"/>
          </a:p>
          <a:p>
            <a:pPr marL="342900" indent="-342900">
              <a:spcAft>
                <a:spcPts val="800"/>
              </a:spcAft>
              <a:buSzPct val="100000"/>
              <a:buChar char="•"/>
            </a:pPr>
            <a:r>
              <a:rPr lang="en-US" sz="1400" dirty="0">
                <a:solidFill>
                  <a:schemeClr val="tx1"/>
                </a:solidFill>
              </a:rPr>
              <a:t>Compare QPS, p95 latency, RAM and build time at that recall</a:t>
            </a:r>
            <a:endParaRPr lang="en-US" sz="14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What a database adds around the index</a:t>
            </a:r>
            <a:endParaRPr lang="en-US" sz="3000" dirty="0"/>
          </a:p>
        </p:txBody>
      </p:sp>
      <p:sp>
        <p:nvSpPr>
          <p:cNvPr id="4" name="Text 1"/>
          <p:cNvSpPr txBox="1"/>
          <p:nvPr/>
        </p:nvSpPr>
        <p:spPr>
          <a:xfrm>
            <a:off x="457200" y="1280160"/>
            <a:ext cx="2377440" cy="54864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Metadata filtering</a:t>
            </a:r>
            <a:endParaRPr lang="en-US" sz="1600" dirty="0"/>
          </a:p>
        </p:txBody>
      </p:sp>
      <p:sp>
        <p:nvSpPr>
          <p:cNvPr id="5" name="Text 2"/>
          <p:cNvSpPr txBox="1"/>
          <p:nvPr/>
        </p:nvSpPr>
        <p:spPr>
          <a:xfrm>
            <a:off x="2926080" y="1280160"/>
            <a:ext cx="5760720" cy="548640"/>
          </a:xfrm>
          <a:prstGeom prst="rect">
            <a:avLst/>
          </a:prstGeom>
          <a:noFill/>
          <a:ln/>
        </p:spPr>
        <p:txBody>
          <a:bodyPr wrap="square" lIns="0" tIns="0" rIns="0" bIns="0" rtlCol="0" anchor="ctr"/>
          <a:lstStyle/>
          <a:p>
            <a:pPr indent="0" marL="0">
              <a:buNone/>
            </a:pPr>
            <a:r>
              <a:rPr lang="en-US" sz="1400" dirty="0">
                <a:solidFill>
                  <a:schemeClr val="tx1"/>
                </a:solidFill>
              </a:rPr>
              <a:t>Post-filtering may return fewer than k hits; filter-aware search keeps recall.</a:t>
            </a:r>
            <a:endParaRPr lang="en-US" sz="1400" dirty="0"/>
          </a:p>
        </p:txBody>
      </p:sp>
      <p:sp>
        <p:nvSpPr>
          <p:cNvPr id="6" name="Shape 3"/>
          <p:cNvSpPr/>
          <p:nvPr/>
        </p:nvSpPr>
        <p:spPr>
          <a:xfrm>
            <a:off x="457200" y="1874520"/>
            <a:ext cx="8229600" cy="0"/>
          </a:xfrm>
          <a:prstGeom prst="line">
            <a:avLst/>
          </a:prstGeom>
          <a:noFill/>
          <a:ln w="6350">
            <a:solidFill>
              <a:schemeClr val="accent6"/>
            </a:solidFill>
            <a:prstDash val="solid"/>
          </a:ln>
        </p:spPr>
      </p:sp>
      <p:sp>
        <p:nvSpPr>
          <p:cNvPr id="7" name="Text 4"/>
          <p:cNvSpPr txBox="1"/>
          <p:nvPr/>
        </p:nvSpPr>
        <p:spPr>
          <a:xfrm>
            <a:off x="457200" y="1920240"/>
            <a:ext cx="2377440" cy="54864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Updates and deletes</a:t>
            </a:r>
            <a:endParaRPr lang="en-US" sz="1600" dirty="0"/>
          </a:p>
        </p:txBody>
      </p:sp>
      <p:sp>
        <p:nvSpPr>
          <p:cNvPr id="8" name="Text 5"/>
          <p:cNvSpPr txBox="1"/>
          <p:nvPr/>
        </p:nvSpPr>
        <p:spPr>
          <a:xfrm>
            <a:off x="2926080" y="1920240"/>
            <a:ext cx="5760720" cy="548640"/>
          </a:xfrm>
          <a:prstGeom prst="rect">
            <a:avLst/>
          </a:prstGeom>
          <a:noFill/>
          <a:ln/>
        </p:spPr>
        <p:txBody>
          <a:bodyPr wrap="square" lIns="0" tIns="0" rIns="0" bIns="0" rtlCol="0" anchor="ctr"/>
          <a:lstStyle/>
          <a:p>
            <a:pPr indent="0" marL="0">
              <a:buNone/>
            </a:pPr>
            <a:r>
              <a:rPr lang="en-US" sz="1400" dirty="0">
                <a:solidFill>
                  <a:schemeClr val="tx1"/>
                </a:solidFill>
              </a:rPr>
              <a:t>Inserts are easy; deletes are often tombstones, with periodic rebuilds.</a:t>
            </a:r>
            <a:endParaRPr lang="en-US" sz="1400" dirty="0"/>
          </a:p>
        </p:txBody>
      </p:sp>
      <p:sp>
        <p:nvSpPr>
          <p:cNvPr id="9" name="Shape 6"/>
          <p:cNvSpPr/>
          <p:nvPr/>
        </p:nvSpPr>
        <p:spPr>
          <a:xfrm>
            <a:off x="457200" y="2514600"/>
            <a:ext cx="8229600" cy="0"/>
          </a:xfrm>
          <a:prstGeom prst="line">
            <a:avLst/>
          </a:prstGeom>
          <a:noFill/>
          <a:ln w="6350">
            <a:solidFill>
              <a:schemeClr val="accent6"/>
            </a:solidFill>
            <a:prstDash val="solid"/>
          </a:ln>
        </p:spPr>
      </p:sp>
      <p:sp>
        <p:nvSpPr>
          <p:cNvPr id="10" name="Text 7"/>
          <p:cNvSpPr txBox="1"/>
          <p:nvPr/>
        </p:nvSpPr>
        <p:spPr>
          <a:xfrm>
            <a:off x="457200" y="2560320"/>
            <a:ext cx="2377440" cy="54864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Persistence</a:t>
            </a:r>
            <a:endParaRPr lang="en-US" sz="1600" dirty="0"/>
          </a:p>
        </p:txBody>
      </p:sp>
      <p:sp>
        <p:nvSpPr>
          <p:cNvPr id="11" name="Text 8"/>
          <p:cNvSpPr txBox="1"/>
          <p:nvPr/>
        </p:nvSpPr>
        <p:spPr>
          <a:xfrm>
            <a:off x="2926080" y="2560320"/>
            <a:ext cx="5760720" cy="548640"/>
          </a:xfrm>
          <a:prstGeom prst="rect">
            <a:avLst/>
          </a:prstGeom>
          <a:noFill/>
          <a:ln/>
        </p:spPr>
        <p:txBody>
          <a:bodyPr wrap="square" lIns="0" tIns="0" rIns="0" bIns="0" rtlCol="0" anchor="ctr"/>
          <a:lstStyle/>
          <a:p>
            <a:pPr indent="0" marL="0">
              <a:buNone/>
            </a:pPr>
            <a:r>
              <a:rPr lang="en-US" sz="1400" dirty="0">
                <a:solidFill>
                  <a:schemeClr val="tx1"/>
                </a:solidFill>
              </a:rPr>
              <a:t>Write-ahead logs and snapshots so the index survives restarts.</a:t>
            </a:r>
            <a:endParaRPr lang="en-US" sz="1400" dirty="0"/>
          </a:p>
        </p:txBody>
      </p:sp>
      <p:sp>
        <p:nvSpPr>
          <p:cNvPr id="12" name="Shape 9"/>
          <p:cNvSpPr/>
          <p:nvPr/>
        </p:nvSpPr>
        <p:spPr>
          <a:xfrm>
            <a:off x="457200" y="3154680"/>
            <a:ext cx="8229600" cy="0"/>
          </a:xfrm>
          <a:prstGeom prst="line">
            <a:avLst/>
          </a:prstGeom>
          <a:noFill/>
          <a:ln w="6350">
            <a:solidFill>
              <a:schemeClr val="accent6"/>
            </a:solidFill>
            <a:prstDash val="solid"/>
          </a:ln>
        </p:spPr>
      </p:sp>
      <p:sp>
        <p:nvSpPr>
          <p:cNvPr id="13" name="Text 10"/>
          <p:cNvSpPr txBox="1"/>
          <p:nvPr/>
        </p:nvSpPr>
        <p:spPr>
          <a:xfrm>
            <a:off x="457200" y="3200400"/>
            <a:ext cx="2377440" cy="54864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Scale out</a:t>
            </a:r>
            <a:endParaRPr lang="en-US" sz="1600" dirty="0"/>
          </a:p>
        </p:txBody>
      </p:sp>
      <p:sp>
        <p:nvSpPr>
          <p:cNvPr id="14" name="Text 11"/>
          <p:cNvSpPr txBox="1"/>
          <p:nvPr/>
        </p:nvSpPr>
        <p:spPr>
          <a:xfrm>
            <a:off x="2926080" y="3200400"/>
            <a:ext cx="5760720" cy="548640"/>
          </a:xfrm>
          <a:prstGeom prst="rect">
            <a:avLst/>
          </a:prstGeom>
          <a:noFill/>
          <a:ln/>
        </p:spPr>
        <p:txBody>
          <a:bodyPr wrap="square" lIns="0" tIns="0" rIns="0" bIns="0" rtlCol="0" anchor="ctr"/>
          <a:lstStyle/>
          <a:p>
            <a:pPr indent="0" marL="0">
              <a:buNone/>
            </a:pPr>
            <a:r>
              <a:rPr lang="en-US" sz="1400" dirty="0">
                <a:solidFill>
                  <a:schemeClr val="tx1"/>
                </a:solidFill>
              </a:rPr>
              <a:t>Shard and replicate; each shard has its own index.</a:t>
            </a:r>
            <a:endParaRPr lang="en-US" sz="1400" dirty="0"/>
          </a:p>
        </p:txBody>
      </p:sp>
      <p:sp>
        <p:nvSpPr>
          <p:cNvPr id="15" name="Shape 12"/>
          <p:cNvSpPr/>
          <p:nvPr/>
        </p:nvSpPr>
        <p:spPr>
          <a:xfrm>
            <a:off x="457200" y="3794760"/>
            <a:ext cx="8229600" cy="0"/>
          </a:xfrm>
          <a:prstGeom prst="line">
            <a:avLst/>
          </a:prstGeom>
          <a:noFill/>
          <a:ln w="6350">
            <a:solidFill>
              <a:schemeClr val="accent6"/>
            </a:solidFill>
            <a:prstDash val="solid"/>
          </a:ln>
        </p:spPr>
      </p:sp>
      <p:sp>
        <p:nvSpPr>
          <p:cNvPr id="16" name="Text 13"/>
          <p:cNvSpPr txBox="1"/>
          <p:nvPr/>
        </p:nvSpPr>
        <p:spPr>
          <a:xfrm>
            <a:off x="457200" y="3840480"/>
            <a:ext cx="2377440" cy="54864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Hybrid search</a:t>
            </a:r>
            <a:endParaRPr lang="en-US" sz="1600" dirty="0"/>
          </a:p>
        </p:txBody>
      </p:sp>
      <p:sp>
        <p:nvSpPr>
          <p:cNvPr id="17" name="Text 14"/>
          <p:cNvSpPr txBox="1"/>
          <p:nvPr/>
        </p:nvSpPr>
        <p:spPr>
          <a:xfrm>
            <a:off x="2926080" y="3840480"/>
            <a:ext cx="5760720" cy="548640"/>
          </a:xfrm>
          <a:prstGeom prst="rect">
            <a:avLst/>
          </a:prstGeom>
          <a:noFill/>
          <a:ln/>
        </p:spPr>
        <p:txBody>
          <a:bodyPr wrap="square" lIns="0" tIns="0" rIns="0" bIns="0" rtlCol="0" anchor="ctr"/>
          <a:lstStyle/>
          <a:p>
            <a:pPr indent="0" marL="0">
              <a:buNone/>
            </a:pPr>
            <a:r>
              <a:rPr lang="en-US" sz="1400" dirty="0">
                <a:solidFill>
                  <a:schemeClr val="tx1"/>
                </a:solidFill>
              </a:rPr>
              <a:t>Combine vector and keyword scores (Lecture 9).</a:t>
            </a:r>
            <a:endParaRPr lang="en-US" sz="1400" dirty="0"/>
          </a:p>
        </p:txBody>
      </p:sp>
      <p:sp>
        <p:nvSpPr>
          <p:cNvPr id="18" name="Shape 15"/>
          <p:cNvSpPr/>
          <p:nvPr/>
        </p:nvSpPr>
        <p:spPr>
          <a:xfrm>
            <a:off x="457200" y="4434840"/>
            <a:ext cx="8229600" cy="0"/>
          </a:xfrm>
          <a:prstGeom prst="line">
            <a:avLst/>
          </a:prstGeom>
          <a:noFill/>
          <a:ln w="6350">
            <a:solidFill>
              <a:schemeClr val="accent6"/>
            </a:solidFill>
            <a:prstDash val="solid"/>
          </a:ln>
        </p:spPr>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Common mistakes</a:t>
            </a:r>
            <a:endParaRPr lang="en-US" sz="3000" dirty="0"/>
          </a:p>
        </p:txBody>
      </p:sp>
      <p:sp>
        <p:nvSpPr>
          <p:cNvPr id="4" name="Shape 1"/>
          <p:cNvSpPr/>
          <p:nvPr/>
        </p:nvSpPr>
        <p:spPr>
          <a:xfrm>
            <a:off x="4572000" y="1280160"/>
            <a:ext cx="0" cy="3200400"/>
          </a:xfrm>
          <a:prstGeom prst="line">
            <a:avLst/>
          </a:prstGeom>
          <a:noFill/>
          <a:ln w="9525">
            <a:solidFill>
              <a:schemeClr val="accent6"/>
            </a:solidFill>
            <a:prstDash val="solid"/>
          </a:ln>
        </p:spPr>
      </p:sp>
      <p:sp>
        <p:nvSpPr>
          <p:cNvPr id="5" name="Text 2"/>
          <p:cNvSpPr txBox="1"/>
          <p:nvPr/>
        </p:nvSpPr>
        <p:spPr>
          <a:xfrm>
            <a:off x="457200" y="1280160"/>
            <a:ext cx="3931920" cy="365760"/>
          </a:xfrm>
          <a:prstGeom prst="rect">
            <a:avLst/>
          </a:prstGeom>
          <a:noFill/>
          <a:ln/>
        </p:spPr>
        <p:txBody>
          <a:bodyPr wrap="square" lIns="0" tIns="0" rIns="0" bIns="0" rtlCol="0" anchor="t"/>
          <a:lstStyle/>
          <a:p>
            <a:pPr indent="0" marL="0">
              <a:buNone/>
            </a:pPr>
            <a:r>
              <a:rPr lang="en-US" sz="1800" b="1" dirty="0">
                <a:solidFill>
                  <a:schemeClr val="accent1"/>
                </a:solidFill>
                <a:latin typeface="Cambria" pitchFamily="34" charset="0"/>
                <a:ea typeface="Cambria" pitchFamily="34" charset="-122"/>
                <a:cs typeface="Cambria" pitchFamily="34" charset="-120"/>
              </a:rPr>
              <a:t>Mistakes</a:t>
            </a:r>
            <a:endParaRPr lang="en-US" sz="1800" dirty="0"/>
          </a:p>
        </p:txBody>
      </p:sp>
      <p:sp>
        <p:nvSpPr>
          <p:cNvPr id="6" name="Text 3"/>
          <p:cNvSpPr txBox="1"/>
          <p:nvPr/>
        </p:nvSpPr>
        <p:spPr>
          <a:xfrm>
            <a:off x="457200" y="1783080"/>
            <a:ext cx="3931920" cy="27432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Training IVF on too few or unrepresentative vectors</a:t>
            </a:r>
            <a:endParaRPr lang="en-US" sz="1400" dirty="0"/>
          </a:p>
          <a:p>
            <a:pPr marL="342900" indent="-342900">
              <a:spcAft>
                <a:spcPts val="800"/>
              </a:spcAft>
              <a:buSzPct val="100000"/>
              <a:buChar char="•"/>
            </a:pPr>
            <a:r>
              <a:rPr lang="en-US" sz="1400" dirty="0">
                <a:solidFill>
                  <a:schemeClr val="tx1"/>
                </a:solidFill>
              </a:rPr>
              <a:t>Leaving nprobe or efSearch at the default</a:t>
            </a:r>
            <a:endParaRPr lang="en-US" sz="1400" dirty="0"/>
          </a:p>
          <a:p>
            <a:pPr marL="342900" indent="-342900">
              <a:spcAft>
                <a:spcPts val="800"/>
              </a:spcAft>
              <a:buSzPct val="100000"/>
              <a:buChar char="•"/>
            </a:pPr>
            <a:r>
              <a:rPr lang="en-US" sz="1400" dirty="0">
                <a:solidFill>
                  <a:schemeClr val="tx1"/>
                </a:solidFill>
              </a:rPr>
              <a:t>Tuning and judging recall on the same queries</a:t>
            </a:r>
            <a:endParaRPr lang="en-US" sz="1400" dirty="0"/>
          </a:p>
          <a:p>
            <a:pPr marL="342900" indent="-342900">
              <a:spcAft>
                <a:spcPts val="800"/>
              </a:spcAft>
              <a:buSzPct val="100000"/>
              <a:buChar char="•"/>
            </a:pPr>
            <a:r>
              <a:rPr lang="en-US" sz="1400" dirty="0">
                <a:solidFill>
                  <a:schemeClr val="tx1"/>
                </a:solidFill>
              </a:rPr>
              <a:t>Ignoring the memory of the graph</a:t>
            </a:r>
            <a:endParaRPr lang="en-US" sz="1400" dirty="0"/>
          </a:p>
          <a:p>
            <a:pPr marL="342900" indent="-342900">
              <a:spcAft>
                <a:spcPts val="800"/>
              </a:spcAft>
              <a:buSzPct val="100000"/>
              <a:buChar char="•"/>
            </a:pPr>
            <a:r>
              <a:rPr lang="en-US" sz="1400" dirty="0">
                <a:solidFill>
                  <a:schemeClr val="tx1"/>
                </a:solidFill>
              </a:rPr>
              <a:t>Benchmarking on random data</a:t>
            </a:r>
            <a:endParaRPr lang="en-US" sz="1400" dirty="0"/>
          </a:p>
        </p:txBody>
      </p:sp>
      <p:sp>
        <p:nvSpPr>
          <p:cNvPr id="7" name="Text 4"/>
          <p:cNvSpPr txBox="1"/>
          <p:nvPr/>
        </p:nvSpPr>
        <p:spPr>
          <a:xfrm>
            <a:off x="4846320" y="1280160"/>
            <a:ext cx="3840480" cy="365760"/>
          </a:xfrm>
          <a:prstGeom prst="rect">
            <a:avLst/>
          </a:prstGeom>
          <a:noFill/>
          <a:ln/>
        </p:spPr>
        <p:txBody>
          <a:bodyPr wrap="square" lIns="0" tIns="0" rIns="0" bIns="0" rtlCol="0" anchor="t"/>
          <a:lstStyle/>
          <a:p>
            <a:pPr indent="0" marL="0">
              <a:buNone/>
            </a:pPr>
            <a:r>
              <a:rPr lang="en-US" sz="1800" b="1" dirty="0">
                <a:solidFill>
                  <a:schemeClr val="accent2"/>
                </a:solidFill>
                <a:latin typeface="Cambria" pitchFamily="34" charset="0"/>
                <a:ea typeface="Cambria" pitchFamily="34" charset="-122"/>
                <a:cs typeface="Cambria" pitchFamily="34" charset="-120"/>
              </a:rPr>
              <a:t>Habits that help</a:t>
            </a:r>
            <a:endParaRPr lang="en-US" sz="1800" dirty="0"/>
          </a:p>
        </p:txBody>
      </p:sp>
      <p:sp>
        <p:nvSpPr>
          <p:cNvPr id="8" name="Text 5"/>
          <p:cNvSpPr txBox="1"/>
          <p:nvPr/>
        </p:nvSpPr>
        <p:spPr>
          <a:xfrm>
            <a:off x="4846320" y="1783080"/>
            <a:ext cx="3840480" cy="27432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Hold out queries for evaluation</a:t>
            </a:r>
            <a:endParaRPr lang="en-US" sz="1400" dirty="0"/>
          </a:p>
          <a:p>
            <a:pPr marL="342900" indent="-342900">
              <a:spcAft>
                <a:spcPts val="800"/>
              </a:spcAft>
              <a:buSzPct val="100000"/>
              <a:buChar char="•"/>
            </a:pPr>
            <a:r>
              <a:rPr lang="en-US" sz="1400" dirty="0">
                <a:solidFill>
                  <a:schemeClr val="tx1"/>
                </a:solidFill>
              </a:rPr>
              <a:t>Train on a representative sample</a:t>
            </a:r>
            <a:endParaRPr lang="en-US" sz="1400" dirty="0"/>
          </a:p>
          <a:p>
            <a:pPr marL="342900" indent="-342900">
              <a:spcAft>
                <a:spcPts val="800"/>
              </a:spcAft>
              <a:buSzPct val="100000"/>
              <a:buChar char="•"/>
            </a:pPr>
            <a:r>
              <a:rPr lang="en-US" sz="1400" dirty="0">
                <a:solidFill>
                  <a:schemeClr val="tx1"/>
                </a:solidFill>
              </a:rPr>
              <a:t>Sweep parameters and read the curve</a:t>
            </a:r>
            <a:endParaRPr lang="en-US" sz="1400" dirty="0"/>
          </a:p>
          <a:p>
            <a:pPr marL="342900" indent="-342900">
              <a:spcAft>
                <a:spcPts val="800"/>
              </a:spcAft>
              <a:buSzPct val="100000"/>
              <a:buChar char="•"/>
            </a:pPr>
            <a:r>
              <a:rPr lang="en-US" sz="1400" dirty="0">
                <a:solidFill>
                  <a:schemeClr val="tx1"/>
                </a:solidFill>
              </a:rPr>
              <a:t>Measure RAM, not just speed</a:t>
            </a:r>
            <a:endParaRPr lang="en-US" sz="1400" dirty="0"/>
          </a:p>
          <a:p>
            <a:pPr marL="342900" indent="-342900">
              <a:spcAft>
                <a:spcPts val="800"/>
              </a:spcAft>
              <a:buSzPct val="100000"/>
              <a:buChar char="•"/>
            </a:pPr>
            <a:r>
              <a:rPr lang="en-US" sz="1400" dirty="0">
                <a:solidFill>
                  <a:schemeClr val="tx1"/>
                </a:solidFill>
              </a:rPr>
              <a:t>Test on your own embeddings</a:t>
            </a:r>
            <a:endParaRPr lang="en-US" sz="14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Check your understanding</a:t>
            </a:r>
            <a:endParaRPr lang="en-US" sz="3000" dirty="0"/>
          </a:p>
        </p:txBody>
      </p:sp>
      <p:sp>
        <p:nvSpPr>
          <p:cNvPr id="4" name="Text 1"/>
          <p:cNvSpPr txBox="1"/>
          <p:nvPr/>
        </p:nvSpPr>
        <p:spPr>
          <a:xfrm>
            <a:off x="457200" y="1280160"/>
            <a:ext cx="731520" cy="54864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Q1</a:t>
            </a:r>
            <a:endParaRPr lang="en-US" sz="2200" dirty="0"/>
          </a:p>
        </p:txBody>
      </p:sp>
      <p:sp>
        <p:nvSpPr>
          <p:cNvPr id="5" name="Text 2"/>
          <p:cNvSpPr txBox="1"/>
          <p:nvPr/>
        </p:nvSpPr>
        <p:spPr>
          <a:xfrm>
            <a:off x="1280160" y="1280160"/>
            <a:ext cx="7315200" cy="640080"/>
          </a:xfrm>
          <a:prstGeom prst="rect">
            <a:avLst/>
          </a:prstGeom>
          <a:noFill/>
          <a:ln/>
        </p:spPr>
        <p:txBody>
          <a:bodyPr wrap="square" lIns="0" tIns="0" rIns="0" bIns="0" rtlCol="0" anchor="t"/>
          <a:lstStyle/>
          <a:p>
            <a:pPr indent="0" marL="0">
              <a:buNone/>
            </a:pPr>
            <a:r>
              <a:rPr lang="en-US" sz="1600" dirty="0">
                <a:solidFill>
                  <a:schemeClr val="tx1"/>
                </a:solidFill>
                <a:latin typeface="Cambria" pitchFamily="34" charset="0"/>
                <a:ea typeface="Cambria" pitchFamily="34" charset="-122"/>
                <a:cs typeface="Cambria" pitchFamily="34" charset="-120"/>
              </a:rPr>
              <a:t>Why is exact search too slow at 100 million vectors?</a:t>
            </a:r>
            <a:endParaRPr lang="en-US" sz="1600" dirty="0"/>
          </a:p>
        </p:txBody>
      </p:sp>
      <p:sp>
        <p:nvSpPr>
          <p:cNvPr id="6" name="Text 3"/>
          <p:cNvSpPr txBox="1"/>
          <p:nvPr/>
        </p:nvSpPr>
        <p:spPr>
          <a:xfrm>
            <a:off x="457200" y="1965960"/>
            <a:ext cx="731520" cy="54864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Q2</a:t>
            </a:r>
            <a:endParaRPr lang="en-US" sz="2200" dirty="0"/>
          </a:p>
        </p:txBody>
      </p:sp>
      <p:sp>
        <p:nvSpPr>
          <p:cNvPr id="7" name="Text 4"/>
          <p:cNvSpPr txBox="1"/>
          <p:nvPr/>
        </p:nvSpPr>
        <p:spPr>
          <a:xfrm>
            <a:off x="1280160" y="1965960"/>
            <a:ext cx="7315200" cy="640080"/>
          </a:xfrm>
          <a:prstGeom prst="rect">
            <a:avLst/>
          </a:prstGeom>
          <a:noFill/>
          <a:ln/>
        </p:spPr>
        <p:txBody>
          <a:bodyPr wrap="square" lIns="0" tIns="0" rIns="0" bIns="0" rtlCol="0" anchor="t"/>
          <a:lstStyle/>
          <a:p>
            <a:pPr indent="0" marL="0">
              <a:buNone/>
            </a:pPr>
            <a:r>
              <a:rPr lang="en-US" sz="1600" dirty="0">
                <a:solidFill>
                  <a:schemeClr val="tx1"/>
                </a:solidFill>
                <a:latin typeface="Cambria" pitchFamily="34" charset="0"/>
                <a:ea typeface="Cambria" pitchFamily="34" charset="-122"/>
                <a:cs typeface="Cambria" pitchFamily="34" charset="-120"/>
              </a:rPr>
              <a:t>An ANN index returns 4 of the 5 true neighbors. What is recall@5?</a:t>
            </a:r>
            <a:endParaRPr lang="en-US" sz="1600" dirty="0"/>
          </a:p>
        </p:txBody>
      </p:sp>
      <p:sp>
        <p:nvSpPr>
          <p:cNvPr id="8" name="Text 5"/>
          <p:cNvSpPr txBox="1"/>
          <p:nvPr/>
        </p:nvSpPr>
        <p:spPr>
          <a:xfrm>
            <a:off x="457200" y="2651760"/>
            <a:ext cx="731520" cy="54864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Q3</a:t>
            </a:r>
            <a:endParaRPr lang="en-US" sz="2200" dirty="0"/>
          </a:p>
        </p:txBody>
      </p:sp>
      <p:sp>
        <p:nvSpPr>
          <p:cNvPr id="9" name="Text 6"/>
          <p:cNvSpPr txBox="1"/>
          <p:nvPr/>
        </p:nvSpPr>
        <p:spPr>
          <a:xfrm>
            <a:off x="1280160" y="2651760"/>
            <a:ext cx="7315200" cy="640080"/>
          </a:xfrm>
          <a:prstGeom prst="rect">
            <a:avLst/>
          </a:prstGeom>
          <a:noFill/>
          <a:ln/>
        </p:spPr>
        <p:txBody>
          <a:bodyPr wrap="square" lIns="0" tIns="0" rIns="0" bIns="0" rtlCol="0" anchor="t"/>
          <a:lstStyle/>
          <a:p>
            <a:pPr indent="0" marL="0">
              <a:buNone/>
            </a:pPr>
            <a:r>
              <a:rPr lang="en-US" sz="1600" dirty="0">
                <a:solidFill>
                  <a:schemeClr val="tx1"/>
                </a:solidFill>
                <a:latin typeface="Cambria" pitchFamily="34" charset="0"/>
                <a:ea typeface="Cambria" pitchFamily="34" charset="-122"/>
                <a:cs typeface="Cambria" pitchFamily="34" charset="-120"/>
              </a:rPr>
              <a:t>What happens to recall and latency when you raise nprobe?</a:t>
            </a:r>
            <a:endParaRPr lang="en-US" sz="1600" dirty="0"/>
          </a:p>
        </p:txBody>
      </p:sp>
      <p:sp>
        <p:nvSpPr>
          <p:cNvPr id="10" name="Text 7"/>
          <p:cNvSpPr txBox="1"/>
          <p:nvPr/>
        </p:nvSpPr>
        <p:spPr>
          <a:xfrm>
            <a:off x="457200" y="3337560"/>
            <a:ext cx="731520" cy="54864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Q4</a:t>
            </a:r>
            <a:endParaRPr lang="en-US" sz="2200" dirty="0"/>
          </a:p>
        </p:txBody>
      </p:sp>
      <p:sp>
        <p:nvSpPr>
          <p:cNvPr id="11" name="Text 8"/>
          <p:cNvSpPr txBox="1"/>
          <p:nvPr/>
        </p:nvSpPr>
        <p:spPr>
          <a:xfrm>
            <a:off x="1280160" y="3337560"/>
            <a:ext cx="7315200" cy="640080"/>
          </a:xfrm>
          <a:prstGeom prst="rect">
            <a:avLst/>
          </a:prstGeom>
          <a:noFill/>
          <a:ln/>
        </p:spPr>
        <p:txBody>
          <a:bodyPr wrap="square" lIns="0" tIns="0" rIns="0" bIns="0" rtlCol="0" anchor="t"/>
          <a:lstStyle/>
          <a:p>
            <a:pPr indent="0" marL="0">
              <a:buNone/>
            </a:pPr>
            <a:r>
              <a:rPr lang="en-US" sz="1600" dirty="0">
                <a:solidFill>
                  <a:schemeClr val="tx1"/>
                </a:solidFill>
                <a:latin typeface="Cambria" pitchFamily="34" charset="0"/>
                <a:ea typeface="Cambria" pitchFamily="34" charset="-122"/>
                <a:cs typeface="Cambria" pitchFamily="34" charset="-120"/>
              </a:rPr>
              <a:t>Why does PQ lose accuracy, and how is it usually compensated?</a:t>
            </a:r>
            <a:endParaRPr lang="en-US" sz="1600" dirty="0"/>
          </a:p>
        </p:txBody>
      </p:sp>
      <p:sp>
        <p:nvSpPr>
          <p:cNvPr id="12" name="Text 9"/>
          <p:cNvSpPr txBox="1"/>
          <p:nvPr/>
        </p:nvSpPr>
        <p:spPr>
          <a:xfrm>
            <a:off x="457200" y="4023360"/>
            <a:ext cx="731520" cy="54864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Q5</a:t>
            </a:r>
            <a:endParaRPr lang="en-US" sz="2200" dirty="0"/>
          </a:p>
        </p:txBody>
      </p:sp>
      <p:sp>
        <p:nvSpPr>
          <p:cNvPr id="13" name="Text 10"/>
          <p:cNvSpPr txBox="1"/>
          <p:nvPr/>
        </p:nvSpPr>
        <p:spPr>
          <a:xfrm>
            <a:off x="1280160" y="4023360"/>
            <a:ext cx="7315200" cy="640080"/>
          </a:xfrm>
          <a:prstGeom prst="rect">
            <a:avLst/>
          </a:prstGeom>
          <a:noFill/>
          <a:ln/>
        </p:spPr>
        <p:txBody>
          <a:bodyPr wrap="square" lIns="0" tIns="0" rIns="0" bIns="0" rtlCol="0" anchor="t"/>
          <a:lstStyle/>
          <a:p>
            <a:pPr indent="0" marL="0">
              <a:buNone/>
            </a:pPr>
            <a:r>
              <a:rPr lang="en-US" sz="1600" dirty="0">
                <a:solidFill>
                  <a:schemeClr val="tx1"/>
                </a:solidFill>
                <a:latin typeface="Cambria" pitchFamily="34" charset="0"/>
                <a:ea typeface="Cambria" pitchFamily="34" charset="-122"/>
                <a:cs typeface="Cambria" pitchFamily="34" charset="-120"/>
              </a:rPr>
              <a:t>Which HNSW parameter can you change without rebuilding the index?</a:t>
            </a:r>
            <a:endParaRPr lang="en-US" sz="16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Summary and next steps</a:t>
            </a:r>
            <a:endParaRPr lang="en-US" sz="3000" dirty="0"/>
          </a:p>
        </p:txBody>
      </p:sp>
      <p:sp>
        <p:nvSpPr>
          <p:cNvPr id="4" name="Text 1"/>
          <p:cNvSpPr txBox="1"/>
          <p:nvPr/>
        </p:nvSpPr>
        <p:spPr>
          <a:xfrm>
            <a:off x="457200" y="1280160"/>
            <a:ext cx="4846320" cy="3291840"/>
          </a:xfrm>
          <a:prstGeom prst="rect">
            <a:avLst/>
          </a:prstGeom>
          <a:noFill/>
          <a:ln/>
        </p:spPr>
        <p:txBody>
          <a:bodyPr wrap="square" lIns="0" tIns="0" rIns="0" bIns="0" rtlCol="0" anchor="t"/>
          <a:lstStyle/>
          <a:p>
            <a:pPr marL="342900" indent="-342900">
              <a:spcAft>
                <a:spcPts val="1200"/>
              </a:spcAft>
              <a:buSzPct val="100000"/>
              <a:buChar char="•"/>
            </a:pPr>
            <a:r>
              <a:rPr lang="en-US" sz="1500" dirty="0">
                <a:solidFill>
                  <a:schemeClr val="tx1"/>
                </a:solidFill>
              </a:rPr>
              <a:t>Exact search costs N x d per query and does not scale</a:t>
            </a:r>
            <a:endParaRPr lang="en-US" sz="1500" dirty="0"/>
          </a:p>
          <a:p>
            <a:pPr marL="342900" indent="-342900">
              <a:spcAft>
                <a:spcPts val="1200"/>
              </a:spcAft>
              <a:buSzPct val="100000"/>
              <a:buChar char="•"/>
            </a:pPr>
            <a:r>
              <a:rPr lang="en-US" sz="1500" dirty="0">
                <a:solidFill>
                  <a:schemeClr val="tx1"/>
                </a:solidFill>
              </a:rPr>
              <a:t>ANN trades a little recall for large gains in speed and memory</a:t>
            </a:r>
            <a:endParaRPr lang="en-US" sz="1500" dirty="0"/>
          </a:p>
          <a:p>
            <a:pPr marL="342900" indent="-342900">
              <a:spcAft>
                <a:spcPts val="1200"/>
              </a:spcAft>
              <a:buSzPct val="100000"/>
              <a:buChar char="•"/>
            </a:pPr>
            <a:r>
              <a:rPr lang="en-US" sz="1500" dirty="0">
                <a:solidFill>
                  <a:schemeClr val="tx1"/>
                </a:solidFill>
              </a:rPr>
              <a:t>LSH hashes, IVF clusters, PQ compresses, HNSW navigates a graph</a:t>
            </a:r>
            <a:endParaRPr lang="en-US" sz="1500" dirty="0"/>
          </a:p>
          <a:p>
            <a:pPr marL="342900" indent="-342900">
              <a:spcAft>
                <a:spcPts val="1200"/>
              </a:spcAft>
              <a:buSzPct val="100000"/>
              <a:buChar char="•"/>
            </a:pPr>
            <a:r>
              <a:rPr lang="en-US" sz="1500" dirty="0">
                <a:solidFill>
                  <a:schemeClr val="tx1"/>
                </a:solidFill>
              </a:rPr>
              <a:t>Tune with nprobe or efSearch and read the recall-speed curve</a:t>
            </a:r>
            <a:endParaRPr lang="en-US" sz="1500" dirty="0"/>
          </a:p>
          <a:p>
            <a:pPr marL="342900" indent="-342900">
              <a:spcAft>
                <a:spcPts val="1200"/>
              </a:spcAft>
              <a:buSzPct val="100000"/>
              <a:buChar char="•"/>
            </a:pPr>
            <a:r>
              <a:rPr lang="en-US" sz="1500" dirty="0">
                <a:solidFill>
                  <a:schemeClr val="tx1"/>
                </a:solidFill>
              </a:rPr>
              <a:t>Databases add filtering, updates, persistence and sharding</a:t>
            </a:r>
            <a:endParaRPr lang="en-US" sz="1500" dirty="0"/>
          </a:p>
        </p:txBody>
      </p:sp>
      <p:sp>
        <p:nvSpPr>
          <p:cNvPr id="5" name="Shape 2"/>
          <p:cNvSpPr/>
          <p:nvPr/>
        </p:nvSpPr>
        <p:spPr>
          <a:xfrm>
            <a:off x="5577840" y="1280160"/>
            <a:ext cx="0" cy="3200400"/>
          </a:xfrm>
          <a:prstGeom prst="line">
            <a:avLst/>
          </a:prstGeom>
          <a:noFill/>
          <a:ln w="9525">
            <a:solidFill>
              <a:schemeClr val="accent6"/>
            </a:solidFill>
            <a:prstDash val="solid"/>
          </a:ln>
        </p:spPr>
      </p:sp>
      <p:sp>
        <p:nvSpPr>
          <p:cNvPr id="6" name="Text 3"/>
          <p:cNvSpPr txBox="1"/>
          <p:nvPr/>
        </p:nvSpPr>
        <p:spPr>
          <a:xfrm>
            <a:off x="5852160" y="1280160"/>
            <a:ext cx="2834640" cy="274320"/>
          </a:xfrm>
          <a:prstGeom prst="rect">
            <a:avLst/>
          </a:prstGeom>
          <a:noFill/>
          <a:ln/>
        </p:spPr>
        <p:txBody>
          <a:bodyPr wrap="square" lIns="0" tIns="0" rIns="0" bIns="0" rtlCol="0" anchor="t"/>
          <a:lstStyle/>
          <a:p>
            <a:pPr indent="0" marL="0">
              <a:buNone/>
            </a:pPr>
            <a:r>
              <a:rPr lang="en-US" sz="1200" b="1" spc="200" kern="0" dirty="0">
                <a:solidFill>
                  <a:schemeClr val="accent5"/>
                </a:solidFill>
              </a:rPr>
              <a:t>Lab 4</a:t>
            </a:r>
            <a:endParaRPr lang="en-US" sz="1200" dirty="0"/>
          </a:p>
        </p:txBody>
      </p:sp>
      <p:sp>
        <p:nvSpPr>
          <p:cNvPr id="7" name="Text 4"/>
          <p:cNvSpPr txBox="1"/>
          <p:nvPr/>
        </p:nvSpPr>
        <p:spPr>
          <a:xfrm>
            <a:off x="5852160" y="1600200"/>
            <a:ext cx="2834640" cy="731520"/>
          </a:xfrm>
          <a:prstGeom prst="rect">
            <a:avLst/>
          </a:prstGeom>
          <a:noFill/>
          <a:ln/>
        </p:spPr>
        <p:txBody>
          <a:bodyPr wrap="square" lIns="0" tIns="0" rIns="0" bIns="0" rtlCol="0" anchor="t"/>
          <a:lstStyle/>
          <a:p>
            <a:pPr indent="0" marL="0">
              <a:buNone/>
            </a:pPr>
            <a:r>
              <a:rPr lang="en-US" sz="1400" dirty="0">
                <a:solidFill>
                  <a:schemeClr val="tx1"/>
                </a:solidFill>
              </a:rPr>
              <a:t>FAISS benchmark in Colab (60 minutes).</a:t>
            </a:r>
            <a:endParaRPr lang="en-US" sz="1400" dirty="0"/>
          </a:p>
        </p:txBody>
      </p:sp>
      <p:sp>
        <p:nvSpPr>
          <p:cNvPr id="8" name="Text 5"/>
          <p:cNvSpPr txBox="1"/>
          <p:nvPr/>
        </p:nvSpPr>
        <p:spPr>
          <a:xfrm>
            <a:off x="5852160" y="2514600"/>
            <a:ext cx="2834640" cy="274320"/>
          </a:xfrm>
          <a:prstGeom prst="rect">
            <a:avLst/>
          </a:prstGeom>
          <a:noFill/>
          <a:ln/>
        </p:spPr>
        <p:txBody>
          <a:bodyPr wrap="square" lIns="0" tIns="0" rIns="0" bIns="0" rtlCol="0" anchor="t"/>
          <a:lstStyle/>
          <a:p>
            <a:pPr indent="0" marL="0">
              <a:buNone/>
            </a:pPr>
            <a:r>
              <a:rPr lang="en-US" sz="1200" b="1" spc="200" kern="0" dirty="0">
                <a:solidFill>
                  <a:schemeClr val="accent5"/>
                </a:solidFill>
              </a:rPr>
              <a:t>Further reading</a:t>
            </a:r>
            <a:endParaRPr lang="en-US" sz="1200" dirty="0"/>
          </a:p>
        </p:txBody>
      </p:sp>
      <p:sp>
        <p:nvSpPr>
          <p:cNvPr id="9" name="Text 6"/>
          <p:cNvSpPr txBox="1"/>
          <p:nvPr/>
        </p:nvSpPr>
        <p:spPr>
          <a:xfrm>
            <a:off x="5852160" y="2834640"/>
            <a:ext cx="2834640" cy="1737360"/>
          </a:xfrm>
          <a:prstGeom prst="rect">
            <a:avLst/>
          </a:prstGeom>
          <a:noFill/>
          <a:ln/>
        </p:spPr>
        <p:txBody>
          <a:bodyPr wrap="square" lIns="0" tIns="0" rIns="0" bIns="0" rtlCol="0" anchor="t"/>
          <a:lstStyle/>
          <a:p>
            <a:pPr indent="0" marL="0">
              <a:spcAft>
                <a:spcPts val="500"/>
              </a:spcAft>
              <a:buNone/>
            </a:pPr>
            <a:r>
              <a:rPr lang="en-US" sz="1200" i="1" dirty="0">
                <a:solidFill>
                  <a:schemeClr val="tx1"/>
                </a:solidFill>
                <a:latin typeface="Cambria" pitchFamily="34" charset="0"/>
                <a:ea typeface="Cambria" pitchFamily="34" charset="-122"/>
                <a:cs typeface="Cambria" pitchFamily="34" charset="-120"/>
              </a:rPr>
              <a:t>Malkov and Yashunin (2018). Efficient and Robust ANN Search Using HNSW Graphs.</a:t>
            </a:r>
            <a:endParaRPr lang="en-US" sz="1200" dirty="0"/>
          </a:p>
          <a:p>
            <a:pPr indent="0" marL="0">
              <a:spcAft>
                <a:spcPts val="500"/>
              </a:spcAft>
              <a:buNone/>
            </a:pPr>
            <a:r>
              <a:rPr lang="en-US" sz="1200" i="1" dirty="0">
                <a:solidFill>
                  <a:schemeClr val="tx1"/>
                </a:solidFill>
                <a:latin typeface="Cambria" pitchFamily="34" charset="0"/>
                <a:ea typeface="Cambria" pitchFamily="34" charset="-122"/>
                <a:cs typeface="Cambria" pitchFamily="34" charset="-120"/>
              </a:rPr>
              <a:t>Jegou, Douze and Schmid (2011). Product Quantization for Nearest Neighbor Search.</a:t>
            </a:r>
            <a:endParaRPr lang="en-US" sz="1200" dirty="0"/>
          </a:p>
          <a:p>
            <a:pPr indent="0" marL="0">
              <a:buNone/>
            </a:pPr>
            <a:r>
              <a:rPr lang="en-US" sz="1200" i="1" dirty="0">
                <a:solidFill>
                  <a:schemeClr val="tx1"/>
                </a:solidFill>
                <a:latin typeface="Cambria" pitchFamily="34" charset="0"/>
                <a:ea typeface="Cambria" pitchFamily="34" charset="-122"/>
                <a:cs typeface="Cambria" pitchFamily="34" charset="-120"/>
              </a:rPr>
              <a:t>Johnson, Douze and Jegou (2019). Billion-scale similarity search with GPUs.</a:t>
            </a:r>
            <a:endParaRPr lang="en-US" sz="12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Editorial4">
  <a:themeElements>
    <a:clrScheme name="Editorial4">
      <a:dk1>
        <a:srgbClr val="1B2A41"/>
      </a:dk1>
      <a:lt1>
        <a:srgbClr val="FFFFFF"/>
      </a:lt1>
      <a:dk2>
        <a:srgbClr val="0F1B2D"/>
      </a:dk2>
      <a:lt2>
        <a:srgbClr val="F3F4F6"/>
      </a:lt2>
      <a:accent1>
        <a:srgbClr val="B5432A"/>
      </a:accent1>
      <a:accent2>
        <a:srgbClr val="2F5D8A"/>
      </a:accent2>
      <a:accent3>
        <a:srgbClr val="3B7A57"/>
      </a:accent3>
      <a:accent4>
        <a:srgbClr val="8A6D1F"/>
      </a:accent4>
      <a:accent5>
        <a:srgbClr val="6B7280"/>
      </a:accent5>
      <a:accent6>
        <a:srgbClr val="D1D5DB"/>
      </a:accent6>
      <a:hlink>
        <a:srgbClr val="2F5D8A"/>
      </a:hlink>
      <a:folHlink>
        <a:srgbClr val="6B7280"/>
      </a:folHlink>
    </a:clrScheme>
    <a:fontScheme name="Editorial4">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4: ANN and Indexing</dc:title>
  <dc:subject>PptxGenJS Presentation</dc:subject>
  <dc:creator>PptxGenJS</dc:creator>
  <cp:lastModifiedBy>PptxGenJS</cp:lastModifiedBy>
  <cp:revision>1</cp:revision>
  <dcterms:created xsi:type="dcterms:W3CDTF">2026-10-26T06:40:33Z</dcterms:created>
  <dcterms:modified xsi:type="dcterms:W3CDTF">2026-10-26T06:40:33Z</dcterms:modified>
</cp:coreProperties>
</file>