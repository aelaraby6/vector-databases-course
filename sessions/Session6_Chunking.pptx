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6" id="{ad034e29-4cbe-834e-be7e-3a584c24826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Part 2 explained how indexes find vectors. But what is a vector? A vector of what? Today we decide what goes into the database. In practice chunking quality often matters more than the choice of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90 minutes: about 55 lecture, 35 lab. The lab downloads a real paper as a PDF and compares strategies by retrieval hit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(5 min). Three reasons: model input limits (Lecture 2: 256 tokens for MiniLM), one vector averages all topics in a long text, and the LLM pays for every retrieved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trade-off (5 min). There is no universally right size. A common starting range is a few hundred tokens with 10 to 20 percent overlap; the right value depends on your documents and questions, which is why we test (last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(4 min). Character counts are convenient but the model sees tokens. English averages roughly four characters per token; other languages and code often need more. Use the model's own tokenizer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windows (5 min). Simple and predictable. Chunk count = ceil((L - overlap) / (size - overlap)). Weakness: cuts ignore sentences and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(4 min). Overlap duplicates some text, so costs rise by roughly overlap / step. Ten to twenty percent is typical. Too much overlap fills top-k with near-duplicates.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Recursive splitting (5 min). Try the most meaningful separator first; if a piece is still too big, split it on the next one. Neighbouring small pieces are merged back up to the limit. Library splitters implement this; the lab builds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Structure-aware chunking (5 min). If the document has headings, tables, or code blocks, use them. Carrying the heading path into the chunk or its metadata gives the retriever context the text alone lacks.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chunking (5 min). Embed each sentence, compare neighbours, and cut where similarity drops. More expensive and less predictable; enforce minimum and maximum sizes. The curve here is illustrative, the lab computes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Parent-child retrieval (4 min). Small chunks embed precisely; large chunks give context. Index the small ones, store a pointer to the parent, and return the parent to the LLM. Variants: sentence-window retrieval, adding a summary or title to every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table (4 min). Recommend starting with recursive splitting plus metadata, then testing alternatives where the baseline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(5 min). Store what you will filter or display. Keep the text in the document field. Metadata that you never use costs space; metadata you need later cannot be recovered without re-ingestion.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(4 min). Deterministic IDs make re-ingestion idempotent. Without them you get duplicates every time a document is processed again. Chroma's add silently ignores an existing id, so use upsert (Lecture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documents (5 min). PDFs are layout formats, not text formats: extraction can interleave columns, repeat headers, and break words. Always look at the extracted text before embedding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(5 min). Build 30 to 50 real questions with their source passage. For each setting, check whether the right chunk appears in the top k. Lecture 9 formalizes this as recall at k and MRR; the lab does a small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(4 min). Chunking bugs are silent: search still returns results, just worse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Answers: 1) truncation, blurred vectors, LLM cost; 2) ceil((L-overlap)/(size-overlap)); 3) recursive keeps paragraphs and sentences; 4) deterministic ids, upsert, hashes; 5) retrieval hit rate on held-out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(3 min), then hand out Lab 6. Next lecture: ChromaDB basics, where these chunks will be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i="1" dirty="0">
                <a:solidFill>
                  <a:schemeClr val="accent5"/>
                </a:solidFill>
                <a:latin typeface="Cambria" pitchFamily="34" charset="0"/>
                <a:ea typeface="Cambria" pitchFamily="34" charset="-122"/>
                <a:cs typeface="Cambria" pitchFamily="34" charset="-120"/>
              </a:rPr>
              <a:t>Vector Databases  —  Lecture 6</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5720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indent="0" marL="0">
              <a:buNone/>
            </a:pPr>
            <a:r>
              <a:rPr lang="en-US" sz="1200" b="1" spc="400" kern="0" dirty="0">
                <a:solidFill>
                  <a:schemeClr val="accent6"/>
                </a:solidFill>
              </a:rPr>
              <a:t>LECTURE 6 OF 9</a:t>
            </a:r>
            <a:endParaRPr lang="en-US" sz="1200" dirty="0"/>
          </a:p>
        </p:txBody>
      </p:sp>
      <p:sp>
        <p:nvSpPr>
          <p:cNvPr id="3" name="Text 0"/>
          <p:cNvSpPr/>
          <p:nvPr>
            <p:ph idx="100" type="title" hasCustomPrompt="1"/>
          </p:nvPr>
        </p:nvSpPr>
        <p:spPr>
          <a:xfrm>
            <a:off x="548640" y="1325880"/>
            <a:ext cx="4572000" cy="1554480"/>
          </a:xfrm>
          <a:prstGeom prst="rect">
            <a:avLst/>
          </a:prstGeom>
          <a:noFill/>
          <a:ln/>
        </p:spPr>
        <p:txBody>
          <a:bodyPr wrap="square" lIns="0" tIns="0" rIns="0" bIns="0" rtlCol="0" anchor="t"/>
          <a:lstStyle/>
          <a:p>
            <a:pPr algn="l" indent="0" marL="0">
              <a:buNone/>
            </a:pPr>
            <a:r>
              <a:rPr lang="en-US" sz="4400" b="1" dirty="0">
                <a:solidFill>
                  <a:schemeClr val="bg1"/>
                </a:solidFill>
              </a:rPr>
              <a:t>Chunking and Data Preparation</a:t>
            </a:r>
            <a:endParaRPr lang="en-US" sz="4400" dirty="0"/>
          </a:p>
        </p:txBody>
      </p:sp>
      <p:sp>
        <p:nvSpPr>
          <p:cNvPr id="4" name="Text 2"/>
          <p:cNvSpPr txBox="1"/>
          <p:nvPr/>
        </p:nvSpPr>
        <p:spPr>
          <a:xfrm>
            <a:off x="548640" y="3611880"/>
            <a:ext cx="4572000" cy="365760"/>
          </a:xfrm>
          <a:prstGeom prst="rect">
            <a:avLst/>
          </a:prstGeom>
          <a:noFill/>
          <a:ln/>
        </p:spPr>
        <p:txBody>
          <a:bodyPr wrap="square" lIns="0" tIns="0" rIns="0" bIns="0" rtlCol="0" anchor="t"/>
          <a:lstStyle/>
          <a:p>
            <a:pPr indent="0" marL="0">
              <a:buNone/>
            </a:pPr>
            <a:r>
              <a:rPr lang="en-US" sz="1800" i="1" dirty="0">
                <a:solidFill>
                  <a:schemeClr val="bg2"/>
                </a:solidFill>
                <a:latin typeface="Cambria" pitchFamily="34" charset="0"/>
                <a:ea typeface="Cambria" pitchFamily="34" charset="-122"/>
                <a:cs typeface="Cambria" pitchFamily="34" charset="-120"/>
              </a:rPr>
              <a:t>Cutting documents so search can find them</a:t>
            </a:r>
            <a:endParaRPr lang="en-US" sz="1800" dirty="0"/>
          </a:p>
        </p:txBody>
      </p:sp>
      <p:sp>
        <p:nvSpPr>
          <p:cNvPr id="5" name="Text 3"/>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chemeClr val="accent6"/>
                </a:solidFill>
              </a:rPr>
              <a:t>Vector Databases: from zero to ChromaDB</a:t>
            </a:r>
            <a:endParaRPr lang="en-US" sz="1200" dirty="0"/>
          </a:p>
        </p:txBody>
      </p:sp>
      <p:sp>
        <p:nvSpPr>
          <p:cNvPr id="6" name="Text 4"/>
          <p:cNvSpPr txBox="1"/>
          <p:nvPr/>
        </p:nvSpPr>
        <p:spPr>
          <a:xfrm>
            <a:off x="5577840" y="128016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fixed</a:t>
            </a:r>
            <a:endParaRPr lang="en-US" sz="1600" dirty="0"/>
          </a:p>
        </p:txBody>
      </p:sp>
      <p:sp>
        <p:nvSpPr>
          <p:cNvPr id="7" name="Text 5"/>
          <p:cNvSpPr txBox="1"/>
          <p:nvPr/>
        </p:nvSpPr>
        <p:spPr>
          <a:xfrm>
            <a:off x="5577840" y="160020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size=800, overlap=150</a:t>
            </a:r>
            <a:endParaRPr lang="en-US" sz="1300" dirty="0"/>
          </a:p>
        </p:txBody>
      </p:sp>
      <p:sp>
        <p:nvSpPr>
          <p:cNvPr id="8" name="Text 6"/>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600" b="1" i="1" dirty="0">
                <a:solidFill>
                  <a:srgbClr val="B5432A"/>
                </a:solidFill>
                <a:latin typeface="Cambria" pitchFamily="34" charset="0"/>
                <a:ea typeface="Cambria" pitchFamily="34" charset="-122"/>
                <a:cs typeface="Cambria" pitchFamily="34" charset="-120"/>
              </a:rPr>
              <a:t>recursive</a:t>
            </a:r>
            <a:endParaRPr lang="en-US" sz="1600" dirty="0"/>
          </a:p>
        </p:txBody>
      </p:sp>
      <p:sp>
        <p:nvSpPr>
          <p:cNvPr id="9" name="Text 7"/>
          <p:cNvSpPr txBox="1"/>
          <p:nvPr/>
        </p:nvSpPr>
        <p:spPr>
          <a:xfrm>
            <a:off x="5577840" y="237744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paragraph &gt; line &gt; sentence</a:t>
            </a:r>
            <a:endParaRPr lang="en-US" sz="1300" dirty="0"/>
          </a:p>
        </p:txBody>
      </p:sp>
      <p:sp>
        <p:nvSpPr>
          <p:cNvPr id="10" name="Text 8"/>
          <p:cNvSpPr txBox="1"/>
          <p:nvPr/>
        </p:nvSpPr>
        <p:spPr>
          <a:xfrm>
            <a:off x="5577840" y="283464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semantic</a:t>
            </a:r>
            <a:endParaRPr lang="en-US" sz="1600" dirty="0"/>
          </a:p>
        </p:txBody>
      </p:sp>
      <p:sp>
        <p:nvSpPr>
          <p:cNvPr id="11" name="Text 9"/>
          <p:cNvSpPr txBox="1"/>
          <p:nvPr/>
        </p:nvSpPr>
        <p:spPr>
          <a:xfrm>
            <a:off x="5577840" y="315468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split where similarity drops</a:t>
            </a:r>
            <a:endParaRPr lang="en-US" sz="1300" dirty="0"/>
          </a:p>
        </p:txBody>
      </p:sp>
      <p:sp>
        <p:nvSpPr>
          <p:cNvPr id="12" name="Text 10"/>
          <p:cNvSpPr txBox="1"/>
          <p:nvPr/>
        </p:nvSpPr>
        <p:spPr>
          <a:xfrm>
            <a:off x="5577840" y="361188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small-to-big</a:t>
            </a:r>
            <a:endParaRPr lang="en-US" sz="1600" dirty="0"/>
          </a:p>
        </p:txBody>
      </p:sp>
      <p:sp>
        <p:nvSpPr>
          <p:cNvPr id="13" name="Text 11"/>
          <p:cNvSpPr txBox="1"/>
          <p:nvPr/>
        </p:nvSpPr>
        <p:spPr>
          <a:xfrm>
            <a:off x="5577840" y="393192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match small, return parent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32588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Why split documents at all?</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8" name="Text 5"/>
          <p:cNvSpPr txBox="1"/>
          <p:nvPr/>
        </p:nvSpPr>
        <p:spPr>
          <a:xfrm>
            <a:off x="1097280" y="196596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big should a chunk be?</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1" name="Text 8"/>
          <p:cNvSpPr txBox="1"/>
          <p:nvPr/>
        </p:nvSpPr>
        <p:spPr>
          <a:xfrm>
            <a:off x="1097280" y="260604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Which splitting strategies exist?</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4" name="Text 11"/>
          <p:cNvSpPr txBox="1"/>
          <p:nvPr/>
        </p:nvSpPr>
        <p:spPr>
          <a:xfrm>
            <a:off x="1097280" y="324612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metadata and IDs should a chunk carry?</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1097280" y="388620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we test a chunking choice?</a:t>
            </a:r>
            <a:endParaRPr lang="en-US" sz="1800" dirty="0"/>
          </a:p>
        </p:txBody>
      </p:sp>
      <p:sp>
        <p:nvSpPr>
          <p:cNvPr id="18" name="Text 15"/>
          <p:cNvSpPr txBox="1"/>
          <p:nvPr/>
        </p:nvSpPr>
        <p:spPr>
          <a:xfrm>
            <a:off x="6675120" y="132588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a:ln/>
        </p:spPr>
        <p:txBody>
          <a:bodyPr wrap="square" lIns="0" tIns="0" rIns="0" bIns="0" rtlCol="0" anchor="t"/>
          <a:lstStyle/>
          <a:p>
            <a:pPr indent="0" marL="0">
              <a:buNone/>
            </a:pPr>
            <a:r>
              <a:rPr lang="en-US" sz="1400" dirty="0">
                <a:solidFill>
                  <a:schemeClr val="tx1"/>
                </a:solidFill>
              </a:rPr>
              <a:t>Lectures 1 to 5.</a:t>
            </a:r>
            <a:endParaRPr lang="en-US" sz="1400" dirty="0"/>
          </a:p>
        </p:txBody>
      </p:sp>
      <p:sp>
        <p:nvSpPr>
          <p:cNvPr id="20" name="Text 17"/>
          <p:cNvSpPr txBox="1"/>
          <p:nvPr/>
        </p:nvSpPr>
        <p:spPr>
          <a:xfrm>
            <a:off x="6675120" y="265176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6</a:t>
            </a:r>
            <a:endParaRPr lang="en-US" sz="1200" dirty="0"/>
          </a:p>
        </p:txBody>
      </p:sp>
      <p:sp>
        <p:nvSpPr>
          <p:cNvPr id="21" name="Text 18"/>
          <p:cNvSpPr txBox="1"/>
          <p:nvPr/>
        </p:nvSpPr>
        <p:spPr>
          <a:xfrm>
            <a:off x="6675120" y="2971800"/>
            <a:ext cx="2011680" cy="1463040"/>
          </a:xfrm>
          <a:prstGeom prst="rect">
            <a:avLst/>
          </a:prstGeom>
          <a:noFill/>
          <a:ln/>
        </p:spPr>
        <p:txBody>
          <a:bodyPr wrap="square" lIns="0" tIns="0" rIns="0" bIns="0" rtlCol="0" anchor="t"/>
          <a:lstStyle/>
          <a:p>
            <a:pPr indent="0" marL="0">
              <a:buNone/>
            </a:pPr>
            <a:r>
              <a:rPr lang="en-US" sz="1400" dirty="0">
                <a:solidFill>
                  <a:schemeClr val="tx1"/>
                </a:solidFill>
              </a:rPr>
              <a:t>Chunk a real PDF four ways, attach metadata, and measure which strategy retrieves best.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we split documents</a:t>
            </a:r>
            <a:endParaRPr lang="en-US" sz="3000" dirty="0"/>
          </a:p>
        </p:txBody>
      </p:sp>
      <p:sp>
        <p:nvSpPr>
          <p:cNvPr id="4" name="Text 1"/>
          <p:cNvSpPr txBox="1"/>
          <p:nvPr/>
        </p:nvSpPr>
        <p:spPr>
          <a:xfrm>
            <a:off x="457200" y="1280160"/>
            <a:ext cx="3931920" cy="3200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One vector per document</a:t>
            </a:r>
            <a:endParaRPr lang="en-US" sz="1600" dirty="0"/>
          </a:p>
        </p:txBody>
      </p:sp>
      <p:sp>
        <p:nvSpPr>
          <p:cNvPr id="5" name="Text 2"/>
          <p:cNvSpPr txBox="1"/>
          <p:nvPr/>
        </p:nvSpPr>
        <p:spPr>
          <a:xfrm>
            <a:off x="4754880" y="1280160"/>
            <a:ext cx="3931920" cy="32004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One vector per chunk</a:t>
            </a:r>
            <a:endParaRPr lang="en-US" sz="1600" dirty="0"/>
          </a:p>
        </p:txBody>
      </p:sp>
      <p:sp>
        <p:nvSpPr>
          <p:cNvPr id="6" name="Shape 3"/>
          <p:cNvSpPr/>
          <p:nvPr/>
        </p:nvSpPr>
        <p:spPr>
          <a:xfrm>
            <a:off x="4572000" y="1280160"/>
            <a:ext cx="0" cy="3200400"/>
          </a:xfrm>
          <a:prstGeom prst="line">
            <a:avLst/>
          </a:prstGeom>
          <a:noFill/>
          <a:ln w="9525">
            <a:solidFill>
              <a:schemeClr val="accent6"/>
            </a:solidFill>
            <a:prstDash val="solid"/>
          </a:ln>
        </p:spPr>
      </p:sp>
      <p:sp>
        <p:nvSpPr>
          <p:cNvPr id="7" name="Shape 4"/>
          <p:cNvSpPr/>
          <p:nvPr/>
        </p:nvSpPr>
        <p:spPr>
          <a:xfrm>
            <a:off x="731520" y="1783080"/>
            <a:ext cx="1463040" cy="457200"/>
          </a:xfrm>
          <a:prstGeom prst="rect">
            <a:avLst/>
          </a:prstGeom>
          <a:solidFill>
            <a:srgbClr val="2F5D8A">
              <a:alpha val="75000"/>
            </a:srgbClr>
          </a:solidFill>
          <a:ln w="6350">
            <a:solidFill>
              <a:srgbClr val="FFFFFF"/>
            </a:solidFill>
            <a:prstDash val="solid"/>
          </a:ln>
        </p:spPr>
      </p:sp>
      <p:sp>
        <p:nvSpPr>
          <p:cNvPr id="8" name="Text 5"/>
          <p:cNvSpPr txBox="1"/>
          <p:nvPr/>
        </p:nvSpPr>
        <p:spPr>
          <a:xfrm>
            <a:off x="731520" y="1783080"/>
            <a:ext cx="1463040" cy="457200"/>
          </a:xfrm>
          <a:prstGeom prst="rect">
            <a:avLst/>
          </a:prstGeom>
          <a:noFill/>
          <a:ln/>
        </p:spPr>
        <p:txBody>
          <a:bodyPr wrap="square" lIns="0" tIns="0" rIns="0" bIns="0" rtlCol="0" anchor="ctr"/>
          <a:lstStyle/>
          <a:p>
            <a:pPr algn="ctr" indent="0" marL="0">
              <a:buNone/>
            </a:pPr>
            <a:r>
              <a:rPr lang="en-US" sz="1200" b="1" dirty="0">
                <a:solidFill>
                  <a:srgbClr val="FFFFFF"/>
                </a:solidFill>
              </a:rPr>
              <a:t>topic A</a:t>
            </a:r>
            <a:endParaRPr lang="en-US" sz="1200" dirty="0"/>
          </a:p>
        </p:txBody>
      </p:sp>
      <p:sp>
        <p:nvSpPr>
          <p:cNvPr id="9" name="Shape 6"/>
          <p:cNvSpPr/>
          <p:nvPr/>
        </p:nvSpPr>
        <p:spPr>
          <a:xfrm>
            <a:off x="731520" y="2240280"/>
            <a:ext cx="1463040" cy="457200"/>
          </a:xfrm>
          <a:prstGeom prst="rect">
            <a:avLst/>
          </a:prstGeom>
          <a:solidFill>
            <a:srgbClr val="8A6D1F">
              <a:alpha val="75000"/>
            </a:srgbClr>
          </a:solidFill>
          <a:ln w="6350">
            <a:solidFill>
              <a:srgbClr val="FFFFFF"/>
            </a:solidFill>
            <a:prstDash val="solid"/>
          </a:ln>
        </p:spPr>
      </p:sp>
      <p:sp>
        <p:nvSpPr>
          <p:cNvPr id="10" name="Text 7"/>
          <p:cNvSpPr txBox="1"/>
          <p:nvPr/>
        </p:nvSpPr>
        <p:spPr>
          <a:xfrm>
            <a:off x="731520" y="2240280"/>
            <a:ext cx="1463040" cy="457200"/>
          </a:xfrm>
          <a:prstGeom prst="rect">
            <a:avLst/>
          </a:prstGeom>
          <a:noFill/>
          <a:ln/>
        </p:spPr>
        <p:txBody>
          <a:bodyPr wrap="square" lIns="0" tIns="0" rIns="0" bIns="0" rtlCol="0" anchor="ctr"/>
          <a:lstStyle/>
          <a:p>
            <a:pPr algn="ctr" indent="0" marL="0">
              <a:buNone/>
            </a:pPr>
            <a:r>
              <a:rPr lang="en-US" sz="1200" b="1" dirty="0">
                <a:solidFill>
                  <a:srgbClr val="FFFFFF"/>
                </a:solidFill>
              </a:rPr>
              <a:t>topic B</a:t>
            </a:r>
            <a:endParaRPr lang="en-US" sz="1200" dirty="0"/>
          </a:p>
        </p:txBody>
      </p:sp>
      <p:sp>
        <p:nvSpPr>
          <p:cNvPr id="11" name="Shape 8"/>
          <p:cNvSpPr/>
          <p:nvPr/>
        </p:nvSpPr>
        <p:spPr>
          <a:xfrm>
            <a:off x="731520" y="2697480"/>
            <a:ext cx="1463040" cy="457200"/>
          </a:xfrm>
          <a:prstGeom prst="rect">
            <a:avLst/>
          </a:prstGeom>
          <a:solidFill>
            <a:srgbClr val="B5432A">
              <a:alpha val="75000"/>
            </a:srgbClr>
          </a:solidFill>
          <a:ln w="6350">
            <a:solidFill>
              <a:srgbClr val="FFFFFF"/>
            </a:solidFill>
            <a:prstDash val="solid"/>
          </a:ln>
        </p:spPr>
      </p:sp>
      <p:sp>
        <p:nvSpPr>
          <p:cNvPr id="12" name="Text 9"/>
          <p:cNvSpPr txBox="1"/>
          <p:nvPr/>
        </p:nvSpPr>
        <p:spPr>
          <a:xfrm>
            <a:off x="731520" y="2697480"/>
            <a:ext cx="1463040" cy="457200"/>
          </a:xfrm>
          <a:prstGeom prst="rect">
            <a:avLst/>
          </a:prstGeom>
          <a:noFill/>
          <a:ln/>
        </p:spPr>
        <p:txBody>
          <a:bodyPr wrap="square" lIns="0" tIns="0" rIns="0" bIns="0" rtlCol="0" anchor="ctr"/>
          <a:lstStyle/>
          <a:p>
            <a:pPr algn="ctr" indent="0" marL="0">
              <a:buNone/>
            </a:pPr>
            <a:r>
              <a:rPr lang="en-US" sz="1200" b="1" dirty="0">
                <a:solidFill>
                  <a:srgbClr val="FFFFFF"/>
                </a:solidFill>
              </a:rPr>
              <a:t>topic C</a:t>
            </a:r>
            <a:endParaRPr lang="en-US" sz="1200" dirty="0"/>
          </a:p>
        </p:txBody>
      </p:sp>
      <p:sp>
        <p:nvSpPr>
          <p:cNvPr id="13" name="Shape 10"/>
          <p:cNvSpPr/>
          <p:nvPr/>
        </p:nvSpPr>
        <p:spPr>
          <a:xfrm>
            <a:off x="2286000" y="2468880"/>
            <a:ext cx="457200" cy="0"/>
          </a:xfrm>
          <a:prstGeom prst="line">
            <a:avLst/>
          </a:prstGeom>
          <a:noFill/>
          <a:ln w="19050">
            <a:solidFill>
              <a:srgbClr val="1B2A41"/>
            </a:solidFill>
            <a:prstDash val="solid"/>
            <a:tailEnd type="triangle"/>
          </a:ln>
        </p:spPr>
      </p:sp>
      <p:sp>
        <p:nvSpPr>
          <p:cNvPr id="14" name="Shape 11"/>
          <p:cNvSpPr/>
          <p:nvPr/>
        </p:nvSpPr>
        <p:spPr>
          <a:xfrm>
            <a:off x="2834640" y="2286000"/>
            <a:ext cx="182880" cy="365760"/>
          </a:xfrm>
          <a:prstGeom prst="rect">
            <a:avLst/>
          </a:prstGeom>
          <a:solidFill>
            <a:srgbClr val="E9C7BF"/>
          </a:solidFill>
          <a:ln w="6350">
            <a:solidFill>
              <a:srgbClr val="FFFFFF"/>
            </a:solidFill>
            <a:prstDash val="solid"/>
          </a:ln>
        </p:spPr>
      </p:sp>
      <p:sp>
        <p:nvSpPr>
          <p:cNvPr id="15" name="Shape 12"/>
          <p:cNvSpPr/>
          <p:nvPr/>
        </p:nvSpPr>
        <p:spPr>
          <a:xfrm>
            <a:off x="3017520" y="2286000"/>
            <a:ext cx="182880" cy="365760"/>
          </a:xfrm>
          <a:prstGeom prst="rect">
            <a:avLst/>
          </a:prstGeom>
          <a:solidFill>
            <a:srgbClr val="F8ECEA"/>
          </a:solidFill>
          <a:ln w="6350">
            <a:solidFill>
              <a:srgbClr val="FFFFFF"/>
            </a:solidFill>
            <a:prstDash val="solid"/>
          </a:ln>
        </p:spPr>
      </p:sp>
      <p:sp>
        <p:nvSpPr>
          <p:cNvPr id="16" name="Shape 13"/>
          <p:cNvSpPr/>
          <p:nvPr/>
        </p:nvSpPr>
        <p:spPr>
          <a:xfrm>
            <a:off x="3200400" y="2286000"/>
            <a:ext cx="182880" cy="365760"/>
          </a:xfrm>
          <a:prstGeom prst="rect">
            <a:avLst/>
          </a:prstGeom>
          <a:solidFill>
            <a:srgbClr val="F0D9D4"/>
          </a:solidFill>
          <a:ln w="6350">
            <a:solidFill>
              <a:srgbClr val="FFFFFF"/>
            </a:solidFill>
            <a:prstDash val="solid"/>
          </a:ln>
        </p:spPr>
      </p:sp>
      <p:sp>
        <p:nvSpPr>
          <p:cNvPr id="17" name="Shape 14"/>
          <p:cNvSpPr/>
          <p:nvPr/>
        </p:nvSpPr>
        <p:spPr>
          <a:xfrm>
            <a:off x="3383280" y="2286000"/>
            <a:ext cx="182880" cy="365760"/>
          </a:xfrm>
          <a:prstGeom prst="rect">
            <a:avLst/>
          </a:prstGeom>
          <a:solidFill>
            <a:srgbClr val="F8ECEA"/>
          </a:solidFill>
          <a:ln w="6350">
            <a:solidFill>
              <a:srgbClr val="FFFFFF"/>
            </a:solidFill>
            <a:prstDash val="solid"/>
          </a:ln>
        </p:spPr>
      </p:sp>
      <p:sp>
        <p:nvSpPr>
          <p:cNvPr id="18" name="Shape 15"/>
          <p:cNvSpPr/>
          <p:nvPr/>
        </p:nvSpPr>
        <p:spPr>
          <a:xfrm>
            <a:off x="3566160" y="2286000"/>
            <a:ext cx="182880" cy="365760"/>
          </a:xfrm>
          <a:prstGeom prst="rect">
            <a:avLst/>
          </a:prstGeom>
          <a:solidFill>
            <a:srgbClr val="E9C7BF"/>
          </a:solidFill>
          <a:ln w="6350">
            <a:solidFill>
              <a:srgbClr val="FFFFFF"/>
            </a:solidFill>
            <a:prstDash val="solid"/>
          </a:ln>
        </p:spPr>
      </p:sp>
      <p:sp>
        <p:nvSpPr>
          <p:cNvPr id="19" name="Shape 16"/>
          <p:cNvSpPr/>
          <p:nvPr/>
        </p:nvSpPr>
        <p:spPr>
          <a:xfrm>
            <a:off x="3749040" y="2286000"/>
            <a:ext cx="182880" cy="365760"/>
          </a:xfrm>
          <a:prstGeom prst="rect">
            <a:avLst/>
          </a:prstGeom>
          <a:solidFill>
            <a:srgbClr val="F0D9D4"/>
          </a:solidFill>
          <a:ln w="6350">
            <a:solidFill>
              <a:srgbClr val="FFFFFF"/>
            </a:solidFill>
            <a:prstDash val="solid"/>
          </a:ln>
        </p:spPr>
      </p:sp>
      <p:sp>
        <p:nvSpPr>
          <p:cNvPr id="20" name="Shape 17"/>
          <p:cNvSpPr/>
          <p:nvPr/>
        </p:nvSpPr>
        <p:spPr>
          <a:xfrm>
            <a:off x="3931920" y="2286000"/>
            <a:ext cx="182880" cy="365760"/>
          </a:xfrm>
          <a:prstGeom prst="rect">
            <a:avLst/>
          </a:prstGeom>
          <a:solidFill>
            <a:srgbClr val="F8ECEA"/>
          </a:solidFill>
          <a:ln w="6350">
            <a:solidFill>
              <a:srgbClr val="FFFFFF"/>
            </a:solidFill>
            <a:prstDash val="solid"/>
          </a:ln>
        </p:spPr>
      </p:sp>
      <p:sp>
        <p:nvSpPr>
          <p:cNvPr id="21" name="Shape 18"/>
          <p:cNvSpPr/>
          <p:nvPr/>
        </p:nvSpPr>
        <p:spPr>
          <a:xfrm>
            <a:off x="4114800" y="2286000"/>
            <a:ext cx="182880" cy="365760"/>
          </a:xfrm>
          <a:prstGeom prst="rect">
            <a:avLst/>
          </a:prstGeom>
          <a:solidFill>
            <a:srgbClr val="F0D9D4"/>
          </a:solidFill>
          <a:ln w="6350">
            <a:solidFill>
              <a:srgbClr val="FFFFFF"/>
            </a:solidFill>
            <a:prstDash val="solid"/>
          </a:ln>
        </p:spPr>
      </p:sp>
      <p:sp>
        <p:nvSpPr>
          <p:cNvPr id="22" name="Text 19"/>
          <p:cNvSpPr txBox="1"/>
          <p:nvPr/>
        </p:nvSpPr>
        <p:spPr>
          <a:xfrm>
            <a:off x="2834640" y="2697480"/>
            <a:ext cx="1645920" cy="22860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blurred average</a:t>
            </a:r>
            <a:endParaRPr lang="en-US" sz="1100" dirty="0"/>
          </a:p>
        </p:txBody>
      </p:sp>
      <p:sp>
        <p:nvSpPr>
          <p:cNvPr id="23" name="Shape 20"/>
          <p:cNvSpPr/>
          <p:nvPr/>
        </p:nvSpPr>
        <p:spPr>
          <a:xfrm>
            <a:off x="5029200" y="1783080"/>
            <a:ext cx="1463040" cy="457200"/>
          </a:xfrm>
          <a:prstGeom prst="rect">
            <a:avLst/>
          </a:prstGeom>
          <a:solidFill>
            <a:srgbClr val="2F5D8A">
              <a:alpha val="75000"/>
            </a:srgbClr>
          </a:solidFill>
          <a:ln w="6350">
            <a:solidFill>
              <a:srgbClr val="FFFFFF"/>
            </a:solidFill>
            <a:prstDash val="solid"/>
          </a:ln>
        </p:spPr>
      </p:sp>
      <p:sp>
        <p:nvSpPr>
          <p:cNvPr id="24" name="Text 21"/>
          <p:cNvSpPr txBox="1"/>
          <p:nvPr/>
        </p:nvSpPr>
        <p:spPr>
          <a:xfrm>
            <a:off x="5029200" y="1783080"/>
            <a:ext cx="1463040" cy="457200"/>
          </a:xfrm>
          <a:prstGeom prst="rect">
            <a:avLst/>
          </a:prstGeom>
          <a:noFill/>
          <a:ln/>
        </p:spPr>
        <p:txBody>
          <a:bodyPr wrap="square" lIns="0" tIns="0" rIns="0" bIns="0" rtlCol="0" anchor="ctr"/>
          <a:lstStyle/>
          <a:p>
            <a:pPr algn="ctr" indent="0" marL="0">
              <a:buNone/>
            </a:pPr>
            <a:r>
              <a:rPr lang="en-US" sz="1200" b="1" dirty="0">
                <a:solidFill>
                  <a:srgbClr val="FFFFFF"/>
                </a:solidFill>
              </a:rPr>
              <a:t>topic A</a:t>
            </a:r>
            <a:endParaRPr lang="en-US" sz="1200" dirty="0"/>
          </a:p>
        </p:txBody>
      </p:sp>
      <p:sp>
        <p:nvSpPr>
          <p:cNvPr id="25" name="Shape 22"/>
          <p:cNvSpPr/>
          <p:nvPr/>
        </p:nvSpPr>
        <p:spPr>
          <a:xfrm>
            <a:off x="6583680" y="2011680"/>
            <a:ext cx="365760" cy="0"/>
          </a:xfrm>
          <a:prstGeom prst="line">
            <a:avLst/>
          </a:prstGeom>
          <a:noFill/>
          <a:ln w="15875">
            <a:solidFill>
              <a:srgbClr val="1B2A41"/>
            </a:solidFill>
            <a:prstDash val="solid"/>
            <a:tailEnd type="triangle"/>
          </a:ln>
        </p:spPr>
      </p:sp>
      <p:sp>
        <p:nvSpPr>
          <p:cNvPr id="26" name="Shape 23"/>
          <p:cNvSpPr/>
          <p:nvPr/>
        </p:nvSpPr>
        <p:spPr>
          <a:xfrm>
            <a:off x="7040880" y="1828800"/>
            <a:ext cx="201168" cy="365760"/>
          </a:xfrm>
          <a:prstGeom prst="rect">
            <a:avLst/>
          </a:prstGeom>
          <a:solidFill>
            <a:srgbClr val="C46955"/>
          </a:solidFill>
          <a:ln w="6350">
            <a:solidFill>
              <a:srgbClr val="FFFFFF"/>
            </a:solidFill>
            <a:prstDash val="solid"/>
          </a:ln>
        </p:spPr>
      </p:sp>
      <p:sp>
        <p:nvSpPr>
          <p:cNvPr id="27" name="Shape 24"/>
          <p:cNvSpPr/>
          <p:nvPr/>
        </p:nvSpPr>
        <p:spPr>
          <a:xfrm>
            <a:off x="7242048" y="1828800"/>
            <a:ext cx="201168" cy="365760"/>
          </a:xfrm>
          <a:prstGeom prst="rect">
            <a:avLst/>
          </a:prstGeom>
          <a:solidFill>
            <a:srgbClr val="829EB9"/>
          </a:solidFill>
          <a:ln w="6350">
            <a:solidFill>
              <a:srgbClr val="FFFFFF"/>
            </a:solidFill>
            <a:prstDash val="solid"/>
          </a:ln>
        </p:spPr>
      </p:sp>
      <p:sp>
        <p:nvSpPr>
          <p:cNvPr id="28" name="Shape 25"/>
          <p:cNvSpPr/>
          <p:nvPr/>
        </p:nvSpPr>
        <p:spPr>
          <a:xfrm>
            <a:off x="7443216" y="1828800"/>
            <a:ext cx="201168" cy="365760"/>
          </a:xfrm>
          <a:prstGeom prst="rect">
            <a:avLst/>
          </a:prstGeom>
          <a:solidFill>
            <a:srgbClr val="CB7B6A"/>
          </a:solidFill>
          <a:ln w="6350">
            <a:solidFill>
              <a:srgbClr val="FFFFFF"/>
            </a:solidFill>
            <a:prstDash val="solid"/>
          </a:ln>
        </p:spPr>
      </p:sp>
      <p:sp>
        <p:nvSpPr>
          <p:cNvPr id="29" name="Shape 26"/>
          <p:cNvSpPr/>
          <p:nvPr/>
        </p:nvSpPr>
        <p:spPr>
          <a:xfrm>
            <a:off x="7644384" y="1828800"/>
            <a:ext cx="201168" cy="365760"/>
          </a:xfrm>
          <a:prstGeom prst="rect">
            <a:avLst/>
          </a:prstGeom>
          <a:solidFill>
            <a:srgbClr val="DAA195"/>
          </a:solidFill>
          <a:ln w="6350">
            <a:solidFill>
              <a:srgbClr val="FFFFFF"/>
            </a:solidFill>
            <a:prstDash val="solid"/>
          </a:ln>
        </p:spPr>
      </p:sp>
      <p:sp>
        <p:nvSpPr>
          <p:cNvPr id="30" name="Shape 27"/>
          <p:cNvSpPr/>
          <p:nvPr/>
        </p:nvSpPr>
        <p:spPr>
          <a:xfrm>
            <a:off x="7845552" y="1828800"/>
            <a:ext cx="201168" cy="365760"/>
          </a:xfrm>
          <a:prstGeom prst="rect">
            <a:avLst/>
          </a:prstGeom>
          <a:solidFill>
            <a:srgbClr val="ACBED0"/>
          </a:solidFill>
          <a:ln w="6350">
            <a:solidFill>
              <a:srgbClr val="FFFFFF"/>
            </a:solidFill>
            <a:prstDash val="solid"/>
          </a:ln>
        </p:spPr>
      </p:sp>
      <p:sp>
        <p:nvSpPr>
          <p:cNvPr id="31" name="Shape 28"/>
          <p:cNvSpPr/>
          <p:nvPr/>
        </p:nvSpPr>
        <p:spPr>
          <a:xfrm>
            <a:off x="8046720" y="1828800"/>
            <a:ext cx="201168" cy="365760"/>
          </a:xfrm>
          <a:prstGeom prst="rect">
            <a:avLst/>
          </a:prstGeom>
          <a:solidFill>
            <a:srgbClr val="D38E7F"/>
          </a:solidFill>
          <a:ln w="6350">
            <a:solidFill>
              <a:srgbClr val="FFFFFF"/>
            </a:solidFill>
            <a:prstDash val="solid"/>
          </a:ln>
        </p:spPr>
      </p:sp>
      <p:sp>
        <p:nvSpPr>
          <p:cNvPr id="32" name="Shape 29"/>
          <p:cNvSpPr/>
          <p:nvPr/>
        </p:nvSpPr>
        <p:spPr>
          <a:xfrm>
            <a:off x="8247888" y="1828800"/>
            <a:ext cx="201168" cy="365760"/>
          </a:xfrm>
          <a:prstGeom prst="rect">
            <a:avLst/>
          </a:prstGeom>
          <a:solidFill>
            <a:srgbClr val="CB7B6A"/>
          </a:solidFill>
          <a:ln w="6350">
            <a:solidFill>
              <a:srgbClr val="FFFFFF"/>
            </a:solidFill>
            <a:prstDash val="solid"/>
          </a:ln>
        </p:spPr>
      </p:sp>
      <p:sp>
        <p:nvSpPr>
          <p:cNvPr id="33" name="Shape 30"/>
          <p:cNvSpPr/>
          <p:nvPr/>
        </p:nvSpPr>
        <p:spPr>
          <a:xfrm>
            <a:off x="8449056" y="1828800"/>
            <a:ext cx="201168" cy="365760"/>
          </a:xfrm>
          <a:prstGeom prst="rect">
            <a:avLst/>
          </a:prstGeom>
          <a:solidFill>
            <a:srgbClr val="97AEC5"/>
          </a:solidFill>
          <a:ln w="6350">
            <a:solidFill>
              <a:srgbClr val="FFFFFF"/>
            </a:solidFill>
            <a:prstDash val="solid"/>
          </a:ln>
        </p:spPr>
      </p:sp>
      <p:sp>
        <p:nvSpPr>
          <p:cNvPr id="34" name="Shape 31"/>
          <p:cNvSpPr/>
          <p:nvPr/>
        </p:nvSpPr>
        <p:spPr>
          <a:xfrm>
            <a:off x="5029200" y="2240280"/>
            <a:ext cx="1463040" cy="457200"/>
          </a:xfrm>
          <a:prstGeom prst="rect">
            <a:avLst/>
          </a:prstGeom>
          <a:solidFill>
            <a:srgbClr val="8A6D1F">
              <a:alpha val="75000"/>
            </a:srgbClr>
          </a:solidFill>
          <a:ln w="6350">
            <a:solidFill>
              <a:srgbClr val="FFFFFF"/>
            </a:solidFill>
            <a:prstDash val="solid"/>
          </a:ln>
        </p:spPr>
      </p:sp>
      <p:sp>
        <p:nvSpPr>
          <p:cNvPr id="35" name="Text 32"/>
          <p:cNvSpPr txBox="1"/>
          <p:nvPr/>
        </p:nvSpPr>
        <p:spPr>
          <a:xfrm>
            <a:off x="5029200" y="2240280"/>
            <a:ext cx="1463040" cy="457200"/>
          </a:xfrm>
          <a:prstGeom prst="rect">
            <a:avLst/>
          </a:prstGeom>
          <a:noFill/>
          <a:ln/>
        </p:spPr>
        <p:txBody>
          <a:bodyPr wrap="square" lIns="0" tIns="0" rIns="0" bIns="0" rtlCol="0" anchor="ctr"/>
          <a:lstStyle/>
          <a:p>
            <a:pPr algn="ctr" indent="0" marL="0">
              <a:buNone/>
            </a:pPr>
            <a:r>
              <a:rPr lang="en-US" sz="1200" b="1" dirty="0">
                <a:solidFill>
                  <a:srgbClr val="FFFFFF"/>
                </a:solidFill>
              </a:rPr>
              <a:t>topic B</a:t>
            </a:r>
            <a:endParaRPr lang="en-US" sz="1200" dirty="0"/>
          </a:p>
        </p:txBody>
      </p:sp>
      <p:sp>
        <p:nvSpPr>
          <p:cNvPr id="36" name="Shape 33"/>
          <p:cNvSpPr/>
          <p:nvPr/>
        </p:nvSpPr>
        <p:spPr>
          <a:xfrm>
            <a:off x="6583680" y="2468880"/>
            <a:ext cx="365760" cy="0"/>
          </a:xfrm>
          <a:prstGeom prst="line">
            <a:avLst/>
          </a:prstGeom>
          <a:noFill/>
          <a:ln w="15875">
            <a:solidFill>
              <a:srgbClr val="1B2A41"/>
            </a:solidFill>
            <a:prstDash val="solid"/>
            <a:tailEnd type="triangle"/>
          </a:ln>
        </p:spPr>
      </p:sp>
      <p:sp>
        <p:nvSpPr>
          <p:cNvPr id="37" name="Shape 34"/>
          <p:cNvSpPr/>
          <p:nvPr/>
        </p:nvSpPr>
        <p:spPr>
          <a:xfrm>
            <a:off x="7040880" y="2286000"/>
            <a:ext cx="201168" cy="365760"/>
          </a:xfrm>
          <a:prstGeom prst="rect">
            <a:avLst/>
          </a:prstGeom>
          <a:solidFill>
            <a:srgbClr val="97AEC5"/>
          </a:solidFill>
          <a:ln w="6350">
            <a:solidFill>
              <a:srgbClr val="FFFFFF"/>
            </a:solidFill>
            <a:prstDash val="solid"/>
          </a:ln>
        </p:spPr>
      </p:sp>
      <p:sp>
        <p:nvSpPr>
          <p:cNvPr id="38" name="Shape 35"/>
          <p:cNvSpPr/>
          <p:nvPr/>
        </p:nvSpPr>
        <p:spPr>
          <a:xfrm>
            <a:off x="7242048" y="2286000"/>
            <a:ext cx="201168" cy="365760"/>
          </a:xfrm>
          <a:prstGeom prst="rect">
            <a:avLst/>
          </a:prstGeom>
          <a:solidFill>
            <a:srgbClr val="CB7B6A"/>
          </a:solidFill>
          <a:ln w="6350">
            <a:solidFill>
              <a:srgbClr val="FFFFFF"/>
            </a:solidFill>
            <a:prstDash val="solid"/>
          </a:ln>
        </p:spPr>
      </p:sp>
      <p:sp>
        <p:nvSpPr>
          <p:cNvPr id="39" name="Shape 36"/>
          <p:cNvSpPr/>
          <p:nvPr/>
        </p:nvSpPr>
        <p:spPr>
          <a:xfrm>
            <a:off x="7443216" y="2286000"/>
            <a:ext cx="201168" cy="365760"/>
          </a:xfrm>
          <a:prstGeom prst="rect">
            <a:avLst/>
          </a:prstGeom>
          <a:solidFill>
            <a:srgbClr val="829EB9"/>
          </a:solidFill>
          <a:ln w="6350">
            <a:solidFill>
              <a:srgbClr val="FFFFFF"/>
            </a:solidFill>
            <a:prstDash val="solid"/>
          </a:ln>
        </p:spPr>
      </p:sp>
      <p:sp>
        <p:nvSpPr>
          <p:cNvPr id="40" name="Shape 37"/>
          <p:cNvSpPr/>
          <p:nvPr/>
        </p:nvSpPr>
        <p:spPr>
          <a:xfrm>
            <a:off x="7644384" y="2286000"/>
            <a:ext cx="201168" cy="365760"/>
          </a:xfrm>
          <a:prstGeom prst="rect">
            <a:avLst/>
          </a:prstGeom>
          <a:solidFill>
            <a:srgbClr val="6D8EAD"/>
          </a:solidFill>
          <a:ln w="6350">
            <a:solidFill>
              <a:srgbClr val="FFFFFF"/>
            </a:solidFill>
            <a:prstDash val="solid"/>
          </a:ln>
        </p:spPr>
      </p:sp>
      <p:sp>
        <p:nvSpPr>
          <p:cNvPr id="41" name="Shape 38"/>
          <p:cNvSpPr/>
          <p:nvPr/>
        </p:nvSpPr>
        <p:spPr>
          <a:xfrm>
            <a:off x="7845552" y="2286000"/>
            <a:ext cx="201168" cy="365760"/>
          </a:xfrm>
          <a:prstGeom prst="rect">
            <a:avLst/>
          </a:prstGeom>
          <a:solidFill>
            <a:srgbClr val="C46955"/>
          </a:solidFill>
          <a:ln w="6350">
            <a:solidFill>
              <a:srgbClr val="FFFFFF"/>
            </a:solidFill>
            <a:prstDash val="solid"/>
          </a:ln>
        </p:spPr>
      </p:sp>
      <p:sp>
        <p:nvSpPr>
          <p:cNvPr id="42" name="Shape 39"/>
          <p:cNvSpPr/>
          <p:nvPr/>
        </p:nvSpPr>
        <p:spPr>
          <a:xfrm>
            <a:off x="8046720" y="2286000"/>
            <a:ext cx="201168" cy="365760"/>
          </a:xfrm>
          <a:prstGeom prst="rect">
            <a:avLst/>
          </a:prstGeom>
          <a:solidFill>
            <a:srgbClr val="ACBED0"/>
          </a:solidFill>
          <a:ln w="6350">
            <a:solidFill>
              <a:srgbClr val="FFFFFF"/>
            </a:solidFill>
            <a:prstDash val="solid"/>
          </a:ln>
        </p:spPr>
      </p:sp>
      <p:sp>
        <p:nvSpPr>
          <p:cNvPr id="43" name="Shape 40"/>
          <p:cNvSpPr/>
          <p:nvPr/>
        </p:nvSpPr>
        <p:spPr>
          <a:xfrm>
            <a:off x="8247888" y="2286000"/>
            <a:ext cx="201168" cy="365760"/>
          </a:xfrm>
          <a:prstGeom prst="rect">
            <a:avLst/>
          </a:prstGeom>
          <a:solidFill>
            <a:srgbClr val="DAA195"/>
          </a:solidFill>
          <a:ln w="6350">
            <a:solidFill>
              <a:srgbClr val="FFFFFF"/>
            </a:solidFill>
            <a:prstDash val="solid"/>
          </a:ln>
        </p:spPr>
      </p:sp>
      <p:sp>
        <p:nvSpPr>
          <p:cNvPr id="44" name="Shape 41"/>
          <p:cNvSpPr/>
          <p:nvPr/>
        </p:nvSpPr>
        <p:spPr>
          <a:xfrm>
            <a:off x="8449056" y="2286000"/>
            <a:ext cx="201168" cy="365760"/>
          </a:xfrm>
          <a:prstGeom prst="rect">
            <a:avLst/>
          </a:prstGeom>
          <a:solidFill>
            <a:srgbClr val="D38E7F"/>
          </a:solidFill>
          <a:ln w="6350">
            <a:solidFill>
              <a:srgbClr val="FFFFFF"/>
            </a:solidFill>
            <a:prstDash val="solid"/>
          </a:ln>
        </p:spPr>
      </p:sp>
      <p:sp>
        <p:nvSpPr>
          <p:cNvPr id="45" name="Shape 42"/>
          <p:cNvSpPr/>
          <p:nvPr/>
        </p:nvSpPr>
        <p:spPr>
          <a:xfrm>
            <a:off x="5029200" y="2697480"/>
            <a:ext cx="1463040" cy="457200"/>
          </a:xfrm>
          <a:prstGeom prst="rect">
            <a:avLst/>
          </a:prstGeom>
          <a:solidFill>
            <a:srgbClr val="B5432A">
              <a:alpha val="75000"/>
            </a:srgbClr>
          </a:solidFill>
          <a:ln w="6350">
            <a:solidFill>
              <a:srgbClr val="FFFFFF"/>
            </a:solidFill>
            <a:prstDash val="solid"/>
          </a:ln>
        </p:spPr>
      </p:sp>
      <p:sp>
        <p:nvSpPr>
          <p:cNvPr id="46" name="Text 43"/>
          <p:cNvSpPr txBox="1"/>
          <p:nvPr/>
        </p:nvSpPr>
        <p:spPr>
          <a:xfrm>
            <a:off x="5029200" y="2697480"/>
            <a:ext cx="1463040" cy="457200"/>
          </a:xfrm>
          <a:prstGeom prst="rect">
            <a:avLst/>
          </a:prstGeom>
          <a:noFill/>
          <a:ln/>
        </p:spPr>
        <p:txBody>
          <a:bodyPr wrap="square" lIns="0" tIns="0" rIns="0" bIns="0" rtlCol="0" anchor="ctr"/>
          <a:lstStyle/>
          <a:p>
            <a:pPr algn="ctr" indent="0" marL="0">
              <a:buNone/>
            </a:pPr>
            <a:r>
              <a:rPr lang="en-US" sz="1200" b="1" dirty="0">
                <a:solidFill>
                  <a:srgbClr val="FFFFFF"/>
                </a:solidFill>
              </a:rPr>
              <a:t>topic C</a:t>
            </a:r>
            <a:endParaRPr lang="en-US" sz="1200" dirty="0"/>
          </a:p>
        </p:txBody>
      </p:sp>
      <p:sp>
        <p:nvSpPr>
          <p:cNvPr id="47" name="Shape 44"/>
          <p:cNvSpPr/>
          <p:nvPr/>
        </p:nvSpPr>
        <p:spPr>
          <a:xfrm>
            <a:off x="6583680" y="2926080"/>
            <a:ext cx="365760" cy="0"/>
          </a:xfrm>
          <a:prstGeom prst="line">
            <a:avLst/>
          </a:prstGeom>
          <a:noFill/>
          <a:ln w="15875">
            <a:solidFill>
              <a:srgbClr val="1B2A41"/>
            </a:solidFill>
            <a:prstDash val="solid"/>
            <a:tailEnd type="triangle"/>
          </a:ln>
        </p:spPr>
      </p:sp>
      <p:sp>
        <p:nvSpPr>
          <p:cNvPr id="48" name="Shape 45"/>
          <p:cNvSpPr/>
          <p:nvPr/>
        </p:nvSpPr>
        <p:spPr>
          <a:xfrm>
            <a:off x="7040880" y="2743200"/>
            <a:ext cx="201168" cy="365760"/>
          </a:xfrm>
          <a:prstGeom prst="rect">
            <a:avLst/>
          </a:prstGeom>
          <a:solidFill>
            <a:srgbClr val="D38E7F"/>
          </a:solidFill>
          <a:ln w="6350">
            <a:solidFill>
              <a:srgbClr val="FFFFFF"/>
            </a:solidFill>
            <a:prstDash val="solid"/>
          </a:ln>
        </p:spPr>
      </p:sp>
      <p:sp>
        <p:nvSpPr>
          <p:cNvPr id="49" name="Shape 46"/>
          <p:cNvSpPr/>
          <p:nvPr/>
        </p:nvSpPr>
        <p:spPr>
          <a:xfrm>
            <a:off x="7242048" y="2743200"/>
            <a:ext cx="201168" cy="365760"/>
          </a:xfrm>
          <a:prstGeom prst="rect">
            <a:avLst/>
          </a:prstGeom>
          <a:solidFill>
            <a:srgbClr val="DAA195"/>
          </a:solidFill>
          <a:ln w="6350">
            <a:solidFill>
              <a:srgbClr val="FFFFFF"/>
            </a:solidFill>
            <a:prstDash val="solid"/>
          </a:ln>
        </p:spPr>
      </p:sp>
      <p:sp>
        <p:nvSpPr>
          <p:cNvPr id="50" name="Shape 47"/>
          <p:cNvSpPr/>
          <p:nvPr/>
        </p:nvSpPr>
        <p:spPr>
          <a:xfrm>
            <a:off x="7443216" y="2743200"/>
            <a:ext cx="201168" cy="365760"/>
          </a:xfrm>
          <a:prstGeom prst="rect">
            <a:avLst/>
          </a:prstGeom>
          <a:solidFill>
            <a:srgbClr val="6D8EAD"/>
          </a:solidFill>
          <a:ln w="6350">
            <a:solidFill>
              <a:srgbClr val="FFFFFF"/>
            </a:solidFill>
            <a:prstDash val="solid"/>
          </a:ln>
        </p:spPr>
      </p:sp>
      <p:sp>
        <p:nvSpPr>
          <p:cNvPr id="51" name="Shape 48"/>
          <p:cNvSpPr/>
          <p:nvPr/>
        </p:nvSpPr>
        <p:spPr>
          <a:xfrm>
            <a:off x="7644384" y="2743200"/>
            <a:ext cx="201168" cy="365760"/>
          </a:xfrm>
          <a:prstGeom prst="rect">
            <a:avLst/>
          </a:prstGeom>
          <a:solidFill>
            <a:srgbClr val="CB7B6A"/>
          </a:solidFill>
          <a:ln w="6350">
            <a:solidFill>
              <a:srgbClr val="FFFFFF"/>
            </a:solidFill>
            <a:prstDash val="solid"/>
          </a:ln>
        </p:spPr>
      </p:sp>
      <p:sp>
        <p:nvSpPr>
          <p:cNvPr id="52" name="Shape 49"/>
          <p:cNvSpPr/>
          <p:nvPr/>
        </p:nvSpPr>
        <p:spPr>
          <a:xfrm>
            <a:off x="7845552" y="2743200"/>
            <a:ext cx="201168" cy="365760"/>
          </a:xfrm>
          <a:prstGeom prst="rect">
            <a:avLst/>
          </a:prstGeom>
          <a:solidFill>
            <a:srgbClr val="829EB9"/>
          </a:solidFill>
          <a:ln w="6350">
            <a:solidFill>
              <a:srgbClr val="FFFFFF"/>
            </a:solidFill>
            <a:prstDash val="solid"/>
          </a:ln>
        </p:spPr>
      </p:sp>
      <p:sp>
        <p:nvSpPr>
          <p:cNvPr id="53" name="Shape 50"/>
          <p:cNvSpPr/>
          <p:nvPr/>
        </p:nvSpPr>
        <p:spPr>
          <a:xfrm>
            <a:off x="8046720" y="2743200"/>
            <a:ext cx="201168" cy="365760"/>
          </a:xfrm>
          <a:prstGeom prst="rect">
            <a:avLst/>
          </a:prstGeom>
          <a:solidFill>
            <a:srgbClr val="97AEC5"/>
          </a:solidFill>
          <a:ln w="6350">
            <a:solidFill>
              <a:srgbClr val="FFFFFF"/>
            </a:solidFill>
            <a:prstDash val="solid"/>
          </a:ln>
        </p:spPr>
      </p:sp>
      <p:sp>
        <p:nvSpPr>
          <p:cNvPr id="54" name="Shape 51"/>
          <p:cNvSpPr/>
          <p:nvPr/>
        </p:nvSpPr>
        <p:spPr>
          <a:xfrm>
            <a:off x="8247888" y="2743200"/>
            <a:ext cx="201168" cy="365760"/>
          </a:xfrm>
          <a:prstGeom prst="rect">
            <a:avLst/>
          </a:prstGeom>
          <a:solidFill>
            <a:srgbClr val="E1B4AA"/>
          </a:solidFill>
          <a:ln w="6350">
            <a:solidFill>
              <a:srgbClr val="FFFFFF"/>
            </a:solidFill>
            <a:prstDash val="solid"/>
          </a:ln>
        </p:spPr>
      </p:sp>
      <p:sp>
        <p:nvSpPr>
          <p:cNvPr id="55" name="Shape 52"/>
          <p:cNvSpPr/>
          <p:nvPr/>
        </p:nvSpPr>
        <p:spPr>
          <a:xfrm>
            <a:off x="8449056" y="2743200"/>
            <a:ext cx="201168" cy="365760"/>
          </a:xfrm>
          <a:prstGeom prst="rect">
            <a:avLst/>
          </a:prstGeom>
          <a:solidFill>
            <a:srgbClr val="6D8EAD"/>
          </a:solidFill>
          <a:ln w="6350">
            <a:solidFill>
              <a:srgbClr val="FFFFFF"/>
            </a:solidFill>
            <a:prstDash val="solid"/>
          </a:ln>
        </p:spPr>
      </p:sp>
      <p:sp>
        <p:nvSpPr>
          <p:cNvPr id="56" name="Text 53"/>
          <p:cNvSpPr txBox="1"/>
          <p:nvPr/>
        </p:nvSpPr>
        <p:spPr>
          <a:xfrm>
            <a:off x="7040880" y="3200400"/>
            <a:ext cx="1645920" cy="22860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sharp, focused vectors</a:t>
            </a:r>
            <a:endParaRPr lang="en-US" sz="1100" dirty="0"/>
          </a:p>
        </p:txBody>
      </p:sp>
      <p:sp>
        <p:nvSpPr>
          <p:cNvPr id="57" name="Text 54"/>
          <p:cNvSpPr txBox="1"/>
          <p:nvPr/>
        </p:nvSpPr>
        <p:spPr>
          <a:xfrm>
            <a:off x="457200" y="3520440"/>
            <a:ext cx="8229600" cy="1097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Embedding models truncate long input silently</a:t>
            </a:r>
            <a:endParaRPr lang="en-US" sz="1400" dirty="0"/>
          </a:p>
          <a:p>
            <a:pPr marL="342900" indent="-342900">
              <a:spcAft>
                <a:spcPts val="800"/>
              </a:spcAft>
              <a:buSzPct val="100000"/>
              <a:buChar char="•"/>
            </a:pPr>
            <a:r>
              <a:rPr lang="en-US" sz="1400" dirty="0">
                <a:solidFill>
                  <a:schemeClr val="tx1"/>
                </a:solidFill>
              </a:rPr>
              <a:t>A long text averages several topics into one vague vector</a:t>
            </a:r>
            <a:endParaRPr lang="en-US" sz="1400" dirty="0"/>
          </a:p>
          <a:p>
            <a:pPr marL="342900" indent="-342900">
              <a:spcAft>
                <a:spcPts val="800"/>
              </a:spcAft>
              <a:buSzPct val="100000"/>
              <a:buChar char="•"/>
            </a:pPr>
            <a:r>
              <a:rPr lang="en-US" sz="1400" dirty="0">
                <a:solidFill>
                  <a:schemeClr val="tx1"/>
                </a:solidFill>
              </a:rPr>
              <a:t>The LLM is billed for every token you retrieve; retrieve only what you need</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chunk-size trade-off</a:t>
            </a:r>
            <a:endParaRPr lang="en-US" sz="3000" dirty="0"/>
          </a:p>
        </p:txBody>
      </p:sp>
      <p:sp>
        <p:nvSpPr>
          <p:cNvPr id="4" name="Shape 1"/>
          <p:cNvSpPr/>
          <p:nvPr/>
        </p:nvSpPr>
        <p:spPr>
          <a:xfrm>
            <a:off x="731520" y="2194560"/>
            <a:ext cx="7680960" cy="0"/>
          </a:xfrm>
          <a:prstGeom prst="line">
            <a:avLst/>
          </a:prstGeom>
          <a:noFill/>
          <a:ln w="19050">
            <a:solidFill>
              <a:srgbClr val="1B2A41"/>
            </a:solidFill>
            <a:prstDash val="solid"/>
            <a:tailEnd type="triangle"/>
          </a:ln>
        </p:spPr>
      </p:sp>
      <p:sp>
        <p:nvSpPr>
          <p:cNvPr id="5" name="Text 2"/>
          <p:cNvSpPr txBox="1"/>
          <p:nvPr/>
        </p:nvSpPr>
        <p:spPr>
          <a:xfrm>
            <a:off x="731520" y="2286000"/>
            <a:ext cx="1828800" cy="274320"/>
          </a:xfrm>
          <a:prstGeom prst="rect">
            <a:avLst/>
          </a:prstGeom>
          <a:noFill/>
          <a:ln/>
        </p:spPr>
        <p:txBody>
          <a:bodyPr wrap="square" lIns="0" tIns="0" rIns="0" bIns="0" rtlCol="0" anchor="t"/>
          <a:lstStyle/>
          <a:p>
            <a:pPr indent="0" marL="0">
              <a:buNone/>
            </a:pPr>
            <a:r>
              <a:rPr lang="en-US" sz="1300" i="1" dirty="0">
                <a:solidFill>
                  <a:schemeClr val="tx1"/>
                </a:solidFill>
                <a:latin typeface="Cambria" pitchFamily="34" charset="0"/>
                <a:ea typeface="Cambria" pitchFamily="34" charset="-122"/>
                <a:cs typeface="Cambria" pitchFamily="34" charset="-120"/>
              </a:rPr>
              <a:t>small chunks</a:t>
            </a:r>
            <a:endParaRPr lang="en-US" sz="1300" dirty="0"/>
          </a:p>
        </p:txBody>
      </p:sp>
      <p:sp>
        <p:nvSpPr>
          <p:cNvPr id="6" name="Text 3"/>
          <p:cNvSpPr txBox="1"/>
          <p:nvPr/>
        </p:nvSpPr>
        <p:spPr>
          <a:xfrm>
            <a:off x="6583680" y="2286000"/>
            <a:ext cx="1828800" cy="274320"/>
          </a:xfrm>
          <a:prstGeom prst="rect">
            <a:avLst/>
          </a:prstGeom>
          <a:noFill/>
          <a:ln/>
        </p:spPr>
        <p:txBody>
          <a:bodyPr wrap="square" lIns="0" tIns="0" rIns="0" bIns="0" rtlCol="0" anchor="t"/>
          <a:lstStyle/>
          <a:p>
            <a:pPr algn="r" indent="0" marL="0">
              <a:buNone/>
            </a:pPr>
            <a:r>
              <a:rPr lang="en-US" sz="1300" i="1" dirty="0">
                <a:solidFill>
                  <a:schemeClr val="tx1"/>
                </a:solidFill>
                <a:latin typeface="Cambria" pitchFamily="34" charset="0"/>
                <a:ea typeface="Cambria" pitchFamily="34" charset="-122"/>
                <a:cs typeface="Cambria" pitchFamily="34" charset="-120"/>
              </a:rPr>
              <a:t>large chunks</a:t>
            </a:r>
            <a:endParaRPr lang="en-US" sz="1300" dirty="0"/>
          </a:p>
        </p:txBody>
      </p:sp>
      <p:sp>
        <p:nvSpPr>
          <p:cNvPr id="7" name="Text 4"/>
          <p:cNvSpPr txBox="1"/>
          <p:nvPr/>
        </p:nvSpPr>
        <p:spPr>
          <a:xfrm>
            <a:off x="457200" y="1280160"/>
            <a:ext cx="2560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Too small</a:t>
            </a:r>
            <a:endParaRPr lang="en-US" sz="1800" dirty="0"/>
          </a:p>
        </p:txBody>
      </p:sp>
      <p:sp>
        <p:nvSpPr>
          <p:cNvPr id="8" name="Text 5"/>
          <p:cNvSpPr txBox="1"/>
          <p:nvPr/>
        </p:nvSpPr>
        <p:spPr>
          <a:xfrm>
            <a:off x="457200" y="2743200"/>
            <a:ext cx="2560320" cy="1463040"/>
          </a:xfrm>
          <a:prstGeom prst="rect">
            <a:avLst/>
          </a:prstGeom>
          <a:noFill/>
          <a:ln/>
        </p:spPr>
        <p:txBody>
          <a:bodyPr wrap="square" lIns="0" tIns="0" rIns="0" bIns="0" rtlCol="0" anchor="t"/>
          <a:lstStyle/>
          <a:p>
            <a:pPr indent="0" marL="0">
              <a:buNone/>
            </a:pPr>
            <a:r>
              <a:rPr lang="en-US" sz="1300" dirty="0">
                <a:solidFill>
                  <a:schemeClr val="tx1"/>
                </a:solidFill>
              </a:rPr>
              <a:t>Precise matches, but fragments lose context: what does "it" refer to? Many near-duplicate hits.</a:t>
            </a:r>
            <a:endParaRPr lang="en-US" sz="1300" dirty="0"/>
          </a:p>
        </p:txBody>
      </p:sp>
      <p:sp>
        <p:nvSpPr>
          <p:cNvPr id="9" name="Text 6"/>
          <p:cNvSpPr txBox="1"/>
          <p:nvPr/>
        </p:nvSpPr>
        <p:spPr>
          <a:xfrm>
            <a:off x="3291840" y="1280160"/>
            <a:ext cx="2560320" cy="36576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Sweet spot</a:t>
            </a:r>
            <a:endParaRPr lang="en-US" sz="1800" dirty="0"/>
          </a:p>
        </p:txBody>
      </p:sp>
      <p:sp>
        <p:nvSpPr>
          <p:cNvPr id="10" name="Text 7"/>
          <p:cNvSpPr txBox="1"/>
          <p:nvPr/>
        </p:nvSpPr>
        <p:spPr>
          <a:xfrm>
            <a:off x="3291840" y="2743200"/>
            <a:ext cx="2560320" cy="1463040"/>
          </a:xfrm>
          <a:prstGeom prst="rect">
            <a:avLst/>
          </a:prstGeom>
          <a:noFill/>
          <a:ln/>
        </p:spPr>
        <p:txBody>
          <a:bodyPr wrap="square" lIns="0" tIns="0" rIns="0" bIns="0" rtlCol="0" anchor="t"/>
          <a:lstStyle/>
          <a:p>
            <a:pPr indent="0" marL="0">
              <a:buNone/>
            </a:pPr>
            <a:r>
              <a:rPr lang="en-US" sz="1300" dirty="0">
                <a:solidFill>
                  <a:schemeClr val="tx1"/>
                </a:solidFill>
              </a:rPr>
              <a:t>One idea per chunk: enough context to answer, narrow enough to match.</a:t>
            </a:r>
            <a:endParaRPr lang="en-US" sz="1300" dirty="0"/>
          </a:p>
        </p:txBody>
      </p:sp>
      <p:sp>
        <p:nvSpPr>
          <p:cNvPr id="11" name="Text 8"/>
          <p:cNvSpPr txBox="1"/>
          <p:nvPr/>
        </p:nvSpPr>
        <p:spPr>
          <a:xfrm>
            <a:off x="6126480" y="1280160"/>
            <a:ext cx="2560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Too large</a:t>
            </a:r>
            <a:endParaRPr lang="en-US" sz="1800" dirty="0"/>
          </a:p>
        </p:txBody>
      </p:sp>
      <p:sp>
        <p:nvSpPr>
          <p:cNvPr id="12" name="Text 9"/>
          <p:cNvSpPr txBox="1"/>
          <p:nvPr/>
        </p:nvSpPr>
        <p:spPr>
          <a:xfrm>
            <a:off x="6126480" y="2743200"/>
            <a:ext cx="2560320" cy="1463040"/>
          </a:xfrm>
          <a:prstGeom prst="rect">
            <a:avLst/>
          </a:prstGeom>
          <a:noFill/>
          <a:ln/>
        </p:spPr>
        <p:txBody>
          <a:bodyPr wrap="square" lIns="0" tIns="0" rIns="0" bIns="0" rtlCol="0" anchor="t"/>
          <a:lstStyle/>
          <a:p>
            <a:pPr indent="0" marL="0">
              <a:buNone/>
            </a:pPr>
            <a:r>
              <a:rPr lang="en-US" sz="1300" dirty="0">
                <a:solidFill>
                  <a:schemeClr val="tx1"/>
                </a:solidFill>
              </a:rPr>
              <a:t>Vectors blur several topics; noisy context; more tokens sent to the LLM.</a:t>
            </a:r>
            <a:endParaRPr lang="en-US" sz="1300" dirty="0"/>
          </a:p>
        </p:txBody>
      </p:sp>
      <p:sp>
        <p:nvSpPr>
          <p:cNvPr id="13" name="Text 10"/>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500" i="1" dirty="0">
                <a:solidFill>
                  <a:schemeClr val="accent1"/>
                </a:solidFill>
                <a:latin typeface="Cambria" pitchFamily="34" charset="0"/>
                <a:ea typeface="Cambria" pitchFamily="34" charset="-122"/>
                <a:cs typeface="Cambria" pitchFamily="34" charset="-120"/>
              </a:rPr>
              <a:t>Common starting point: 200 to 500 tokens, 10 to 20% overlap. Then measure.</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Measure chunks in tokens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206240" cy="914400"/>
        </p:xfrm>
        <a:graphic>
          <a:graphicData uri="http://schemas.openxmlformats.org/drawingml/2006/table">
            <a:tbl>
              <a:tblPr/>
              <a:tblGrid>
                <a:gridCol w="2651760"/>
                <a:gridCol w="15544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Embedding model</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Max input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1148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all-MiniLM-L6-v2</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256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bge-base-en-v1.5</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512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multilingual-e5-base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512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text-embedding-3-small</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8,191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429000"/>
            <a:ext cx="420624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Table 6.1  Input limits (from model cards; verify)</a:t>
            </a:r>
            <a:endParaRPr lang="en-US" sz="1100" dirty="0"/>
          </a:p>
        </p:txBody>
      </p:sp>
      <p:sp>
        <p:nvSpPr>
          <p:cNvPr id="6" name="Text 2"/>
          <p:cNvSpPr txBox="1"/>
          <p:nvPr/>
        </p:nvSpPr>
        <p:spPr>
          <a:xfrm>
            <a:off x="5029200" y="1280160"/>
            <a:ext cx="3657600" cy="3291840"/>
          </a:xfrm>
          <a:prstGeom prst="rect">
            <a:avLst/>
          </a:prstGeom>
          <a:noFill/>
          <a:ln/>
        </p:spPr>
        <p:txBody>
          <a:bodyPr wrap="square" lIns="0" tIns="0" rIns="0" bIns="0" rtlCol="0" anchor="t"/>
          <a:lstStyle/>
          <a:p>
            <a:pPr indent="0" marL="0">
              <a:buNone/>
            </a:pPr>
            <a:r>
              <a:rPr lang="en-US" sz="1400" b="1" dirty="0">
                <a:solidFill>
                  <a:schemeClr val="tx1"/>
                </a:solidFill>
              </a:rPr>
              <a:t>Rule of thumb</a:t>
            </a:r>
            <a:endParaRPr lang="en-US" sz="1400" dirty="0"/>
          </a:p>
          <a:p>
            <a:pPr indent="0" marL="0">
              <a:spcAft>
                <a:spcPts val="1000"/>
              </a:spcAft>
              <a:buNone/>
            </a:pPr>
            <a:r>
              <a:rPr lang="en-US" sz="1400" dirty="0">
                <a:solidFill>
                  <a:schemeClr val="tx1"/>
                </a:solidFill>
              </a:rPr>
              <a:t>In English, about 4 characters, or 0.75 words, per token.</a:t>
            </a:r>
            <a:endParaRPr lang="en-US" sz="1400" dirty="0"/>
          </a:p>
          <a:p>
            <a:pPr indent="0" marL="0">
              <a:buNone/>
            </a:pPr>
            <a:r>
              <a:rPr lang="en-US" sz="1400" b="1" dirty="0">
                <a:solidFill>
                  <a:schemeClr val="tx1"/>
                </a:solidFill>
              </a:rPr>
              <a:t>Why it matters</a:t>
            </a:r>
            <a:endParaRPr lang="en-US" sz="1400" dirty="0"/>
          </a:p>
          <a:p>
            <a:pPr indent="0" marL="0">
              <a:spcAft>
                <a:spcPts val="1000"/>
              </a:spcAft>
              <a:buNone/>
            </a:pPr>
            <a:r>
              <a:rPr lang="en-US" sz="1400" dirty="0">
                <a:solidFill>
                  <a:schemeClr val="tx1"/>
                </a:solidFill>
              </a:rPr>
              <a:t>A 1,000-character chunk is about 250 tokens: right at the limit of a 256-token model. Anything beyond is cut off without warning.</a:t>
            </a:r>
            <a:endParaRPr lang="en-US" sz="1400" dirty="0"/>
          </a:p>
          <a:p>
            <a:pPr indent="0" marL="0">
              <a:buNone/>
            </a:pPr>
            <a:r>
              <a:rPr lang="en-US" sz="1400" i="1" dirty="0">
                <a:solidFill>
                  <a:srgbClr val="B5432A"/>
                </a:solidFill>
                <a:latin typeface="Cambria" pitchFamily="34" charset="0"/>
                <a:ea typeface="Cambria" pitchFamily="34" charset="-122"/>
                <a:cs typeface="Cambria" pitchFamily="34" charset="-120"/>
              </a:rPr>
              <a:t>Check with the tokenizer, not by eye.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Strategy 1: fixed size with overlap</a:t>
            </a:r>
            <a:endParaRPr lang="en-US" sz="3000" dirty="0"/>
          </a:p>
        </p:txBody>
      </p:sp>
      <p:sp>
        <p:nvSpPr>
          <p:cNvPr id="4" name="Shape 1"/>
          <p:cNvSpPr/>
          <p:nvPr/>
        </p:nvSpPr>
        <p:spPr>
          <a:xfrm>
            <a:off x="457200" y="1280160"/>
            <a:ext cx="8229600" cy="2194560"/>
          </a:xfrm>
          <a:prstGeom prst="rect">
            <a:avLst/>
          </a:prstGeom>
          <a:solidFill>
            <a:schemeClr val="bg1"/>
          </a:solidFill>
          <a:ln w="12700">
            <a:solidFill>
              <a:schemeClr val="accent6"/>
            </a:solidFill>
            <a:prstDash val="solid"/>
          </a:ln>
        </p:spPr>
      </p:sp>
      <p:sp>
        <p:nvSpPr>
          <p:cNvPr id="5" name="Shape 2"/>
          <p:cNvSpPr/>
          <p:nvPr/>
        </p:nvSpPr>
        <p:spPr>
          <a:xfrm>
            <a:off x="640080" y="1463040"/>
            <a:ext cx="786384" cy="274320"/>
          </a:xfrm>
          <a:prstGeom prst="rect">
            <a:avLst/>
          </a:prstGeom>
          <a:solidFill>
            <a:srgbClr val="2F5D8A">
              <a:alpha val="65000"/>
            </a:srgbClr>
          </a:solidFill>
          <a:ln w="12700">
            <a:solidFill>
              <a:srgbClr val="2F5D8A"/>
            </a:solidFill>
            <a:prstDash val="solid"/>
          </a:ln>
        </p:spPr>
      </p:sp>
      <p:sp>
        <p:nvSpPr>
          <p:cNvPr id="6" name="Text 3"/>
          <p:cNvSpPr txBox="1"/>
          <p:nvPr/>
        </p:nvSpPr>
        <p:spPr>
          <a:xfrm>
            <a:off x="685800" y="1463040"/>
            <a:ext cx="822960" cy="274320"/>
          </a:xfrm>
          <a:prstGeom prst="rect">
            <a:avLst/>
          </a:prstGeom>
          <a:noFill/>
          <a:ln/>
        </p:spPr>
        <p:txBody>
          <a:bodyPr wrap="square" lIns="0" tIns="0" rIns="0" bIns="0" rtlCol="0" anchor="ctr"/>
          <a:lstStyle/>
          <a:p>
            <a:pPr indent="0" marL="0">
              <a:buNone/>
            </a:pPr>
            <a:r>
              <a:rPr lang="en-US" sz="1000" b="1" dirty="0">
                <a:solidFill>
                  <a:schemeClr val="tx1"/>
                </a:solidFill>
              </a:rPr>
              <a:t>chunk 1</a:t>
            </a:r>
            <a:endParaRPr lang="en-US" sz="1000" dirty="0"/>
          </a:p>
        </p:txBody>
      </p:sp>
      <p:sp>
        <p:nvSpPr>
          <p:cNvPr id="7" name="Shape 4"/>
          <p:cNvSpPr/>
          <p:nvPr/>
        </p:nvSpPr>
        <p:spPr>
          <a:xfrm>
            <a:off x="1269187" y="1828800"/>
            <a:ext cx="786384" cy="274320"/>
          </a:xfrm>
          <a:prstGeom prst="rect">
            <a:avLst/>
          </a:prstGeom>
          <a:solidFill>
            <a:srgbClr val="B5432A">
              <a:alpha val="65000"/>
            </a:srgbClr>
          </a:solidFill>
          <a:ln w="12700">
            <a:solidFill>
              <a:srgbClr val="B5432A"/>
            </a:solidFill>
            <a:prstDash val="solid"/>
          </a:ln>
        </p:spPr>
      </p:sp>
      <p:sp>
        <p:nvSpPr>
          <p:cNvPr id="8" name="Text 5"/>
          <p:cNvSpPr txBox="1"/>
          <p:nvPr/>
        </p:nvSpPr>
        <p:spPr>
          <a:xfrm>
            <a:off x="1314907" y="1828800"/>
            <a:ext cx="822960" cy="274320"/>
          </a:xfrm>
          <a:prstGeom prst="rect">
            <a:avLst/>
          </a:prstGeom>
          <a:noFill/>
          <a:ln/>
        </p:spPr>
        <p:txBody>
          <a:bodyPr wrap="square" lIns="0" tIns="0" rIns="0" bIns="0" rtlCol="0" anchor="ctr"/>
          <a:lstStyle/>
          <a:p>
            <a:pPr indent="0" marL="0">
              <a:buNone/>
            </a:pPr>
            <a:r>
              <a:rPr lang="en-US" sz="1000" b="1" dirty="0">
                <a:solidFill>
                  <a:schemeClr val="tx1"/>
                </a:solidFill>
              </a:rPr>
              <a:t>chunk 2</a:t>
            </a:r>
            <a:endParaRPr lang="en-US" sz="1000" dirty="0"/>
          </a:p>
        </p:txBody>
      </p:sp>
      <p:sp>
        <p:nvSpPr>
          <p:cNvPr id="9" name="Shape 6"/>
          <p:cNvSpPr/>
          <p:nvPr/>
        </p:nvSpPr>
        <p:spPr>
          <a:xfrm>
            <a:off x="1898294" y="2194560"/>
            <a:ext cx="786384" cy="274320"/>
          </a:xfrm>
          <a:prstGeom prst="rect">
            <a:avLst/>
          </a:prstGeom>
          <a:solidFill>
            <a:srgbClr val="2F5D8A">
              <a:alpha val="65000"/>
            </a:srgbClr>
          </a:solidFill>
          <a:ln w="12700">
            <a:solidFill>
              <a:srgbClr val="2F5D8A"/>
            </a:solidFill>
            <a:prstDash val="solid"/>
          </a:ln>
        </p:spPr>
      </p:sp>
      <p:sp>
        <p:nvSpPr>
          <p:cNvPr id="10" name="Text 7"/>
          <p:cNvSpPr txBox="1"/>
          <p:nvPr/>
        </p:nvSpPr>
        <p:spPr>
          <a:xfrm>
            <a:off x="1944014" y="2194560"/>
            <a:ext cx="822960" cy="274320"/>
          </a:xfrm>
          <a:prstGeom prst="rect">
            <a:avLst/>
          </a:prstGeom>
          <a:noFill/>
          <a:ln/>
        </p:spPr>
        <p:txBody>
          <a:bodyPr wrap="square" lIns="0" tIns="0" rIns="0" bIns="0" rtlCol="0" anchor="ctr"/>
          <a:lstStyle/>
          <a:p>
            <a:pPr indent="0" marL="0">
              <a:buNone/>
            </a:pPr>
            <a:r>
              <a:rPr lang="en-US" sz="1000" b="1" dirty="0">
                <a:solidFill>
                  <a:schemeClr val="tx1"/>
                </a:solidFill>
              </a:rPr>
              <a:t>chunk 3</a:t>
            </a:r>
            <a:endParaRPr lang="en-US" sz="1000" dirty="0"/>
          </a:p>
        </p:txBody>
      </p:sp>
      <p:sp>
        <p:nvSpPr>
          <p:cNvPr id="11" name="Shape 8"/>
          <p:cNvSpPr/>
          <p:nvPr/>
        </p:nvSpPr>
        <p:spPr>
          <a:xfrm>
            <a:off x="2527402" y="2560320"/>
            <a:ext cx="786384" cy="274320"/>
          </a:xfrm>
          <a:prstGeom prst="rect">
            <a:avLst/>
          </a:prstGeom>
          <a:solidFill>
            <a:srgbClr val="B5432A">
              <a:alpha val="65000"/>
            </a:srgbClr>
          </a:solidFill>
          <a:ln w="12700">
            <a:solidFill>
              <a:srgbClr val="B5432A"/>
            </a:solidFill>
            <a:prstDash val="solid"/>
          </a:ln>
        </p:spPr>
      </p:sp>
      <p:sp>
        <p:nvSpPr>
          <p:cNvPr id="12" name="Text 9"/>
          <p:cNvSpPr txBox="1"/>
          <p:nvPr/>
        </p:nvSpPr>
        <p:spPr>
          <a:xfrm>
            <a:off x="2573122" y="2560320"/>
            <a:ext cx="822960" cy="274320"/>
          </a:xfrm>
          <a:prstGeom prst="rect">
            <a:avLst/>
          </a:prstGeom>
          <a:noFill/>
          <a:ln/>
        </p:spPr>
        <p:txBody>
          <a:bodyPr wrap="square" lIns="0" tIns="0" rIns="0" bIns="0" rtlCol="0" anchor="ctr"/>
          <a:lstStyle/>
          <a:p>
            <a:pPr indent="0" marL="0">
              <a:buNone/>
            </a:pPr>
            <a:r>
              <a:rPr lang="en-US" sz="1000" b="1" dirty="0">
                <a:solidFill>
                  <a:schemeClr val="tx1"/>
                </a:solidFill>
              </a:rPr>
              <a:t>chunk 4</a:t>
            </a:r>
            <a:endParaRPr lang="en-US" sz="1000" dirty="0"/>
          </a:p>
        </p:txBody>
      </p:sp>
      <p:sp>
        <p:nvSpPr>
          <p:cNvPr id="13" name="Shape 10"/>
          <p:cNvSpPr/>
          <p:nvPr/>
        </p:nvSpPr>
        <p:spPr>
          <a:xfrm>
            <a:off x="3156509" y="2926080"/>
            <a:ext cx="786384" cy="274320"/>
          </a:xfrm>
          <a:prstGeom prst="rect">
            <a:avLst/>
          </a:prstGeom>
          <a:solidFill>
            <a:srgbClr val="2F5D8A">
              <a:alpha val="65000"/>
            </a:srgbClr>
          </a:solidFill>
          <a:ln w="12700">
            <a:solidFill>
              <a:srgbClr val="2F5D8A"/>
            </a:solidFill>
            <a:prstDash val="solid"/>
          </a:ln>
        </p:spPr>
      </p:sp>
      <p:sp>
        <p:nvSpPr>
          <p:cNvPr id="14" name="Text 11"/>
          <p:cNvSpPr txBox="1"/>
          <p:nvPr/>
        </p:nvSpPr>
        <p:spPr>
          <a:xfrm>
            <a:off x="3202229" y="2926080"/>
            <a:ext cx="822960" cy="274320"/>
          </a:xfrm>
          <a:prstGeom prst="rect">
            <a:avLst/>
          </a:prstGeom>
          <a:noFill/>
          <a:ln/>
        </p:spPr>
        <p:txBody>
          <a:bodyPr wrap="square" lIns="0" tIns="0" rIns="0" bIns="0" rtlCol="0" anchor="ctr"/>
          <a:lstStyle/>
          <a:p>
            <a:pPr indent="0" marL="0">
              <a:buNone/>
            </a:pPr>
            <a:r>
              <a:rPr lang="en-US" sz="1000" b="1" dirty="0">
                <a:solidFill>
                  <a:schemeClr val="tx1"/>
                </a:solidFill>
              </a:rPr>
              <a:t>chunk 5</a:t>
            </a:r>
            <a:endParaRPr lang="en-US" sz="1000" dirty="0"/>
          </a:p>
        </p:txBody>
      </p:sp>
      <p:sp>
        <p:nvSpPr>
          <p:cNvPr id="15" name="Text 12"/>
          <p:cNvSpPr txBox="1"/>
          <p:nvPr/>
        </p:nvSpPr>
        <p:spPr>
          <a:xfrm>
            <a:off x="3017520" y="2011680"/>
            <a:ext cx="457200" cy="274320"/>
          </a:xfrm>
          <a:prstGeom prst="rect">
            <a:avLst/>
          </a:prstGeom>
          <a:noFill/>
          <a:ln/>
        </p:spPr>
        <p:txBody>
          <a:bodyPr wrap="square" lIns="0" tIns="0" rIns="0" bIns="0" rtlCol="0" anchor="t"/>
          <a:lstStyle/>
          <a:p>
            <a:pPr indent="0" marL="0">
              <a:buNone/>
            </a:pPr>
            <a:r>
              <a:rPr lang="en-US" sz="1800" b="1" dirty="0">
                <a:solidFill>
                  <a:schemeClr val="accent5"/>
                </a:solidFill>
              </a:rPr>
              <a:t>...</a:t>
            </a:r>
            <a:endParaRPr lang="en-US" sz="1800" dirty="0"/>
          </a:p>
        </p:txBody>
      </p:sp>
      <p:sp>
        <p:nvSpPr>
          <p:cNvPr id="16" name="Text 13"/>
          <p:cNvSpPr txBox="1"/>
          <p:nvPr/>
        </p:nvSpPr>
        <p:spPr>
          <a:xfrm>
            <a:off x="5029200" y="3108960"/>
            <a:ext cx="3566160" cy="274320"/>
          </a:xfrm>
          <a:prstGeom prst="rect">
            <a:avLst/>
          </a:prstGeom>
          <a:noFill/>
          <a:ln/>
        </p:spPr>
        <p:txBody>
          <a:bodyPr wrap="square" lIns="0" tIns="0" rIns="0" bIns="0" rtlCol="0" anchor="t"/>
          <a:lstStyle/>
          <a:p>
            <a:pPr algn="r" indent="0" marL="0">
              <a:buNone/>
            </a:pPr>
            <a:r>
              <a:rPr lang="en-US" sz="1200" i="1" dirty="0">
                <a:solidFill>
                  <a:schemeClr val="accent5"/>
                </a:solidFill>
                <a:latin typeface="Cambria" pitchFamily="34" charset="0"/>
                <a:ea typeface="Cambria" pitchFamily="34" charset="-122"/>
                <a:cs typeface="Cambria" pitchFamily="34" charset="-120"/>
              </a:rPr>
              <a:t>document: 10,000 characters</a:t>
            </a:r>
            <a:endParaRPr lang="en-US" sz="1200" dirty="0"/>
          </a:p>
        </p:txBody>
      </p:sp>
      <p:sp>
        <p:nvSpPr>
          <p:cNvPr id="17"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size = 1000, overlap = 200, step = 800  gives  13 chunks</a:t>
            </a:r>
            <a:endParaRPr lang="en-US" sz="1800" dirty="0"/>
          </a:p>
        </p:txBody>
      </p:sp>
      <p:sp>
        <p:nvSpPr>
          <p:cNvPr id="18" name="Text 15"/>
          <p:cNvSpPr txBox="1"/>
          <p:nvPr/>
        </p:nvSpPr>
        <p:spPr>
          <a:xfrm>
            <a:off x="457200" y="4023360"/>
            <a:ext cx="8229600" cy="731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Predictable size, trivial to implement</a:t>
            </a:r>
            <a:endParaRPr lang="en-US" sz="1300" dirty="0"/>
          </a:p>
          <a:p>
            <a:pPr marL="342900" indent="-342900">
              <a:spcAft>
                <a:spcPts val="600"/>
              </a:spcAft>
              <a:buSzPct val="100000"/>
              <a:buChar char="•"/>
            </a:pPr>
            <a:r>
              <a:rPr lang="en-US" sz="1300" dirty="0">
                <a:solidFill>
                  <a:schemeClr val="tx1"/>
                </a:solidFill>
              </a:rPr>
              <a:t>Cuts mid-sentence, mid-word, mid-table</a:t>
            </a:r>
            <a:endParaRPr lang="en-US" sz="1300" dirty="0"/>
          </a:p>
          <a:p>
            <a:pPr marL="342900" indent="-342900">
              <a:spcAft>
                <a:spcPts val="600"/>
              </a:spcAft>
              <a:buSzPct val="100000"/>
              <a:buChar char="•"/>
            </a:pPr>
            <a:r>
              <a:rPr lang="en-US" sz="1300" dirty="0">
                <a:solidFill>
                  <a:schemeClr val="tx1"/>
                </a:solidFill>
              </a:rPr>
              <a:t>Use as a baseline to beat</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overlap helps</a:t>
            </a:r>
            <a:endParaRPr lang="en-US" sz="3000" dirty="0"/>
          </a:p>
        </p:txBody>
      </p:sp>
      <p:sp>
        <p:nvSpPr>
          <p:cNvPr id="4" name="Text 1"/>
          <p:cNvSpPr txBox="1"/>
          <p:nvPr/>
        </p:nvSpPr>
        <p:spPr>
          <a:xfrm>
            <a:off x="457200" y="1280160"/>
            <a:ext cx="3931920" cy="32004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Without overlap</a:t>
            </a:r>
            <a:endParaRPr lang="en-US" sz="1600" dirty="0"/>
          </a:p>
        </p:txBody>
      </p:sp>
      <p:sp>
        <p:nvSpPr>
          <p:cNvPr id="5" name="Text 2"/>
          <p:cNvSpPr txBox="1"/>
          <p:nvPr/>
        </p:nvSpPr>
        <p:spPr>
          <a:xfrm>
            <a:off x="4754880" y="1280160"/>
            <a:ext cx="3931920" cy="32004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With overlap</a:t>
            </a:r>
            <a:endParaRPr lang="en-US" sz="1600" dirty="0"/>
          </a:p>
        </p:txBody>
      </p:sp>
      <p:sp>
        <p:nvSpPr>
          <p:cNvPr id="6" name="Shape 3"/>
          <p:cNvSpPr/>
          <p:nvPr/>
        </p:nvSpPr>
        <p:spPr>
          <a:xfrm>
            <a:off x="4572000" y="1280160"/>
            <a:ext cx="0" cy="2560320"/>
          </a:xfrm>
          <a:prstGeom prst="line">
            <a:avLst/>
          </a:prstGeom>
          <a:noFill/>
          <a:ln w="9525">
            <a:solidFill>
              <a:schemeClr val="accent6"/>
            </a:solidFill>
            <a:prstDash val="solid"/>
          </a:ln>
        </p:spPr>
      </p:sp>
      <p:sp>
        <p:nvSpPr>
          <p:cNvPr id="7" name="Shape 4"/>
          <p:cNvSpPr/>
          <p:nvPr/>
        </p:nvSpPr>
        <p:spPr>
          <a:xfrm>
            <a:off x="457200" y="1737360"/>
            <a:ext cx="3931920" cy="548640"/>
          </a:xfrm>
          <a:prstGeom prst="rect">
            <a:avLst/>
          </a:prstGeom>
          <a:solidFill>
            <a:schemeClr val="bg1"/>
          </a:solidFill>
          <a:ln w="12700">
            <a:solidFill>
              <a:srgbClr val="B5432A"/>
            </a:solidFill>
            <a:prstDash val="solid"/>
          </a:ln>
        </p:spPr>
      </p:sp>
      <p:sp>
        <p:nvSpPr>
          <p:cNvPr id="8" name="Text 5"/>
          <p:cNvSpPr txBox="1"/>
          <p:nvPr/>
        </p:nvSpPr>
        <p:spPr>
          <a:xfrm>
            <a:off x="457200" y="1737360"/>
            <a:ext cx="3931920" cy="548640"/>
          </a:xfrm>
          <a:prstGeom prst="rect">
            <a:avLst/>
          </a:prstGeom>
          <a:noFill/>
          <a:ln/>
        </p:spPr>
        <p:txBody>
          <a:bodyPr wrap="square" lIns="0" tIns="0" rIns="0" bIns="0" rtlCol="0" anchor="ctr"/>
          <a:lstStyle/>
          <a:p>
            <a:pPr algn="ctr" indent="0" marL="0">
              <a:buNone/>
            </a:pPr>
            <a:r>
              <a:rPr lang="en-US" sz="1300" dirty="0">
                <a:solidFill>
                  <a:schemeClr val="tx1"/>
                </a:solidFill>
              </a:rPr>
              <a:t>...Refunds are accepted within 30</a:t>
            </a:r>
            <a:endParaRPr lang="en-US" sz="1300" dirty="0"/>
          </a:p>
        </p:txBody>
      </p:sp>
      <p:sp>
        <p:nvSpPr>
          <p:cNvPr id="9" name="Shape 6"/>
          <p:cNvSpPr/>
          <p:nvPr/>
        </p:nvSpPr>
        <p:spPr>
          <a:xfrm>
            <a:off x="457200" y="2377440"/>
            <a:ext cx="3931920" cy="548640"/>
          </a:xfrm>
          <a:prstGeom prst="rect">
            <a:avLst/>
          </a:prstGeom>
          <a:solidFill>
            <a:schemeClr val="bg1"/>
          </a:solidFill>
          <a:ln w="12700">
            <a:solidFill>
              <a:srgbClr val="B5432A"/>
            </a:solidFill>
            <a:prstDash val="solid"/>
          </a:ln>
        </p:spPr>
      </p:sp>
      <p:sp>
        <p:nvSpPr>
          <p:cNvPr id="10" name="Text 7"/>
          <p:cNvSpPr txBox="1"/>
          <p:nvPr/>
        </p:nvSpPr>
        <p:spPr>
          <a:xfrm>
            <a:off x="457200" y="2377440"/>
            <a:ext cx="3931920" cy="548640"/>
          </a:xfrm>
          <a:prstGeom prst="rect">
            <a:avLst/>
          </a:prstGeom>
          <a:noFill/>
          <a:ln/>
        </p:spPr>
        <p:txBody>
          <a:bodyPr wrap="square" lIns="0" tIns="0" rIns="0" bIns="0" rtlCol="0" anchor="ctr"/>
          <a:lstStyle/>
          <a:p>
            <a:pPr algn="ctr" indent="0" marL="0">
              <a:buNone/>
            </a:pPr>
            <a:r>
              <a:rPr lang="en-US" sz="1300" dirty="0">
                <a:solidFill>
                  <a:schemeClr val="tx1"/>
                </a:solidFill>
              </a:rPr>
              <a:t>days. After that, store credit applies...</a:t>
            </a:r>
            <a:endParaRPr lang="en-US" sz="1300" dirty="0"/>
          </a:p>
        </p:txBody>
      </p:sp>
      <p:sp>
        <p:nvSpPr>
          <p:cNvPr id="11" name="Shape 8"/>
          <p:cNvSpPr/>
          <p:nvPr/>
        </p:nvSpPr>
        <p:spPr>
          <a:xfrm>
            <a:off x="4754880" y="1737360"/>
            <a:ext cx="3931920" cy="548640"/>
          </a:xfrm>
          <a:prstGeom prst="rect">
            <a:avLst/>
          </a:prstGeom>
          <a:solidFill>
            <a:schemeClr val="bg1"/>
          </a:solidFill>
          <a:ln w="12700">
            <a:solidFill>
              <a:srgbClr val="3B7A57"/>
            </a:solidFill>
            <a:prstDash val="solid"/>
          </a:ln>
        </p:spPr>
      </p:sp>
      <p:sp>
        <p:nvSpPr>
          <p:cNvPr id="12" name="Text 9"/>
          <p:cNvSpPr txBox="1"/>
          <p:nvPr/>
        </p:nvSpPr>
        <p:spPr>
          <a:xfrm>
            <a:off x="4754880" y="1737360"/>
            <a:ext cx="3931920" cy="548640"/>
          </a:xfrm>
          <a:prstGeom prst="rect">
            <a:avLst/>
          </a:prstGeom>
          <a:noFill/>
          <a:ln/>
        </p:spPr>
        <p:txBody>
          <a:bodyPr wrap="square" lIns="0" tIns="0" rIns="0" bIns="0" rtlCol="0" anchor="ctr"/>
          <a:lstStyle/>
          <a:p>
            <a:pPr algn="ctr" indent="0" marL="0">
              <a:buNone/>
            </a:pPr>
            <a:r>
              <a:rPr lang="en-US" sz="1300" dirty="0">
                <a:solidFill>
                  <a:schemeClr val="tx1"/>
                </a:solidFill>
              </a:rPr>
              <a:t>...Refunds are accepted within 30 days. After that,</a:t>
            </a:r>
            <a:endParaRPr lang="en-US" sz="1300" dirty="0"/>
          </a:p>
        </p:txBody>
      </p:sp>
      <p:sp>
        <p:nvSpPr>
          <p:cNvPr id="13" name="Shape 10"/>
          <p:cNvSpPr/>
          <p:nvPr/>
        </p:nvSpPr>
        <p:spPr>
          <a:xfrm>
            <a:off x="4754880" y="2377440"/>
            <a:ext cx="3931920" cy="548640"/>
          </a:xfrm>
          <a:prstGeom prst="rect">
            <a:avLst/>
          </a:prstGeom>
          <a:solidFill>
            <a:schemeClr val="bg1"/>
          </a:solidFill>
          <a:ln w="12700">
            <a:solidFill>
              <a:srgbClr val="3B7A57"/>
            </a:solidFill>
            <a:prstDash val="solid"/>
          </a:ln>
        </p:spPr>
      </p:sp>
      <p:sp>
        <p:nvSpPr>
          <p:cNvPr id="14" name="Text 11"/>
          <p:cNvSpPr txBox="1"/>
          <p:nvPr/>
        </p:nvSpPr>
        <p:spPr>
          <a:xfrm>
            <a:off x="4754880" y="2377440"/>
            <a:ext cx="3931920" cy="548640"/>
          </a:xfrm>
          <a:prstGeom prst="rect">
            <a:avLst/>
          </a:prstGeom>
          <a:noFill/>
          <a:ln/>
        </p:spPr>
        <p:txBody>
          <a:bodyPr wrap="square" lIns="0" tIns="0" rIns="0" bIns="0" rtlCol="0" anchor="ctr"/>
          <a:lstStyle/>
          <a:p>
            <a:pPr algn="ctr" indent="0" marL="0">
              <a:buNone/>
            </a:pPr>
            <a:r>
              <a:rPr lang="en-US" sz="1300" dirty="0">
                <a:solidFill>
                  <a:schemeClr val="tx1"/>
                </a:solidFill>
              </a:rPr>
              <a:t>within 30 days. After that, store credit applies...</a:t>
            </a:r>
            <a:endParaRPr lang="en-US" sz="1300" dirty="0"/>
          </a:p>
        </p:txBody>
      </p:sp>
      <p:sp>
        <p:nvSpPr>
          <p:cNvPr id="15" name="Text 12"/>
          <p:cNvSpPr txBox="1"/>
          <p:nvPr/>
        </p:nvSpPr>
        <p:spPr>
          <a:xfrm>
            <a:off x="457200" y="3108960"/>
            <a:ext cx="3931920" cy="822960"/>
          </a:xfrm>
          <a:prstGeom prst="rect">
            <a:avLst/>
          </a:prstGeom>
          <a:noFill/>
          <a:ln/>
        </p:spPr>
        <p:txBody>
          <a:bodyPr wrap="square" lIns="0" tIns="0" rIns="0" bIns="0" rtlCol="0" anchor="t"/>
          <a:lstStyle/>
          <a:p>
            <a:pPr indent="0" marL="0">
              <a:buNone/>
            </a:pPr>
            <a:r>
              <a:rPr lang="en-US" sz="1300" i="1" dirty="0">
                <a:solidFill>
                  <a:schemeClr val="accent5"/>
                </a:solidFill>
                <a:latin typeface="Cambria" pitchFamily="34" charset="0"/>
                <a:ea typeface="Cambria" pitchFamily="34" charset="-122"/>
                <a:cs typeface="Cambria" pitchFamily="34" charset="-120"/>
              </a:rPr>
              <a:t>The key fact (30 days) is split across two chunks; neither answers the question alone.</a:t>
            </a:r>
            <a:endParaRPr lang="en-US" sz="1300" dirty="0"/>
          </a:p>
        </p:txBody>
      </p:sp>
      <p:sp>
        <p:nvSpPr>
          <p:cNvPr id="16" name="Text 13"/>
          <p:cNvSpPr txBox="1"/>
          <p:nvPr/>
        </p:nvSpPr>
        <p:spPr>
          <a:xfrm>
            <a:off x="4754880" y="3108960"/>
            <a:ext cx="3931920" cy="822960"/>
          </a:xfrm>
          <a:prstGeom prst="rect">
            <a:avLst/>
          </a:prstGeom>
          <a:noFill/>
          <a:ln/>
        </p:spPr>
        <p:txBody>
          <a:bodyPr wrap="square" lIns="0" tIns="0" rIns="0" bIns="0" rtlCol="0" anchor="t"/>
          <a:lstStyle/>
          <a:p>
            <a:pPr indent="0" marL="0">
              <a:buNone/>
            </a:pPr>
            <a:r>
              <a:rPr lang="en-US" sz="1300" i="1" dirty="0">
                <a:solidFill>
                  <a:schemeClr val="accent5"/>
                </a:solidFill>
                <a:latin typeface="Cambria" pitchFamily="34" charset="0"/>
                <a:ea typeface="Cambria" pitchFamily="34" charset="-122"/>
                <a:cs typeface="Cambria" pitchFamily="34" charset="-120"/>
              </a:rPr>
              <a:t>The shared region keeps the fact intact in at least one chunk.</a:t>
            </a:r>
            <a:endParaRPr lang="en-US" sz="1300" dirty="0"/>
          </a:p>
        </p:txBody>
      </p:sp>
      <p:sp>
        <p:nvSpPr>
          <p:cNvPr id="17" name="Text 14"/>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400" dirty="0">
                <a:solidFill>
                  <a:schemeClr val="tx1"/>
                </a:solidFill>
                <a:latin typeface="Cambria" pitchFamily="34" charset="0"/>
                <a:ea typeface="Cambria" pitchFamily="34" charset="-122"/>
                <a:cs typeface="Cambria" pitchFamily="34" charset="-120"/>
              </a:rPr>
              <a:t>Cost of overlap: roughly overlap / step extra storage and embedding calls. At 200 over a step of 800 that is 25 percent.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Strategy 2: recursive splitting</a:t>
            </a:r>
            <a:endParaRPr lang="en-US" sz="3000" dirty="0"/>
          </a:p>
        </p:txBody>
      </p:sp>
      <p:sp>
        <p:nvSpPr>
          <p:cNvPr id="4" name="Shape 1"/>
          <p:cNvSpPr/>
          <p:nvPr/>
        </p:nvSpPr>
        <p:spPr>
          <a:xfrm>
            <a:off x="457200" y="1280160"/>
            <a:ext cx="3474720" cy="548640"/>
          </a:xfrm>
          <a:prstGeom prst="rect">
            <a:avLst/>
          </a:prstGeom>
          <a:solidFill>
            <a:schemeClr val="bg1"/>
          </a:solidFill>
          <a:ln w="12700">
            <a:solidFill>
              <a:srgbClr val="1B2A41"/>
            </a:solidFill>
            <a:prstDash val="solid"/>
          </a:ln>
        </p:spPr>
      </p:sp>
      <p:sp>
        <p:nvSpPr>
          <p:cNvPr id="5" name="Text 2"/>
          <p:cNvSpPr txBox="1"/>
          <p:nvPr/>
        </p:nvSpPr>
        <p:spPr>
          <a:xfrm>
            <a:off x="457200" y="1280160"/>
            <a:ext cx="3474720" cy="548640"/>
          </a:xfrm>
          <a:prstGeom prst="rect">
            <a:avLst/>
          </a:prstGeom>
          <a:noFill/>
          <a:ln/>
        </p:spPr>
        <p:txBody>
          <a:bodyPr wrap="square" lIns="0" tIns="0" rIns="0" bIns="0" rtlCol="0" anchor="ctr"/>
          <a:lstStyle/>
          <a:p>
            <a:pPr algn="ctr" indent="0" marL="0">
              <a:buNone/>
            </a:pPr>
            <a:r>
              <a:rPr lang="en-US" sz="1400" b="1" dirty="0">
                <a:solidFill>
                  <a:schemeClr val="tx1"/>
                </a:solidFill>
              </a:rPr>
              <a:t>Split on paragraphs</a:t>
            </a:r>
            <a:endParaRPr lang="en-US" sz="1400" dirty="0"/>
          </a:p>
        </p:txBody>
      </p:sp>
      <p:sp>
        <p:nvSpPr>
          <p:cNvPr id="6" name="Text 3"/>
          <p:cNvSpPr txBox="1"/>
          <p:nvPr/>
        </p:nvSpPr>
        <p:spPr>
          <a:xfrm>
            <a:off x="4069080" y="1280160"/>
            <a:ext cx="822960" cy="54864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\n\n</a:t>
            </a:r>
            <a:endParaRPr lang="en-US" sz="1300" dirty="0"/>
          </a:p>
        </p:txBody>
      </p:sp>
      <p:sp>
        <p:nvSpPr>
          <p:cNvPr id="7" name="Shape 4"/>
          <p:cNvSpPr/>
          <p:nvPr/>
        </p:nvSpPr>
        <p:spPr>
          <a:xfrm>
            <a:off x="2194560" y="1828800"/>
            <a:ext cx="0" cy="228600"/>
          </a:xfrm>
          <a:prstGeom prst="line">
            <a:avLst/>
          </a:prstGeom>
          <a:noFill/>
          <a:ln w="15875">
            <a:solidFill>
              <a:srgbClr val="6B7280"/>
            </a:solidFill>
            <a:prstDash val="solid"/>
            <a:tailEnd type="triangle"/>
          </a:ln>
        </p:spPr>
      </p:sp>
      <p:sp>
        <p:nvSpPr>
          <p:cNvPr id="8" name="Shape 5"/>
          <p:cNvSpPr/>
          <p:nvPr/>
        </p:nvSpPr>
        <p:spPr>
          <a:xfrm>
            <a:off x="457200" y="2057400"/>
            <a:ext cx="3474720" cy="548640"/>
          </a:xfrm>
          <a:prstGeom prst="rect">
            <a:avLst/>
          </a:prstGeom>
          <a:solidFill>
            <a:schemeClr val="bg1"/>
          </a:solidFill>
          <a:ln w="12700">
            <a:solidFill>
              <a:srgbClr val="1B2A41"/>
            </a:solidFill>
            <a:prstDash val="solid"/>
          </a:ln>
        </p:spPr>
      </p:sp>
      <p:sp>
        <p:nvSpPr>
          <p:cNvPr id="9" name="Text 6"/>
          <p:cNvSpPr txBox="1"/>
          <p:nvPr/>
        </p:nvSpPr>
        <p:spPr>
          <a:xfrm>
            <a:off x="457200" y="2057400"/>
            <a:ext cx="3474720" cy="548640"/>
          </a:xfrm>
          <a:prstGeom prst="rect">
            <a:avLst/>
          </a:prstGeom>
          <a:noFill/>
          <a:ln/>
        </p:spPr>
        <p:txBody>
          <a:bodyPr wrap="square" lIns="0" tIns="0" rIns="0" bIns="0" rtlCol="0" anchor="ctr"/>
          <a:lstStyle/>
          <a:p>
            <a:pPr algn="ctr" indent="0" marL="0">
              <a:buNone/>
            </a:pPr>
            <a:r>
              <a:rPr lang="en-US" sz="1400" b="1" dirty="0">
                <a:solidFill>
                  <a:schemeClr val="tx1"/>
                </a:solidFill>
              </a:rPr>
              <a:t>Piece too big? Split on lines</a:t>
            </a:r>
            <a:endParaRPr lang="en-US" sz="1400" dirty="0"/>
          </a:p>
        </p:txBody>
      </p:sp>
      <p:sp>
        <p:nvSpPr>
          <p:cNvPr id="10" name="Text 7"/>
          <p:cNvSpPr txBox="1"/>
          <p:nvPr/>
        </p:nvSpPr>
        <p:spPr>
          <a:xfrm>
            <a:off x="4069080" y="2057400"/>
            <a:ext cx="822960" cy="54864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\n</a:t>
            </a:r>
            <a:endParaRPr lang="en-US" sz="1300" dirty="0"/>
          </a:p>
        </p:txBody>
      </p:sp>
      <p:sp>
        <p:nvSpPr>
          <p:cNvPr id="11" name="Shape 8"/>
          <p:cNvSpPr/>
          <p:nvPr/>
        </p:nvSpPr>
        <p:spPr>
          <a:xfrm>
            <a:off x="2194560" y="2606040"/>
            <a:ext cx="0" cy="228600"/>
          </a:xfrm>
          <a:prstGeom prst="line">
            <a:avLst/>
          </a:prstGeom>
          <a:noFill/>
          <a:ln w="15875">
            <a:solidFill>
              <a:srgbClr val="6B7280"/>
            </a:solidFill>
            <a:prstDash val="solid"/>
            <a:tailEnd type="triangle"/>
          </a:ln>
        </p:spPr>
      </p:sp>
      <p:sp>
        <p:nvSpPr>
          <p:cNvPr id="12" name="Shape 9"/>
          <p:cNvSpPr/>
          <p:nvPr/>
        </p:nvSpPr>
        <p:spPr>
          <a:xfrm>
            <a:off x="457200" y="2834640"/>
            <a:ext cx="3474720" cy="548640"/>
          </a:xfrm>
          <a:prstGeom prst="rect">
            <a:avLst/>
          </a:prstGeom>
          <a:solidFill>
            <a:schemeClr val="bg1"/>
          </a:solidFill>
          <a:ln w="12700">
            <a:solidFill>
              <a:srgbClr val="1B2A41"/>
            </a:solidFill>
            <a:prstDash val="solid"/>
          </a:ln>
        </p:spPr>
      </p:sp>
      <p:sp>
        <p:nvSpPr>
          <p:cNvPr id="13" name="Text 10"/>
          <p:cNvSpPr txBox="1"/>
          <p:nvPr/>
        </p:nvSpPr>
        <p:spPr>
          <a:xfrm>
            <a:off x="457200" y="2834640"/>
            <a:ext cx="3474720" cy="548640"/>
          </a:xfrm>
          <a:prstGeom prst="rect">
            <a:avLst/>
          </a:prstGeom>
          <a:noFill/>
          <a:ln/>
        </p:spPr>
        <p:txBody>
          <a:bodyPr wrap="square" lIns="0" tIns="0" rIns="0" bIns="0" rtlCol="0" anchor="ctr"/>
          <a:lstStyle/>
          <a:p>
            <a:pPr algn="ctr" indent="0" marL="0">
              <a:buNone/>
            </a:pPr>
            <a:r>
              <a:rPr lang="en-US" sz="1400" b="1" dirty="0">
                <a:solidFill>
                  <a:schemeClr val="tx1"/>
                </a:solidFill>
              </a:rPr>
              <a:t>Still too big? Split on sentences</a:t>
            </a:r>
            <a:endParaRPr lang="en-US" sz="1400" dirty="0"/>
          </a:p>
        </p:txBody>
      </p:sp>
      <p:sp>
        <p:nvSpPr>
          <p:cNvPr id="14" name="Text 11"/>
          <p:cNvSpPr txBox="1"/>
          <p:nvPr/>
        </p:nvSpPr>
        <p:spPr>
          <a:xfrm>
            <a:off x="4069080" y="2834640"/>
            <a:ext cx="822960" cy="54864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 </a:t>
            </a:r>
            <a:endParaRPr lang="en-US" sz="1300" dirty="0"/>
          </a:p>
        </p:txBody>
      </p:sp>
      <p:sp>
        <p:nvSpPr>
          <p:cNvPr id="15" name="Shape 12"/>
          <p:cNvSpPr/>
          <p:nvPr/>
        </p:nvSpPr>
        <p:spPr>
          <a:xfrm>
            <a:off x="2194560" y="3383280"/>
            <a:ext cx="0" cy="228600"/>
          </a:xfrm>
          <a:prstGeom prst="line">
            <a:avLst/>
          </a:prstGeom>
          <a:noFill/>
          <a:ln w="15875">
            <a:solidFill>
              <a:srgbClr val="6B7280"/>
            </a:solidFill>
            <a:prstDash val="solid"/>
            <a:tailEnd type="triangle"/>
          </a:ln>
        </p:spPr>
      </p:sp>
      <p:sp>
        <p:nvSpPr>
          <p:cNvPr id="16" name="Shape 13"/>
          <p:cNvSpPr/>
          <p:nvPr/>
        </p:nvSpPr>
        <p:spPr>
          <a:xfrm>
            <a:off x="457200" y="3611880"/>
            <a:ext cx="3474720" cy="548640"/>
          </a:xfrm>
          <a:prstGeom prst="rect">
            <a:avLst/>
          </a:prstGeom>
          <a:solidFill>
            <a:schemeClr val="bg1"/>
          </a:solidFill>
          <a:ln w="12700">
            <a:solidFill>
              <a:srgbClr val="1B2A41"/>
            </a:solidFill>
            <a:prstDash val="solid"/>
          </a:ln>
        </p:spPr>
      </p:sp>
      <p:sp>
        <p:nvSpPr>
          <p:cNvPr id="17" name="Text 14"/>
          <p:cNvSpPr txBox="1"/>
          <p:nvPr/>
        </p:nvSpPr>
        <p:spPr>
          <a:xfrm>
            <a:off x="457200" y="3611880"/>
            <a:ext cx="3474720" cy="548640"/>
          </a:xfrm>
          <a:prstGeom prst="rect">
            <a:avLst/>
          </a:prstGeom>
          <a:noFill/>
          <a:ln/>
        </p:spPr>
        <p:txBody>
          <a:bodyPr wrap="square" lIns="0" tIns="0" rIns="0" bIns="0" rtlCol="0" anchor="ctr"/>
          <a:lstStyle/>
          <a:p>
            <a:pPr algn="ctr" indent="0" marL="0">
              <a:buNone/>
            </a:pPr>
            <a:r>
              <a:rPr lang="en-US" sz="1400" b="1" dirty="0">
                <a:solidFill>
                  <a:schemeClr val="tx1"/>
                </a:solidFill>
              </a:rPr>
              <a:t>Last resort: split on words</a:t>
            </a:r>
            <a:endParaRPr lang="en-US" sz="1400" dirty="0"/>
          </a:p>
        </p:txBody>
      </p:sp>
      <p:sp>
        <p:nvSpPr>
          <p:cNvPr id="18" name="Text 15"/>
          <p:cNvSpPr txBox="1"/>
          <p:nvPr/>
        </p:nvSpPr>
        <p:spPr>
          <a:xfrm>
            <a:off x="4069080" y="3611880"/>
            <a:ext cx="822960" cy="54864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 </a:t>
            </a:r>
            <a:endParaRPr lang="en-US" sz="1300" dirty="0"/>
          </a:p>
        </p:txBody>
      </p:sp>
      <p:sp>
        <p:nvSpPr>
          <p:cNvPr id="19" name="Text 16"/>
          <p:cNvSpPr txBox="1"/>
          <p:nvPr/>
        </p:nvSpPr>
        <p:spPr>
          <a:xfrm>
            <a:off x="5303520" y="1280160"/>
            <a:ext cx="3383280" cy="8229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Keeps paragraphs and sentences together whenever they fit</a:t>
            </a:r>
            <a:endParaRPr lang="en-US" sz="1700" dirty="0"/>
          </a:p>
        </p:txBody>
      </p:sp>
      <p:sp>
        <p:nvSpPr>
          <p:cNvPr id="20" name="Text 17"/>
          <p:cNvSpPr txBox="1"/>
          <p:nvPr/>
        </p:nvSpPr>
        <p:spPr>
          <a:xfrm>
            <a:off x="5303520" y="2194560"/>
            <a:ext cx="338328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Merge small neighbours up to the size limit</a:t>
            </a:r>
            <a:endParaRPr lang="en-US" sz="1400" dirty="0"/>
          </a:p>
          <a:p>
            <a:pPr marL="342900" indent="-342900">
              <a:spcAft>
                <a:spcPts val="800"/>
              </a:spcAft>
              <a:buSzPct val="100000"/>
              <a:buChar char="•"/>
            </a:pPr>
            <a:r>
              <a:rPr lang="en-US" sz="1400" dirty="0">
                <a:solidFill>
                  <a:schemeClr val="tx1"/>
                </a:solidFill>
              </a:rPr>
              <a:t>Respects the document's own structure</a:t>
            </a:r>
            <a:endParaRPr lang="en-US" sz="1400" dirty="0"/>
          </a:p>
          <a:p>
            <a:pPr marL="342900" indent="-342900">
              <a:spcAft>
                <a:spcPts val="800"/>
              </a:spcAft>
              <a:buSzPct val="100000"/>
              <a:buChar char="•"/>
            </a:pPr>
            <a:r>
              <a:rPr lang="en-US" sz="1400" dirty="0">
                <a:solidFill>
                  <a:schemeClr val="tx1"/>
                </a:solidFill>
              </a:rPr>
              <a:t>The usual default in RAG toolkits</a:t>
            </a:r>
            <a:endParaRPr lang="en-US" sz="1400" dirty="0"/>
          </a:p>
          <a:p>
            <a:pPr marL="342900" indent="-342900">
              <a:spcAft>
                <a:spcPts val="800"/>
              </a:spcAft>
              <a:buSzPct val="100000"/>
              <a:buChar char="•"/>
            </a:pPr>
            <a:r>
              <a:rPr lang="en-US" sz="1400" dirty="0">
                <a:solidFill>
                  <a:schemeClr val="tx1"/>
                </a:solidFill>
              </a:rPr>
              <a:t>Still blind to headings and tables</a:t>
            </a:r>
            <a:endParaRPr lang="en-US" sz="1400" dirty="0"/>
          </a:p>
        </p:txBody>
      </p:sp>
      <p:sp>
        <p:nvSpPr>
          <p:cNvPr id="21" name="Text 18"/>
          <p:cNvSpPr txBox="1"/>
          <p:nvPr/>
        </p:nvSpPr>
        <p:spPr>
          <a:xfrm>
            <a:off x="457200" y="4434840"/>
            <a:ext cx="3657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6.4  The separator cascade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Strategy 3: follow the structure</a:t>
            </a:r>
            <a:endParaRPr lang="en-US" sz="3000" dirty="0"/>
          </a:p>
        </p:txBody>
      </p:sp>
      <p:sp>
        <p:nvSpPr>
          <p:cNvPr id="4" name="Text 1"/>
          <p:cNvSpPr txBox="1"/>
          <p:nvPr/>
        </p:nvSpPr>
        <p:spPr>
          <a:xfrm>
            <a:off x="457200" y="1325880"/>
            <a:ext cx="3017520" cy="201168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Handbook</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   2  Refunds</a:t>
            </a:r>
            <a:endParaRPr lang="en-US" sz="1500" dirty="0"/>
          </a:p>
          <a:p>
            <a:pPr indent="0" marL="0">
              <a:buNone/>
            </a:pPr>
            <a:r>
              <a:rPr lang="en-US" sz="1500" b="1" dirty="0">
                <a:solidFill>
                  <a:srgbClr val="B5432A"/>
                </a:solidFill>
                <a:latin typeface="Courier New" pitchFamily="34" charset="0"/>
                <a:ea typeface="Courier New" pitchFamily="34" charset="-122"/>
                <a:cs typeface="Courier New" pitchFamily="34" charset="-120"/>
              </a:rPr>
              <a:t>       2.1  Window</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       2.2  Exceptions</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   3  Shipping</a:t>
            </a:r>
            <a:endParaRPr lang="en-US" sz="1500" dirty="0"/>
          </a:p>
          <a:p>
            <a:pPr indent="0" marL="0">
              <a:buNone/>
            </a:pPr>
            <a:r>
              <a:rPr lang="en-US" sz="1500" dirty="0">
                <a:solidFill>
                  <a:schemeClr val="tx1"/>
                </a:solidFill>
                <a:latin typeface="Courier New" pitchFamily="34" charset="0"/>
                <a:ea typeface="Courier New" pitchFamily="34" charset="-122"/>
                <a:cs typeface="Courier New" pitchFamily="34" charset="-120"/>
              </a:rPr>
              <a:t>       3.1  Costs</a:t>
            </a:r>
            <a:endParaRPr lang="en-US" sz="1500" dirty="0"/>
          </a:p>
        </p:txBody>
      </p:sp>
      <p:sp>
        <p:nvSpPr>
          <p:cNvPr id="5" name="Text 2"/>
          <p:cNvSpPr txBox="1"/>
          <p:nvPr/>
        </p:nvSpPr>
        <p:spPr>
          <a:xfrm>
            <a:off x="457200" y="3429000"/>
            <a:ext cx="301752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6.5  Document outline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749040" y="1325880"/>
          <a:ext cx="4937760" cy="914400"/>
        </p:xfrm>
        <a:graphic>
          <a:graphicData uri="http://schemas.openxmlformats.org/drawingml/2006/table">
            <a:tbl>
              <a:tblPr/>
              <a:tblGrid>
                <a:gridCol w="2834640"/>
                <a:gridCol w="21031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Chunk text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Metadata: section path</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6400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Refunds are accepted within 30 days of delivery.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Handbook &gt; Refunds &gt; Window</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400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Digital goods are not refundable once downloaded.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Handbook &gt; Refunds &gt; Exceptions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7" name="Text 3"/>
          <p:cNvSpPr txBox="1"/>
          <p:nvPr/>
        </p:nvSpPr>
        <p:spPr>
          <a:xfrm>
            <a:off x="3749040" y="3108960"/>
            <a:ext cx="49377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Markdown and HTML: split on headings</a:t>
            </a:r>
            <a:endParaRPr lang="en-US" sz="1400" dirty="0"/>
          </a:p>
          <a:p>
            <a:pPr marL="342900" indent="-342900">
              <a:spcAft>
                <a:spcPts val="600"/>
              </a:spcAft>
              <a:buSzPct val="100000"/>
              <a:buChar char="•"/>
            </a:pPr>
            <a:r>
              <a:rPr lang="en-US" sz="1400" dirty="0">
                <a:solidFill>
                  <a:schemeClr val="tx1"/>
                </a:solidFill>
              </a:rPr>
              <a:t>Code: split on functions and classes</a:t>
            </a:r>
            <a:endParaRPr lang="en-US" sz="1400" dirty="0"/>
          </a:p>
          <a:p>
            <a:pPr marL="342900" indent="-342900">
              <a:spcAft>
                <a:spcPts val="600"/>
              </a:spcAft>
              <a:buSzPct val="100000"/>
              <a:buChar char="•"/>
            </a:pPr>
            <a:r>
              <a:rPr lang="en-US" sz="1400" dirty="0">
                <a:solidFill>
                  <a:schemeClr val="tx1"/>
                </a:solidFill>
              </a:rPr>
              <a:t>Tables: keep rows with their header</a:t>
            </a:r>
            <a:endParaRPr lang="en-US" sz="1400" dirty="0"/>
          </a:p>
          <a:p>
            <a:pPr marL="342900" indent="-342900">
              <a:spcAft>
                <a:spcPts val="600"/>
              </a:spcAft>
              <a:buSzPct val="100000"/>
              <a:buChar char="•"/>
            </a:pPr>
            <a:r>
              <a:rPr lang="en-US" sz="1400" dirty="0">
                <a:solidFill>
                  <a:schemeClr val="tx1"/>
                </a:solidFill>
              </a:rPr>
              <a:t>Prepend the title to the text to help matching</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Strategy 4: split where meaning shifts</a:t>
            </a:r>
            <a:endParaRPr lang="en-US" sz="3000" dirty="0"/>
          </a:p>
        </p:txBody>
      </p:sp>
      <p:sp>
        <p:nvSpPr>
          <p:cNvPr id="4" name="Shape 1"/>
          <p:cNvSpPr/>
          <p:nvPr/>
        </p:nvSpPr>
        <p:spPr>
          <a:xfrm>
            <a:off x="457200" y="1280160"/>
            <a:ext cx="4937760" cy="3108960"/>
          </a:xfrm>
          <a:prstGeom prst="rect">
            <a:avLst/>
          </a:prstGeom>
          <a:solidFill>
            <a:schemeClr val="bg1"/>
          </a:solidFill>
          <a:ln w="12700">
            <a:solidFill>
              <a:schemeClr val="accent6"/>
            </a:solidFill>
            <a:prstDash val="solid"/>
          </a:ln>
        </p:spPr>
      </p:sp>
      <p:sp>
        <p:nvSpPr>
          <p:cNvPr id="5" name="Shape 2"/>
          <p:cNvSpPr/>
          <p:nvPr/>
        </p:nvSpPr>
        <p:spPr>
          <a:xfrm>
            <a:off x="914400" y="4023360"/>
            <a:ext cx="4206240" cy="0"/>
          </a:xfrm>
          <a:prstGeom prst="line">
            <a:avLst/>
          </a:prstGeom>
          <a:noFill/>
          <a:ln w="12700">
            <a:solidFill>
              <a:srgbClr val="6B7280"/>
            </a:solidFill>
            <a:prstDash val="solid"/>
            <a:tailEnd type="triangle"/>
          </a:ln>
        </p:spPr>
      </p:sp>
      <p:sp>
        <p:nvSpPr>
          <p:cNvPr id="6" name="Shape 3"/>
          <p:cNvSpPr/>
          <p:nvPr/>
        </p:nvSpPr>
        <p:spPr>
          <a:xfrm>
            <a:off x="914400" y="1463040"/>
            <a:ext cx="0" cy="2560320"/>
          </a:xfrm>
          <a:prstGeom prst="line">
            <a:avLst/>
          </a:prstGeom>
          <a:noFill/>
          <a:ln w="12700">
            <a:solidFill>
              <a:srgbClr val="6B7280"/>
            </a:solidFill>
            <a:prstDash val="solid"/>
            <a:tailEnd type="triangle"/>
          </a:ln>
        </p:spPr>
      </p:sp>
      <p:sp>
        <p:nvSpPr>
          <p:cNvPr id="7" name="Text 4"/>
          <p:cNvSpPr txBox="1"/>
          <p:nvPr/>
        </p:nvSpPr>
        <p:spPr>
          <a:xfrm>
            <a:off x="548640" y="1325880"/>
            <a:ext cx="2011680" cy="22860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similarity to next sentence</a:t>
            </a:r>
            <a:endParaRPr lang="en-US" sz="1100" dirty="0"/>
          </a:p>
        </p:txBody>
      </p:sp>
      <p:sp>
        <p:nvSpPr>
          <p:cNvPr id="8" name="Text 5"/>
          <p:cNvSpPr txBox="1"/>
          <p:nvPr/>
        </p:nvSpPr>
        <p:spPr>
          <a:xfrm>
            <a:off x="3291840" y="4069080"/>
            <a:ext cx="1645920" cy="22860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sentence index</a:t>
            </a:r>
            <a:endParaRPr lang="en-US" sz="1100" dirty="0"/>
          </a:p>
        </p:txBody>
      </p:sp>
      <p:sp>
        <p:nvSpPr>
          <p:cNvPr id="9" name="Shape 6"/>
          <p:cNvSpPr/>
          <p:nvPr/>
        </p:nvSpPr>
        <p:spPr>
          <a:xfrm>
            <a:off x="1097280" y="1737360"/>
            <a:ext cx="365760" cy="137160"/>
          </a:xfrm>
          <a:prstGeom prst="line">
            <a:avLst/>
          </a:prstGeom>
          <a:noFill/>
          <a:ln w="22225">
            <a:solidFill>
              <a:srgbClr val="2F5D8A"/>
            </a:solidFill>
            <a:prstDash val="solid"/>
          </a:ln>
        </p:spPr>
      </p:sp>
      <p:sp>
        <p:nvSpPr>
          <p:cNvPr id="10" name="Shape 7"/>
          <p:cNvSpPr/>
          <p:nvPr/>
        </p:nvSpPr>
        <p:spPr>
          <a:xfrm flipV="1">
            <a:off x="1463040" y="1682496"/>
            <a:ext cx="365760" cy="192024"/>
          </a:xfrm>
          <a:prstGeom prst="line">
            <a:avLst/>
          </a:prstGeom>
          <a:noFill/>
          <a:ln w="22225">
            <a:solidFill>
              <a:srgbClr val="2F5D8A"/>
            </a:solidFill>
            <a:prstDash val="solid"/>
          </a:ln>
        </p:spPr>
      </p:sp>
      <p:sp>
        <p:nvSpPr>
          <p:cNvPr id="11" name="Shape 8"/>
          <p:cNvSpPr/>
          <p:nvPr/>
        </p:nvSpPr>
        <p:spPr>
          <a:xfrm>
            <a:off x="1828800" y="1682496"/>
            <a:ext cx="365760" cy="1426464"/>
          </a:xfrm>
          <a:prstGeom prst="line">
            <a:avLst/>
          </a:prstGeom>
          <a:noFill/>
          <a:ln w="22225">
            <a:solidFill>
              <a:srgbClr val="2F5D8A"/>
            </a:solidFill>
            <a:prstDash val="solid"/>
          </a:ln>
        </p:spPr>
      </p:sp>
      <p:sp>
        <p:nvSpPr>
          <p:cNvPr id="12" name="Shape 9"/>
          <p:cNvSpPr/>
          <p:nvPr/>
        </p:nvSpPr>
        <p:spPr>
          <a:xfrm flipV="1">
            <a:off x="2194560" y="1792224"/>
            <a:ext cx="365760" cy="1316736"/>
          </a:xfrm>
          <a:prstGeom prst="line">
            <a:avLst/>
          </a:prstGeom>
          <a:noFill/>
          <a:ln w="22225">
            <a:solidFill>
              <a:srgbClr val="2F5D8A"/>
            </a:solidFill>
            <a:prstDash val="solid"/>
          </a:ln>
        </p:spPr>
      </p:sp>
      <p:sp>
        <p:nvSpPr>
          <p:cNvPr id="13" name="Shape 10"/>
          <p:cNvSpPr/>
          <p:nvPr/>
        </p:nvSpPr>
        <p:spPr>
          <a:xfrm flipV="1">
            <a:off x="2560320" y="1737360"/>
            <a:ext cx="365760" cy="54864"/>
          </a:xfrm>
          <a:prstGeom prst="line">
            <a:avLst/>
          </a:prstGeom>
          <a:noFill/>
          <a:ln w="22225">
            <a:solidFill>
              <a:srgbClr val="2F5D8A"/>
            </a:solidFill>
            <a:prstDash val="solid"/>
          </a:ln>
        </p:spPr>
      </p:sp>
      <p:sp>
        <p:nvSpPr>
          <p:cNvPr id="14" name="Shape 11"/>
          <p:cNvSpPr/>
          <p:nvPr/>
        </p:nvSpPr>
        <p:spPr>
          <a:xfrm>
            <a:off x="2926080" y="1737360"/>
            <a:ext cx="365760" cy="164592"/>
          </a:xfrm>
          <a:prstGeom prst="line">
            <a:avLst/>
          </a:prstGeom>
          <a:noFill/>
          <a:ln w="22225">
            <a:solidFill>
              <a:srgbClr val="2F5D8A"/>
            </a:solidFill>
            <a:prstDash val="solid"/>
          </a:ln>
        </p:spPr>
      </p:sp>
      <p:sp>
        <p:nvSpPr>
          <p:cNvPr id="15" name="Shape 12"/>
          <p:cNvSpPr/>
          <p:nvPr/>
        </p:nvSpPr>
        <p:spPr>
          <a:xfrm flipV="1">
            <a:off x="3291840" y="1819656"/>
            <a:ext cx="365760" cy="82296"/>
          </a:xfrm>
          <a:prstGeom prst="line">
            <a:avLst/>
          </a:prstGeom>
          <a:noFill/>
          <a:ln w="22225">
            <a:solidFill>
              <a:srgbClr val="2F5D8A"/>
            </a:solidFill>
            <a:prstDash val="solid"/>
          </a:ln>
        </p:spPr>
      </p:sp>
      <p:sp>
        <p:nvSpPr>
          <p:cNvPr id="16" name="Shape 13"/>
          <p:cNvSpPr/>
          <p:nvPr/>
        </p:nvSpPr>
        <p:spPr>
          <a:xfrm>
            <a:off x="3657600" y="1819656"/>
            <a:ext cx="365760" cy="1344168"/>
          </a:xfrm>
          <a:prstGeom prst="line">
            <a:avLst/>
          </a:prstGeom>
          <a:noFill/>
          <a:ln w="22225">
            <a:solidFill>
              <a:srgbClr val="2F5D8A"/>
            </a:solidFill>
            <a:prstDash val="solid"/>
          </a:ln>
        </p:spPr>
      </p:sp>
      <p:sp>
        <p:nvSpPr>
          <p:cNvPr id="17" name="Shape 14"/>
          <p:cNvSpPr/>
          <p:nvPr/>
        </p:nvSpPr>
        <p:spPr>
          <a:xfrm flipV="1">
            <a:off x="4023360" y="1737360"/>
            <a:ext cx="365760" cy="1426464"/>
          </a:xfrm>
          <a:prstGeom prst="line">
            <a:avLst/>
          </a:prstGeom>
          <a:noFill/>
          <a:ln w="22225">
            <a:solidFill>
              <a:srgbClr val="2F5D8A"/>
            </a:solidFill>
            <a:prstDash val="solid"/>
          </a:ln>
        </p:spPr>
      </p:sp>
      <p:sp>
        <p:nvSpPr>
          <p:cNvPr id="18" name="Shape 15"/>
          <p:cNvSpPr/>
          <p:nvPr/>
        </p:nvSpPr>
        <p:spPr>
          <a:xfrm>
            <a:off x="4389120" y="1737360"/>
            <a:ext cx="365760" cy="109728"/>
          </a:xfrm>
          <a:prstGeom prst="line">
            <a:avLst/>
          </a:prstGeom>
          <a:noFill/>
          <a:ln w="22225">
            <a:solidFill>
              <a:srgbClr val="2F5D8A"/>
            </a:solidFill>
            <a:prstDash val="solid"/>
          </a:ln>
        </p:spPr>
      </p:sp>
      <p:sp>
        <p:nvSpPr>
          <p:cNvPr id="19" name="Shape 16"/>
          <p:cNvSpPr/>
          <p:nvPr/>
        </p:nvSpPr>
        <p:spPr>
          <a:xfrm>
            <a:off x="1042416" y="1682496"/>
            <a:ext cx="109728" cy="109728"/>
          </a:xfrm>
          <a:prstGeom prst="ellipse">
            <a:avLst/>
          </a:prstGeom>
          <a:solidFill>
            <a:srgbClr val="2F5D8A"/>
          </a:solidFill>
          <a:ln w="12700">
            <a:solidFill>
              <a:srgbClr val="2F5D8A"/>
            </a:solidFill>
            <a:prstDash val="solid"/>
          </a:ln>
        </p:spPr>
      </p:sp>
      <p:sp>
        <p:nvSpPr>
          <p:cNvPr id="20" name="Shape 17"/>
          <p:cNvSpPr/>
          <p:nvPr/>
        </p:nvSpPr>
        <p:spPr>
          <a:xfrm>
            <a:off x="1408176" y="1819656"/>
            <a:ext cx="109728" cy="109728"/>
          </a:xfrm>
          <a:prstGeom prst="ellipse">
            <a:avLst/>
          </a:prstGeom>
          <a:solidFill>
            <a:srgbClr val="2F5D8A"/>
          </a:solidFill>
          <a:ln w="12700">
            <a:solidFill>
              <a:srgbClr val="2F5D8A"/>
            </a:solidFill>
            <a:prstDash val="solid"/>
          </a:ln>
        </p:spPr>
      </p:sp>
      <p:sp>
        <p:nvSpPr>
          <p:cNvPr id="21" name="Shape 18"/>
          <p:cNvSpPr/>
          <p:nvPr/>
        </p:nvSpPr>
        <p:spPr>
          <a:xfrm>
            <a:off x="1773936" y="1627632"/>
            <a:ext cx="109728" cy="109728"/>
          </a:xfrm>
          <a:prstGeom prst="ellipse">
            <a:avLst/>
          </a:prstGeom>
          <a:solidFill>
            <a:srgbClr val="2F5D8A"/>
          </a:solidFill>
          <a:ln w="12700">
            <a:solidFill>
              <a:srgbClr val="2F5D8A"/>
            </a:solidFill>
            <a:prstDash val="solid"/>
          </a:ln>
        </p:spPr>
      </p:sp>
      <p:sp>
        <p:nvSpPr>
          <p:cNvPr id="22" name="Shape 19"/>
          <p:cNvSpPr/>
          <p:nvPr/>
        </p:nvSpPr>
        <p:spPr>
          <a:xfrm>
            <a:off x="2139696" y="3054096"/>
            <a:ext cx="109728" cy="109728"/>
          </a:xfrm>
          <a:prstGeom prst="ellipse">
            <a:avLst/>
          </a:prstGeom>
          <a:solidFill>
            <a:srgbClr val="B5432A"/>
          </a:solidFill>
          <a:ln w="12700">
            <a:solidFill>
              <a:srgbClr val="B5432A"/>
            </a:solidFill>
            <a:prstDash val="solid"/>
          </a:ln>
        </p:spPr>
      </p:sp>
      <p:sp>
        <p:nvSpPr>
          <p:cNvPr id="23" name="Shape 20"/>
          <p:cNvSpPr/>
          <p:nvPr/>
        </p:nvSpPr>
        <p:spPr>
          <a:xfrm>
            <a:off x="2505456" y="1737360"/>
            <a:ext cx="109728" cy="109728"/>
          </a:xfrm>
          <a:prstGeom prst="ellipse">
            <a:avLst/>
          </a:prstGeom>
          <a:solidFill>
            <a:srgbClr val="2F5D8A"/>
          </a:solidFill>
          <a:ln w="12700">
            <a:solidFill>
              <a:srgbClr val="2F5D8A"/>
            </a:solidFill>
            <a:prstDash val="solid"/>
          </a:ln>
        </p:spPr>
      </p:sp>
      <p:sp>
        <p:nvSpPr>
          <p:cNvPr id="24" name="Shape 21"/>
          <p:cNvSpPr/>
          <p:nvPr/>
        </p:nvSpPr>
        <p:spPr>
          <a:xfrm>
            <a:off x="2871216" y="1682496"/>
            <a:ext cx="109728" cy="109728"/>
          </a:xfrm>
          <a:prstGeom prst="ellipse">
            <a:avLst/>
          </a:prstGeom>
          <a:solidFill>
            <a:srgbClr val="2F5D8A"/>
          </a:solidFill>
          <a:ln w="12700">
            <a:solidFill>
              <a:srgbClr val="2F5D8A"/>
            </a:solidFill>
            <a:prstDash val="solid"/>
          </a:ln>
        </p:spPr>
      </p:sp>
      <p:sp>
        <p:nvSpPr>
          <p:cNvPr id="25" name="Shape 22"/>
          <p:cNvSpPr/>
          <p:nvPr/>
        </p:nvSpPr>
        <p:spPr>
          <a:xfrm>
            <a:off x="3236976" y="1847088"/>
            <a:ext cx="109728" cy="109728"/>
          </a:xfrm>
          <a:prstGeom prst="ellipse">
            <a:avLst/>
          </a:prstGeom>
          <a:solidFill>
            <a:srgbClr val="2F5D8A"/>
          </a:solidFill>
          <a:ln w="12700">
            <a:solidFill>
              <a:srgbClr val="2F5D8A"/>
            </a:solidFill>
            <a:prstDash val="solid"/>
          </a:ln>
        </p:spPr>
      </p:sp>
      <p:sp>
        <p:nvSpPr>
          <p:cNvPr id="26" name="Shape 23"/>
          <p:cNvSpPr/>
          <p:nvPr/>
        </p:nvSpPr>
        <p:spPr>
          <a:xfrm>
            <a:off x="3602736" y="1764792"/>
            <a:ext cx="109728" cy="109728"/>
          </a:xfrm>
          <a:prstGeom prst="ellipse">
            <a:avLst/>
          </a:prstGeom>
          <a:solidFill>
            <a:srgbClr val="2F5D8A"/>
          </a:solidFill>
          <a:ln w="12700">
            <a:solidFill>
              <a:srgbClr val="2F5D8A"/>
            </a:solidFill>
            <a:prstDash val="solid"/>
          </a:ln>
        </p:spPr>
      </p:sp>
      <p:sp>
        <p:nvSpPr>
          <p:cNvPr id="27" name="Shape 24"/>
          <p:cNvSpPr/>
          <p:nvPr/>
        </p:nvSpPr>
        <p:spPr>
          <a:xfrm>
            <a:off x="3968496" y="3108960"/>
            <a:ext cx="109728" cy="109728"/>
          </a:xfrm>
          <a:prstGeom prst="ellipse">
            <a:avLst/>
          </a:prstGeom>
          <a:solidFill>
            <a:srgbClr val="B5432A"/>
          </a:solidFill>
          <a:ln w="12700">
            <a:solidFill>
              <a:srgbClr val="B5432A"/>
            </a:solidFill>
            <a:prstDash val="solid"/>
          </a:ln>
        </p:spPr>
      </p:sp>
      <p:sp>
        <p:nvSpPr>
          <p:cNvPr id="28" name="Shape 25"/>
          <p:cNvSpPr/>
          <p:nvPr/>
        </p:nvSpPr>
        <p:spPr>
          <a:xfrm>
            <a:off x="4334256" y="1682496"/>
            <a:ext cx="109728" cy="109728"/>
          </a:xfrm>
          <a:prstGeom prst="ellipse">
            <a:avLst/>
          </a:prstGeom>
          <a:solidFill>
            <a:srgbClr val="2F5D8A"/>
          </a:solidFill>
          <a:ln w="12700">
            <a:solidFill>
              <a:srgbClr val="2F5D8A"/>
            </a:solidFill>
            <a:prstDash val="solid"/>
          </a:ln>
        </p:spPr>
      </p:sp>
      <p:sp>
        <p:nvSpPr>
          <p:cNvPr id="29" name="Shape 26"/>
          <p:cNvSpPr/>
          <p:nvPr/>
        </p:nvSpPr>
        <p:spPr>
          <a:xfrm>
            <a:off x="4700016" y="1792224"/>
            <a:ext cx="109728" cy="109728"/>
          </a:xfrm>
          <a:prstGeom prst="ellipse">
            <a:avLst/>
          </a:prstGeom>
          <a:solidFill>
            <a:srgbClr val="2F5D8A"/>
          </a:solidFill>
          <a:ln w="12700">
            <a:solidFill>
              <a:srgbClr val="2F5D8A"/>
            </a:solidFill>
            <a:prstDash val="solid"/>
          </a:ln>
        </p:spPr>
      </p:sp>
      <p:sp>
        <p:nvSpPr>
          <p:cNvPr id="30" name="Shape 27"/>
          <p:cNvSpPr/>
          <p:nvPr/>
        </p:nvSpPr>
        <p:spPr>
          <a:xfrm>
            <a:off x="2194560" y="1554480"/>
            <a:ext cx="0" cy="2468880"/>
          </a:xfrm>
          <a:prstGeom prst="line">
            <a:avLst/>
          </a:prstGeom>
          <a:noFill/>
          <a:ln w="12700">
            <a:solidFill>
              <a:srgbClr val="B5432A"/>
            </a:solidFill>
            <a:prstDash val="dash"/>
          </a:ln>
        </p:spPr>
      </p:sp>
      <p:sp>
        <p:nvSpPr>
          <p:cNvPr id="31" name="Text 28"/>
          <p:cNvSpPr txBox="1"/>
          <p:nvPr/>
        </p:nvSpPr>
        <p:spPr>
          <a:xfrm>
            <a:off x="2240280" y="1600200"/>
            <a:ext cx="365760" cy="228600"/>
          </a:xfrm>
          <a:prstGeom prst="rect">
            <a:avLst/>
          </a:prstGeom>
          <a:noFill/>
          <a:ln/>
        </p:spPr>
        <p:txBody>
          <a:bodyPr wrap="square" lIns="0" tIns="0" rIns="0" bIns="0" rtlCol="0" anchor="t"/>
          <a:lstStyle/>
          <a:p>
            <a:pPr indent="0" marL="0">
              <a:buNone/>
            </a:pPr>
            <a:r>
              <a:rPr lang="en-US" sz="1100" b="1" dirty="0">
                <a:solidFill>
                  <a:schemeClr val="accent1"/>
                </a:solidFill>
              </a:rPr>
              <a:t>cut</a:t>
            </a:r>
            <a:endParaRPr lang="en-US" sz="1100" dirty="0"/>
          </a:p>
        </p:txBody>
      </p:sp>
      <p:sp>
        <p:nvSpPr>
          <p:cNvPr id="32" name="Shape 29"/>
          <p:cNvSpPr/>
          <p:nvPr/>
        </p:nvSpPr>
        <p:spPr>
          <a:xfrm>
            <a:off x="4023360" y="1554480"/>
            <a:ext cx="0" cy="2468880"/>
          </a:xfrm>
          <a:prstGeom prst="line">
            <a:avLst/>
          </a:prstGeom>
          <a:noFill/>
          <a:ln w="12700">
            <a:solidFill>
              <a:srgbClr val="B5432A"/>
            </a:solidFill>
            <a:prstDash val="dash"/>
          </a:ln>
        </p:spPr>
      </p:sp>
      <p:sp>
        <p:nvSpPr>
          <p:cNvPr id="33" name="Text 30"/>
          <p:cNvSpPr txBox="1"/>
          <p:nvPr/>
        </p:nvSpPr>
        <p:spPr>
          <a:xfrm>
            <a:off x="4069080" y="1600200"/>
            <a:ext cx="365760" cy="228600"/>
          </a:xfrm>
          <a:prstGeom prst="rect">
            <a:avLst/>
          </a:prstGeom>
          <a:noFill/>
          <a:ln/>
        </p:spPr>
        <p:txBody>
          <a:bodyPr wrap="square" lIns="0" tIns="0" rIns="0" bIns="0" rtlCol="0" anchor="t"/>
          <a:lstStyle/>
          <a:p>
            <a:pPr indent="0" marL="0">
              <a:buNone/>
            </a:pPr>
            <a:r>
              <a:rPr lang="en-US" sz="1100" b="1" dirty="0">
                <a:solidFill>
                  <a:schemeClr val="accent1"/>
                </a:solidFill>
              </a:rPr>
              <a:t>cut</a:t>
            </a:r>
            <a:endParaRPr lang="en-US" sz="1100" dirty="0"/>
          </a:p>
        </p:txBody>
      </p:sp>
      <p:sp>
        <p:nvSpPr>
          <p:cNvPr id="34" name="Text 31"/>
          <p:cNvSpPr txBox="1"/>
          <p:nvPr/>
        </p:nvSpPr>
        <p:spPr>
          <a:xfrm>
            <a:off x="594360" y="4434840"/>
            <a:ext cx="475488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6.6  Dips in neighbour similarity mark topic changes</a:t>
            </a:r>
            <a:endParaRPr lang="en-US" sz="1100" dirty="0"/>
          </a:p>
        </p:txBody>
      </p:sp>
      <p:sp>
        <p:nvSpPr>
          <p:cNvPr id="35" name="Text 32"/>
          <p:cNvSpPr txBox="1"/>
          <p:nvPr/>
        </p:nvSpPr>
        <p:spPr>
          <a:xfrm>
            <a:off x="5669280" y="128016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Embed every sentence</a:t>
            </a:r>
            <a:endParaRPr lang="en-US" sz="1400" dirty="0"/>
          </a:p>
          <a:p>
            <a:pPr marL="342900" indent="-342900">
              <a:spcAft>
                <a:spcPts val="800"/>
              </a:spcAft>
              <a:buSzPct val="100000"/>
              <a:buChar char="•"/>
            </a:pPr>
            <a:r>
              <a:rPr lang="en-US" sz="1400" dirty="0">
                <a:solidFill>
                  <a:schemeClr val="tx1"/>
                </a:solidFill>
              </a:rPr>
              <a:t>Cosine between neighbouring sentences</a:t>
            </a:r>
            <a:endParaRPr lang="en-US" sz="1400" dirty="0"/>
          </a:p>
          <a:p>
            <a:pPr marL="342900" indent="-342900">
              <a:spcAft>
                <a:spcPts val="800"/>
              </a:spcAft>
              <a:buSzPct val="100000"/>
              <a:buChar char="•"/>
            </a:pPr>
            <a:r>
              <a:rPr lang="en-US" sz="1400" dirty="0">
                <a:solidFill>
                  <a:schemeClr val="tx1"/>
                </a:solidFill>
              </a:rPr>
              <a:t>Cut below a threshold or percentile</a:t>
            </a:r>
            <a:endParaRPr lang="en-US" sz="1400" dirty="0"/>
          </a:p>
          <a:p>
            <a:pPr marL="342900" indent="-342900">
              <a:spcAft>
                <a:spcPts val="800"/>
              </a:spcAft>
              <a:buSzPct val="100000"/>
              <a:buChar char="•"/>
            </a:pPr>
            <a:r>
              <a:rPr lang="en-US" sz="1400" dirty="0">
                <a:solidFill>
                  <a:schemeClr val="tx1"/>
                </a:solidFill>
              </a:rPr>
              <a:t>Cap the maximum size anyway</a:t>
            </a:r>
            <a:endParaRPr lang="en-US" sz="1400" dirty="0"/>
          </a:p>
        </p:txBody>
      </p:sp>
      <p:sp>
        <p:nvSpPr>
          <p:cNvPr id="36" name="Text 33"/>
          <p:cNvSpPr txBox="1"/>
          <p:nvPr/>
        </p:nvSpPr>
        <p:spPr>
          <a:xfrm>
            <a:off x="5669280" y="3566160"/>
            <a:ext cx="3017520" cy="914400"/>
          </a:xfrm>
          <a:prstGeom prst="rect">
            <a:avLst/>
          </a:prstGeom>
          <a:noFill/>
          <a:ln/>
        </p:spPr>
        <p:txBody>
          <a:bodyPr wrap="square" lIns="0" tIns="0" rIns="0" bIns="0" rtlCol="0" anchor="t"/>
          <a:lstStyle/>
          <a:p>
            <a:pPr indent="0" marL="0">
              <a:buNone/>
            </a:pPr>
            <a:r>
              <a:rPr lang="en-US" sz="1300" b="1" dirty="0">
                <a:solidFill>
                  <a:srgbClr val="B5432A"/>
                </a:solidFill>
                <a:latin typeface="Cambria" pitchFamily="34" charset="0"/>
                <a:ea typeface="Cambria" pitchFamily="34" charset="-122"/>
                <a:cs typeface="Cambria" pitchFamily="34" charset="-120"/>
              </a:rPr>
              <a:t>Trade-off  </a:t>
            </a:r>
            <a:pPr indent="0" marL="0">
              <a:buNone/>
            </a:pPr>
            <a:r>
              <a:rPr lang="en-US" sz="1300" dirty="0">
                <a:solidFill>
                  <a:schemeClr val="tx1"/>
                </a:solidFill>
                <a:latin typeface="Cambria" pitchFamily="34" charset="0"/>
                <a:ea typeface="Cambria" pitchFamily="34" charset="-122"/>
                <a:cs typeface="Cambria" pitchFamily="34" charset="-120"/>
              </a:rPr>
              <a:t>Costs an embedding per sentence, and chunk sizes vary widely.</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Match small, return big</a:t>
            </a:r>
            <a:endParaRPr lang="en-US" sz="3000" dirty="0"/>
          </a:p>
        </p:txBody>
      </p:sp>
      <p:sp>
        <p:nvSpPr>
          <p:cNvPr id="4" name="Shape 1"/>
          <p:cNvSpPr/>
          <p:nvPr/>
        </p:nvSpPr>
        <p:spPr>
          <a:xfrm>
            <a:off x="457200" y="1280160"/>
            <a:ext cx="4937760" cy="2468880"/>
          </a:xfrm>
          <a:prstGeom prst="rect">
            <a:avLst/>
          </a:prstGeom>
          <a:solidFill>
            <a:schemeClr val="bg1"/>
          </a:solidFill>
          <a:ln w="12700">
            <a:solidFill>
              <a:schemeClr val="accent6"/>
            </a:solidFill>
            <a:prstDash val="solid"/>
          </a:ln>
        </p:spPr>
      </p:sp>
      <p:sp>
        <p:nvSpPr>
          <p:cNvPr id="5" name="Text 2"/>
          <p:cNvSpPr txBox="1"/>
          <p:nvPr/>
        </p:nvSpPr>
        <p:spPr>
          <a:xfrm>
            <a:off x="640080" y="1325880"/>
            <a:ext cx="3657600" cy="274320"/>
          </a:xfrm>
          <a:prstGeom prst="rect">
            <a:avLst/>
          </a:prstGeom>
          <a:noFill/>
          <a:ln/>
        </p:spPr>
        <p:txBody>
          <a:bodyPr wrap="square" lIns="0" tIns="0" rIns="0" bIns="0" rtlCol="0" anchor="t"/>
          <a:lstStyle/>
          <a:p>
            <a:pPr indent="0" marL="0">
              <a:buNone/>
            </a:pPr>
            <a:r>
              <a:rPr lang="en-US" sz="1200" b="1" dirty="0">
                <a:solidFill>
                  <a:schemeClr val="accent5"/>
                </a:solidFill>
                <a:latin typeface="Cambria" pitchFamily="34" charset="0"/>
                <a:ea typeface="Cambria" pitchFamily="34" charset="-122"/>
                <a:cs typeface="Cambria" pitchFamily="34" charset="-120"/>
              </a:rPr>
              <a:t>Parent section (returned to the LLM)</a:t>
            </a:r>
            <a:endParaRPr lang="en-US" sz="1200" dirty="0"/>
          </a:p>
        </p:txBody>
      </p:sp>
      <p:sp>
        <p:nvSpPr>
          <p:cNvPr id="6" name="Shape 3"/>
          <p:cNvSpPr/>
          <p:nvPr/>
        </p:nvSpPr>
        <p:spPr>
          <a:xfrm>
            <a:off x="640080" y="1828800"/>
            <a:ext cx="1051560" cy="502920"/>
          </a:xfrm>
          <a:prstGeom prst="rect">
            <a:avLst/>
          </a:prstGeom>
          <a:solidFill>
            <a:schemeClr val="bg1"/>
          </a:solidFill>
          <a:ln w="12700">
            <a:solidFill>
              <a:srgbClr val="6B7280"/>
            </a:solidFill>
            <a:prstDash val="solid"/>
          </a:ln>
        </p:spPr>
      </p:sp>
      <p:sp>
        <p:nvSpPr>
          <p:cNvPr id="7" name="Text 4"/>
          <p:cNvSpPr txBox="1"/>
          <p:nvPr/>
        </p:nvSpPr>
        <p:spPr>
          <a:xfrm>
            <a:off x="640080" y="1828800"/>
            <a:ext cx="1051560" cy="502920"/>
          </a:xfrm>
          <a:prstGeom prst="rect">
            <a:avLst/>
          </a:prstGeom>
          <a:noFill/>
          <a:ln/>
        </p:spPr>
        <p:txBody>
          <a:bodyPr wrap="square" lIns="0" tIns="0" rIns="0" bIns="0" rtlCol="0" anchor="ctr"/>
          <a:lstStyle/>
          <a:p>
            <a:pPr algn="ctr" indent="0" marL="0">
              <a:buNone/>
            </a:pPr>
            <a:r>
              <a:rPr lang="en-US" sz="1200" dirty="0">
                <a:solidFill>
                  <a:schemeClr val="tx1"/>
                </a:solidFill>
              </a:rPr>
              <a:t>sentence 1</a:t>
            </a:r>
            <a:endParaRPr lang="en-US" sz="1200" dirty="0"/>
          </a:p>
        </p:txBody>
      </p:sp>
      <p:sp>
        <p:nvSpPr>
          <p:cNvPr id="8" name="Shape 5"/>
          <p:cNvSpPr/>
          <p:nvPr/>
        </p:nvSpPr>
        <p:spPr>
          <a:xfrm>
            <a:off x="1810512" y="1828800"/>
            <a:ext cx="1051560" cy="502920"/>
          </a:xfrm>
          <a:prstGeom prst="rect">
            <a:avLst/>
          </a:prstGeom>
          <a:solidFill>
            <a:schemeClr val="bg1"/>
          </a:solidFill>
          <a:ln w="12700">
            <a:solidFill>
              <a:srgbClr val="6B7280"/>
            </a:solidFill>
            <a:prstDash val="solid"/>
          </a:ln>
        </p:spPr>
      </p:sp>
      <p:sp>
        <p:nvSpPr>
          <p:cNvPr id="9" name="Text 6"/>
          <p:cNvSpPr txBox="1"/>
          <p:nvPr/>
        </p:nvSpPr>
        <p:spPr>
          <a:xfrm>
            <a:off x="1810512" y="1828800"/>
            <a:ext cx="1051560" cy="502920"/>
          </a:xfrm>
          <a:prstGeom prst="rect">
            <a:avLst/>
          </a:prstGeom>
          <a:noFill/>
          <a:ln/>
        </p:spPr>
        <p:txBody>
          <a:bodyPr wrap="square" lIns="0" tIns="0" rIns="0" bIns="0" rtlCol="0" anchor="ctr"/>
          <a:lstStyle/>
          <a:p>
            <a:pPr algn="ctr" indent="0" marL="0">
              <a:buNone/>
            </a:pPr>
            <a:r>
              <a:rPr lang="en-US" sz="1200" dirty="0">
                <a:solidFill>
                  <a:schemeClr val="tx1"/>
                </a:solidFill>
              </a:rPr>
              <a:t>sentence 2</a:t>
            </a:r>
            <a:endParaRPr lang="en-US" sz="1200" dirty="0"/>
          </a:p>
        </p:txBody>
      </p:sp>
      <p:sp>
        <p:nvSpPr>
          <p:cNvPr id="10" name="Shape 7"/>
          <p:cNvSpPr/>
          <p:nvPr/>
        </p:nvSpPr>
        <p:spPr>
          <a:xfrm>
            <a:off x="2980944" y="1828800"/>
            <a:ext cx="1051560" cy="502920"/>
          </a:xfrm>
          <a:prstGeom prst="rect">
            <a:avLst/>
          </a:prstGeom>
          <a:solidFill>
            <a:srgbClr val="B5432A"/>
          </a:solidFill>
          <a:ln w="28575">
            <a:solidFill>
              <a:srgbClr val="B5432A"/>
            </a:solidFill>
            <a:prstDash val="solid"/>
          </a:ln>
        </p:spPr>
      </p:sp>
      <p:sp>
        <p:nvSpPr>
          <p:cNvPr id="11" name="Text 8"/>
          <p:cNvSpPr txBox="1"/>
          <p:nvPr/>
        </p:nvSpPr>
        <p:spPr>
          <a:xfrm>
            <a:off x="2980944" y="1828800"/>
            <a:ext cx="1051560" cy="502920"/>
          </a:xfrm>
          <a:prstGeom prst="rect">
            <a:avLst/>
          </a:prstGeom>
          <a:noFill/>
          <a:ln/>
        </p:spPr>
        <p:txBody>
          <a:bodyPr wrap="square" lIns="0" tIns="0" rIns="0" bIns="0" rtlCol="0" anchor="ctr"/>
          <a:lstStyle/>
          <a:p>
            <a:pPr algn="ctr" indent="0" marL="0">
              <a:buNone/>
            </a:pPr>
            <a:r>
              <a:rPr lang="en-US" sz="1200" b="1" dirty="0">
                <a:solidFill>
                  <a:srgbClr val="FFFFFF"/>
                </a:solidFill>
              </a:rPr>
              <a:t>sentence 3</a:t>
            </a:r>
            <a:endParaRPr lang="en-US" sz="1200" dirty="0"/>
          </a:p>
        </p:txBody>
      </p:sp>
      <p:sp>
        <p:nvSpPr>
          <p:cNvPr id="12" name="Shape 9"/>
          <p:cNvSpPr/>
          <p:nvPr/>
        </p:nvSpPr>
        <p:spPr>
          <a:xfrm>
            <a:off x="4151376" y="1828800"/>
            <a:ext cx="1051560" cy="502920"/>
          </a:xfrm>
          <a:prstGeom prst="rect">
            <a:avLst/>
          </a:prstGeom>
          <a:solidFill>
            <a:schemeClr val="bg1"/>
          </a:solidFill>
          <a:ln w="12700">
            <a:solidFill>
              <a:srgbClr val="6B7280"/>
            </a:solidFill>
            <a:prstDash val="solid"/>
          </a:ln>
        </p:spPr>
      </p:sp>
      <p:sp>
        <p:nvSpPr>
          <p:cNvPr id="13" name="Text 10"/>
          <p:cNvSpPr txBox="1"/>
          <p:nvPr/>
        </p:nvSpPr>
        <p:spPr>
          <a:xfrm>
            <a:off x="4151376" y="1828800"/>
            <a:ext cx="1051560" cy="502920"/>
          </a:xfrm>
          <a:prstGeom prst="rect">
            <a:avLst/>
          </a:prstGeom>
          <a:noFill/>
          <a:ln/>
        </p:spPr>
        <p:txBody>
          <a:bodyPr wrap="square" lIns="0" tIns="0" rIns="0" bIns="0" rtlCol="0" anchor="ctr"/>
          <a:lstStyle/>
          <a:p>
            <a:pPr algn="ctr" indent="0" marL="0">
              <a:buNone/>
            </a:pPr>
            <a:r>
              <a:rPr lang="en-US" sz="1200" dirty="0">
                <a:solidFill>
                  <a:schemeClr val="tx1"/>
                </a:solidFill>
              </a:rPr>
              <a:t>sentence 4</a:t>
            </a:r>
            <a:endParaRPr lang="en-US" sz="1200" dirty="0"/>
          </a:p>
        </p:txBody>
      </p:sp>
      <p:sp>
        <p:nvSpPr>
          <p:cNvPr id="14" name="Text 11"/>
          <p:cNvSpPr txBox="1"/>
          <p:nvPr/>
        </p:nvSpPr>
        <p:spPr>
          <a:xfrm>
            <a:off x="640080" y="2423160"/>
            <a:ext cx="438912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small chunks are what we embed and match</a:t>
            </a:r>
            <a:endParaRPr lang="en-US" sz="1200" dirty="0"/>
          </a:p>
        </p:txBody>
      </p:sp>
      <p:sp>
        <p:nvSpPr>
          <p:cNvPr id="15" name="Shape 12"/>
          <p:cNvSpPr/>
          <p:nvPr/>
        </p:nvSpPr>
        <p:spPr>
          <a:xfrm>
            <a:off x="2971800" y="2331720"/>
            <a:ext cx="0" cy="685800"/>
          </a:xfrm>
          <a:prstGeom prst="line">
            <a:avLst/>
          </a:prstGeom>
          <a:noFill/>
          <a:ln w="19050">
            <a:solidFill>
              <a:srgbClr val="B5432A"/>
            </a:solidFill>
            <a:prstDash val="solid"/>
            <a:tailEnd type="triangle"/>
          </a:ln>
        </p:spPr>
      </p:sp>
      <p:sp>
        <p:nvSpPr>
          <p:cNvPr id="16" name="Text 13"/>
          <p:cNvSpPr txBox="1"/>
          <p:nvPr/>
        </p:nvSpPr>
        <p:spPr>
          <a:xfrm>
            <a:off x="640080" y="3108960"/>
            <a:ext cx="4389120" cy="45720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match on sentence 3, return the whole parent</a:t>
            </a:r>
            <a:endParaRPr lang="en-US" sz="1300" dirty="0"/>
          </a:p>
        </p:txBody>
      </p:sp>
      <p:sp>
        <p:nvSpPr>
          <p:cNvPr id="17" name="Text 14"/>
          <p:cNvSpPr txBox="1"/>
          <p:nvPr/>
        </p:nvSpPr>
        <p:spPr>
          <a:xfrm>
            <a:off x="457200" y="3886200"/>
            <a:ext cx="493776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6.7  Small-to-big retrieval</a:t>
            </a:r>
            <a:endParaRPr lang="en-US" sz="1100" dirty="0"/>
          </a:p>
        </p:txBody>
      </p:sp>
      <p:sp>
        <p:nvSpPr>
          <p:cNvPr id="18" name="Text 15"/>
          <p:cNvSpPr txBox="1"/>
          <p:nvPr/>
        </p:nvSpPr>
        <p:spPr>
          <a:xfrm>
            <a:off x="5669280" y="128016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Precision of small chunks</a:t>
            </a:r>
            <a:endParaRPr lang="en-US" sz="1400" dirty="0"/>
          </a:p>
          <a:p>
            <a:pPr marL="342900" indent="-342900">
              <a:spcAft>
                <a:spcPts val="800"/>
              </a:spcAft>
              <a:buSzPct val="100000"/>
              <a:buChar char="•"/>
            </a:pPr>
            <a:r>
              <a:rPr lang="en-US" sz="1400" dirty="0">
                <a:solidFill>
                  <a:schemeClr val="tx1"/>
                </a:solidFill>
              </a:rPr>
              <a:t>Context of large ones</a:t>
            </a:r>
            <a:endParaRPr lang="en-US" sz="1400" dirty="0"/>
          </a:p>
          <a:p>
            <a:pPr marL="342900" indent="-342900">
              <a:spcAft>
                <a:spcPts val="800"/>
              </a:spcAft>
              <a:buSzPct val="100000"/>
              <a:buChar char="•"/>
            </a:pPr>
            <a:r>
              <a:rPr lang="en-US" sz="1400" dirty="0">
                <a:solidFill>
                  <a:schemeClr val="tx1"/>
                </a:solidFill>
              </a:rPr>
              <a:t>Needs a parent store and a child-to-parent link</a:t>
            </a:r>
            <a:endParaRPr lang="en-US" sz="1400" dirty="0"/>
          </a:p>
          <a:p>
            <a:pPr marL="342900" indent="-342900">
              <a:spcAft>
                <a:spcPts val="800"/>
              </a:spcAft>
              <a:buSzPct val="100000"/>
              <a:buChar char="•"/>
            </a:pPr>
            <a:r>
              <a:rPr lang="en-US" sz="1400" dirty="0">
                <a:solidFill>
                  <a:schemeClr val="tx1"/>
                </a:solidFill>
              </a:rPr>
              <a:t>Watch the token budget when parents are large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Comparing the strategies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45920"/>
                <a:gridCol w="2194560"/>
                <a:gridCol w="2194560"/>
                <a:gridCol w="21945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Strengths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Weaknesses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Fixed + overlap</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Equal windows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Simple, predictable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Cuts sentences and structure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Recursive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Separator cascade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Keeps paragraphs, good default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Blind to headings and tables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Structure-aware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Use headings, code, tables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Rich context for free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Needs clean, parseable input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Semantic</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Cut at similarity drops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Topic-coherent chunks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Costly, uneven sizes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Small-to-big</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Match small, return parent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Precision and context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More storage and logic</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Designing chunk metadata</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2286000"/>
                <a:gridCol w="1097280"/>
                <a:gridCol w="548640"/>
                <a:gridCol w="1737360"/>
                <a:gridCol w="73152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document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page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section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chunk</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refunds-v2:p3:0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 are accepted within 30 days...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refunds.pdf</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 &gt; Window</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refunds-v2:p3:1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Digital goods are not refundable...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refunds.pdf</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Refunds &gt; Exceptions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274320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Table 6.2  Two chunk records</a:t>
            </a:r>
            <a:endParaRPr lang="en-US" sz="1100" dirty="0"/>
          </a:p>
        </p:txBody>
      </p:sp>
      <p:sp>
        <p:nvSpPr>
          <p:cNvPr id="6" name="Text 2"/>
          <p:cNvSpPr txBox="1"/>
          <p:nvPr/>
        </p:nvSpPr>
        <p:spPr>
          <a:xfrm>
            <a:off x="457200" y="3108960"/>
            <a:ext cx="8229600" cy="1463040"/>
          </a:xfrm>
          <a:prstGeom prst="rect">
            <a:avLst/>
          </a:prstGeom>
          <a:noFill/>
          <a:ln/>
        </p:spPr>
        <p:txBody>
          <a:bodyPr wrap="square" lIns="0" tIns="0" rIns="0" bIns="0" rtlCol="0" anchor="t"/>
          <a:lstStyle/>
          <a:p>
            <a:pPr indent="0" marL="0">
              <a:buNone/>
            </a:pPr>
            <a:r>
              <a:rPr lang="en-US" sz="1400" b="1" dirty="0">
                <a:solidFill>
                  <a:srgbClr val="B5432A"/>
                </a:solidFill>
                <a:latin typeface="Cambria" pitchFamily="34" charset="0"/>
                <a:ea typeface="Cambria" pitchFamily="34" charset="-122"/>
                <a:cs typeface="Cambria" pitchFamily="34" charset="-120"/>
              </a:rPr>
              <a:t>Useful fields  </a:t>
            </a:r>
            <a:pPr indent="0" marL="0">
              <a:spcAft>
                <a:spcPts val="800"/>
              </a:spcAft>
              <a:buNone/>
            </a:pPr>
            <a:r>
              <a:rPr lang="en-US" sz="1400" dirty="0">
                <a:solidFill>
                  <a:schemeClr val="tx1"/>
                </a:solidFill>
                <a:latin typeface="Cambria" pitchFamily="34" charset="0"/>
                <a:ea typeface="Cambria" pitchFamily="34" charset="-122"/>
                <a:cs typeface="Cambria" pitchFamily="34" charset="-120"/>
              </a:rPr>
              <a:t>source, page, section path, chunk index, document id, language, date, author, tenant or access level, content hash.</a:t>
            </a:r>
            <a:endParaRPr lang="en-US" sz="1400" dirty="0"/>
          </a:p>
          <a:p>
            <a:pPr indent="0" marL="0">
              <a:buNone/>
            </a:pPr>
            <a:r>
              <a:rPr lang="en-US" sz="1400" b="1" dirty="0">
                <a:solidFill>
                  <a:srgbClr val="B5432A"/>
                </a:solidFill>
                <a:latin typeface="Cambria" pitchFamily="34" charset="0"/>
                <a:ea typeface="Cambria" pitchFamily="34" charset="-122"/>
                <a:cs typeface="Cambria" pitchFamily="34" charset="-120"/>
              </a:rPr>
              <a:t>Rules  </a:t>
            </a:r>
            <a:pPr indent="0" marL="0">
              <a:buNone/>
            </a:pPr>
            <a:r>
              <a:rPr lang="en-US" sz="1400" dirty="0">
                <a:solidFill>
                  <a:schemeClr val="tx1"/>
                </a:solidFill>
                <a:latin typeface="Cambria" pitchFamily="34" charset="0"/>
                <a:ea typeface="Cambria" pitchFamily="34" charset="-122"/>
                <a:cs typeface="Cambria" pitchFamily="34" charset="-120"/>
              </a:rPr>
              <a:t>Flat key-value pairs of simple types; stable IDs; never put secrets in metadata; filter on tenant before anything else.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Stable IDs and updating documents</a:t>
            </a:r>
            <a:endParaRPr lang="en-US" sz="3000" dirty="0"/>
          </a:p>
        </p:txBody>
      </p:sp>
      <p:sp>
        <p:nvSpPr>
          <p:cNvPr id="4" name="Shape 1"/>
          <p:cNvSpPr/>
          <p:nvPr/>
        </p:nvSpPr>
        <p:spPr>
          <a:xfrm>
            <a:off x="457200" y="1371600"/>
            <a:ext cx="1508760" cy="640080"/>
          </a:xfrm>
          <a:prstGeom prst="rect">
            <a:avLst/>
          </a:prstGeom>
          <a:solidFill>
            <a:schemeClr val="bg1"/>
          </a:solidFill>
          <a:ln w="12700">
            <a:solidFill>
              <a:srgbClr val="1B2A41"/>
            </a:solidFill>
            <a:prstDash val="solid"/>
          </a:ln>
        </p:spPr>
      </p:sp>
      <p:sp>
        <p:nvSpPr>
          <p:cNvPr id="5" name="Text 2"/>
          <p:cNvSpPr txBox="1"/>
          <p:nvPr/>
        </p:nvSpPr>
        <p:spPr>
          <a:xfrm>
            <a:off x="457200" y="1371600"/>
            <a:ext cx="1508760" cy="640080"/>
          </a:xfrm>
          <a:prstGeom prst="rect">
            <a:avLst/>
          </a:prstGeom>
          <a:noFill/>
          <a:ln/>
        </p:spPr>
        <p:txBody>
          <a:bodyPr wrap="square" lIns="0" tIns="0" rIns="0" bIns="0" rtlCol="0" anchor="ctr"/>
          <a:lstStyle/>
          <a:p>
            <a:pPr algn="ctr" indent="0" marL="0">
              <a:buNone/>
            </a:pPr>
            <a:r>
              <a:rPr lang="en-US" sz="1300" b="1" dirty="0">
                <a:solidFill>
                  <a:schemeClr val="tx1"/>
                </a:solidFill>
              </a:rPr>
              <a:t>Document arrives</a:t>
            </a:r>
            <a:endParaRPr lang="en-US" sz="1300" dirty="0"/>
          </a:p>
        </p:txBody>
      </p:sp>
      <p:sp>
        <p:nvSpPr>
          <p:cNvPr id="6" name="Shape 3"/>
          <p:cNvSpPr/>
          <p:nvPr/>
        </p:nvSpPr>
        <p:spPr>
          <a:xfrm>
            <a:off x="1965960" y="1691640"/>
            <a:ext cx="182880" cy="0"/>
          </a:xfrm>
          <a:prstGeom prst="line">
            <a:avLst/>
          </a:prstGeom>
          <a:noFill/>
          <a:ln w="15875">
            <a:solidFill>
              <a:srgbClr val="1B2A41"/>
            </a:solidFill>
            <a:prstDash val="solid"/>
            <a:tailEnd type="triangle"/>
          </a:ln>
        </p:spPr>
      </p:sp>
      <p:sp>
        <p:nvSpPr>
          <p:cNvPr id="7" name="Shape 4"/>
          <p:cNvSpPr/>
          <p:nvPr/>
        </p:nvSpPr>
        <p:spPr>
          <a:xfrm>
            <a:off x="2148840" y="1371600"/>
            <a:ext cx="1508760" cy="640080"/>
          </a:xfrm>
          <a:prstGeom prst="rect">
            <a:avLst/>
          </a:prstGeom>
          <a:solidFill>
            <a:schemeClr val="bg1"/>
          </a:solidFill>
          <a:ln w="12700">
            <a:solidFill>
              <a:srgbClr val="1B2A41"/>
            </a:solidFill>
            <a:prstDash val="solid"/>
          </a:ln>
        </p:spPr>
      </p:sp>
      <p:sp>
        <p:nvSpPr>
          <p:cNvPr id="8" name="Text 5"/>
          <p:cNvSpPr txBox="1"/>
          <p:nvPr/>
        </p:nvSpPr>
        <p:spPr>
          <a:xfrm>
            <a:off x="2148840" y="1371600"/>
            <a:ext cx="1508760" cy="640080"/>
          </a:xfrm>
          <a:prstGeom prst="rect">
            <a:avLst/>
          </a:prstGeom>
          <a:noFill/>
          <a:ln/>
        </p:spPr>
        <p:txBody>
          <a:bodyPr wrap="square" lIns="0" tIns="0" rIns="0" bIns="0" rtlCol="0" anchor="ctr"/>
          <a:lstStyle/>
          <a:p>
            <a:pPr algn="ctr" indent="0" marL="0">
              <a:buNone/>
            </a:pPr>
            <a:r>
              <a:rPr lang="en-US" sz="1300" b="1" dirty="0">
                <a:solidFill>
                  <a:schemeClr val="tx1"/>
                </a:solidFill>
              </a:rPr>
              <a:t>Hash its text</a:t>
            </a:r>
            <a:endParaRPr lang="en-US" sz="1300" dirty="0"/>
          </a:p>
        </p:txBody>
      </p:sp>
      <p:sp>
        <p:nvSpPr>
          <p:cNvPr id="9" name="Shape 6"/>
          <p:cNvSpPr/>
          <p:nvPr/>
        </p:nvSpPr>
        <p:spPr>
          <a:xfrm>
            <a:off x="3657600" y="1691640"/>
            <a:ext cx="182880" cy="0"/>
          </a:xfrm>
          <a:prstGeom prst="line">
            <a:avLst/>
          </a:prstGeom>
          <a:noFill/>
          <a:ln w="15875">
            <a:solidFill>
              <a:srgbClr val="1B2A41"/>
            </a:solidFill>
            <a:prstDash val="solid"/>
            <a:tailEnd type="triangle"/>
          </a:ln>
        </p:spPr>
      </p:sp>
      <p:sp>
        <p:nvSpPr>
          <p:cNvPr id="10" name="Shape 7"/>
          <p:cNvSpPr/>
          <p:nvPr/>
        </p:nvSpPr>
        <p:spPr>
          <a:xfrm>
            <a:off x="3840480" y="1371600"/>
            <a:ext cx="1508760" cy="640080"/>
          </a:xfrm>
          <a:prstGeom prst="rect">
            <a:avLst/>
          </a:prstGeom>
          <a:solidFill>
            <a:schemeClr val="bg1"/>
          </a:solidFill>
          <a:ln w="12700">
            <a:solidFill>
              <a:srgbClr val="1B2A41"/>
            </a:solidFill>
            <a:prstDash val="solid"/>
          </a:ln>
        </p:spPr>
      </p:sp>
      <p:sp>
        <p:nvSpPr>
          <p:cNvPr id="11" name="Text 8"/>
          <p:cNvSpPr txBox="1"/>
          <p:nvPr/>
        </p:nvSpPr>
        <p:spPr>
          <a:xfrm>
            <a:off x="3840480" y="1371600"/>
            <a:ext cx="1508760" cy="640080"/>
          </a:xfrm>
          <a:prstGeom prst="rect">
            <a:avLst/>
          </a:prstGeom>
          <a:noFill/>
          <a:ln/>
        </p:spPr>
        <p:txBody>
          <a:bodyPr wrap="square" lIns="0" tIns="0" rIns="0" bIns="0" rtlCol="0" anchor="ctr"/>
          <a:lstStyle/>
          <a:p>
            <a:pPr algn="ctr" indent="0" marL="0">
              <a:buNone/>
            </a:pPr>
            <a:r>
              <a:rPr lang="en-US" sz="1300" b="1" dirty="0">
                <a:solidFill>
                  <a:schemeClr val="tx1"/>
                </a:solidFill>
              </a:rPr>
              <a:t>Same as stored hash?</a:t>
            </a:r>
            <a:endParaRPr lang="en-US" sz="1300" dirty="0"/>
          </a:p>
        </p:txBody>
      </p:sp>
      <p:sp>
        <p:nvSpPr>
          <p:cNvPr id="12" name="Shape 9"/>
          <p:cNvSpPr/>
          <p:nvPr/>
        </p:nvSpPr>
        <p:spPr>
          <a:xfrm flipV="1">
            <a:off x="2286000" y="2011680"/>
            <a:ext cx="2286000" cy="731520"/>
          </a:xfrm>
          <a:prstGeom prst="line">
            <a:avLst/>
          </a:prstGeom>
          <a:noFill/>
          <a:ln w="15875">
            <a:solidFill>
              <a:srgbClr val="3B7A57"/>
            </a:solidFill>
            <a:prstDash val="solid"/>
            <a:tailEnd type="triangle"/>
          </a:ln>
        </p:spPr>
      </p:sp>
      <p:sp>
        <p:nvSpPr>
          <p:cNvPr id="13" name="Shape 10"/>
          <p:cNvSpPr/>
          <p:nvPr/>
        </p:nvSpPr>
        <p:spPr>
          <a:xfrm>
            <a:off x="4572000" y="2011680"/>
            <a:ext cx="2377440" cy="731520"/>
          </a:xfrm>
          <a:prstGeom prst="line">
            <a:avLst/>
          </a:prstGeom>
          <a:noFill/>
          <a:ln w="15875">
            <a:solidFill>
              <a:srgbClr val="B5432A"/>
            </a:solidFill>
            <a:prstDash val="solid"/>
            <a:tailEnd type="triangle"/>
          </a:ln>
        </p:spPr>
      </p:sp>
      <p:sp>
        <p:nvSpPr>
          <p:cNvPr id="14" name="Shape 11"/>
          <p:cNvSpPr/>
          <p:nvPr/>
        </p:nvSpPr>
        <p:spPr>
          <a:xfrm>
            <a:off x="457200" y="2743200"/>
            <a:ext cx="3291840" cy="640080"/>
          </a:xfrm>
          <a:prstGeom prst="rect">
            <a:avLst/>
          </a:prstGeom>
          <a:solidFill>
            <a:schemeClr val="bg1"/>
          </a:solidFill>
          <a:ln w="25400">
            <a:solidFill>
              <a:srgbClr val="3B7A57"/>
            </a:solidFill>
            <a:prstDash val="solid"/>
          </a:ln>
        </p:spPr>
      </p:sp>
      <p:sp>
        <p:nvSpPr>
          <p:cNvPr id="15" name="Text 12"/>
          <p:cNvSpPr txBox="1"/>
          <p:nvPr/>
        </p:nvSpPr>
        <p:spPr>
          <a:xfrm>
            <a:off x="457200" y="2743200"/>
            <a:ext cx="3291840" cy="640080"/>
          </a:xfrm>
          <a:prstGeom prst="rect">
            <a:avLst/>
          </a:prstGeom>
          <a:noFill/>
          <a:ln/>
        </p:spPr>
        <p:txBody>
          <a:bodyPr wrap="square" lIns="0" tIns="0" rIns="0" bIns="0" rtlCol="0" anchor="ctr"/>
          <a:lstStyle/>
          <a:p>
            <a:pPr algn="ctr" indent="0" marL="0">
              <a:buNone/>
            </a:pPr>
            <a:r>
              <a:rPr lang="en-US" sz="1400" dirty="0">
                <a:solidFill>
                  <a:schemeClr val="tx1"/>
                </a:solidFill>
              </a:rPr>
              <a:t>Yes: skip it</a:t>
            </a:r>
            <a:endParaRPr lang="en-US" sz="1400" dirty="0"/>
          </a:p>
        </p:txBody>
      </p:sp>
      <p:sp>
        <p:nvSpPr>
          <p:cNvPr id="16" name="Shape 13"/>
          <p:cNvSpPr/>
          <p:nvPr/>
        </p:nvSpPr>
        <p:spPr>
          <a:xfrm>
            <a:off x="4937760" y="2743200"/>
            <a:ext cx="3749040" cy="640080"/>
          </a:xfrm>
          <a:prstGeom prst="rect">
            <a:avLst/>
          </a:prstGeom>
          <a:solidFill>
            <a:schemeClr val="bg1"/>
          </a:solidFill>
          <a:ln w="25400">
            <a:solidFill>
              <a:srgbClr val="B5432A"/>
            </a:solidFill>
            <a:prstDash val="solid"/>
          </a:ln>
        </p:spPr>
      </p:sp>
      <p:sp>
        <p:nvSpPr>
          <p:cNvPr id="17" name="Text 14"/>
          <p:cNvSpPr txBox="1"/>
          <p:nvPr/>
        </p:nvSpPr>
        <p:spPr>
          <a:xfrm>
            <a:off x="4937760" y="2743200"/>
            <a:ext cx="3749040" cy="640080"/>
          </a:xfrm>
          <a:prstGeom prst="rect">
            <a:avLst/>
          </a:prstGeom>
          <a:noFill/>
          <a:ln/>
        </p:spPr>
        <p:txBody>
          <a:bodyPr wrap="square" lIns="0" tIns="0" rIns="0" bIns="0" rtlCol="0" anchor="ctr"/>
          <a:lstStyle/>
          <a:p>
            <a:pPr algn="ctr" indent="0" marL="0">
              <a:buNone/>
            </a:pPr>
            <a:r>
              <a:rPr lang="en-US" sz="1300" dirty="0">
                <a:solidFill>
                  <a:schemeClr val="tx1"/>
                </a:solidFill>
              </a:rPr>
              <a:t>No: delete old chunks by document id, re-chunk, upsert</a:t>
            </a:r>
            <a:endParaRPr lang="en-US" sz="1300" dirty="0"/>
          </a:p>
        </p:txBody>
      </p:sp>
      <p:sp>
        <p:nvSpPr>
          <p:cNvPr id="18" name="Text 15"/>
          <p:cNvSpPr txBox="1"/>
          <p:nvPr/>
        </p:nvSpPr>
        <p:spPr>
          <a:xfrm>
            <a:off x="457200" y="3840480"/>
            <a:ext cx="822960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id = document id + page + chunk index, or a hash of the chunk text</a:t>
            </a:r>
            <a:endParaRPr lang="en-US" sz="1600" dirty="0"/>
          </a:p>
        </p:txBody>
      </p:sp>
      <p:sp>
        <p:nvSpPr>
          <p:cNvPr id="19" name="Text 16"/>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dirty="0">
                <a:solidFill>
                  <a:schemeClr val="tx1"/>
                </a:solidFill>
              </a:rPr>
              <a:t>Store the document hash and the embedding model name in metadata, so you know when to re-embed.</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Cleaning messy inputs</a:t>
            </a:r>
            <a:endParaRPr lang="en-US" sz="3000" dirty="0"/>
          </a:p>
        </p:txBody>
      </p:sp>
      <p:sp>
        <p:nvSpPr>
          <p:cNvPr id="4" name="Text 1"/>
          <p:cNvSpPr txBox="1"/>
          <p:nvPr/>
        </p:nvSpPr>
        <p:spPr>
          <a:xfrm>
            <a:off x="457200" y="1280160"/>
            <a:ext cx="3108960" cy="45720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Repeated headers and footers</a:t>
            </a:r>
            <a:endParaRPr lang="en-US" sz="1400" dirty="0"/>
          </a:p>
        </p:txBody>
      </p:sp>
      <p:sp>
        <p:nvSpPr>
          <p:cNvPr id="5" name="Text 2"/>
          <p:cNvSpPr txBox="1"/>
          <p:nvPr/>
        </p:nvSpPr>
        <p:spPr>
          <a:xfrm>
            <a:off x="3657600" y="1280160"/>
            <a:ext cx="5029200" cy="457200"/>
          </a:xfrm>
          <a:prstGeom prst="rect">
            <a:avLst/>
          </a:prstGeom>
          <a:noFill/>
          <a:ln/>
        </p:spPr>
        <p:txBody>
          <a:bodyPr wrap="square" lIns="0" tIns="0" rIns="0" bIns="0" rtlCol="0" anchor="ctr"/>
          <a:lstStyle/>
          <a:p>
            <a:pPr indent="0" marL="0">
              <a:buNone/>
            </a:pPr>
            <a:r>
              <a:rPr lang="en-US" sz="1300" dirty="0">
                <a:solidFill>
                  <a:schemeClr val="tx1"/>
                </a:solidFill>
              </a:rPr>
              <a:t>Detect lines that repeat on every page and drop them</a:t>
            </a:r>
            <a:endParaRPr lang="en-US" sz="1300" dirty="0"/>
          </a:p>
        </p:txBody>
      </p:sp>
      <p:sp>
        <p:nvSpPr>
          <p:cNvPr id="6" name="Shape 3"/>
          <p:cNvSpPr/>
          <p:nvPr/>
        </p:nvSpPr>
        <p:spPr>
          <a:xfrm>
            <a:off x="457200" y="1783080"/>
            <a:ext cx="8229600" cy="0"/>
          </a:xfrm>
          <a:prstGeom prst="line">
            <a:avLst/>
          </a:prstGeom>
          <a:noFill/>
          <a:ln w="6350">
            <a:solidFill>
              <a:schemeClr val="accent6"/>
            </a:solidFill>
            <a:prstDash val="solid"/>
          </a:ln>
        </p:spPr>
      </p:sp>
      <p:sp>
        <p:nvSpPr>
          <p:cNvPr id="7" name="Text 4"/>
          <p:cNvSpPr txBox="1"/>
          <p:nvPr/>
        </p:nvSpPr>
        <p:spPr>
          <a:xfrm>
            <a:off x="457200" y="1828800"/>
            <a:ext cx="3108960" cy="45720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Hyphenated line breaks</a:t>
            </a:r>
            <a:endParaRPr lang="en-US" sz="1400" dirty="0"/>
          </a:p>
        </p:txBody>
      </p:sp>
      <p:sp>
        <p:nvSpPr>
          <p:cNvPr id="8" name="Text 5"/>
          <p:cNvSpPr txBox="1"/>
          <p:nvPr/>
        </p:nvSpPr>
        <p:spPr>
          <a:xfrm>
            <a:off x="3657600" y="1828800"/>
            <a:ext cx="5029200" cy="457200"/>
          </a:xfrm>
          <a:prstGeom prst="rect">
            <a:avLst/>
          </a:prstGeom>
          <a:noFill/>
          <a:ln/>
        </p:spPr>
        <p:txBody>
          <a:bodyPr wrap="square" lIns="0" tIns="0" rIns="0" bIns="0" rtlCol="0" anchor="ctr"/>
          <a:lstStyle/>
          <a:p>
            <a:pPr indent="0" marL="0">
              <a:buNone/>
            </a:pPr>
            <a:r>
              <a:rPr lang="en-US" sz="1300" dirty="0">
                <a:solidFill>
                  <a:schemeClr val="tx1"/>
                </a:solidFill>
              </a:rPr>
              <a:t>Rejoin words split across lines, carefully</a:t>
            </a:r>
            <a:endParaRPr lang="en-US" sz="1300" dirty="0"/>
          </a:p>
        </p:txBody>
      </p:sp>
      <p:sp>
        <p:nvSpPr>
          <p:cNvPr id="9" name="Shape 6"/>
          <p:cNvSpPr/>
          <p:nvPr/>
        </p:nvSpPr>
        <p:spPr>
          <a:xfrm>
            <a:off x="457200" y="2331720"/>
            <a:ext cx="8229600" cy="0"/>
          </a:xfrm>
          <a:prstGeom prst="line">
            <a:avLst/>
          </a:prstGeom>
          <a:noFill/>
          <a:ln w="6350">
            <a:solidFill>
              <a:schemeClr val="accent6"/>
            </a:solidFill>
            <a:prstDash val="solid"/>
          </a:ln>
        </p:spPr>
      </p:sp>
      <p:sp>
        <p:nvSpPr>
          <p:cNvPr id="10" name="Text 7"/>
          <p:cNvSpPr txBox="1"/>
          <p:nvPr/>
        </p:nvSpPr>
        <p:spPr>
          <a:xfrm>
            <a:off x="457200" y="2377440"/>
            <a:ext cx="3108960" cy="45720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Multi-column layouts</a:t>
            </a:r>
            <a:endParaRPr lang="en-US" sz="1400" dirty="0"/>
          </a:p>
        </p:txBody>
      </p:sp>
      <p:sp>
        <p:nvSpPr>
          <p:cNvPr id="11" name="Text 8"/>
          <p:cNvSpPr txBox="1"/>
          <p:nvPr/>
        </p:nvSpPr>
        <p:spPr>
          <a:xfrm>
            <a:off x="3657600" y="2377440"/>
            <a:ext cx="5029200" cy="457200"/>
          </a:xfrm>
          <a:prstGeom prst="rect">
            <a:avLst/>
          </a:prstGeom>
          <a:noFill/>
          <a:ln/>
        </p:spPr>
        <p:txBody>
          <a:bodyPr wrap="square" lIns="0" tIns="0" rIns="0" bIns="0" rtlCol="0" anchor="ctr"/>
          <a:lstStyle/>
          <a:p>
            <a:pPr indent="0" marL="0">
              <a:buNone/>
            </a:pPr>
            <a:r>
              <a:rPr lang="en-US" sz="1300" dirty="0">
                <a:solidFill>
                  <a:schemeClr val="tx1"/>
                </a:solidFill>
              </a:rPr>
              <a:t>Use a layout-aware extractor, or read per column</a:t>
            </a:r>
            <a:endParaRPr lang="en-US" sz="1300" dirty="0"/>
          </a:p>
        </p:txBody>
      </p:sp>
      <p:sp>
        <p:nvSpPr>
          <p:cNvPr id="12" name="Shape 9"/>
          <p:cNvSpPr/>
          <p:nvPr/>
        </p:nvSpPr>
        <p:spPr>
          <a:xfrm>
            <a:off x="457200" y="2880360"/>
            <a:ext cx="8229600" cy="0"/>
          </a:xfrm>
          <a:prstGeom prst="line">
            <a:avLst/>
          </a:prstGeom>
          <a:noFill/>
          <a:ln w="6350">
            <a:solidFill>
              <a:schemeClr val="accent6"/>
            </a:solidFill>
            <a:prstDash val="solid"/>
          </a:ln>
        </p:spPr>
      </p:sp>
      <p:sp>
        <p:nvSpPr>
          <p:cNvPr id="13" name="Text 10"/>
          <p:cNvSpPr txBox="1"/>
          <p:nvPr/>
        </p:nvSpPr>
        <p:spPr>
          <a:xfrm>
            <a:off x="457200" y="2926080"/>
            <a:ext cx="3108960" cy="45720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Tables</a:t>
            </a:r>
            <a:endParaRPr lang="en-US" sz="1400" dirty="0"/>
          </a:p>
        </p:txBody>
      </p:sp>
      <p:sp>
        <p:nvSpPr>
          <p:cNvPr id="14" name="Text 11"/>
          <p:cNvSpPr txBox="1"/>
          <p:nvPr/>
        </p:nvSpPr>
        <p:spPr>
          <a:xfrm>
            <a:off x="3657600" y="2926080"/>
            <a:ext cx="5029200" cy="457200"/>
          </a:xfrm>
          <a:prstGeom prst="rect">
            <a:avLst/>
          </a:prstGeom>
          <a:noFill/>
          <a:ln/>
        </p:spPr>
        <p:txBody>
          <a:bodyPr wrap="square" lIns="0" tIns="0" rIns="0" bIns="0" rtlCol="0" anchor="ctr"/>
          <a:lstStyle/>
          <a:p>
            <a:pPr indent="0" marL="0">
              <a:buNone/>
            </a:pPr>
            <a:r>
              <a:rPr lang="en-US" sz="1300" dirty="0">
                <a:solidFill>
                  <a:schemeClr val="tx1"/>
                </a:solidFill>
              </a:rPr>
              <a:t>Keep rows with headers; consider converting to text records</a:t>
            </a:r>
            <a:endParaRPr lang="en-US" sz="1300" dirty="0"/>
          </a:p>
        </p:txBody>
      </p:sp>
      <p:sp>
        <p:nvSpPr>
          <p:cNvPr id="15" name="Shape 12"/>
          <p:cNvSpPr/>
          <p:nvPr/>
        </p:nvSpPr>
        <p:spPr>
          <a:xfrm>
            <a:off x="457200" y="3429000"/>
            <a:ext cx="8229600" cy="0"/>
          </a:xfrm>
          <a:prstGeom prst="line">
            <a:avLst/>
          </a:prstGeom>
          <a:noFill/>
          <a:ln w="6350">
            <a:solidFill>
              <a:schemeClr val="accent6"/>
            </a:solidFill>
            <a:prstDash val="solid"/>
          </a:ln>
        </p:spPr>
      </p:sp>
      <p:sp>
        <p:nvSpPr>
          <p:cNvPr id="16" name="Text 13"/>
          <p:cNvSpPr txBox="1"/>
          <p:nvPr/>
        </p:nvSpPr>
        <p:spPr>
          <a:xfrm>
            <a:off x="457200" y="3474720"/>
            <a:ext cx="3108960" cy="45720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Scanned pages</a:t>
            </a:r>
            <a:endParaRPr lang="en-US" sz="1400" dirty="0"/>
          </a:p>
        </p:txBody>
      </p:sp>
      <p:sp>
        <p:nvSpPr>
          <p:cNvPr id="17" name="Text 14"/>
          <p:cNvSpPr txBox="1"/>
          <p:nvPr/>
        </p:nvSpPr>
        <p:spPr>
          <a:xfrm>
            <a:off x="3657600" y="3474720"/>
            <a:ext cx="5029200" cy="457200"/>
          </a:xfrm>
          <a:prstGeom prst="rect">
            <a:avLst/>
          </a:prstGeom>
          <a:noFill/>
          <a:ln/>
        </p:spPr>
        <p:txBody>
          <a:bodyPr wrap="square" lIns="0" tIns="0" rIns="0" bIns="0" rtlCol="0" anchor="ctr"/>
          <a:lstStyle/>
          <a:p>
            <a:pPr indent="0" marL="0">
              <a:buNone/>
            </a:pPr>
            <a:r>
              <a:rPr lang="en-US" sz="1300" dirty="0">
                <a:solidFill>
                  <a:schemeClr val="tx1"/>
                </a:solidFill>
              </a:rPr>
              <a:t>OCR first, then check the quality</a:t>
            </a:r>
            <a:endParaRPr lang="en-US" sz="1300" dirty="0"/>
          </a:p>
        </p:txBody>
      </p:sp>
      <p:sp>
        <p:nvSpPr>
          <p:cNvPr id="18" name="Shape 15"/>
          <p:cNvSpPr/>
          <p:nvPr/>
        </p:nvSpPr>
        <p:spPr>
          <a:xfrm>
            <a:off x="457200" y="3977640"/>
            <a:ext cx="8229600" cy="0"/>
          </a:xfrm>
          <a:prstGeom prst="line">
            <a:avLst/>
          </a:prstGeom>
          <a:noFill/>
          <a:ln w="6350">
            <a:solidFill>
              <a:schemeClr val="accent6"/>
            </a:solidFill>
            <a:prstDash val="solid"/>
          </a:ln>
        </p:spPr>
      </p:sp>
      <p:sp>
        <p:nvSpPr>
          <p:cNvPr id="19" name="Text 16"/>
          <p:cNvSpPr txBox="1"/>
          <p:nvPr/>
        </p:nvSpPr>
        <p:spPr>
          <a:xfrm>
            <a:off x="457200" y="4023360"/>
            <a:ext cx="3108960" cy="45720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Boilerplate and navigation</a:t>
            </a:r>
            <a:endParaRPr lang="en-US" sz="1400" dirty="0"/>
          </a:p>
        </p:txBody>
      </p:sp>
      <p:sp>
        <p:nvSpPr>
          <p:cNvPr id="20" name="Text 17"/>
          <p:cNvSpPr txBox="1"/>
          <p:nvPr/>
        </p:nvSpPr>
        <p:spPr>
          <a:xfrm>
            <a:off x="3657600" y="4023360"/>
            <a:ext cx="5029200" cy="457200"/>
          </a:xfrm>
          <a:prstGeom prst="rect">
            <a:avLst/>
          </a:prstGeom>
          <a:noFill/>
          <a:ln/>
        </p:spPr>
        <p:txBody>
          <a:bodyPr wrap="square" lIns="0" tIns="0" rIns="0" bIns="0" rtlCol="0" anchor="ctr"/>
          <a:lstStyle/>
          <a:p>
            <a:pPr indent="0" marL="0">
              <a:buNone/>
            </a:pPr>
            <a:r>
              <a:rPr lang="en-US" sz="1300" dirty="0">
                <a:solidFill>
                  <a:schemeClr val="tx1"/>
                </a:solidFill>
              </a:rPr>
              <a:t>Strip menus, cookie banners, legal footers</a:t>
            </a:r>
            <a:endParaRPr lang="en-US" sz="1300" dirty="0"/>
          </a:p>
        </p:txBody>
      </p:sp>
      <p:sp>
        <p:nvSpPr>
          <p:cNvPr id="21" name="Shape 18"/>
          <p:cNvSpPr/>
          <p:nvPr/>
        </p:nvSpPr>
        <p:spPr>
          <a:xfrm>
            <a:off x="457200" y="452628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Test, do not guess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389120" cy="914400"/>
        </p:xfrm>
        <a:graphic>
          <a:graphicData uri="http://schemas.openxmlformats.org/drawingml/2006/table">
            <a:tbl>
              <a:tblPr/>
              <a:tblGrid>
                <a:gridCol w="1645920"/>
                <a:gridCol w="914400"/>
                <a:gridCol w="914400"/>
                <a:gridCol w="91440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size \ overlap</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57200">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200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400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800 tokens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400" dirty="0">
                          <a:solidFill>
                            <a:srgbClr val="1B2A4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200400"/>
            <a:ext cx="45720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Table 6.3  Hit rate at 3, to be measured on your own questions</a:t>
            </a:r>
            <a:endParaRPr lang="en-US" sz="1100" dirty="0"/>
          </a:p>
        </p:txBody>
      </p:sp>
      <p:sp>
        <p:nvSpPr>
          <p:cNvPr id="6" name="Text 2"/>
          <p:cNvSpPr txBox="1"/>
          <p:nvPr/>
        </p:nvSpPr>
        <p:spPr>
          <a:xfrm>
            <a:off x="5212080" y="1280160"/>
            <a:ext cx="347472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Write questions the way users ask them</a:t>
            </a:r>
            <a:endParaRPr lang="en-US" sz="1400" dirty="0"/>
          </a:p>
          <a:p>
            <a:pPr marL="342900" indent="-342900">
              <a:spcAft>
                <a:spcPts val="800"/>
              </a:spcAft>
              <a:buSzPct val="100000"/>
              <a:buChar char="•"/>
            </a:pPr>
            <a:r>
              <a:rPr lang="en-US" sz="1400" dirty="0">
                <a:solidFill>
                  <a:schemeClr val="tx1"/>
                </a:solidFill>
              </a:rPr>
              <a:t>Record which passage holds the answer</a:t>
            </a:r>
            <a:endParaRPr lang="en-US" sz="1400" dirty="0"/>
          </a:p>
          <a:p>
            <a:pPr marL="342900" indent="-342900">
              <a:spcAft>
                <a:spcPts val="800"/>
              </a:spcAft>
              <a:buSzPct val="100000"/>
              <a:buChar char="•"/>
            </a:pPr>
            <a:r>
              <a:rPr lang="en-US" sz="1400" dirty="0">
                <a:solidFill>
                  <a:schemeClr val="tx1"/>
                </a:solidFill>
              </a:rPr>
              <a:t>Hit = answer chunk in the top k</a:t>
            </a:r>
            <a:endParaRPr lang="en-US" sz="1400" dirty="0"/>
          </a:p>
          <a:p>
            <a:pPr marL="342900" indent="-342900">
              <a:spcAft>
                <a:spcPts val="800"/>
              </a:spcAft>
              <a:buSzPct val="100000"/>
              <a:buChar char="•"/>
            </a:pPr>
            <a:r>
              <a:rPr lang="en-US" sz="1400" dirty="0">
                <a:solidFill>
                  <a:schemeClr val="tx1"/>
                </a:solidFill>
              </a:rPr>
              <a:t>Change one setting at a time</a:t>
            </a:r>
            <a:endParaRPr lang="en-US" sz="1400" dirty="0"/>
          </a:p>
          <a:p>
            <a:pPr marL="342900" indent="-342900">
              <a:spcAft>
                <a:spcPts val="800"/>
              </a:spcAft>
              <a:buSzPct val="100000"/>
              <a:buChar char="•"/>
            </a:pPr>
            <a:r>
              <a:rPr lang="en-US" sz="1400" dirty="0">
                <a:solidFill>
                  <a:schemeClr val="tx1"/>
                </a:solidFill>
              </a:rPr>
              <a:t>Keep a held-out set of questions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Mistakes</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Chunks longer than the model's limit</a:t>
            </a:r>
            <a:endParaRPr lang="en-US" sz="1400" dirty="0"/>
          </a:p>
          <a:p>
            <a:pPr marL="342900" indent="-342900">
              <a:spcAft>
                <a:spcPts val="800"/>
              </a:spcAft>
              <a:buSzPct val="100000"/>
              <a:buChar char="•"/>
            </a:pPr>
            <a:r>
              <a:rPr lang="en-US" sz="1400" dirty="0">
                <a:solidFill>
                  <a:schemeClr val="tx1"/>
                </a:solidFill>
              </a:rPr>
              <a:t>Never reading the extracted text</a:t>
            </a:r>
            <a:endParaRPr lang="en-US" sz="1400" dirty="0"/>
          </a:p>
          <a:p>
            <a:pPr marL="342900" indent="-342900">
              <a:spcAft>
                <a:spcPts val="800"/>
              </a:spcAft>
              <a:buSzPct val="100000"/>
              <a:buChar char="•"/>
            </a:pPr>
            <a:r>
              <a:rPr lang="en-US" sz="1400" dirty="0">
                <a:solidFill>
                  <a:schemeClr val="tx1"/>
                </a:solidFill>
              </a:rPr>
              <a:t>No metadata, so no filtering or citations</a:t>
            </a:r>
            <a:endParaRPr lang="en-US" sz="1400" dirty="0"/>
          </a:p>
          <a:p>
            <a:pPr marL="342900" indent="-342900">
              <a:spcAft>
                <a:spcPts val="800"/>
              </a:spcAft>
              <a:buSzPct val="100000"/>
              <a:buChar char="•"/>
            </a:pPr>
            <a:r>
              <a:rPr lang="en-US" sz="1400" dirty="0">
                <a:solidFill>
                  <a:schemeClr val="tx1"/>
                </a:solidFill>
              </a:rPr>
              <a:t>Random IDs, so duplicates on re-ingest</a:t>
            </a:r>
            <a:endParaRPr lang="en-US" sz="1400" dirty="0"/>
          </a:p>
          <a:p>
            <a:pPr marL="342900" indent="-342900">
              <a:spcAft>
                <a:spcPts val="800"/>
              </a:spcAft>
              <a:buSzPct val="100000"/>
              <a:buChar char="•"/>
            </a:pPr>
            <a:r>
              <a:rPr lang="en-US" sz="1400" dirty="0">
                <a:solidFill>
                  <a:schemeClr val="tx1"/>
                </a:solidFill>
              </a:rPr>
              <a:t>Tuning size on a handful of queries</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Habits that help</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Count tokens with the real tokenizer</a:t>
            </a:r>
            <a:endParaRPr lang="en-US" sz="1400" dirty="0"/>
          </a:p>
          <a:p>
            <a:pPr marL="342900" indent="-342900">
              <a:spcAft>
                <a:spcPts val="800"/>
              </a:spcAft>
              <a:buSzPct val="100000"/>
              <a:buChar char="•"/>
            </a:pPr>
            <a:r>
              <a:rPr lang="en-US" sz="1400" dirty="0">
                <a:solidFill>
                  <a:schemeClr val="tx1"/>
                </a:solidFill>
              </a:rPr>
              <a:t>Print and read sample chunks</a:t>
            </a:r>
            <a:endParaRPr lang="en-US" sz="1400" dirty="0"/>
          </a:p>
          <a:p>
            <a:pPr marL="342900" indent="-342900">
              <a:spcAft>
                <a:spcPts val="800"/>
              </a:spcAft>
              <a:buSzPct val="100000"/>
              <a:buChar char="•"/>
            </a:pPr>
            <a:r>
              <a:rPr lang="en-US" sz="1400" dirty="0">
                <a:solidFill>
                  <a:schemeClr val="tx1"/>
                </a:solidFill>
              </a:rPr>
              <a:t>Design metadata before ingesting</a:t>
            </a:r>
            <a:endParaRPr lang="en-US" sz="1400" dirty="0"/>
          </a:p>
          <a:p>
            <a:pPr marL="342900" indent="-342900">
              <a:spcAft>
                <a:spcPts val="800"/>
              </a:spcAft>
              <a:buSzPct val="100000"/>
              <a:buChar char="•"/>
            </a:pPr>
            <a:r>
              <a:rPr lang="en-US" sz="1400" dirty="0">
                <a:solidFill>
                  <a:schemeClr val="tx1"/>
                </a:solidFill>
              </a:rPr>
              <a:t>Deterministic IDs and content hashes</a:t>
            </a:r>
            <a:endParaRPr lang="en-US" sz="1400" dirty="0"/>
          </a:p>
          <a:p>
            <a:pPr marL="342900" indent="-342900">
              <a:spcAft>
                <a:spcPts val="800"/>
              </a:spcAft>
              <a:buSzPct val="100000"/>
              <a:buChar char="•"/>
            </a:pPr>
            <a:r>
              <a:rPr lang="en-US" sz="1400" dirty="0">
                <a:solidFill>
                  <a:schemeClr val="tx1"/>
                </a:solidFill>
              </a:rPr>
              <a:t>Evaluate on held-out questions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Q1</a:t>
            </a:r>
            <a:endParaRPr lang="en-US" sz="2200" dirty="0"/>
          </a:p>
        </p:txBody>
      </p:sp>
      <p:sp>
        <p:nvSpPr>
          <p:cNvPr id="5" name="Text 2"/>
          <p:cNvSpPr txBox="1"/>
          <p:nvPr/>
        </p:nvSpPr>
        <p:spPr>
          <a:xfrm>
            <a:off x="1280160" y="12801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Give three reasons to chunk a long document.</a:t>
            </a:r>
            <a:endParaRPr lang="en-US" sz="1600" dirty="0"/>
          </a:p>
        </p:txBody>
      </p:sp>
      <p:sp>
        <p:nvSpPr>
          <p:cNvPr id="6" name="Text 3"/>
          <p:cNvSpPr txBox="1"/>
          <p:nvPr/>
        </p:nvSpPr>
        <p:spPr>
          <a:xfrm>
            <a:off x="457200" y="19659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Q2</a:t>
            </a:r>
            <a:endParaRPr lang="en-US" sz="2200" dirty="0"/>
          </a:p>
        </p:txBody>
      </p:sp>
      <p:sp>
        <p:nvSpPr>
          <p:cNvPr id="7" name="Text 4"/>
          <p:cNvSpPr txBox="1"/>
          <p:nvPr/>
        </p:nvSpPr>
        <p:spPr>
          <a:xfrm>
            <a:off x="1280160" y="19659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How many chunks does a 6,000-character text give with size 1,000 and overlap 200?</a:t>
            </a:r>
            <a:endParaRPr lang="en-US" sz="1600" dirty="0"/>
          </a:p>
        </p:txBody>
      </p:sp>
      <p:sp>
        <p:nvSpPr>
          <p:cNvPr id="8" name="Text 5"/>
          <p:cNvSpPr txBox="1"/>
          <p:nvPr/>
        </p:nvSpPr>
        <p:spPr>
          <a:xfrm>
            <a:off x="457200" y="26517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Q3</a:t>
            </a:r>
            <a:endParaRPr lang="en-US" sz="2200" dirty="0"/>
          </a:p>
        </p:txBody>
      </p:sp>
      <p:sp>
        <p:nvSpPr>
          <p:cNvPr id="9" name="Text 6"/>
          <p:cNvSpPr txBox="1"/>
          <p:nvPr/>
        </p:nvSpPr>
        <p:spPr>
          <a:xfrm>
            <a:off x="1280160" y="26517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What does recursive splitting do better than fixed windows?</a:t>
            </a:r>
            <a:endParaRPr lang="en-US" sz="1600" dirty="0"/>
          </a:p>
        </p:txBody>
      </p:sp>
      <p:sp>
        <p:nvSpPr>
          <p:cNvPr id="10" name="Text 7"/>
          <p:cNvSpPr txBox="1"/>
          <p:nvPr/>
        </p:nvSpPr>
        <p:spPr>
          <a:xfrm>
            <a:off x="457200" y="33375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Q4</a:t>
            </a:r>
            <a:endParaRPr lang="en-US" sz="2200" dirty="0"/>
          </a:p>
        </p:txBody>
      </p:sp>
      <p:sp>
        <p:nvSpPr>
          <p:cNvPr id="11" name="Text 8"/>
          <p:cNvSpPr txBox="1"/>
          <p:nvPr/>
        </p:nvSpPr>
        <p:spPr>
          <a:xfrm>
            <a:off x="1280160" y="33375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How do you re-ingest a changed document without duplicates?</a:t>
            </a:r>
            <a:endParaRPr lang="en-US" sz="1600" dirty="0"/>
          </a:p>
        </p:txBody>
      </p:sp>
      <p:sp>
        <p:nvSpPr>
          <p:cNvPr id="12" name="Text 9"/>
          <p:cNvSpPr txBox="1"/>
          <p:nvPr/>
        </p:nvSpPr>
        <p:spPr>
          <a:xfrm>
            <a:off x="457200" y="40233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Q5</a:t>
            </a:r>
            <a:endParaRPr lang="en-US" sz="2200" dirty="0"/>
          </a:p>
        </p:txBody>
      </p:sp>
      <p:sp>
        <p:nvSpPr>
          <p:cNvPr id="13" name="Text 10"/>
          <p:cNvSpPr txBox="1"/>
          <p:nvPr/>
        </p:nvSpPr>
        <p:spPr>
          <a:xfrm>
            <a:off x="1280160" y="40233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How would you decide between 200 and 800 tokens?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Summary and next steps</a:t>
            </a:r>
            <a:endParaRPr lang="en-US" sz="3000" dirty="0"/>
          </a:p>
        </p:txBody>
      </p:sp>
      <p:sp>
        <p:nvSpPr>
          <p:cNvPr id="4" name="Text 1"/>
          <p:cNvSpPr txBox="1"/>
          <p:nvPr/>
        </p:nvSpPr>
        <p:spPr>
          <a:xfrm>
            <a:off x="457200" y="1280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Chunk to fit model limits and to keep vectors focused</a:t>
            </a:r>
            <a:endParaRPr lang="en-US" sz="1500" dirty="0"/>
          </a:p>
          <a:p>
            <a:pPr marL="342900" indent="-342900">
              <a:spcAft>
                <a:spcPts val="1200"/>
              </a:spcAft>
              <a:buSzPct val="100000"/>
              <a:buChar char="•"/>
            </a:pPr>
            <a:r>
              <a:rPr lang="en-US" sz="1500" dirty="0">
                <a:solidFill>
                  <a:schemeClr val="tx1"/>
                </a:solidFill>
              </a:rPr>
              <a:t>Size is a trade-off: precision against context</a:t>
            </a:r>
            <a:endParaRPr lang="en-US" sz="1500" dirty="0"/>
          </a:p>
          <a:p>
            <a:pPr marL="342900" indent="-342900">
              <a:spcAft>
                <a:spcPts val="1200"/>
              </a:spcAft>
              <a:buSzPct val="100000"/>
              <a:buChar char="•"/>
            </a:pPr>
            <a:r>
              <a:rPr lang="en-US" sz="1500" dirty="0">
                <a:solidFill>
                  <a:schemeClr val="tx1"/>
                </a:solidFill>
              </a:rPr>
              <a:t>Start with recursive splitting; consider structure-aware and small-to-big</a:t>
            </a:r>
            <a:endParaRPr lang="en-US" sz="1500" dirty="0"/>
          </a:p>
          <a:p>
            <a:pPr marL="342900" indent="-342900">
              <a:spcAft>
                <a:spcPts val="1200"/>
              </a:spcAft>
              <a:buSzPct val="100000"/>
              <a:buChar char="•"/>
            </a:pPr>
            <a:r>
              <a:rPr lang="en-US" sz="1500" dirty="0">
                <a:solidFill>
                  <a:schemeClr val="tx1"/>
                </a:solidFill>
              </a:rPr>
              <a:t>Carry metadata and stable IDs from day one</a:t>
            </a:r>
            <a:endParaRPr lang="en-US" sz="1500" dirty="0"/>
          </a:p>
          <a:p>
            <a:pPr marL="342900" indent="-342900">
              <a:spcAft>
                <a:spcPts val="1200"/>
              </a:spcAft>
              <a:buSzPct val="100000"/>
              <a:buChar char="•"/>
            </a:pPr>
            <a:r>
              <a:rPr lang="en-US" sz="1500" dirty="0">
                <a:solidFill>
                  <a:schemeClr val="tx1"/>
                </a:solidFill>
              </a:rPr>
              <a:t>Measure retrieval on your own questions</a:t>
            </a:r>
            <a:endParaRPr lang="en-US" sz="1500" dirty="0"/>
          </a:p>
        </p:txBody>
      </p:sp>
      <p:sp>
        <p:nvSpPr>
          <p:cNvPr id="5" name="Shape 2"/>
          <p:cNvSpPr/>
          <p:nvPr/>
        </p:nvSpPr>
        <p:spPr>
          <a:xfrm>
            <a:off x="5577840" y="1280160"/>
            <a:ext cx="0" cy="3200400"/>
          </a:xfrm>
          <a:prstGeom prst="line">
            <a:avLst/>
          </a:prstGeom>
          <a:noFill/>
          <a:ln w="9525">
            <a:solidFill>
              <a:schemeClr val="accent6"/>
            </a:solidFill>
            <a:prstDash val="solid"/>
          </a:ln>
        </p:spPr>
      </p:sp>
      <p:sp>
        <p:nvSpPr>
          <p:cNvPr id="6" name="Text 3"/>
          <p:cNvSpPr txBox="1"/>
          <p:nvPr/>
        </p:nvSpPr>
        <p:spPr>
          <a:xfrm>
            <a:off x="5852160" y="128016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6</a:t>
            </a:r>
            <a:endParaRPr lang="en-US" sz="1200" dirty="0"/>
          </a:p>
        </p:txBody>
      </p:sp>
      <p:sp>
        <p:nvSpPr>
          <p:cNvPr id="7" name="Text 4"/>
          <p:cNvSpPr txBox="1"/>
          <p:nvPr/>
        </p:nvSpPr>
        <p:spPr>
          <a:xfrm>
            <a:off x="5852160" y="1600200"/>
            <a:ext cx="2834640" cy="731520"/>
          </a:xfrm>
          <a:prstGeom prst="rect">
            <a:avLst/>
          </a:prstGeom>
          <a:noFill/>
          <a:ln/>
        </p:spPr>
        <p:txBody>
          <a:bodyPr wrap="square" lIns="0" tIns="0" rIns="0" bIns="0" rtlCol="0" anchor="t"/>
          <a:lstStyle/>
          <a:p>
            <a:pPr indent="0" marL="0">
              <a:buNone/>
            </a:pPr>
            <a:r>
              <a:rPr lang="en-US" sz="1400" dirty="0">
                <a:solidFill>
                  <a:schemeClr val="tx1"/>
                </a:solidFill>
              </a:rPr>
              <a:t>Chunk a real PDF and compare strategies (75 minutes).</a:t>
            </a:r>
            <a:endParaRPr lang="en-US" sz="1400" dirty="0"/>
          </a:p>
        </p:txBody>
      </p:sp>
      <p:sp>
        <p:nvSpPr>
          <p:cNvPr id="8" name="Text 5"/>
          <p:cNvSpPr txBox="1"/>
          <p:nvPr/>
        </p:nvSpPr>
        <p:spPr>
          <a:xfrm>
            <a:off x="5852160" y="251460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Further reading</a:t>
            </a:r>
            <a:endParaRPr lang="en-US" sz="1200" dirty="0"/>
          </a:p>
        </p:txBody>
      </p:sp>
      <p:sp>
        <p:nvSpPr>
          <p:cNvPr id="9" name="Text 6"/>
          <p:cNvSpPr txBox="1"/>
          <p:nvPr/>
        </p:nvSpPr>
        <p:spPr>
          <a:xfrm>
            <a:off x="5852160" y="2834640"/>
            <a:ext cx="2834640" cy="1737360"/>
          </a:xfrm>
          <a:prstGeom prst="rect">
            <a:avLst/>
          </a:prstGeom>
          <a:noFill/>
          <a:ln/>
        </p:spPr>
        <p:txBody>
          <a:bodyPr wrap="square" lIns="0" tIns="0" rIns="0" bIns="0" rtlCol="0" anchor="t"/>
          <a:lstStyle/>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Liu et al. (2023). Lost in the Middle: How Language Models Use Long Contexts.</a:t>
            </a:r>
            <a:endParaRPr lang="en-US" sz="1200" dirty="0"/>
          </a:p>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Lewis et al. (2020). Retrieval-Augmented Generation for Knowledge-Intensive NLP Tasks.</a:t>
            </a:r>
            <a:endParaRPr lang="en-US" sz="1200" dirty="0"/>
          </a:p>
          <a:p>
            <a:pPr indent="0" marL="0">
              <a:buNone/>
            </a:pPr>
            <a:r>
              <a:rPr lang="en-US" sz="1200" i="1" dirty="0">
                <a:solidFill>
                  <a:schemeClr val="tx1"/>
                </a:solidFill>
                <a:latin typeface="Cambria" pitchFamily="34" charset="0"/>
                <a:ea typeface="Cambria" pitchFamily="34" charset="-122"/>
                <a:cs typeface="Cambria" pitchFamily="34" charset="-120"/>
              </a:rPr>
              <a:t>Documentation of text splitters in LangChain and LlamaIndex.</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Editorial6">
  <a:themeElements>
    <a:clrScheme name="Editorial6">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Chunking and Data Preparation</dc:title>
  <dc:subject>PptxGenJS Presentation</dc:subject>
  <dc:creator>PptxGenJS</dc:creator>
  <cp:lastModifiedBy>PptxGenJS</cp:lastModifiedBy>
  <cp:revision>1</cp:revision>
  <dcterms:created xsi:type="dcterms:W3CDTF">2026-10-26T18:21:40Z</dcterms:created>
  <dcterms:modified xsi:type="dcterms:W3CDTF">2026-10-26T18:21:40Z</dcterms:modified>
</cp:coreProperties>
</file>