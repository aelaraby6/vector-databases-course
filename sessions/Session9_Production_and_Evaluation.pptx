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9" id="{16145f0a-9059-5d25-7ec5-651de3d5ffe9}">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Last lecture. We built a RAG app that works on a few questions. Today we answer: how good is it, how do we make it better, and how do we run it safely. As before, every tool is free and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90 minutes: about 55 lecture, 35 lab. The lab improves the Lab 8 system and measures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(5 min). 'It looked fine on three questions' is the most common failure. Separate the layers: if retrieval did not find the evidence, no generator can answer; if it did, generation quality is a separate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data (5 min). Thirty to a hundred questions is a good start. For each: the question, the passage that answers it, and whether it is answerable. Keep a test split untouched until the end. Synthetic questions from a language model are cheap but must be reviewed by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(6 min). Hit rate and recall@k ask whether evidence was found; MRR rewards finding it early; precision@k penalizes noise. nDCG generalizes to graded relevance. For RAG, recall@k and MRR are the workhorses.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(6 min). Q3 has two relevant chunks, one at rank 2 inside the top 3, one at rank 5 outside it. Values are computed from the ranks shown. Note that MRR and recall@3 differ: they measure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quality (5 min). Faithfulness is the key RAG metric: every claim must be supported by the retrieved context. Cheap automatic checks (citations present and valid, correct refusal) catch many problems before you need any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LLM-as-judge (5 min). In this course the judge is also a free local model, which is weaker than hosted ones, so calibration matters even more. Compare its verdicts with human labels on 20 answers before trusting it. Rules and string checks are more reliable where they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retrieval (5 min). BM25 finds exact terms, identifiers and rare words; vectors find meaning. Fuse the rankings with reciprocal rank fusion (Lecture 5). The free rank_bm25 library implements BM25 in a few lines of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encoder (6 min). A bi-encoder embeds query and document separately, which allows precomputed vectors and fast search. A cross-encoder reads the pair together, which is more accurate but must run once per candidate, so it only rescored a short list. A free open model such as cross-encoder/ms-marco-MiniLM works well for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(4 min). Retrieve generously (high recall), then rerank to put the best few on top (high precision). Choose the candidate count by measuring recall@k before and after, and the added latency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Query-side techniques (4 min). Each adds a model call, so measure whether the gain justifies the latency. Metadata filters are the cheapest improvement when users can state a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budget (5 min). The bars are illustrative proportions for a small model on modest hardware, not measurements. In the lab students time each stage on their own machine. The takeaway: optimize the stage that dominates, usually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Optimization (5 min). Caches pay off when questions repeat; measure the hit rate. Quantized models trade a little quality for much lower memory. All of these are free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model (6 min). The retrieved text is not trusted: anyone who can add a document to the index can try to instruct the model (indirect prompt injection). Treat retrieved content as data, never as instructions, and limit what the model can do with its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Controls (6 min). No single control is enough; layer them. The most important structural rule: authorization is enforced by the server in the retrieval filter, never by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(4 min). The tenant value comes from the authenticated session on the server. If it came from the request body, any user could ask for another tenant's data. Test it: a query from tenant A must never return a chunk from tenant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(5 min). Everything runs on your own computer or a spare machine at no cost. Be careful with promises about free hosting: compute-heavy apps (a language model plus a database) rarely fit free hosting tiers, and those tiers change. Plan to self-host, and use Colab only for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(4 min). Log enough to debug without storing secrets or unnecessary personal data. Free tools suffice: Python logging, SQLite or CSV files, and optionally open-source dashboards. The loop turns production failures into new evaluation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Maintenance (4 min). Retrieval quality decays silently as documents change. Version collections and keep the evaluation set running on a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(4 min). Students can reuse this as a final-project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Pitfalls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discussion (5 min). Answers: 1) recall@3 = 1/2; MRR = (1+1/3+1/2)/3; 2) retrieved text is untrusted; 3) rerank is accurate but costly; 4) server-side retrieval filter; 5) log failures and add to the eval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(5 min). Walk the nine lectures: theory, internals, tools, data, Chroma, RAG, production. Congratulate students: they can now design, build, measure and secure a retrieval system with free tools. Suggest a final project: their own documents, an evaluation set, and the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Shape 0"/>
          <p:cNvSpPr/>
          <p:nvPr/>
        </p:nvSpPr>
        <p:spPr>
          <a:xfrm>
            <a:off x="457200" y="4754880"/>
            <a:ext cx="8229600" cy="0"/>
          </a:xfrm>
          <a:prstGeom prst="line">
            <a:avLst/>
          </a:prstGeom>
          <a:noFill/>
          <a:ln w="12700">
            <a:solidFill>
              <a:srgbClr val="D1D5DB"/>
            </a:solidFill>
            <a:prstDash val="solid"/>
          </a:ln>
        </p:spPr>
      </p:sp>
      <p:sp>
        <p:nvSpPr>
          <p:cNvPr id="4" name="Text 1"/>
          <p:cNvSpPr/>
          <p:nvPr/>
        </p:nvSpPr>
        <p:spPr>
          <a:xfrm>
            <a:off x="457200" y="4818888"/>
            <a:ext cx="4572000" cy="228600"/>
          </a:xfrm>
          <a:prstGeom prst="rect">
            <a:avLst/>
          </a:prstGeom>
          <a:noFill/>
          <a:ln/>
        </p:spPr>
        <p:txBody>
          <a:bodyPr wrap="square" lIns="0" tIns="0" rIns="0" bIns="0" rtlCol="0" anchor="ctr"/>
          <a:lstStyle/>
          <a:p>
            <a:pPr indent="0" marL="0">
              <a:buNone/>
            </a:pPr>
            <a:r>
              <a:rPr lang="en-US" sz="1000" i="1" dirty="0">
                <a:solidFill>
                  <a:schemeClr val="accent5"/>
                </a:solidFill>
                <a:latin typeface="Cambria" pitchFamily="34" charset="0"/>
                <a:ea typeface="Cambria" pitchFamily="34" charset="-122"/>
                <a:cs typeface="Cambria" pitchFamily="34" charset="-120"/>
              </a:rPr>
              <a:t>Vector Databases  —  Lecture 9</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PEN">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457200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3657600" cy="274320"/>
          </a:xfrm>
          <a:prstGeom prst="rect">
            <a:avLst/>
          </a:prstGeom>
          <a:noFill/>
          <a:ln/>
        </p:spPr>
        <p:txBody>
          <a:bodyPr wrap="square" lIns="0" tIns="0" rIns="0" bIns="0" rtlCol="0" anchor="t"/>
          <a:lstStyle/>
          <a:p>
            <a:pPr indent="0" marL="0">
              <a:buNone/>
            </a:pPr>
            <a:r>
              <a:rPr lang="en-US" sz="1200" b="1" spc="400" kern="0" dirty="0">
                <a:solidFill>
                  <a:schemeClr val="accent6"/>
                </a:solidFill>
              </a:rPr>
              <a:t>LECTURE 9 OF 9</a:t>
            </a:r>
            <a:endParaRPr lang="en-US" sz="1200" dirty="0"/>
          </a:p>
        </p:txBody>
      </p:sp>
      <p:sp>
        <p:nvSpPr>
          <p:cNvPr id="3" name="Text 0"/>
          <p:cNvSpPr/>
          <p:nvPr>
            <p:ph idx="100" type="title" hasCustomPrompt="1"/>
          </p:nvPr>
        </p:nvSpPr>
        <p:spPr>
          <a:xfrm>
            <a:off x="548640" y="1325880"/>
            <a:ext cx="4572000" cy="1554480"/>
          </a:xfrm>
          <a:prstGeom prst="rect">
            <a:avLst/>
          </a:prstGeom>
          <a:noFill/>
          <a:ln/>
        </p:spPr>
        <p:txBody>
          <a:bodyPr wrap="square" lIns="0" tIns="0" rIns="0" bIns="0" rtlCol="0" anchor="t"/>
          <a:lstStyle/>
          <a:p>
            <a:pPr algn="l" indent="0" marL="0">
              <a:buNone/>
            </a:pPr>
            <a:r>
              <a:rPr lang="en-US" sz="4400" b="1" dirty="0">
                <a:solidFill>
                  <a:schemeClr val="bg1"/>
                </a:solidFill>
              </a:rPr>
              <a:t>Production and Evaluation</a:t>
            </a:r>
            <a:endParaRPr lang="en-US" sz="4400" dirty="0"/>
          </a:p>
        </p:txBody>
      </p:sp>
      <p:sp>
        <p:nvSpPr>
          <p:cNvPr id="4" name="Text 2"/>
          <p:cNvSpPr txBox="1"/>
          <p:nvPr/>
        </p:nvSpPr>
        <p:spPr>
          <a:xfrm>
            <a:off x="548640" y="2834640"/>
            <a:ext cx="4572000" cy="365760"/>
          </a:xfrm>
          <a:prstGeom prst="rect">
            <a:avLst/>
          </a:prstGeom>
          <a:noFill/>
          <a:ln/>
        </p:spPr>
        <p:txBody>
          <a:bodyPr wrap="square" lIns="0" tIns="0" rIns="0" bIns="0" rtlCol="0" anchor="t"/>
          <a:lstStyle/>
          <a:p>
            <a:pPr indent="0" marL="0">
              <a:buNone/>
            </a:pPr>
            <a:r>
              <a:rPr lang="en-US" sz="1800" i="1" dirty="0">
                <a:solidFill>
                  <a:schemeClr val="bg2"/>
                </a:solidFill>
                <a:latin typeface="Cambria" pitchFamily="34" charset="0"/>
                <a:ea typeface="Cambria" pitchFamily="34" charset="-122"/>
                <a:cs typeface="Cambria" pitchFamily="34" charset="-120"/>
              </a:rPr>
              <a:t>Measure it, improve it, ship it safely</a:t>
            </a:r>
            <a:endParaRPr lang="en-US" sz="1800" dirty="0"/>
          </a:p>
        </p:txBody>
      </p:sp>
      <p:sp>
        <p:nvSpPr>
          <p:cNvPr id="5" name="Text 3"/>
          <p:cNvSpPr txBox="1"/>
          <p:nvPr/>
        </p:nvSpPr>
        <p:spPr>
          <a:xfrm>
            <a:off x="548640" y="4206240"/>
            <a:ext cx="4572000" cy="274320"/>
          </a:xfrm>
          <a:prstGeom prst="rect">
            <a:avLst/>
          </a:prstGeom>
          <a:noFill/>
          <a:ln/>
        </p:spPr>
        <p:txBody>
          <a:bodyPr wrap="square" lIns="0" tIns="0" rIns="0" bIns="0" rtlCol="0" anchor="t"/>
          <a:lstStyle/>
          <a:p>
            <a:pPr indent="0" marL="0">
              <a:buNone/>
            </a:pPr>
            <a:r>
              <a:rPr lang="en-US" sz="1200" dirty="0">
                <a:solidFill>
                  <a:schemeClr val="accent6"/>
                </a:solidFill>
              </a:rPr>
              <a:t>Vector Databases: from zero to ChromaDB</a:t>
            </a:r>
            <a:endParaRPr lang="en-US" sz="1200" dirty="0"/>
          </a:p>
        </p:txBody>
      </p:sp>
      <p:sp>
        <p:nvSpPr>
          <p:cNvPr id="6" name="Text 4"/>
          <p:cNvSpPr txBox="1"/>
          <p:nvPr/>
        </p:nvSpPr>
        <p:spPr>
          <a:xfrm>
            <a:off x="5577840" y="1280160"/>
            <a:ext cx="2743200" cy="274320"/>
          </a:xfrm>
          <a:prstGeom prst="rect">
            <a:avLst/>
          </a:prstGeom>
          <a:noFill/>
          <a:ln/>
        </p:spPr>
        <p:txBody>
          <a:bodyPr wrap="square" lIns="0" tIns="0" rIns="0" bIns="0" rtlCol="0" anchor="t"/>
          <a:lstStyle/>
          <a:p>
            <a:pPr indent="0" marL="0">
              <a:buNone/>
            </a:pPr>
            <a:r>
              <a:rPr lang="en-US" sz="1600" b="1" i="1" dirty="0">
                <a:solidFill>
                  <a:srgbClr val="B5432A"/>
                </a:solidFill>
                <a:latin typeface="Cambria" pitchFamily="34" charset="0"/>
                <a:ea typeface="Cambria" pitchFamily="34" charset="-122"/>
                <a:cs typeface="Cambria" pitchFamily="34" charset="-120"/>
              </a:rPr>
              <a:t>recall@k, MRR</a:t>
            </a:r>
            <a:endParaRPr lang="en-US" sz="1600" dirty="0"/>
          </a:p>
        </p:txBody>
      </p:sp>
      <p:sp>
        <p:nvSpPr>
          <p:cNvPr id="7" name="Text 5"/>
          <p:cNvSpPr txBox="1"/>
          <p:nvPr/>
        </p:nvSpPr>
        <p:spPr>
          <a:xfrm>
            <a:off x="5577840" y="160020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measure retrieval</a:t>
            </a:r>
            <a:endParaRPr lang="en-US" sz="1200" dirty="0"/>
          </a:p>
        </p:txBody>
      </p:sp>
      <p:sp>
        <p:nvSpPr>
          <p:cNvPr id="8" name="Text 6"/>
          <p:cNvSpPr txBox="1"/>
          <p:nvPr/>
        </p:nvSpPr>
        <p:spPr>
          <a:xfrm>
            <a:off x="5577840" y="205740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hybrid + rerank</a:t>
            </a:r>
            <a:endParaRPr lang="en-US" sz="1600" dirty="0"/>
          </a:p>
        </p:txBody>
      </p:sp>
      <p:sp>
        <p:nvSpPr>
          <p:cNvPr id="9" name="Text 7"/>
          <p:cNvSpPr txBox="1"/>
          <p:nvPr/>
        </p:nvSpPr>
        <p:spPr>
          <a:xfrm>
            <a:off x="5577840" y="237744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improve retrieval</a:t>
            </a:r>
            <a:endParaRPr lang="en-US" sz="1200" dirty="0"/>
          </a:p>
        </p:txBody>
      </p:sp>
      <p:sp>
        <p:nvSpPr>
          <p:cNvPr id="10" name="Text 8"/>
          <p:cNvSpPr txBox="1"/>
          <p:nvPr/>
        </p:nvSpPr>
        <p:spPr>
          <a:xfrm>
            <a:off x="5577840" y="283464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guardrails</a:t>
            </a:r>
            <a:endParaRPr lang="en-US" sz="1600" dirty="0"/>
          </a:p>
        </p:txBody>
      </p:sp>
      <p:sp>
        <p:nvSpPr>
          <p:cNvPr id="11" name="Text 9"/>
          <p:cNvSpPr txBox="1"/>
          <p:nvPr/>
        </p:nvSpPr>
        <p:spPr>
          <a:xfrm>
            <a:off x="5577840" y="315468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stay safe</a:t>
            </a:r>
            <a:endParaRPr lang="en-US" sz="1200" dirty="0"/>
          </a:p>
        </p:txBody>
      </p:sp>
      <p:sp>
        <p:nvSpPr>
          <p:cNvPr id="12" name="Text 10"/>
          <p:cNvSpPr txBox="1"/>
          <p:nvPr/>
        </p:nvSpPr>
        <p:spPr>
          <a:xfrm>
            <a:off x="5577840" y="3611880"/>
            <a:ext cx="2743200" cy="274320"/>
          </a:xfrm>
          <a:prstGeom prst="rect">
            <a:avLst/>
          </a:prstGeom>
          <a:noFill/>
          <a:ln/>
        </p:spPr>
        <p:txBody>
          <a:bodyPr wrap="square" lIns="0" tIns="0" rIns="0" bIns="0" rtlCol="0" anchor="t"/>
          <a:lstStyle/>
          <a:p>
            <a:pPr indent="0" marL="0">
              <a:buNone/>
            </a:pPr>
            <a:r>
              <a:rPr lang="en-US" sz="1600" i="1" dirty="0">
                <a:solidFill>
                  <a:srgbClr val="FFFFFF"/>
                </a:solidFill>
                <a:latin typeface="Cambria" pitchFamily="34" charset="0"/>
                <a:ea typeface="Cambria" pitchFamily="34" charset="-122"/>
                <a:cs typeface="Cambria" pitchFamily="34" charset="-120"/>
              </a:rPr>
              <a:t>Docker, logs</a:t>
            </a:r>
            <a:endParaRPr lang="en-US" sz="1600" dirty="0"/>
          </a:p>
        </p:txBody>
      </p:sp>
      <p:sp>
        <p:nvSpPr>
          <p:cNvPr id="13" name="Text 11"/>
          <p:cNvSpPr txBox="1"/>
          <p:nvPr/>
        </p:nvSpPr>
        <p:spPr>
          <a:xfrm>
            <a:off x="5577840" y="3931920"/>
            <a:ext cx="3108960" cy="274320"/>
          </a:xfrm>
          <a:prstGeom prst="rect">
            <a:avLst/>
          </a:prstGeom>
          <a:noFill/>
          <a:ln/>
        </p:spPr>
        <p:txBody>
          <a:bodyPr wrap="square" lIns="0" tIns="0" rIns="0" bIns="0" rtlCol="0" anchor="t"/>
          <a:lstStyle/>
          <a:p>
            <a:pPr indent="0" marL="0">
              <a:buNone/>
            </a:pPr>
            <a:r>
              <a:rPr lang="en-US" sz="1200" dirty="0">
                <a:solidFill>
                  <a:srgbClr val="D1D5DB"/>
                </a:solidFill>
                <a:latin typeface="Courier New" pitchFamily="34" charset="0"/>
                <a:ea typeface="Courier New" pitchFamily="34" charset="-122"/>
                <a:cs typeface="Courier New" pitchFamily="34" charset="-120"/>
              </a:rPr>
              <a:t>ship and watch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Today's lecture in five questions</a:t>
            </a:r>
            <a:endParaRPr lang="en-US" sz="3000" dirty="0"/>
          </a:p>
        </p:txBody>
      </p:sp>
      <p:sp>
        <p:nvSpPr>
          <p:cNvPr id="4" name="Text 1"/>
          <p:cNvSpPr txBox="1"/>
          <p:nvPr/>
        </p:nvSpPr>
        <p:spPr>
          <a:xfrm>
            <a:off x="457200" y="125272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5" name="Text 2"/>
          <p:cNvSpPr txBox="1"/>
          <p:nvPr/>
        </p:nvSpPr>
        <p:spPr>
          <a:xfrm>
            <a:off x="1097280" y="132588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we measure retrieval and generation?</a:t>
            </a:r>
            <a:endParaRPr lang="en-US" sz="1800" dirty="0"/>
          </a:p>
        </p:txBody>
      </p:sp>
      <p:sp>
        <p:nvSpPr>
          <p:cNvPr id="6" name="Shape 3"/>
          <p:cNvSpPr/>
          <p:nvPr/>
        </p:nvSpPr>
        <p:spPr>
          <a:xfrm>
            <a:off x="1097280" y="1856232"/>
            <a:ext cx="5120640" cy="0"/>
          </a:xfrm>
          <a:prstGeom prst="line">
            <a:avLst/>
          </a:prstGeom>
          <a:noFill/>
          <a:ln w="6350">
            <a:solidFill>
              <a:schemeClr val="accent6"/>
            </a:solidFill>
            <a:prstDash val="solid"/>
          </a:ln>
        </p:spPr>
      </p:sp>
      <p:sp>
        <p:nvSpPr>
          <p:cNvPr id="7" name="Text 4"/>
          <p:cNvSpPr txBox="1"/>
          <p:nvPr/>
        </p:nvSpPr>
        <p:spPr>
          <a:xfrm>
            <a:off x="457200" y="189280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2</a:t>
            </a:r>
            <a:endParaRPr lang="en-US" sz="3200" dirty="0"/>
          </a:p>
        </p:txBody>
      </p:sp>
      <p:sp>
        <p:nvSpPr>
          <p:cNvPr id="8" name="Text 5"/>
          <p:cNvSpPr txBox="1"/>
          <p:nvPr/>
        </p:nvSpPr>
        <p:spPr>
          <a:xfrm>
            <a:off x="1097280" y="196596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hybrid search and reranking help?</a:t>
            </a:r>
            <a:endParaRPr lang="en-US" sz="1800" dirty="0"/>
          </a:p>
        </p:txBody>
      </p:sp>
      <p:sp>
        <p:nvSpPr>
          <p:cNvPr id="9" name="Shape 6"/>
          <p:cNvSpPr/>
          <p:nvPr/>
        </p:nvSpPr>
        <p:spPr>
          <a:xfrm>
            <a:off x="1097280" y="2496312"/>
            <a:ext cx="5120640" cy="0"/>
          </a:xfrm>
          <a:prstGeom prst="line">
            <a:avLst/>
          </a:prstGeom>
          <a:noFill/>
          <a:ln w="6350">
            <a:solidFill>
              <a:schemeClr val="accent6"/>
            </a:solidFill>
            <a:prstDash val="solid"/>
          </a:ln>
        </p:spPr>
      </p:sp>
      <p:sp>
        <p:nvSpPr>
          <p:cNvPr id="10" name="Text 7"/>
          <p:cNvSpPr txBox="1"/>
          <p:nvPr/>
        </p:nvSpPr>
        <p:spPr>
          <a:xfrm>
            <a:off x="457200" y="253288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1" name="Text 8"/>
          <p:cNvSpPr txBox="1"/>
          <p:nvPr/>
        </p:nvSpPr>
        <p:spPr>
          <a:xfrm>
            <a:off x="1097280" y="260604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Where does the time go, and how do we cut it?</a:t>
            </a:r>
            <a:endParaRPr lang="en-US" sz="1800" dirty="0"/>
          </a:p>
        </p:txBody>
      </p:sp>
      <p:sp>
        <p:nvSpPr>
          <p:cNvPr id="12" name="Shape 9"/>
          <p:cNvSpPr/>
          <p:nvPr/>
        </p:nvSpPr>
        <p:spPr>
          <a:xfrm>
            <a:off x="1097280" y="3136392"/>
            <a:ext cx="5120640" cy="0"/>
          </a:xfrm>
          <a:prstGeom prst="line">
            <a:avLst/>
          </a:prstGeom>
          <a:noFill/>
          <a:ln w="6350">
            <a:solidFill>
              <a:schemeClr val="accent6"/>
            </a:solidFill>
            <a:prstDash val="solid"/>
          </a:ln>
        </p:spPr>
      </p:sp>
      <p:sp>
        <p:nvSpPr>
          <p:cNvPr id="13" name="Text 10"/>
          <p:cNvSpPr txBox="1"/>
          <p:nvPr/>
        </p:nvSpPr>
        <p:spPr>
          <a:xfrm>
            <a:off x="457200" y="317296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14" name="Text 11"/>
          <p:cNvSpPr txBox="1"/>
          <p:nvPr/>
        </p:nvSpPr>
        <p:spPr>
          <a:xfrm>
            <a:off x="1097280" y="324612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What are the security risks, and the controls?</a:t>
            </a:r>
            <a:endParaRPr lang="en-US" sz="1800" dirty="0"/>
          </a:p>
        </p:txBody>
      </p:sp>
      <p:sp>
        <p:nvSpPr>
          <p:cNvPr id="15" name="Shape 12"/>
          <p:cNvSpPr/>
          <p:nvPr/>
        </p:nvSpPr>
        <p:spPr>
          <a:xfrm>
            <a:off x="1097280" y="3776472"/>
            <a:ext cx="5120640" cy="0"/>
          </a:xfrm>
          <a:prstGeom prst="line">
            <a:avLst/>
          </a:prstGeom>
          <a:noFill/>
          <a:ln w="6350">
            <a:solidFill>
              <a:schemeClr val="accent6"/>
            </a:solidFill>
            <a:prstDash val="solid"/>
          </a:ln>
        </p:spPr>
      </p:sp>
      <p:sp>
        <p:nvSpPr>
          <p:cNvPr id="16" name="Text 13"/>
          <p:cNvSpPr txBox="1"/>
          <p:nvPr/>
        </p:nvSpPr>
        <p:spPr>
          <a:xfrm>
            <a:off x="457200" y="3813048"/>
            <a:ext cx="548640" cy="54864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17" name="Text 14"/>
          <p:cNvSpPr txBox="1"/>
          <p:nvPr/>
        </p:nvSpPr>
        <p:spPr>
          <a:xfrm>
            <a:off x="1097280" y="3886200"/>
            <a:ext cx="5120640" cy="4572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How do we deploy, monitor and maintain it?</a:t>
            </a:r>
            <a:endParaRPr lang="en-US" sz="1800" dirty="0"/>
          </a:p>
        </p:txBody>
      </p:sp>
      <p:sp>
        <p:nvSpPr>
          <p:cNvPr id="18" name="Text 15"/>
          <p:cNvSpPr txBox="1"/>
          <p:nvPr/>
        </p:nvSpPr>
        <p:spPr>
          <a:xfrm>
            <a:off x="6675120" y="132588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Prerequisites</a:t>
            </a:r>
            <a:endParaRPr lang="en-US" sz="1200" dirty="0"/>
          </a:p>
        </p:txBody>
      </p:sp>
      <p:sp>
        <p:nvSpPr>
          <p:cNvPr id="19" name="Text 16"/>
          <p:cNvSpPr txBox="1"/>
          <p:nvPr/>
        </p:nvSpPr>
        <p:spPr>
          <a:xfrm>
            <a:off x="6675120" y="1645920"/>
            <a:ext cx="2011680" cy="822960"/>
          </a:xfrm>
          <a:prstGeom prst="rect">
            <a:avLst/>
          </a:prstGeom>
          <a:noFill/>
          <a:ln/>
        </p:spPr>
        <p:txBody>
          <a:bodyPr wrap="square" lIns="0" tIns="0" rIns="0" bIns="0" rtlCol="0" anchor="t"/>
          <a:lstStyle/>
          <a:p>
            <a:pPr indent="0" marL="0">
              <a:buNone/>
            </a:pPr>
            <a:r>
              <a:rPr lang="en-US" sz="1400" dirty="0">
                <a:solidFill>
                  <a:schemeClr val="tx1"/>
                </a:solidFill>
              </a:rPr>
              <a:t>Lectures 1 to 8; the Lab 8 notebook.</a:t>
            </a:r>
            <a:endParaRPr lang="en-US" sz="1400" dirty="0"/>
          </a:p>
        </p:txBody>
      </p:sp>
      <p:sp>
        <p:nvSpPr>
          <p:cNvPr id="20" name="Text 17"/>
          <p:cNvSpPr txBox="1"/>
          <p:nvPr/>
        </p:nvSpPr>
        <p:spPr>
          <a:xfrm>
            <a:off x="6675120" y="2651760"/>
            <a:ext cx="201168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Lab 9</a:t>
            </a:r>
            <a:endParaRPr lang="en-US" sz="1200" dirty="0"/>
          </a:p>
        </p:txBody>
      </p:sp>
      <p:sp>
        <p:nvSpPr>
          <p:cNvPr id="21" name="Text 18"/>
          <p:cNvSpPr txBox="1"/>
          <p:nvPr/>
        </p:nvSpPr>
        <p:spPr>
          <a:xfrm>
            <a:off x="6675120" y="2971800"/>
            <a:ext cx="2011680" cy="1463040"/>
          </a:xfrm>
          <a:prstGeom prst="rect">
            <a:avLst/>
          </a:prstGeom>
          <a:noFill/>
          <a:ln/>
        </p:spPr>
        <p:txBody>
          <a:bodyPr wrap="square" lIns="0" tIns="0" rIns="0" bIns="0" rtlCol="0" anchor="t"/>
          <a:lstStyle/>
          <a:p>
            <a:pPr indent="0" marL="0">
              <a:buNone/>
            </a:pPr>
            <a:r>
              <a:rPr lang="en-US" sz="1400" dirty="0">
                <a:solidFill>
                  <a:schemeClr val="tx1"/>
                </a:solidFill>
              </a:rPr>
              <a:t>Evaluate the RAG app, add hybrid search and a reranker, and test its security.</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Where to measure a RAG system</a:t>
            </a:r>
            <a:endParaRPr lang="en-US" sz="3000" dirty="0"/>
          </a:p>
        </p:txBody>
      </p:sp>
      <p:sp>
        <p:nvSpPr>
          <p:cNvPr id="4" name="Shape 1"/>
          <p:cNvSpPr/>
          <p:nvPr/>
        </p:nvSpPr>
        <p:spPr>
          <a:xfrm>
            <a:off x="457200" y="1463040"/>
            <a:ext cx="1371600" cy="731520"/>
          </a:xfrm>
          <a:prstGeom prst="rect">
            <a:avLst/>
          </a:prstGeom>
          <a:solidFill>
            <a:schemeClr val="bg1"/>
          </a:solidFill>
          <a:ln w="12700">
            <a:solidFill>
              <a:srgbClr val="1B2A41"/>
            </a:solidFill>
            <a:prstDash val="solid"/>
          </a:ln>
        </p:spPr>
      </p:sp>
      <p:sp>
        <p:nvSpPr>
          <p:cNvPr id="5" name="Text 2"/>
          <p:cNvSpPr txBox="1"/>
          <p:nvPr/>
        </p:nvSpPr>
        <p:spPr>
          <a:xfrm>
            <a:off x="45720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Question</a:t>
            </a:r>
            <a:endParaRPr lang="en-US" sz="1400" dirty="0"/>
          </a:p>
        </p:txBody>
      </p:sp>
      <p:sp>
        <p:nvSpPr>
          <p:cNvPr id="6" name="Shape 3"/>
          <p:cNvSpPr/>
          <p:nvPr/>
        </p:nvSpPr>
        <p:spPr>
          <a:xfrm>
            <a:off x="1828800" y="1828800"/>
            <a:ext cx="365760" cy="0"/>
          </a:xfrm>
          <a:prstGeom prst="line">
            <a:avLst/>
          </a:prstGeom>
          <a:noFill/>
          <a:ln w="15875">
            <a:solidFill>
              <a:srgbClr val="1B2A41"/>
            </a:solidFill>
            <a:prstDash val="solid"/>
            <a:tailEnd type="triangle"/>
          </a:ln>
        </p:spPr>
      </p:sp>
      <p:sp>
        <p:nvSpPr>
          <p:cNvPr id="7" name="Shape 4"/>
          <p:cNvSpPr/>
          <p:nvPr/>
        </p:nvSpPr>
        <p:spPr>
          <a:xfrm>
            <a:off x="2194560" y="1463040"/>
            <a:ext cx="1371600" cy="731520"/>
          </a:xfrm>
          <a:prstGeom prst="rect">
            <a:avLst/>
          </a:prstGeom>
          <a:solidFill>
            <a:schemeClr val="bg1"/>
          </a:solidFill>
          <a:ln w="12700">
            <a:solidFill>
              <a:srgbClr val="1B2A41"/>
            </a:solidFill>
            <a:prstDash val="solid"/>
          </a:ln>
        </p:spPr>
      </p:sp>
      <p:sp>
        <p:nvSpPr>
          <p:cNvPr id="8" name="Text 5"/>
          <p:cNvSpPr txBox="1"/>
          <p:nvPr/>
        </p:nvSpPr>
        <p:spPr>
          <a:xfrm>
            <a:off x="219456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Retrieve</a:t>
            </a:r>
            <a:endParaRPr lang="en-US" sz="1400" dirty="0"/>
          </a:p>
        </p:txBody>
      </p:sp>
      <p:sp>
        <p:nvSpPr>
          <p:cNvPr id="9" name="Shape 6"/>
          <p:cNvSpPr/>
          <p:nvPr/>
        </p:nvSpPr>
        <p:spPr>
          <a:xfrm>
            <a:off x="3566160" y="1828800"/>
            <a:ext cx="365760" cy="0"/>
          </a:xfrm>
          <a:prstGeom prst="line">
            <a:avLst/>
          </a:prstGeom>
          <a:noFill/>
          <a:ln w="15875">
            <a:solidFill>
              <a:srgbClr val="1B2A41"/>
            </a:solidFill>
            <a:prstDash val="solid"/>
            <a:tailEnd type="triangle"/>
          </a:ln>
        </p:spPr>
      </p:sp>
      <p:sp>
        <p:nvSpPr>
          <p:cNvPr id="10" name="Shape 7"/>
          <p:cNvSpPr/>
          <p:nvPr/>
        </p:nvSpPr>
        <p:spPr>
          <a:xfrm>
            <a:off x="3931920" y="1463040"/>
            <a:ext cx="1371600" cy="731520"/>
          </a:xfrm>
          <a:prstGeom prst="rect">
            <a:avLst/>
          </a:prstGeom>
          <a:solidFill>
            <a:schemeClr val="bg1"/>
          </a:solidFill>
          <a:ln w="12700">
            <a:solidFill>
              <a:srgbClr val="1B2A41"/>
            </a:solidFill>
            <a:prstDash val="solid"/>
          </a:ln>
        </p:spPr>
      </p:sp>
      <p:sp>
        <p:nvSpPr>
          <p:cNvPr id="11" name="Text 8"/>
          <p:cNvSpPr txBox="1"/>
          <p:nvPr/>
        </p:nvSpPr>
        <p:spPr>
          <a:xfrm>
            <a:off x="393192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Prompt</a:t>
            </a:r>
            <a:endParaRPr lang="en-US" sz="1400" dirty="0"/>
          </a:p>
        </p:txBody>
      </p:sp>
      <p:sp>
        <p:nvSpPr>
          <p:cNvPr id="12" name="Shape 9"/>
          <p:cNvSpPr/>
          <p:nvPr/>
        </p:nvSpPr>
        <p:spPr>
          <a:xfrm>
            <a:off x="5303520" y="1828800"/>
            <a:ext cx="365760" cy="0"/>
          </a:xfrm>
          <a:prstGeom prst="line">
            <a:avLst/>
          </a:prstGeom>
          <a:noFill/>
          <a:ln w="15875">
            <a:solidFill>
              <a:srgbClr val="1B2A41"/>
            </a:solidFill>
            <a:prstDash val="solid"/>
            <a:tailEnd type="triangle"/>
          </a:ln>
        </p:spPr>
      </p:sp>
      <p:sp>
        <p:nvSpPr>
          <p:cNvPr id="13" name="Shape 10"/>
          <p:cNvSpPr/>
          <p:nvPr/>
        </p:nvSpPr>
        <p:spPr>
          <a:xfrm>
            <a:off x="5669280" y="1463040"/>
            <a:ext cx="1371600" cy="731520"/>
          </a:xfrm>
          <a:prstGeom prst="rect">
            <a:avLst/>
          </a:prstGeom>
          <a:solidFill>
            <a:schemeClr val="bg1"/>
          </a:solidFill>
          <a:ln w="12700">
            <a:solidFill>
              <a:srgbClr val="1B2A41"/>
            </a:solidFill>
            <a:prstDash val="solid"/>
          </a:ln>
        </p:spPr>
      </p:sp>
      <p:sp>
        <p:nvSpPr>
          <p:cNvPr id="14" name="Text 11"/>
          <p:cNvSpPr txBox="1"/>
          <p:nvPr/>
        </p:nvSpPr>
        <p:spPr>
          <a:xfrm>
            <a:off x="566928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Generate</a:t>
            </a:r>
            <a:endParaRPr lang="en-US" sz="1400" dirty="0"/>
          </a:p>
        </p:txBody>
      </p:sp>
      <p:sp>
        <p:nvSpPr>
          <p:cNvPr id="15" name="Shape 12"/>
          <p:cNvSpPr/>
          <p:nvPr/>
        </p:nvSpPr>
        <p:spPr>
          <a:xfrm>
            <a:off x="7040880" y="1828800"/>
            <a:ext cx="365760" cy="0"/>
          </a:xfrm>
          <a:prstGeom prst="line">
            <a:avLst/>
          </a:prstGeom>
          <a:noFill/>
          <a:ln w="15875">
            <a:solidFill>
              <a:srgbClr val="1B2A41"/>
            </a:solidFill>
            <a:prstDash val="solid"/>
            <a:tailEnd type="triangle"/>
          </a:ln>
        </p:spPr>
      </p:sp>
      <p:sp>
        <p:nvSpPr>
          <p:cNvPr id="16" name="Shape 13"/>
          <p:cNvSpPr/>
          <p:nvPr/>
        </p:nvSpPr>
        <p:spPr>
          <a:xfrm>
            <a:off x="7406640" y="1463040"/>
            <a:ext cx="1371600" cy="731520"/>
          </a:xfrm>
          <a:prstGeom prst="rect">
            <a:avLst/>
          </a:prstGeom>
          <a:solidFill>
            <a:schemeClr val="bg1"/>
          </a:solidFill>
          <a:ln w="12700">
            <a:solidFill>
              <a:srgbClr val="1B2A41"/>
            </a:solidFill>
            <a:prstDash val="solid"/>
          </a:ln>
        </p:spPr>
      </p:sp>
      <p:sp>
        <p:nvSpPr>
          <p:cNvPr id="17" name="Text 14"/>
          <p:cNvSpPr txBox="1"/>
          <p:nvPr/>
        </p:nvSpPr>
        <p:spPr>
          <a:xfrm>
            <a:off x="7406640" y="14630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Answer</a:t>
            </a:r>
            <a:endParaRPr lang="en-US" sz="1400" dirty="0"/>
          </a:p>
        </p:txBody>
      </p:sp>
      <p:sp>
        <p:nvSpPr>
          <p:cNvPr id="18" name="Shape 15"/>
          <p:cNvSpPr/>
          <p:nvPr/>
        </p:nvSpPr>
        <p:spPr>
          <a:xfrm>
            <a:off x="457200" y="2423160"/>
            <a:ext cx="3108960" cy="0"/>
          </a:xfrm>
          <a:prstGeom prst="line">
            <a:avLst/>
          </a:prstGeom>
          <a:noFill/>
          <a:ln w="31750">
            <a:solidFill>
              <a:srgbClr val="2F5D8A"/>
            </a:solidFill>
            <a:prstDash val="solid"/>
          </a:ln>
        </p:spPr>
      </p:sp>
      <p:sp>
        <p:nvSpPr>
          <p:cNvPr id="19" name="Text 16"/>
          <p:cNvSpPr txBox="1"/>
          <p:nvPr/>
        </p:nvSpPr>
        <p:spPr>
          <a:xfrm>
            <a:off x="457200" y="2514600"/>
            <a:ext cx="3108960" cy="274320"/>
          </a:xfrm>
          <a:prstGeom prst="rect">
            <a:avLst/>
          </a:prstGeom>
          <a:noFill/>
          <a:ln/>
        </p:spPr>
        <p:txBody>
          <a:bodyPr wrap="square" lIns="0" tIns="0" rIns="0" bIns="0" rtlCol="0" anchor="t"/>
          <a:lstStyle/>
          <a:p>
            <a:pPr indent="0" marL="0">
              <a:buNone/>
            </a:pPr>
            <a:r>
              <a:rPr lang="en-US" sz="1400" b="1" dirty="0">
                <a:solidFill>
                  <a:schemeClr val="accent2"/>
                </a:solidFill>
                <a:latin typeface="Cambria" pitchFamily="34" charset="0"/>
                <a:ea typeface="Cambria" pitchFamily="34" charset="-122"/>
                <a:cs typeface="Cambria" pitchFamily="34" charset="-120"/>
              </a:rPr>
              <a:t>Retrieval metrics</a:t>
            </a:r>
            <a:endParaRPr lang="en-US" sz="1400" dirty="0"/>
          </a:p>
        </p:txBody>
      </p:sp>
      <p:sp>
        <p:nvSpPr>
          <p:cNvPr id="20" name="Text 17"/>
          <p:cNvSpPr txBox="1"/>
          <p:nvPr/>
        </p:nvSpPr>
        <p:spPr>
          <a:xfrm>
            <a:off x="457200" y="2834640"/>
            <a:ext cx="3108960" cy="548640"/>
          </a:xfrm>
          <a:prstGeom prst="rect">
            <a:avLst/>
          </a:prstGeom>
          <a:noFill/>
          <a:ln/>
        </p:spPr>
        <p:txBody>
          <a:bodyPr wrap="square" lIns="0" tIns="0" rIns="0" bIns="0" rtlCol="0" anchor="t"/>
          <a:lstStyle/>
          <a:p>
            <a:pPr indent="0" marL="0">
              <a:buNone/>
            </a:pPr>
            <a:r>
              <a:rPr lang="en-US" sz="1300" dirty="0">
                <a:solidFill>
                  <a:schemeClr val="tx1"/>
                </a:solidFill>
              </a:rPr>
              <a:t>Was the right chunk found, and how high?</a:t>
            </a:r>
            <a:endParaRPr lang="en-US" sz="1300" dirty="0"/>
          </a:p>
        </p:txBody>
      </p:sp>
      <p:sp>
        <p:nvSpPr>
          <p:cNvPr id="21" name="Shape 18"/>
          <p:cNvSpPr/>
          <p:nvPr/>
        </p:nvSpPr>
        <p:spPr>
          <a:xfrm>
            <a:off x="3931920" y="2423160"/>
            <a:ext cx="4754880" cy="0"/>
          </a:xfrm>
          <a:prstGeom prst="line">
            <a:avLst/>
          </a:prstGeom>
          <a:noFill/>
          <a:ln w="31750">
            <a:solidFill>
              <a:srgbClr val="B5432A"/>
            </a:solidFill>
            <a:prstDash val="solid"/>
          </a:ln>
        </p:spPr>
      </p:sp>
      <p:sp>
        <p:nvSpPr>
          <p:cNvPr id="22" name="Text 19"/>
          <p:cNvSpPr txBox="1"/>
          <p:nvPr/>
        </p:nvSpPr>
        <p:spPr>
          <a:xfrm>
            <a:off x="3931920" y="2514600"/>
            <a:ext cx="3108960" cy="27432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Generation metrics</a:t>
            </a:r>
            <a:endParaRPr lang="en-US" sz="1400" dirty="0"/>
          </a:p>
        </p:txBody>
      </p:sp>
      <p:sp>
        <p:nvSpPr>
          <p:cNvPr id="23" name="Text 20"/>
          <p:cNvSpPr txBox="1"/>
          <p:nvPr/>
        </p:nvSpPr>
        <p:spPr>
          <a:xfrm>
            <a:off x="3931920" y="2834640"/>
            <a:ext cx="4754880" cy="731520"/>
          </a:xfrm>
          <a:prstGeom prst="rect">
            <a:avLst/>
          </a:prstGeom>
          <a:noFill/>
          <a:ln/>
        </p:spPr>
        <p:txBody>
          <a:bodyPr wrap="square" lIns="0" tIns="0" rIns="0" bIns="0" rtlCol="0" anchor="t"/>
          <a:lstStyle/>
          <a:p>
            <a:pPr indent="0" marL="0">
              <a:buNone/>
            </a:pPr>
            <a:r>
              <a:rPr lang="en-US" sz="1300" dirty="0">
                <a:solidFill>
                  <a:schemeClr val="tx1"/>
                </a:solidFill>
              </a:rPr>
              <a:t>Is the answer grounded, relevant and complete? Are citations right? Does it refuse correctly?</a:t>
            </a:r>
            <a:endParaRPr lang="en-US" sz="1300" dirty="0"/>
          </a:p>
        </p:txBody>
      </p:sp>
      <p:sp>
        <p:nvSpPr>
          <p:cNvPr id="24" name="Text 21"/>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600" i="1" dirty="0">
                <a:solidFill>
                  <a:schemeClr val="accent1"/>
                </a:solidFill>
                <a:latin typeface="Cambria" pitchFamily="34" charset="0"/>
                <a:ea typeface="Cambria" pitchFamily="34" charset="-122"/>
                <a:cs typeface="Cambria" pitchFamily="34" charset="-120"/>
              </a:rPr>
              <a:t>Measure both, separately, on the same questions.</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Building an evaluation set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291840"/>
                <a:gridCol w="2468880"/>
                <a:gridCol w="246888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Weakness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Written by you from the documents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Accurate gold passages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Slow; sounds like the documents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Real user questions (logs, support tickets)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Realistic wording and topics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Gold passages need labelling</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Generated by a model, then reviewed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Fast, many questions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Biased toward the text; needs review</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5" name="Text 1"/>
          <p:cNvSpPr txBox="1"/>
          <p:nvPr/>
        </p:nvSpPr>
        <p:spPr>
          <a:xfrm>
            <a:off x="457200" y="34747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Include unanswerable questions, to test refusal</a:t>
            </a:r>
            <a:endParaRPr lang="en-US" sz="1400" dirty="0"/>
          </a:p>
          <a:p>
            <a:pPr marL="342900" indent="-342900">
              <a:spcAft>
                <a:spcPts val="800"/>
              </a:spcAft>
              <a:buSzPct val="100000"/>
              <a:buChar char="•"/>
            </a:pPr>
            <a:r>
              <a:rPr lang="en-US" sz="1400" dirty="0">
                <a:solidFill>
                  <a:schemeClr val="tx1"/>
                </a:solidFill>
              </a:rPr>
              <a:t>Split: dev set for tuning, test set for the final check</a:t>
            </a:r>
            <a:endParaRPr lang="en-US" sz="1400" dirty="0"/>
          </a:p>
          <a:p>
            <a:pPr marL="342900" indent="-342900">
              <a:spcAft>
                <a:spcPts val="800"/>
              </a:spcAft>
              <a:buSzPct val="100000"/>
              <a:buChar char="•"/>
            </a:pPr>
            <a:r>
              <a:rPr lang="en-US" sz="1400" dirty="0">
                <a:solidFill>
                  <a:schemeClr val="tx1"/>
                </a:solidFill>
              </a:rPr>
              <a:t>Re-read questions; fix mislabelled gold passages</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Retrieval metrics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645920"/>
                <a:gridCol w="3291840"/>
                <a:gridCol w="329184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Question it answers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Definition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Hit rate@k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Is any relevant chunk in the top 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fraction of queries with at least one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Recall@k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How much of the evidence was found?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relevant in top k / all relevant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Precision@k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How much of the top k is useful?</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relevant in top k / 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MRR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How early is the first relevant chunk?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mean of 1 / rank of first relevant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nDCG@k</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Is the ranking order good (graded)?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discounted gain, normalized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 worked example</a:t>
            </a:r>
            <a:endParaRPr lang="en-US" sz="3000" dirty="0"/>
          </a:p>
        </p:txBody>
      </p:sp>
      <p:sp>
        <p:nvSpPr>
          <p:cNvPr id="4" name="Text 1"/>
          <p:cNvSpPr txBox="1"/>
          <p:nvPr/>
        </p:nvSpPr>
        <p:spPr>
          <a:xfrm>
            <a:off x="457200" y="1325880"/>
            <a:ext cx="548640" cy="45720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Q1</a:t>
            </a:r>
            <a:endParaRPr lang="en-US" sz="1800" dirty="0"/>
          </a:p>
        </p:txBody>
      </p:sp>
      <p:sp>
        <p:nvSpPr>
          <p:cNvPr id="5" name="Shape 2"/>
          <p:cNvSpPr/>
          <p:nvPr/>
        </p:nvSpPr>
        <p:spPr>
          <a:xfrm>
            <a:off x="1097280" y="1325880"/>
            <a:ext cx="548640" cy="457200"/>
          </a:xfrm>
          <a:prstGeom prst="rect">
            <a:avLst/>
          </a:prstGeom>
          <a:solidFill>
            <a:srgbClr val="3B7A57"/>
          </a:solidFill>
          <a:ln w="12700">
            <a:solidFill>
              <a:srgbClr val="3B7A57"/>
            </a:solidFill>
            <a:prstDash val="solid"/>
          </a:ln>
        </p:spPr>
      </p:sp>
      <p:sp>
        <p:nvSpPr>
          <p:cNvPr id="6" name="Text 3"/>
          <p:cNvSpPr txBox="1"/>
          <p:nvPr/>
        </p:nvSpPr>
        <p:spPr>
          <a:xfrm>
            <a:off x="1097280" y="1325880"/>
            <a:ext cx="548640" cy="45720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Shape 4"/>
          <p:cNvSpPr/>
          <p:nvPr/>
        </p:nvSpPr>
        <p:spPr>
          <a:xfrm>
            <a:off x="1737360" y="1325880"/>
            <a:ext cx="548640" cy="457200"/>
          </a:xfrm>
          <a:prstGeom prst="rect">
            <a:avLst/>
          </a:prstGeom>
          <a:solidFill>
            <a:schemeClr val="bg1"/>
          </a:solidFill>
          <a:ln w="12700">
            <a:solidFill>
              <a:srgbClr val="6B7280"/>
            </a:solidFill>
            <a:prstDash val="solid"/>
          </a:ln>
        </p:spPr>
      </p:sp>
      <p:sp>
        <p:nvSpPr>
          <p:cNvPr id="8" name="Text 5"/>
          <p:cNvSpPr txBox="1"/>
          <p:nvPr/>
        </p:nvSpPr>
        <p:spPr>
          <a:xfrm>
            <a:off x="1737360" y="132588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2</a:t>
            </a:r>
            <a:endParaRPr lang="en-US" sz="1300" dirty="0"/>
          </a:p>
        </p:txBody>
      </p:sp>
      <p:sp>
        <p:nvSpPr>
          <p:cNvPr id="9" name="Shape 6"/>
          <p:cNvSpPr/>
          <p:nvPr/>
        </p:nvSpPr>
        <p:spPr>
          <a:xfrm>
            <a:off x="2377440" y="1325880"/>
            <a:ext cx="548640" cy="457200"/>
          </a:xfrm>
          <a:prstGeom prst="rect">
            <a:avLst/>
          </a:prstGeom>
          <a:solidFill>
            <a:schemeClr val="bg1"/>
          </a:solidFill>
          <a:ln w="12700">
            <a:solidFill>
              <a:srgbClr val="6B7280"/>
            </a:solidFill>
            <a:prstDash val="solid"/>
          </a:ln>
        </p:spPr>
      </p:sp>
      <p:sp>
        <p:nvSpPr>
          <p:cNvPr id="10" name="Text 7"/>
          <p:cNvSpPr txBox="1"/>
          <p:nvPr/>
        </p:nvSpPr>
        <p:spPr>
          <a:xfrm>
            <a:off x="2377440" y="132588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3</a:t>
            </a:r>
            <a:endParaRPr lang="en-US" sz="1300" dirty="0"/>
          </a:p>
        </p:txBody>
      </p:sp>
      <p:sp>
        <p:nvSpPr>
          <p:cNvPr id="11" name="Shape 8"/>
          <p:cNvSpPr/>
          <p:nvPr/>
        </p:nvSpPr>
        <p:spPr>
          <a:xfrm>
            <a:off x="3017520" y="1325880"/>
            <a:ext cx="548640" cy="457200"/>
          </a:xfrm>
          <a:prstGeom prst="rect">
            <a:avLst/>
          </a:prstGeom>
          <a:solidFill>
            <a:srgbClr val="3B7A57"/>
          </a:solidFill>
          <a:ln w="12700">
            <a:solidFill>
              <a:srgbClr val="3B7A57"/>
            </a:solidFill>
            <a:prstDash val="solid"/>
          </a:ln>
        </p:spPr>
      </p:sp>
      <p:sp>
        <p:nvSpPr>
          <p:cNvPr id="12" name="Text 9"/>
          <p:cNvSpPr txBox="1"/>
          <p:nvPr/>
        </p:nvSpPr>
        <p:spPr>
          <a:xfrm>
            <a:off x="3017520" y="1325880"/>
            <a:ext cx="548640" cy="45720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3" name="Shape 10"/>
          <p:cNvSpPr/>
          <p:nvPr/>
        </p:nvSpPr>
        <p:spPr>
          <a:xfrm>
            <a:off x="3657600" y="1325880"/>
            <a:ext cx="548640" cy="457200"/>
          </a:xfrm>
          <a:prstGeom prst="rect">
            <a:avLst/>
          </a:prstGeom>
          <a:solidFill>
            <a:schemeClr val="bg1"/>
          </a:solidFill>
          <a:ln w="12700">
            <a:solidFill>
              <a:srgbClr val="6B7280"/>
            </a:solidFill>
            <a:prstDash val="solid"/>
          </a:ln>
        </p:spPr>
      </p:sp>
      <p:sp>
        <p:nvSpPr>
          <p:cNvPr id="14" name="Text 11"/>
          <p:cNvSpPr txBox="1"/>
          <p:nvPr/>
        </p:nvSpPr>
        <p:spPr>
          <a:xfrm>
            <a:off x="3657600" y="132588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5</a:t>
            </a:r>
            <a:endParaRPr lang="en-US" sz="1300" dirty="0"/>
          </a:p>
        </p:txBody>
      </p:sp>
      <p:sp>
        <p:nvSpPr>
          <p:cNvPr id="15" name="Text 12"/>
          <p:cNvSpPr txBox="1"/>
          <p:nvPr/>
        </p:nvSpPr>
        <p:spPr>
          <a:xfrm>
            <a:off x="4572000" y="1325880"/>
            <a:ext cx="2011680" cy="457200"/>
          </a:xfrm>
          <a:prstGeom prst="rect">
            <a:avLst/>
          </a:prstGeom>
          <a:noFill/>
          <a:ln/>
        </p:spPr>
        <p:txBody>
          <a:bodyPr wrap="square" lIns="0" tIns="0" rIns="0" bIns="0" rtlCol="0" anchor="ctr"/>
          <a:lstStyle/>
          <a:p>
            <a:pPr indent="0" marL="0">
              <a:buNone/>
            </a:pPr>
            <a:r>
              <a:rPr lang="en-US" sz="1200" i="1" dirty="0">
                <a:solidFill>
                  <a:schemeClr val="accent5"/>
                </a:solidFill>
                <a:latin typeface="Cambria" pitchFamily="34" charset="0"/>
                <a:ea typeface="Cambria" pitchFamily="34" charset="-122"/>
                <a:cs typeface="Cambria" pitchFamily="34" charset="-120"/>
              </a:rPr>
              <a:t>2 relevant in total</a:t>
            </a:r>
            <a:endParaRPr lang="en-US" sz="1200" dirty="0"/>
          </a:p>
        </p:txBody>
      </p:sp>
      <p:sp>
        <p:nvSpPr>
          <p:cNvPr id="16" name="Text 13"/>
          <p:cNvSpPr txBox="1"/>
          <p:nvPr/>
        </p:nvSpPr>
        <p:spPr>
          <a:xfrm>
            <a:off x="457200" y="1920240"/>
            <a:ext cx="548640" cy="45720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Q2</a:t>
            </a:r>
            <a:endParaRPr lang="en-US" sz="1800" dirty="0"/>
          </a:p>
        </p:txBody>
      </p:sp>
      <p:sp>
        <p:nvSpPr>
          <p:cNvPr id="17" name="Shape 14"/>
          <p:cNvSpPr/>
          <p:nvPr/>
        </p:nvSpPr>
        <p:spPr>
          <a:xfrm>
            <a:off x="1097280" y="1920240"/>
            <a:ext cx="548640" cy="457200"/>
          </a:xfrm>
          <a:prstGeom prst="rect">
            <a:avLst/>
          </a:prstGeom>
          <a:solidFill>
            <a:schemeClr val="bg1"/>
          </a:solidFill>
          <a:ln w="12700">
            <a:solidFill>
              <a:srgbClr val="6B7280"/>
            </a:solidFill>
            <a:prstDash val="solid"/>
          </a:ln>
        </p:spPr>
      </p:sp>
      <p:sp>
        <p:nvSpPr>
          <p:cNvPr id="18" name="Text 15"/>
          <p:cNvSpPr txBox="1"/>
          <p:nvPr/>
        </p:nvSpPr>
        <p:spPr>
          <a:xfrm>
            <a:off x="1097280" y="192024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1</a:t>
            </a:r>
            <a:endParaRPr lang="en-US" sz="1300" dirty="0"/>
          </a:p>
        </p:txBody>
      </p:sp>
      <p:sp>
        <p:nvSpPr>
          <p:cNvPr id="19" name="Shape 16"/>
          <p:cNvSpPr/>
          <p:nvPr/>
        </p:nvSpPr>
        <p:spPr>
          <a:xfrm>
            <a:off x="1737360" y="1920240"/>
            <a:ext cx="548640" cy="457200"/>
          </a:xfrm>
          <a:prstGeom prst="rect">
            <a:avLst/>
          </a:prstGeom>
          <a:solidFill>
            <a:schemeClr val="bg1"/>
          </a:solidFill>
          <a:ln w="12700">
            <a:solidFill>
              <a:srgbClr val="6B7280"/>
            </a:solidFill>
            <a:prstDash val="solid"/>
          </a:ln>
        </p:spPr>
      </p:sp>
      <p:sp>
        <p:nvSpPr>
          <p:cNvPr id="20" name="Text 17"/>
          <p:cNvSpPr txBox="1"/>
          <p:nvPr/>
        </p:nvSpPr>
        <p:spPr>
          <a:xfrm>
            <a:off x="1737360" y="192024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2</a:t>
            </a:r>
            <a:endParaRPr lang="en-US" sz="1300" dirty="0"/>
          </a:p>
        </p:txBody>
      </p:sp>
      <p:sp>
        <p:nvSpPr>
          <p:cNvPr id="21" name="Shape 18"/>
          <p:cNvSpPr/>
          <p:nvPr/>
        </p:nvSpPr>
        <p:spPr>
          <a:xfrm>
            <a:off x="2377440" y="1920240"/>
            <a:ext cx="548640" cy="457200"/>
          </a:xfrm>
          <a:prstGeom prst="rect">
            <a:avLst/>
          </a:prstGeom>
          <a:solidFill>
            <a:srgbClr val="3B7A57"/>
          </a:solidFill>
          <a:ln w="12700">
            <a:solidFill>
              <a:srgbClr val="3B7A57"/>
            </a:solidFill>
            <a:prstDash val="solid"/>
          </a:ln>
        </p:spPr>
      </p:sp>
      <p:sp>
        <p:nvSpPr>
          <p:cNvPr id="22" name="Text 19"/>
          <p:cNvSpPr txBox="1"/>
          <p:nvPr/>
        </p:nvSpPr>
        <p:spPr>
          <a:xfrm>
            <a:off x="2377440" y="1920240"/>
            <a:ext cx="548640" cy="45720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3" name="Shape 20"/>
          <p:cNvSpPr/>
          <p:nvPr/>
        </p:nvSpPr>
        <p:spPr>
          <a:xfrm>
            <a:off x="3017520" y="1920240"/>
            <a:ext cx="548640" cy="457200"/>
          </a:xfrm>
          <a:prstGeom prst="rect">
            <a:avLst/>
          </a:prstGeom>
          <a:solidFill>
            <a:schemeClr val="bg1"/>
          </a:solidFill>
          <a:ln w="12700">
            <a:solidFill>
              <a:srgbClr val="6B7280"/>
            </a:solidFill>
            <a:prstDash val="solid"/>
          </a:ln>
        </p:spPr>
      </p:sp>
      <p:sp>
        <p:nvSpPr>
          <p:cNvPr id="24" name="Text 21"/>
          <p:cNvSpPr txBox="1"/>
          <p:nvPr/>
        </p:nvSpPr>
        <p:spPr>
          <a:xfrm>
            <a:off x="3017520" y="192024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4</a:t>
            </a:r>
            <a:endParaRPr lang="en-US" sz="1300" dirty="0"/>
          </a:p>
        </p:txBody>
      </p:sp>
      <p:sp>
        <p:nvSpPr>
          <p:cNvPr id="25" name="Shape 22"/>
          <p:cNvSpPr/>
          <p:nvPr/>
        </p:nvSpPr>
        <p:spPr>
          <a:xfrm>
            <a:off x="3657600" y="1920240"/>
            <a:ext cx="548640" cy="457200"/>
          </a:xfrm>
          <a:prstGeom prst="rect">
            <a:avLst/>
          </a:prstGeom>
          <a:solidFill>
            <a:schemeClr val="bg1"/>
          </a:solidFill>
          <a:ln w="12700">
            <a:solidFill>
              <a:srgbClr val="6B7280"/>
            </a:solidFill>
            <a:prstDash val="solid"/>
          </a:ln>
        </p:spPr>
      </p:sp>
      <p:sp>
        <p:nvSpPr>
          <p:cNvPr id="26" name="Text 23"/>
          <p:cNvSpPr txBox="1"/>
          <p:nvPr/>
        </p:nvSpPr>
        <p:spPr>
          <a:xfrm>
            <a:off x="3657600" y="192024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5</a:t>
            </a:r>
            <a:endParaRPr lang="en-US" sz="1300" dirty="0"/>
          </a:p>
        </p:txBody>
      </p:sp>
      <p:sp>
        <p:nvSpPr>
          <p:cNvPr id="27" name="Text 24"/>
          <p:cNvSpPr txBox="1"/>
          <p:nvPr/>
        </p:nvSpPr>
        <p:spPr>
          <a:xfrm>
            <a:off x="4572000" y="1920240"/>
            <a:ext cx="2011680" cy="457200"/>
          </a:xfrm>
          <a:prstGeom prst="rect">
            <a:avLst/>
          </a:prstGeom>
          <a:noFill/>
          <a:ln/>
        </p:spPr>
        <p:txBody>
          <a:bodyPr wrap="square" lIns="0" tIns="0" rIns="0" bIns="0" rtlCol="0" anchor="ctr"/>
          <a:lstStyle/>
          <a:p>
            <a:pPr indent="0" marL="0">
              <a:buNone/>
            </a:pPr>
            <a:r>
              <a:rPr lang="en-US" sz="1200" i="1" dirty="0">
                <a:solidFill>
                  <a:schemeClr val="accent5"/>
                </a:solidFill>
                <a:latin typeface="Cambria" pitchFamily="34" charset="0"/>
                <a:ea typeface="Cambria" pitchFamily="34" charset="-122"/>
                <a:cs typeface="Cambria" pitchFamily="34" charset="-120"/>
              </a:rPr>
              <a:t>1 relevant in total</a:t>
            </a:r>
            <a:endParaRPr lang="en-US" sz="1200" dirty="0"/>
          </a:p>
        </p:txBody>
      </p:sp>
      <p:sp>
        <p:nvSpPr>
          <p:cNvPr id="28" name="Text 25"/>
          <p:cNvSpPr txBox="1"/>
          <p:nvPr/>
        </p:nvSpPr>
        <p:spPr>
          <a:xfrm>
            <a:off x="457200" y="2514600"/>
            <a:ext cx="548640" cy="45720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Q3</a:t>
            </a:r>
            <a:endParaRPr lang="en-US" sz="1800" dirty="0"/>
          </a:p>
        </p:txBody>
      </p:sp>
      <p:sp>
        <p:nvSpPr>
          <p:cNvPr id="29" name="Shape 26"/>
          <p:cNvSpPr/>
          <p:nvPr/>
        </p:nvSpPr>
        <p:spPr>
          <a:xfrm>
            <a:off x="1097280" y="2514600"/>
            <a:ext cx="548640" cy="457200"/>
          </a:xfrm>
          <a:prstGeom prst="rect">
            <a:avLst/>
          </a:prstGeom>
          <a:solidFill>
            <a:schemeClr val="bg1"/>
          </a:solidFill>
          <a:ln w="12700">
            <a:solidFill>
              <a:srgbClr val="6B7280"/>
            </a:solidFill>
            <a:prstDash val="solid"/>
          </a:ln>
        </p:spPr>
      </p:sp>
      <p:sp>
        <p:nvSpPr>
          <p:cNvPr id="30" name="Text 27"/>
          <p:cNvSpPr txBox="1"/>
          <p:nvPr/>
        </p:nvSpPr>
        <p:spPr>
          <a:xfrm>
            <a:off x="1097280" y="251460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1</a:t>
            </a:r>
            <a:endParaRPr lang="en-US" sz="1300" dirty="0"/>
          </a:p>
        </p:txBody>
      </p:sp>
      <p:sp>
        <p:nvSpPr>
          <p:cNvPr id="31" name="Shape 28"/>
          <p:cNvSpPr/>
          <p:nvPr/>
        </p:nvSpPr>
        <p:spPr>
          <a:xfrm>
            <a:off x="1737360" y="2514600"/>
            <a:ext cx="548640" cy="457200"/>
          </a:xfrm>
          <a:prstGeom prst="rect">
            <a:avLst/>
          </a:prstGeom>
          <a:solidFill>
            <a:srgbClr val="3B7A57"/>
          </a:solidFill>
          <a:ln w="12700">
            <a:solidFill>
              <a:srgbClr val="3B7A57"/>
            </a:solidFill>
            <a:prstDash val="solid"/>
          </a:ln>
        </p:spPr>
      </p:sp>
      <p:sp>
        <p:nvSpPr>
          <p:cNvPr id="32" name="Text 29"/>
          <p:cNvSpPr txBox="1"/>
          <p:nvPr/>
        </p:nvSpPr>
        <p:spPr>
          <a:xfrm>
            <a:off x="1737360" y="2514600"/>
            <a:ext cx="548640" cy="45720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33" name="Shape 30"/>
          <p:cNvSpPr/>
          <p:nvPr/>
        </p:nvSpPr>
        <p:spPr>
          <a:xfrm>
            <a:off x="2377440" y="2514600"/>
            <a:ext cx="548640" cy="457200"/>
          </a:xfrm>
          <a:prstGeom prst="rect">
            <a:avLst/>
          </a:prstGeom>
          <a:solidFill>
            <a:schemeClr val="bg1"/>
          </a:solidFill>
          <a:ln w="12700">
            <a:solidFill>
              <a:srgbClr val="6B7280"/>
            </a:solidFill>
            <a:prstDash val="solid"/>
          </a:ln>
        </p:spPr>
      </p:sp>
      <p:sp>
        <p:nvSpPr>
          <p:cNvPr id="34" name="Text 31"/>
          <p:cNvSpPr txBox="1"/>
          <p:nvPr/>
        </p:nvSpPr>
        <p:spPr>
          <a:xfrm>
            <a:off x="2377440" y="251460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3</a:t>
            </a:r>
            <a:endParaRPr lang="en-US" sz="1300" dirty="0"/>
          </a:p>
        </p:txBody>
      </p:sp>
      <p:sp>
        <p:nvSpPr>
          <p:cNvPr id="35" name="Shape 32"/>
          <p:cNvSpPr/>
          <p:nvPr/>
        </p:nvSpPr>
        <p:spPr>
          <a:xfrm>
            <a:off x="3017520" y="2514600"/>
            <a:ext cx="548640" cy="457200"/>
          </a:xfrm>
          <a:prstGeom prst="rect">
            <a:avLst/>
          </a:prstGeom>
          <a:solidFill>
            <a:schemeClr val="bg1"/>
          </a:solidFill>
          <a:ln w="12700">
            <a:solidFill>
              <a:srgbClr val="6B7280"/>
            </a:solidFill>
            <a:prstDash val="solid"/>
          </a:ln>
        </p:spPr>
      </p:sp>
      <p:sp>
        <p:nvSpPr>
          <p:cNvPr id="36" name="Text 33"/>
          <p:cNvSpPr txBox="1"/>
          <p:nvPr/>
        </p:nvSpPr>
        <p:spPr>
          <a:xfrm>
            <a:off x="3017520" y="2514600"/>
            <a:ext cx="548640" cy="457200"/>
          </a:xfrm>
          <a:prstGeom prst="rect">
            <a:avLst/>
          </a:prstGeom>
          <a:noFill/>
          <a:ln/>
        </p:spPr>
        <p:txBody>
          <a:bodyPr wrap="square" lIns="0" tIns="0" rIns="0" bIns="0" rtlCol="0" anchor="ctr"/>
          <a:lstStyle/>
          <a:p>
            <a:pPr algn="ctr" indent="0" marL="0">
              <a:buNone/>
            </a:pPr>
            <a:r>
              <a:rPr lang="en-US" sz="1300" dirty="0">
                <a:solidFill>
                  <a:schemeClr val="tx1"/>
                </a:solidFill>
              </a:rPr>
              <a:t>4</a:t>
            </a:r>
            <a:endParaRPr lang="en-US" sz="1300" dirty="0"/>
          </a:p>
        </p:txBody>
      </p:sp>
      <p:sp>
        <p:nvSpPr>
          <p:cNvPr id="37" name="Shape 34"/>
          <p:cNvSpPr/>
          <p:nvPr/>
        </p:nvSpPr>
        <p:spPr>
          <a:xfrm>
            <a:off x="3657600" y="2514600"/>
            <a:ext cx="548640" cy="457200"/>
          </a:xfrm>
          <a:prstGeom prst="rect">
            <a:avLst/>
          </a:prstGeom>
          <a:solidFill>
            <a:srgbClr val="3B7A57"/>
          </a:solidFill>
          <a:ln w="12700">
            <a:solidFill>
              <a:srgbClr val="3B7A57"/>
            </a:solidFill>
            <a:prstDash val="solid"/>
          </a:ln>
        </p:spPr>
      </p:sp>
      <p:sp>
        <p:nvSpPr>
          <p:cNvPr id="38" name="Text 35"/>
          <p:cNvSpPr txBox="1"/>
          <p:nvPr/>
        </p:nvSpPr>
        <p:spPr>
          <a:xfrm>
            <a:off x="3657600" y="2514600"/>
            <a:ext cx="548640" cy="45720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9" name="Text 36"/>
          <p:cNvSpPr txBox="1"/>
          <p:nvPr/>
        </p:nvSpPr>
        <p:spPr>
          <a:xfrm>
            <a:off x="4572000" y="2514600"/>
            <a:ext cx="2011680" cy="457200"/>
          </a:xfrm>
          <a:prstGeom prst="rect">
            <a:avLst/>
          </a:prstGeom>
          <a:noFill/>
          <a:ln/>
        </p:spPr>
        <p:txBody>
          <a:bodyPr wrap="square" lIns="0" tIns="0" rIns="0" bIns="0" rtlCol="0" anchor="ctr"/>
          <a:lstStyle/>
          <a:p>
            <a:pPr indent="0" marL="0">
              <a:buNone/>
            </a:pPr>
            <a:r>
              <a:rPr lang="en-US" sz="1200" i="1" dirty="0">
                <a:solidFill>
                  <a:schemeClr val="accent5"/>
                </a:solidFill>
                <a:latin typeface="Cambria" pitchFamily="34" charset="0"/>
                <a:ea typeface="Cambria" pitchFamily="34" charset="-122"/>
                <a:cs typeface="Cambria" pitchFamily="34" charset="-120"/>
              </a:rPr>
              <a:t>2 relevant in total</a:t>
            </a:r>
            <a:endParaRPr lang="en-US" sz="1200" dirty="0"/>
          </a:p>
        </p:txBody>
      </p:sp>
      <p:sp>
        <p:nvSpPr>
          <p:cNvPr id="40" name="Text 37"/>
          <p:cNvSpPr txBox="1"/>
          <p:nvPr/>
        </p:nvSpPr>
        <p:spPr>
          <a:xfrm>
            <a:off x="457200" y="3154680"/>
            <a:ext cx="54864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9.1  Top-5 results for three queries; green = relevant chunk</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6035040" cy="914400"/>
        </p:xfrm>
        <a:graphic>
          <a:graphicData uri="http://schemas.openxmlformats.org/drawingml/2006/table">
            <a:tbl>
              <a:tblPr/>
              <a:tblGrid>
                <a:gridCol w="914400"/>
                <a:gridCol w="914400"/>
                <a:gridCol w="1097280"/>
                <a:gridCol w="1280160"/>
                <a:gridCol w="1828800"/>
              </a:tblGrid>
              <a:tr h="23774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 = 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Hit</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Reciprocal rank</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237744">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Q1</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0.33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37744">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Q2</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0.33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0.33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37744">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Q3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0.33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1B2A41"/>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37744">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Mean</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0.67</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0.33</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b="1" dirty="0">
                          <a:solidFill>
                            <a:srgbClr val="1B2A41"/>
                          </a:solidFill>
                          <a:latin typeface="Calibri" pitchFamily="34" charset="0"/>
                          <a:ea typeface="Calibri" pitchFamily="34" charset="-122"/>
                          <a:cs typeface="Calibri" pitchFamily="34" charset="-120"/>
                        </a:rPr>
                        <a:t>0.611</a:t>
                      </a:r>
                      <a:endParaRPr lang="en-US" sz="12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42" name="Text 38"/>
          <p:cNvSpPr txBox="1"/>
          <p:nvPr/>
        </p:nvSpPr>
        <p:spPr>
          <a:xfrm>
            <a:off x="6766560" y="3474720"/>
            <a:ext cx="1920240" cy="640080"/>
          </a:xfrm>
          <a:prstGeom prst="rect">
            <a:avLst/>
          </a:prstGeom>
          <a:noFill/>
          <a:ln/>
        </p:spPr>
        <p:txBody>
          <a:bodyPr wrap="square" lIns="0" tIns="0" rIns="0" bIns="0" rtlCol="0" anchor="t"/>
          <a:lstStyle/>
          <a:p>
            <a:pPr indent="0" marL="0">
              <a:buNone/>
            </a:pPr>
            <a:r>
              <a:rPr lang="en-US" sz="1300" i="1" dirty="0">
                <a:solidFill>
                  <a:schemeClr val="accent1"/>
                </a:solidFill>
                <a:latin typeface="Cambria" pitchFamily="34" charset="0"/>
                <a:ea typeface="Cambria" pitchFamily="34" charset="-122"/>
                <a:cs typeface="Cambria" pitchFamily="34" charset="-120"/>
              </a:rPr>
              <a:t>MRR = mean of 1, 1/3, 1/2.</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Generation metrics</a:t>
            </a:r>
            <a:endParaRPr lang="en-US" sz="3000" dirty="0"/>
          </a:p>
        </p:txBody>
      </p:sp>
      <p:sp>
        <p:nvSpPr>
          <p:cNvPr id="4" name="Text 1"/>
          <p:cNvSpPr txBox="1"/>
          <p:nvPr/>
        </p:nvSpPr>
        <p:spPr>
          <a:xfrm>
            <a:off x="457200" y="1280160"/>
            <a:ext cx="256032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Faithfulness</a:t>
            </a:r>
            <a:endParaRPr lang="en-US" sz="1700" dirty="0"/>
          </a:p>
        </p:txBody>
      </p:sp>
      <p:sp>
        <p:nvSpPr>
          <p:cNvPr id="5" name="Text 2"/>
          <p:cNvSpPr txBox="1"/>
          <p:nvPr/>
        </p:nvSpPr>
        <p:spPr>
          <a:xfrm>
            <a:off x="3108960" y="1280160"/>
            <a:ext cx="5577840" cy="548640"/>
          </a:xfrm>
          <a:prstGeom prst="rect">
            <a:avLst/>
          </a:prstGeom>
          <a:noFill/>
          <a:ln/>
        </p:spPr>
        <p:txBody>
          <a:bodyPr wrap="square" lIns="0" tIns="0" rIns="0" bIns="0" rtlCol="0" anchor="ctr"/>
          <a:lstStyle/>
          <a:p>
            <a:pPr indent="0" marL="0">
              <a:buNone/>
            </a:pPr>
            <a:r>
              <a:rPr lang="en-US" sz="1400" dirty="0">
                <a:solidFill>
                  <a:schemeClr val="tx1"/>
                </a:solidFill>
              </a:rPr>
              <a:t>Is every claim supported by the retrieved chunks?</a:t>
            </a:r>
            <a:endParaRPr lang="en-US" sz="1400" dirty="0"/>
          </a:p>
        </p:txBody>
      </p:sp>
      <p:sp>
        <p:nvSpPr>
          <p:cNvPr id="6" name="Shape 3"/>
          <p:cNvSpPr/>
          <p:nvPr/>
        </p:nvSpPr>
        <p:spPr>
          <a:xfrm>
            <a:off x="457200" y="1874520"/>
            <a:ext cx="8229600" cy="0"/>
          </a:xfrm>
          <a:prstGeom prst="line">
            <a:avLst/>
          </a:prstGeom>
          <a:noFill/>
          <a:ln w="6350">
            <a:solidFill>
              <a:schemeClr val="accent6"/>
            </a:solidFill>
            <a:prstDash val="solid"/>
          </a:ln>
        </p:spPr>
      </p:sp>
      <p:sp>
        <p:nvSpPr>
          <p:cNvPr id="7" name="Text 4"/>
          <p:cNvSpPr txBox="1"/>
          <p:nvPr/>
        </p:nvSpPr>
        <p:spPr>
          <a:xfrm>
            <a:off x="457200" y="1920240"/>
            <a:ext cx="256032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Answer relevance</a:t>
            </a:r>
            <a:endParaRPr lang="en-US" sz="1700" dirty="0"/>
          </a:p>
        </p:txBody>
      </p:sp>
      <p:sp>
        <p:nvSpPr>
          <p:cNvPr id="8" name="Text 5"/>
          <p:cNvSpPr txBox="1"/>
          <p:nvPr/>
        </p:nvSpPr>
        <p:spPr>
          <a:xfrm>
            <a:off x="3108960" y="1920240"/>
            <a:ext cx="5577840" cy="548640"/>
          </a:xfrm>
          <a:prstGeom prst="rect">
            <a:avLst/>
          </a:prstGeom>
          <a:noFill/>
          <a:ln/>
        </p:spPr>
        <p:txBody>
          <a:bodyPr wrap="square" lIns="0" tIns="0" rIns="0" bIns="0" rtlCol="0" anchor="ctr"/>
          <a:lstStyle/>
          <a:p>
            <a:pPr indent="0" marL="0">
              <a:buNone/>
            </a:pPr>
            <a:r>
              <a:rPr lang="en-US" sz="1400" dirty="0">
                <a:solidFill>
                  <a:schemeClr val="tx1"/>
                </a:solidFill>
              </a:rPr>
              <a:t>Does it address the question asked?</a:t>
            </a:r>
            <a:endParaRPr lang="en-US" sz="1400" dirty="0"/>
          </a:p>
        </p:txBody>
      </p:sp>
      <p:sp>
        <p:nvSpPr>
          <p:cNvPr id="9" name="Shape 6"/>
          <p:cNvSpPr/>
          <p:nvPr/>
        </p:nvSpPr>
        <p:spPr>
          <a:xfrm>
            <a:off x="457200" y="2514600"/>
            <a:ext cx="8229600" cy="0"/>
          </a:xfrm>
          <a:prstGeom prst="line">
            <a:avLst/>
          </a:prstGeom>
          <a:noFill/>
          <a:ln w="6350">
            <a:solidFill>
              <a:schemeClr val="accent6"/>
            </a:solidFill>
            <a:prstDash val="solid"/>
          </a:ln>
        </p:spPr>
      </p:sp>
      <p:sp>
        <p:nvSpPr>
          <p:cNvPr id="10" name="Text 7"/>
          <p:cNvSpPr txBox="1"/>
          <p:nvPr/>
        </p:nvSpPr>
        <p:spPr>
          <a:xfrm>
            <a:off x="457200" y="2560320"/>
            <a:ext cx="256032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Completeness</a:t>
            </a:r>
            <a:endParaRPr lang="en-US" sz="1700" dirty="0"/>
          </a:p>
        </p:txBody>
      </p:sp>
      <p:sp>
        <p:nvSpPr>
          <p:cNvPr id="11" name="Text 8"/>
          <p:cNvSpPr txBox="1"/>
          <p:nvPr/>
        </p:nvSpPr>
        <p:spPr>
          <a:xfrm>
            <a:off x="3108960" y="2560320"/>
            <a:ext cx="5577840" cy="548640"/>
          </a:xfrm>
          <a:prstGeom prst="rect">
            <a:avLst/>
          </a:prstGeom>
          <a:noFill/>
          <a:ln/>
        </p:spPr>
        <p:txBody>
          <a:bodyPr wrap="square" lIns="0" tIns="0" rIns="0" bIns="0" rtlCol="0" anchor="ctr"/>
          <a:lstStyle/>
          <a:p>
            <a:pPr indent="0" marL="0">
              <a:buNone/>
            </a:pPr>
            <a:r>
              <a:rPr lang="en-US" sz="1400" dirty="0">
                <a:solidFill>
                  <a:schemeClr val="tx1"/>
                </a:solidFill>
              </a:rPr>
              <a:t>Does it include the key facts from the evidence?</a:t>
            </a:r>
            <a:endParaRPr lang="en-US" sz="1400" dirty="0"/>
          </a:p>
        </p:txBody>
      </p:sp>
      <p:sp>
        <p:nvSpPr>
          <p:cNvPr id="12" name="Shape 9"/>
          <p:cNvSpPr/>
          <p:nvPr/>
        </p:nvSpPr>
        <p:spPr>
          <a:xfrm>
            <a:off x="457200" y="3154680"/>
            <a:ext cx="8229600" cy="0"/>
          </a:xfrm>
          <a:prstGeom prst="line">
            <a:avLst/>
          </a:prstGeom>
          <a:noFill/>
          <a:ln w="6350">
            <a:solidFill>
              <a:schemeClr val="accent6"/>
            </a:solidFill>
            <a:prstDash val="solid"/>
          </a:ln>
        </p:spPr>
      </p:sp>
      <p:sp>
        <p:nvSpPr>
          <p:cNvPr id="13" name="Text 10"/>
          <p:cNvSpPr txBox="1"/>
          <p:nvPr/>
        </p:nvSpPr>
        <p:spPr>
          <a:xfrm>
            <a:off x="457200" y="3200400"/>
            <a:ext cx="256032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Citation accuracy</a:t>
            </a:r>
            <a:endParaRPr lang="en-US" sz="1700" dirty="0"/>
          </a:p>
        </p:txBody>
      </p:sp>
      <p:sp>
        <p:nvSpPr>
          <p:cNvPr id="14" name="Text 11"/>
          <p:cNvSpPr txBox="1"/>
          <p:nvPr/>
        </p:nvSpPr>
        <p:spPr>
          <a:xfrm>
            <a:off x="3108960" y="3200400"/>
            <a:ext cx="5577840" cy="548640"/>
          </a:xfrm>
          <a:prstGeom prst="rect">
            <a:avLst/>
          </a:prstGeom>
          <a:noFill/>
          <a:ln/>
        </p:spPr>
        <p:txBody>
          <a:bodyPr wrap="square" lIns="0" tIns="0" rIns="0" bIns="0" rtlCol="0" anchor="ctr"/>
          <a:lstStyle/>
          <a:p>
            <a:pPr indent="0" marL="0">
              <a:buNone/>
            </a:pPr>
            <a:r>
              <a:rPr lang="en-US" sz="1400" dirty="0">
                <a:solidFill>
                  <a:schemeClr val="tx1"/>
                </a:solidFill>
              </a:rPr>
              <a:t>Do the [n] markers point to chunks that support the claim?</a:t>
            </a:r>
            <a:endParaRPr lang="en-US" sz="1400" dirty="0"/>
          </a:p>
        </p:txBody>
      </p:sp>
      <p:sp>
        <p:nvSpPr>
          <p:cNvPr id="15" name="Shape 12"/>
          <p:cNvSpPr/>
          <p:nvPr/>
        </p:nvSpPr>
        <p:spPr>
          <a:xfrm>
            <a:off x="457200" y="3794760"/>
            <a:ext cx="8229600" cy="0"/>
          </a:xfrm>
          <a:prstGeom prst="line">
            <a:avLst/>
          </a:prstGeom>
          <a:noFill/>
          <a:ln w="6350">
            <a:solidFill>
              <a:schemeClr val="accent6"/>
            </a:solidFill>
            <a:prstDash val="solid"/>
          </a:ln>
        </p:spPr>
      </p:sp>
      <p:sp>
        <p:nvSpPr>
          <p:cNvPr id="16" name="Text 13"/>
          <p:cNvSpPr txBox="1"/>
          <p:nvPr/>
        </p:nvSpPr>
        <p:spPr>
          <a:xfrm>
            <a:off x="457200" y="3840480"/>
            <a:ext cx="256032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Refusal correctness</a:t>
            </a:r>
            <a:endParaRPr lang="en-US" sz="1700" dirty="0"/>
          </a:p>
        </p:txBody>
      </p:sp>
      <p:sp>
        <p:nvSpPr>
          <p:cNvPr id="17" name="Text 14"/>
          <p:cNvSpPr txBox="1"/>
          <p:nvPr/>
        </p:nvSpPr>
        <p:spPr>
          <a:xfrm>
            <a:off x="3108960" y="3840480"/>
            <a:ext cx="5577840" cy="548640"/>
          </a:xfrm>
          <a:prstGeom prst="rect">
            <a:avLst/>
          </a:prstGeom>
          <a:noFill/>
          <a:ln/>
        </p:spPr>
        <p:txBody>
          <a:bodyPr wrap="square" lIns="0" tIns="0" rIns="0" bIns="0" rtlCol="0" anchor="ctr"/>
          <a:lstStyle/>
          <a:p>
            <a:pPr indent="0" marL="0">
              <a:buNone/>
            </a:pPr>
            <a:r>
              <a:rPr lang="en-US" sz="1400" dirty="0">
                <a:solidFill>
                  <a:schemeClr val="tx1"/>
                </a:solidFill>
              </a:rPr>
              <a:t>Does it refuse exactly when the evidence is missing?</a:t>
            </a:r>
            <a:endParaRPr lang="en-US" sz="1400" dirty="0"/>
          </a:p>
        </p:txBody>
      </p:sp>
      <p:sp>
        <p:nvSpPr>
          <p:cNvPr id="18" name="Shape 15"/>
          <p:cNvSpPr/>
          <p:nvPr/>
        </p:nvSpPr>
        <p:spPr>
          <a:xfrm>
            <a:off x="457200" y="4434840"/>
            <a:ext cx="8229600" cy="0"/>
          </a:xfrm>
          <a:prstGeom prst="line">
            <a:avLst/>
          </a:prstGeom>
          <a:noFill/>
          <a:ln w="6350">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Using a model as a judge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2926080"/>
                <a:gridCol w="356616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Pitfall</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Mitigation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Verbosity bias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Longer answers score higher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Compare at similar length; use rubrics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Self-preference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 model favors its own style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Judge with a different model</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Position bias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The first option wins more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Randomize or swap order</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Weak judge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Misses subtle errors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Check agreement with human labels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Vague rubric</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Noisy scores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Binary questions: supported, yes or no</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Hybrid search</a:t>
            </a:r>
            <a:endParaRPr lang="en-US" sz="3000" dirty="0"/>
          </a:p>
        </p:txBody>
      </p:sp>
      <p:sp>
        <p:nvSpPr>
          <p:cNvPr id="4" name="Shape 1"/>
          <p:cNvSpPr/>
          <p:nvPr/>
        </p:nvSpPr>
        <p:spPr>
          <a:xfrm>
            <a:off x="457200" y="1828800"/>
            <a:ext cx="1280160" cy="731520"/>
          </a:xfrm>
          <a:prstGeom prst="rect">
            <a:avLst/>
          </a:prstGeom>
          <a:solidFill>
            <a:schemeClr val="bg1"/>
          </a:solidFill>
          <a:ln w="12700">
            <a:solidFill>
              <a:srgbClr val="1B2A41"/>
            </a:solidFill>
            <a:prstDash val="solid"/>
          </a:ln>
        </p:spPr>
      </p:sp>
      <p:sp>
        <p:nvSpPr>
          <p:cNvPr id="5" name="Text 2"/>
          <p:cNvSpPr txBox="1"/>
          <p:nvPr/>
        </p:nvSpPr>
        <p:spPr>
          <a:xfrm>
            <a:off x="457200" y="1828800"/>
            <a:ext cx="1280160" cy="731520"/>
          </a:xfrm>
          <a:prstGeom prst="rect">
            <a:avLst/>
          </a:prstGeom>
          <a:noFill/>
          <a:ln/>
        </p:spPr>
        <p:txBody>
          <a:bodyPr wrap="square" lIns="0" tIns="0" rIns="0" bIns="0" rtlCol="0" anchor="ctr"/>
          <a:lstStyle/>
          <a:p>
            <a:pPr algn="ctr" indent="0" marL="0">
              <a:buNone/>
            </a:pPr>
            <a:r>
              <a:rPr lang="en-US" sz="1400" b="1" dirty="0">
                <a:solidFill>
                  <a:schemeClr val="tx1"/>
                </a:solidFill>
              </a:rPr>
              <a:t>Question</a:t>
            </a:r>
            <a:endParaRPr lang="en-US" sz="1400" dirty="0"/>
          </a:p>
        </p:txBody>
      </p:sp>
      <p:sp>
        <p:nvSpPr>
          <p:cNvPr id="6" name="Shape 3"/>
          <p:cNvSpPr/>
          <p:nvPr/>
        </p:nvSpPr>
        <p:spPr>
          <a:xfrm flipV="1">
            <a:off x="1737360" y="1645920"/>
            <a:ext cx="457200" cy="548640"/>
          </a:xfrm>
          <a:prstGeom prst="line">
            <a:avLst/>
          </a:prstGeom>
          <a:noFill/>
          <a:ln w="15875">
            <a:solidFill>
              <a:srgbClr val="1B2A41"/>
            </a:solidFill>
            <a:prstDash val="solid"/>
            <a:tailEnd type="triangle"/>
          </a:ln>
        </p:spPr>
      </p:sp>
      <p:sp>
        <p:nvSpPr>
          <p:cNvPr id="7" name="Shape 4"/>
          <p:cNvSpPr/>
          <p:nvPr/>
        </p:nvSpPr>
        <p:spPr>
          <a:xfrm>
            <a:off x="1737360" y="2194560"/>
            <a:ext cx="457200" cy="822960"/>
          </a:xfrm>
          <a:prstGeom prst="line">
            <a:avLst/>
          </a:prstGeom>
          <a:noFill/>
          <a:ln w="15875">
            <a:solidFill>
              <a:srgbClr val="1B2A41"/>
            </a:solidFill>
            <a:prstDash val="solid"/>
            <a:tailEnd type="triangle"/>
          </a:ln>
        </p:spPr>
      </p:sp>
      <p:sp>
        <p:nvSpPr>
          <p:cNvPr id="8" name="Shape 5"/>
          <p:cNvSpPr/>
          <p:nvPr/>
        </p:nvSpPr>
        <p:spPr>
          <a:xfrm>
            <a:off x="2194560" y="1280160"/>
            <a:ext cx="2194560" cy="731520"/>
          </a:xfrm>
          <a:prstGeom prst="rect">
            <a:avLst/>
          </a:prstGeom>
          <a:solidFill>
            <a:schemeClr val="bg1"/>
          </a:solidFill>
          <a:ln w="12700">
            <a:solidFill>
              <a:srgbClr val="2F5D8A"/>
            </a:solidFill>
            <a:prstDash val="solid"/>
          </a:ln>
        </p:spPr>
      </p:sp>
      <p:sp>
        <p:nvSpPr>
          <p:cNvPr id="9" name="Text 6"/>
          <p:cNvSpPr txBox="1"/>
          <p:nvPr/>
        </p:nvSpPr>
        <p:spPr>
          <a:xfrm>
            <a:off x="2194560" y="1280160"/>
            <a:ext cx="2194560" cy="731520"/>
          </a:xfrm>
          <a:prstGeom prst="rect">
            <a:avLst/>
          </a:prstGeom>
          <a:noFill/>
          <a:ln/>
        </p:spPr>
        <p:txBody>
          <a:bodyPr wrap="square" lIns="0" tIns="0" rIns="0" bIns="0" rtlCol="0" anchor="ctr"/>
          <a:lstStyle/>
          <a:p>
            <a:pPr algn="ctr" indent="0" marL="0">
              <a:buNone/>
            </a:pPr>
            <a:r>
              <a:rPr lang="en-US" sz="1300" b="1" dirty="0">
                <a:solidFill>
                  <a:schemeClr val="tx1"/>
                </a:solidFill>
              </a:rPr>
              <a:t>BM25 keyword ranking</a:t>
            </a:r>
            <a:endParaRPr lang="en-US" sz="1300" dirty="0"/>
          </a:p>
        </p:txBody>
      </p:sp>
      <p:sp>
        <p:nvSpPr>
          <p:cNvPr id="10" name="Shape 7"/>
          <p:cNvSpPr/>
          <p:nvPr/>
        </p:nvSpPr>
        <p:spPr>
          <a:xfrm>
            <a:off x="2194560" y="2651760"/>
            <a:ext cx="2194560" cy="731520"/>
          </a:xfrm>
          <a:prstGeom prst="rect">
            <a:avLst/>
          </a:prstGeom>
          <a:solidFill>
            <a:schemeClr val="bg1"/>
          </a:solidFill>
          <a:ln w="12700">
            <a:solidFill>
              <a:srgbClr val="B5432A"/>
            </a:solidFill>
            <a:prstDash val="solid"/>
          </a:ln>
        </p:spPr>
      </p:sp>
      <p:sp>
        <p:nvSpPr>
          <p:cNvPr id="11" name="Text 8"/>
          <p:cNvSpPr txBox="1"/>
          <p:nvPr/>
        </p:nvSpPr>
        <p:spPr>
          <a:xfrm>
            <a:off x="2194560" y="2651760"/>
            <a:ext cx="2194560" cy="731520"/>
          </a:xfrm>
          <a:prstGeom prst="rect">
            <a:avLst/>
          </a:prstGeom>
          <a:noFill/>
          <a:ln/>
        </p:spPr>
        <p:txBody>
          <a:bodyPr wrap="square" lIns="0" tIns="0" rIns="0" bIns="0" rtlCol="0" anchor="ctr"/>
          <a:lstStyle/>
          <a:p>
            <a:pPr algn="ctr" indent="0" marL="0">
              <a:buNone/>
            </a:pPr>
            <a:r>
              <a:rPr lang="en-US" sz="1300" b="1" dirty="0">
                <a:solidFill>
                  <a:schemeClr val="tx1"/>
                </a:solidFill>
              </a:rPr>
              <a:t>Vector ranking (Chroma)</a:t>
            </a:r>
            <a:endParaRPr lang="en-US" sz="1300" dirty="0"/>
          </a:p>
        </p:txBody>
      </p:sp>
      <p:sp>
        <p:nvSpPr>
          <p:cNvPr id="12" name="Shape 9"/>
          <p:cNvSpPr/>
          <p:nvPr/>
        </p:nvSpPr>
        <p:spPr>
          <a:xfrm>
            <a:off x="4389120" y="1645920"/>
            <a:ext cx="548640" cy="548640"/>
          </a:xfrm>
          <a:prstGeom prst="line">
            <a:avLst/>
          </a:prstGeom>
          <a:noFill/>
          <a:ln w="15875">
            <a:solidFill>
              <a:srgbClr val="1B2A41"/>
            </a:solidFill>
            <a:prstDash val="solid"/>
            <a:tailEnd type="triangle"/>
          </a:ln>
        </p:spPr>
      </p:sp>
      <p:sp>
        <p:nvSpPr>
          <p:cNvPr id="13" name="Shape 10"/>
          <p:cNvSpPr/>
          <p:nvPr/>
        </p:nvSpPr>
        <p:spPr>
          <a:xfrm flipV="1">
            <a:off x="4389120" y="2377440"/>
            <a:ext cx="548640" cy="640080"/>
          </a:xfrm>
          <a:prstGeom prst="line">
            <a:avLst/>
          </a:prstGeom>
          <a:noFill/>
          <a:ln w="15875">
            <a:solidFill>
              <a:srgbClr val="1B2A41"/>
            </a:solidFill>
            <a:prstDash val="solid"/>
            <a:tailEnd type="triangle"/>
          </a:ln>
        </p:spPr>
      </p:sp>
      <p:sp>
        <p:nvSpPr>
          <p:cNvPr id="14" name="Shape 11"/>
          <p:cNvSpPr/>
          <p:nvPr/>
        </p:nvSpPr>
        <p:spPr>
          <a:xfrm>
            <a:off x="4937760" y="1920240"/>
            <a:ext cx="1371600" cy="731520"/>
          </a:xfrm>
          <a:prstGeom prst="rect">
            <a:avLst/>
          </a:prstGeom>
          <a:solidFill>
            <a:schemeClr val="bg1"/>
          </a:solidFill>
          <a:ln w="25400">
            <a:solidFill>
              <a:srgbClr val="3B7A57"/>
            </a:solidFill>
            <a:prstDash val="solid"/>
          </a:ln>
        </p:spPr>
      </p:sp>
      <p:sp>
        <p:nvSpPr>
          <p:cNvPr id="15" name="Text 12"/>
          <p:cNvSpPr txBox="1"/>
          <p:nvPr/>
        </p:nvSpPr>
        <p:spPr>
          <a:xfrm>
            <a:off x="4937760" y="192024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Fuse (RRF)</a:t>
            </a:r>
            <a:endParaRPr lang="en-US" sz="1400" dirty="0"/>
          </a:p>
        </p:txBody>
      </p:sp>
      <p:sp>
        <p:nvSpPr>
          <p:cNvPr id="16" name="Shape 13"/>
          <p:cNvSpPr/>
          <p:nvPr/>
        </p:nvSpPr>
        <p:spPr>
          <a:xfrm>
            <a:off x="6309360" y="2286000"/>
            <a:ext cx="457200" cy="0"/>
          </a:xfrm>
          <a:prstGeom prst="line">
            <a:avLst/>
          </a:prstGeom>
          <a:noFill/>
          <a:ln w="15875">
            <a:solidFill>
              <a:srgbClr val="1B2A41"/>
            </a:solidFill>
            <a:prstDash val="solid"/>
            <a:tailEnd type="triangle"/>
          </a:ln>
        </p:spPr>
      </p:sp>
      <p:sp>
        <p:nvSpPr>
          <p:cNvPr id="17" name="Shape 14"/>
          <p:cNvSpPr/>
          <p:nvPr/>
        </p:nvSpPr>
        <p:spPr>
          <a:xfrm>
            <a:off x="6766560" y="1920240"/>
            <a:ext cx="1920240" cy="731520"/>
          </a:xfrm>
          <a:prstGeom prst="rect">
            <a:avLst/>
          </a:prstGeom>
          <a:solidFill>
            <a:schemeClr val="bg1"/>
          </a:solidFill>
          <a:ln w="12700">
            <a:solidFill>
              <a:srgbClr val="1B2A41"/>
            </a:solidFill>
            <a:prstDash val="solid"/>
          </a:ln>
        </p:spPr>
      </p:sp>
      <p:sp>
        <p:nvSpPr>
          <p:cNvPr id="18" name="Text 15"/>
          <p:cNvSpPr txBox="1"/>
          <p:nvPr/>
        </p:nvSpPr>
        <p:spPr>
          <a:xfrm>
            <a:off x="6766560" y="1920240"/>
            <a:ext cx="1920240" cy="731520"/>
          </a:xfrm>
          <a:prstGeom prst="rect">
            <a:avLst/>
          </a:prstGeom>
          <a:noFill/>
          <a:ln/>
        </p:spPr>
        <p:txBody>
          <a:bodyPr wrap="square" lIns="0" tIns="0" rIns="0" bIns="0" rtlCol="0" anchor="ctr"/>
          <a:lstStyle/>
          <a:p>
            <a:pPr algn="ctr" indent="0" marL="0">
              <a:buNone/>
            </a:pPr>
            <a:r>
              <a:rPr lang="en-US" sz="1400" b="1" dirty="0">
                <a:solidFill>
                  <a:schemeClr val="tx1"/>
                </a:solidFill>
              </a:rPr>
              <a:t>Top candidates</a:t>
            </a:r>
            <a:endParaRPr lang="en-US" sz="1400" dirty="0"/>
          </a:p>
        </p:txBody>
      </p:sp>
      <p:sp>
        <p:nvSpPr>
          <p:cNvPr id="19" name="Text 16"/>
          <p:cNvSpPr txBox="1"/>
          <p:nvPr/>
        </p:nvSpPr>
        <p:spPr>
          <a:xfrm>
            <a:off x="457200" y="3657600"/>
            <a:ext cx="54864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9.2  Two retrievers, one fused list</a:t>
            </a:r>
            <a:endParaRPr lang="en-US" sz="1100" dirty="0"/>
          </a:p>
        </p:txBody>
      </p:sp>
      <p:sp>
        <p:nvSpPr>
          <p:cNvPr id="20" name="Text 17"/>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500" i="1" dirty="0">
                <a:solidFill>
                  <a:schemeClr val="accent1"/>
                </a:solidFill>
                <a:latin typeface="Cambria" pitchFamily="34" charset="0"/>
                <a:ea typeface="Cambria" pitchFamily="34" charset="-122"/>
                <a:cs typeface="Cambria" pitchFamily="34" charset="-120"/>
              </a:rPr>
              <a:t>Helps most with names, codes, acronyms and rare terms that embeddings blur.</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Reranking with a cross-encoder</a:t>
            </a:r>
            <a:endParaRPr lang="en-US" sz="3000" dirty="0"/>
          </a:p>
        </p:txBody>
      </p:sp>
      <p:sp>
        <p:nvSpPr>
          <p:cNvPr id="4" name="Text 1"/>
          <p:cNvSpPr txBox="1"/>
          <p:nvPr/>
        </p:nvSpPr>
        <p:spPr>
          <a:xfrm>
            <a:off x="457200" y="1280160"/>
            <a:ext cx="3931920" cy="320040"/>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Bi-encoder (what Chroma uses)</a:t>
            </a:r>
            <a:endParaRPr lang="en-US" sz="1500" dirty="0"/>
          </a:p>
        </p:txBody>
      </p:sp>
      <p:sp>
        <p:nvSpPr>
          <p:cNvPr id="5" name="Text 2"/>
          <p:cNvSpPr txBox="1"/>
          <p:nvPr/>
        </p:nvSpPr>
        <p:spPr>
          <a:xfrm>
            <a:off x="4754880" y="1280160"/>
            <a:ext cx="3931920" cy="320040"/>
          </a:xfrm>
          <a:prstGeom prst="rect">
            <a:avLst/>
          </a:prstGeom>
          <a:noFill/>
          <a:ln/>
        </p:spPr>
        <p:txBody>
          <a:bodyPr wrap="square" lIns="0" tIns="0" rIns="0" bIns="0" rtlCol="0" anchor="t"/>
          <a:lstStyle/>
          <a:p>
            <a:pPr indent="0" marL="0">
              <a:buNone/>
            </a:pPr>
            <a:r>
              <a:rPr lang="en-US" sz="1500" b="1" dirty="0">
                <a:solidFill>
                  <a:schemeClr val="accent1"/>
                </a:solidFill>
                <a:latin typeface="Cambria" pitchFamily="34" charset="0"/>
                <a:ea typeface="Cambria" pitchFamily="34" charset="-122"/>
                <a:cs typeface="Cambria" pitchFamily="34" charset="-120"/>
              </a:rPr>
              <a:t>Cross-encoder (reranker)</a:t>
            </a:r>
            <a:endParaRPr lang="en-US" sz="1500" dirty="0"/>
          </a:p>
        </p:txBody>
      </p:sp>
      <p:sp>
        <p:nvSpPr>
          <p:cNvPr id="6" name="Shape 3"/>
          <p:cNvSpPr/>
          <p:nvPr/>
        </p:nvSpPr>
        <p:spPr>
          <a:xfrm>
            <a:off x="4572000" y="1280160"/>
            <a:ext cx="0" cy="2194560"/>
          </a:xfrm>
          <a:prstGeom prst="line">
            <a:avLst/>
          </a:prstGeom>
          <a:noFill/>
          <a:ln w="9525">
            <a:solidFill>
              <a:schemeClr val="accent6"/>
            </a:solidFill>
            <a:prstDash val="solid"/>
          </a:ln>
        </p:spPr>
      </p:sp>
      <p:sp>
        <p:nvSpPr>
          <p:cNvPr id="7" name="Shape 4"/>
          <p:cNvSpPr/>
          <p:nvPr/>
        </p:nvSpPr>
        <p:spPr>
          <a:xfrm>
            <a:off x="457200" y="1737360"/>
            <a:ext cx="1371600" cy="457200"/>
          </a:xfrm>
          <a:prstGeom prst="rect">
            <a:avLst/>
          </a:prstGeom>
          <a:solidFill>
            <a:schemeClr val="bg1"/>
          </a:solidFill>
          <a:ln w="12700">
            <a:solidFill>
              <a:srgbClr val="1B2A41"/>
            </a:solidFill>
            <a:prstDash val="solid"/>
          </a:ln>
        </p:spPr>
      </p:sp>
      <p:sp>
        <p:nvSpPr>
          <p:cNvPr id="8" name="Text 5"/>
          <p:cNvSpPr txBox="1"/>
          <p:nvPr/>
        </p:nvSpPr>
        <p:spPr>
          <a:xfrm>
            <a:off x="457200" y="1737360"/>
            <a:ext cx="1371600" cy="457200"/>
          </a:xfrm>
          <a:prstGeom prst="rect">
            <a:avLst/>
          </a:prstGeom>
          <a:noFill/>
          <a:ln/>
        </p:spPr>
        <p:txBody>
          <a:bodyPr wrap="square" lIns="0" tIns="0" rIns="0" bIns="0" rtlCol="0" anchor="ctr"/>
          <a:lstStyle/>
          <a:p>
            <a:pPr algn="ctr" indent="0" marL="0">
              <a:buNone/>
            </a:pPr>
            <a:r>
              <a:rPr lang="en-US" sz="1300" dirty="0">
                <a:solidFill>
                  <a:schemeClr val="tx1"/>
                </a:solidFill>
              </a:rPr>
              <a:t>query</a:t>
            </a:r>
            <a:endParaRPr lang="en-US" sz="1300" dirty="0"/>
          </a:p>
        </p:txBody>
      </p:sp>
      <p:sp>
        <p:nvSpPr>
          <p:cNvPr id="9" name="Shape 6"/>
          <p:cNvSpPr/>
          <p:nvPr/>
        </p:nvSpPr>
        <p:spPr>
          <a:xfrm>
            <a:off x="2651760" y="1737360"/>
            <a:ext cx="1371600" cy="457200"/>
          </a:xfrm>
          <a:prstGeom prst="rect">
            <a:avLst/>
          </a:prstGeom>
          <a:solidFill>
            <a:schemeClr val="bg1"/>
          </a:solidFill>
          <a:ln w="12700">
            <a:solidFill>
              <a:srgbClr val="1B2A41"/>
            </a:solidFill>
            <a:prstDash val="solid"/>
          </a:ln>
        </p:spPr>
      </p:sp>
      <p:sp>
        <p:nvSpPr>
          <p:cNvPr id="10" name="Text 7"/>
          <p:cNvSpPr txBox="1"/>
          <p:nvPr/>
        </p:nvSpPr>
        <p:spPr>
          <a:xfrm>
            <a:off x="2651760" y="1737360"/>
            <a:ext cx="1371600" cy="457200"/>
          </a:xfrm>
          <a:prstGeom prst="rect">
            <a:avLst/>
          </a:prstGeom>
          <a:noFill/>
          <a:ln/>
        </p:spPr>
        <p:txBody>
          <a:bodyPr wrap="square" lIns="0" tIns="0" rIns="0" bIns="0" rtlCol="0" anchor="ctr"/>
          <a:lstStyle/>
          <a:p>
            <a:pPr algn="ctr" indent="0" marL="0">
              <a:buNone/>
            </a:pPr>
            <a:r>
              <a:rPr lang="en-US" sz="1300" dirty="0">
                <a:solidFill>
                  <a:schemeClr val="tx1"/>
                </a:solidFill>
              </a:rPr>
              <a:t>document</a:t>
            </a:r>
            <a:endParaRPr lang="en-US" sz="1300" dirty="0"/>
          </a:p>
        </p:txBody>
      </p:sp>
      <p:sp>
        <p:nvSpPr>
          <p:cNvPr id="11" name="Shape 8"/>
          <p:cNvSpPr/>
          <p:nvPr/>
        </p:nvSpPr>
        <p:spPr>
          <a:xfrm>
            <a:off x="457200" y="2651760"/>
            <a:ext cx="1371600" cy="457200"/>
          </a:xfrm>
          <a:prstGeom prst="rect">
            <a:avLst/>
          </a:prstGeom>
          <a:solidFill>
            <a:schemeClr val="bg1"/>
          </a:solidFill>
          <a:ln w="12700">
            <a:solidFill>
              <a:srgbClr val="2F5D8A"/>
            </a:solidFill>
            <a:prstDash val="solid"/>
          </a:ln>
        </p:spPr>
      </p:sp>
      <p:sp>
        <p:nvSpPr>
          <p:cNvPr id="12" name="Text 9"/>
          <p:cNvSpPr txBox="1"/>
          <p:nvPr/>
        </p:nvSpPr>
        <p:spPr>
          <a:xfrm>
            <a:off x="457200" y="2651760"/>
            <a:ext cx="1371600" cy="457200"/>
          </a:xfrm>
          <a:prstGeom prst="rect">
            <a:avLst/>
          </a:prstGeom>
          <a:noFill/>
          <a:ln/>
        </p:spPr>
        <p:txBody>
          <a:bodyPr wrap="square" lIns="0" tIns="0" rIns="0" bIns="0" rtlCol="0" anchor="ctr"/>
          <a:lstStyle/>
          <a:p>
            <a:pPr algn="ctr" indent="0" marL="0">
              <a:buNone/>
            </a:pPr>
            <a:r>
              <a:rPr lang="en-US" sz="1300" dirty="0">
                <a:solidFill>
                  <a:schemeClr val="tx1"/>
                </a:solidFill>
              </a:rPr>
              <a:t>vector</a:t>
            </a:r>
            <a:endParaRPr lang="en-US" sz="1300" dirty="0"/>
          </a:p>
        </p:txBody>
      </p:sp>
      <p:sp>
        <p:nvSpPr>
          <p:cNvPr id="13" name="Shape 10"/>
          <p:cNvSpPr/>
          <p:nvPr/>
        </p:nvSpPr>
        <p:spPr>
          <a:xfrm>
            <a:off x="2651760" y="2651760"/>
            <a:ext cx="1371600" cy="457200"/>
          </a:xfrm>
          <a:prstGeom prst="rect">
            <a:avLst/>
          </a:prstGeom>
          <a:solidFill>
            <a:schemeClr val="bg1"/>
          </a:solidFill>
          <a:ln w="12700">
            <a:solidFill>
              <a:srgbClr val="2F5D8A"/>
            </a:solidFill>
            <a:prstDash val="solid"/>
          </a:ln>
        </p:spPr>
      </p:sp>
      <p:sp>
        <p:nvSpPr>
          <p:cNvPr id="14" name="Text 11"/>
          <p:cNvSpPr txBox="1"/>
          <p:nvPr/>
        </p:nvSpPr>
        <p:spPr>
          <a:xfrm>
            <a:off x="2651760" y="2651760"/>
            <a:ext cx="1371600" cy="457200"/>
          </a:xfrm>
          <a:prstGeom prst="rect">
            <a:avLst/>
          </a:prstGeom>
          <a:noFill/>
          <a:ln/>
        </p:spPr>
        <p:txBody>
          <a:bodyPr wrap="square" lIns="0" tIns="0" rIns="0" bIns="0" rtlCol="0" anchor="ctr"/>
          <a:lstStyle/>
          <a:p>
            <a:pPr algn="ctr" indent="0" marL="0">
              <a:buNone/>
            </a:pPr>
            <a:r>
              <a:rPr lang="en-US" sz="1300" dirty="0">
                <a:solidFill>
                  <a:schemeClr val="tx1"/>
                </a:solidFill>
              </a:rPr>
              <a:t>vector</a:t>
            </a:r>
            <a:endParaRPr lang="en-US" sz="1300" dirty="0"/>
          </a:p>
        </p:txBody>
      </p:sp>
      <p:sp>
        <p:nvSpPr>
          <p:cNvPr id="15" name="Shape 12"/>
          <p:cNvSpPr/>
          <p:nvPr/>
        </p:nvSpPr>
        <p:spPr>
          <a:xfrm>
            <a:off x="1143000" y="2194560"/>
            <a:ext cx="0" cy="457200"/>
          </a:xfrm>
          <a:prstGeom prst="line">
            <a:avLst/>
          </a:prstGeom>
          <a:noFill/>
          <a:ln w="15875">
            <a:solidFill>
              <a:srgbClr val="6B7280"/>
            </a:solidFill>
            <a:prstDash val="solid"/>
            <a:tailEnd type="triangle"/>
          </a:ln>
        </p:spPr>
      </p:sp>
      <p:sp>
        <p:nvSpPr>
          <p:cNvPr id="16" name="Shape 13"/>
          <p:cNvSpPr/>
          <p:nvPr/>
        </p:nvSpPr>
        <p:spPr>
          <a:xfrm>
            <a:off x="3337560" y="2194560"/>
            <a:ext cx="0" cy="457200"/>
          </a:xfrm>
          <a:prstGeom prst="line">
            <a:avLst/>
          </a:prstGeom>
          <a:noFill/>
          <a:ln w="15875">
            <a:solidFill>
              <a:srgbClr val="6B7280"/>
            </a:solidFill>
            <a:prstDash val="solid"/>
            <a:tailEnd type="triangle"/>
          </a:ln>
        </p:spPr>
      </p:sp>
      <p:sp>
        <p:nvSpPr>
          <p:cNvPr id="17" name="Text 14"/>
          <p:cNvSpPr txBox="1"/>
          <p:nvPr/>
        </p:nvSpPr>
        <p:spPr>
          <a:xfrm>
            <a:off x="457200" y="3246120"/>
            <a:ext cx="3931920" cy="27432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compare vectors: fast</a:t>
            </a:r>
            <a:endParaRPr lang="en-US" sz="1200" dirty="0"/>
          </a:p>
        </p:txBody>
      </p:sp>
      <p:sp>
        <p:nvSpPr>
          <p:cNvPr id="18" name="Shape 15"/>
          <p:cNvSpPr/>
          <p:nvPr/>
        </p:nvSpPr>
        <p:spPr>
          <a:xfrm>
            <a:off x="4937760" y="1737360"/>
            <a:ext cx="2743200" cy="457200"/>
          </a:xfrm>
          <a:prstGeom prst="rect">
            <a:avLst/>
          </a:prstGeom>
          <a:solidFill>
            <a:schemeClr val="bg1"/>
          </a:solidFill>
          <a:ln w="12700">
            <a:solidFill>
              <a:srgbClr val="1B2A41"/>
            </a:solidFill>
            <a:prstDash val="solid"/>
          </a:ln>
        </p:spPr>
      </p:sp>
      <p:sp>
        <p:nvSpPr>
          <p:cNvPr id="19" name="Text 16"/>
          <p:cNvSpPr txBox="1"/>
          <p:nvPr/>
        </p:nvSpPr>
        <p:spPr>
          <a:xfrm>
            <a:off x="4937760" y="1737360"/>
            <a:ext cx="2743200" cy="457200"/>
          </a:xfrm>
          <a:prstGeom prst="rect">
            <a:avLst/>
          </a:prstGeom>
          <a:noFill/>
          <a:ln/>
        </p:spPr>
        <p:txBody>
          <a:bodyPr wrap="square" lIns="0" tIns="0" rIns="0" bIns="0" rtlCol="0" anchor="ctr"/>
          <a:lstStyle/>
          <a:p>
            <a:pPr algn="ctr" indent="0" marL="0">
              <a:buNone/>
            </a:pPr>
            <a:r>
              <a:rPr lang="en-US" sz="1300" dirty="0">
                <a:solidFill>
                  <a:schemeClr val="tx1"/>
                </a:solidFill>
              </a:rPr>
              <a:t>query + document together</a:t>
            </a:r>
            <a:endParaRPr lang="en-US" sz="1300" dirty="0"/>
          </a:p>
        </p:txBody>
      </p:sp>
      <p:sp>
        <p:nvSpPr>
          <p:cNvPr id="20" name="Shape 17"/>
          <p:cNvSpPr/>
          <p:nvPr/>
        </p:nvSpPr>
        <p:spPr>
          <a:xfrm>
            <a:off x="6309360" y="2194560"/>
            <a:ext cx="0" cy="457200"/>
          </a:xfrm>
          <a:prstGeom prst="line">
            <a:avLst/>
          </a:prstGeom>
          <a:noFill/>
          <a:ln w="15875">
            <a:solidFill>
              <a:srgbClr val="6B7280"/>
            </a:solidFill>
            <a:prstDash val="solid"/>
            <a:tailEnd type="triangle"/>
          </a:ln>
        </p:spPr>
      </p:sp>
      <p:sp>
        <p:nvSpPr>
          <p:cNvPr id="21" name="Shape 18"/>
          <p:cNvSpPr/>
          <p:nvPr/>
        </p:nvSpPr>
        <p:spPr>
          <a:xfrm>
            <a:off x="4937760" y="2651760"/>
            <a:ext cx="2743200" cy="457200"/>
          </a:xfrm>
          <a:prstGeom prst="rect">
            <a:avLst/>
          </a:prstGeom>
          <a:solidFill>
            <a:schemeClr val="bg1"/>
          </a:solidFill>
          <a:ln w="25400">
            <a:solidFill>
              <a:srgbClr val="B5432A"/>
            </a:solidFill>
            <a:prstDash val="solid"/>
          </a:ln>
        </p:spPr>
      </p:sp>
      <p:sp>
        <p:nvSpPr>
          <p:cNvPr id="22" name="Text 19"/>
          <p:cNvSpPr txBox="1"/>
          <p:nvPr/>
        </p:nvSpPr>
        <p:spPr>
          <a:xfrm>
            <a:off x="4937760" y="2651760"/>
            <a:ext cx="2743200" cy="457200"/>
          </a:xfrm>
          <a:prstGeom prst="rect">
            <a:avLst/>
          </a:prstGeom>
          <a:noFill/>
          <a:ln/>
        </p:spPr>
        <p:txBody>
          <a:bodyPr wrap="square" lIns="0" tIns="0" rIns="0" bIns="0" rtlCol="0" anchor="ctr"/>
          <a:lstStyle/>
          <a:p>
            <a:pPr algn="ctr" indent="0" marL="0">
              <a:buNone/>
            </a:pPr>
            <a:r>
              <a:rPr lang="en-US" sz="1300" dirty="0">
                <a:solidFill>
                  <a:schemeClr val="tx1"/>
                </a:solidFill>
              </a:rPr>
              <a:t>relevance score</a:t>
            </a:r>
            <a:endParaRPr lang="en-US" sz="1300" dirty="0"/>
          </a:p>
        </p:txBody>
      </p:sp>
      <p:sp>
        <p:nvSpPr>
          <p:cNvPr id="23" name="Text 20"/>
          <p:cNvSpPr txBox="1"/>
          <p:nvPr/>
        </p:nvSpPr>
        <p:spPr>
          <a:xfrm>
            <a:off x="4754880" y="3246120"/>
            <a:ext cx="3931920" cy="274320"/>
          </a:xfrm>
          <a:prstGeom prst="rect">
            <a:avLst/>
          </a:prstGeom>
          <a:noFill/>
          <a:ln/>
        </p:spPr>
        <p:txBody>
          <a:bodyPr wrap="square" lIns="0" tIns="0" rIns="0" bIns="0" rtlCol="0" anchor="t"/>
          <a:lstStyle/>
          <a:p>
            <a:pPr indent="0" marL="0">
              <a:buNone/>
            </a:pPr>
            <a:r>
              <a:rPr lang="en-US" sz="1200" i="1" dirty="0">
                <a:solidFill>
                  <a:schemeClr val="accent5"/>
                </a:solidFill>
                <a:latin typeface="Cambria" pitchFamily="34" charset="0"/>
                <a:ea typeface="Cambria" pitchFamily="34" charset="-122"/>
                <a:cs typeface="Cambria" pitchFamily="34" charset="-120"/>
              </a:rPr>
              <a:t>one model pass per pair: accurate, slower</a:t>
            </a:r>
            <a:endParaRPr lang="en-US" sz="1200" dirty="0"/>
          </a:p>
        </p:txBody>
      </p:sp>
      <p:sp>
        <p:nvSpPr>
          <p:cNvPr id="24" name="Text 21"/>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500" i="1" dirty="0">
                <a:solidFill>
                  <a:schemeClr val="accent1"/>
                </a:solidFill>
                <a:latin typeface="Cambria" pitchFamily="34" charset="0"/>
                <a:ea typeface="Cambria" pitchFamily="34" charset="-122"/>
                <a:cs typeface="Cambria" pitchFamily="34" charset="-120"/>
              </a:rPr>
              <a:t>Use the cheap model to find candidates and the expensive one to order them.</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Two-stage retrieval</a:t>
            </a:r>
            <a:endParaRPr lang="en-US" sz="3000" dirty="0"/>
          </a:p>
        </p:txBody>
      </p:sp>
      <p:sp>
        <p:nvSpPr>
          <p:cNvPr id="4" name="Shape 1"/>
          <p:cNvSpPr/>
          <p:nvPr/>
        </p:nvSpPr>
        <p:spPr>
          <a:xfrm>
            <a:off x="2286000" y="1371600"/>
            <a:ext cx="4572000" cy="685800"/>
          </a:xfrm>
          <a:prstGeom prst="rect">
            <a:avLst/>
          </a:prstGeom>
          <a:solidFill>
            <a:srgbClr val="2F5D8A"/>
          </a:solidFill>
          <a:ln w="12700">
            <a:solidFill>
              <a:srgbClr val="FFFFFF"/>
            </a:solidFill>
            <a:prstDash val="solid"/>
          </a:ln>
        </p:spPr>
      </p:sp>
      <p:sp>
        <p:nvSpPr>
          <p:cNvPr id="5" name="Text 2"/>
          <p:cNvSpPr txBox="1"/>
          <p:nvPr/>
        </p:nvSpPr>
        <p:spPr>
          <a:xfrm>
            <a:off x="2286000" y="1371600"/>
            <a:ext cx="4572000" cy="685800"/>
          </a:xfrm>
          <a:prstGeom prst="rect">
            <a:avLst/>
          </a:prstGeom>
          <a:noFill/>
          <a:ln/>
        </p:spPr>
        <p:txBody>
          <a:bodyPr wrap="square" lIns="0" tIns="0" rIns="0" bIns="0" rtlCol="0" anchor="ctr"/>
          <a:lstStyle/>
          <a:p>
            <a:pPr algn="ctr" indent="0" marL="0">
              <a:buNone/>
            </a:pPr>
            <a:r>
              <a:rPr lang="en-US" sz="1400" b="1" dirty="0">
                <a:solidFill>
                  <a:srgbClr val="FFFFFF"/>
                </a:solidFill>
              </a:rPr>
              <a:t>Hybrid retrieve:  top 50 candidates</a:t>
            </a:r>
            <a:endParaRPr lang="en-US" sz="1400" dirty="0"/>
          </a:p>
        </p:txBody>
      </p:sp>
      <p:sp>
        <p:nvSpPr>
          <p:cNvPr id="6" name="Shape 3"/>
          <p:cNvSpPr/>
          <p:nvPr/>
        </p:nvSpPr>
        <p:spPr>
          <a:xfrm>
            <a:off x="2926080" y="2240280"/>
            <a:ext cx="3291840" cy="685800"/>
          </a:xfrm>
          <a:prstGeom prst="rect">
            <a:avLst/>
          </a:prstGeom>
          <a:solidFill>
            <a:srgbClr val="3B7A57"/>
          </a:solidFill>
          <a:ln w="12700">
            <a:solidFill>
              <a:srgbClr val="FFFFFF"/>
            </a:solidFill>
            <a:prstDash val="solid"/>
          </a:ln>
        </p:spPr>
      </p:sp>
      <p:sp>
        <p:nvSpPr>
          <p:cNvPr id="7" name="Text 4"/>
          <p:cNvSpPr txBox="1"/>
          <p:nvPr/>
        </p:nvSpPr>
        <p:spPr>
          <a:xfrm>
            <a:off x="2926080" y="2240280"/>
            <a:ext cx="3291840" cy="685800"/>
          </a:xfrm>
          <a:prstGeom prst="rect">
            <a:avLst/>
          </a:prstGeom>
          <a:noFill/>
          <a:ln/>
        </p:spPr>
        <p:txBody>
          <a:bodyPr wrap="square" lIns="0" tIns="0" rIns="0" bIns="0" rtlCol="0" anchor="ctr"/>
          <a:lstStyle/>
          <a:p>
            <a:pPr algn="ctr" indent="0" marL="0">
              <a:buNone/>
            </a:pPr>
            <a:r>
              <a:rPr lang="en-US" sz="1400" b="1" dirty="0">
                <a:solidFill>
                  <a:srgbClr val="FFFFFF"/>
                </a:solidFill>
              </a:rPr>
              <a:t>Rerank:  score 50 pairs</a:t>
            </a:r>
            <a:endParaRPr lang="en-US" sz="1400" dirty="0"/>
          </a:p>
        </p:txBody>
      </p:sp>
      <p:sp>
        <p:nvSpPr>
          <p:cNvPr id="8" name="Shape 5"/>
          <p:cNvSpPr/>
          <p:nvPr/>
        </p:nvSpPr>
        <p:spPr>
          <a:xfrm>
            <a:off x="3566160" y="3108960"/>
            <a:ext cx="2011680" cy="685800"/>
          </a:xfrm>
          <a:prstGeom prst="rect">
            <a:avLst/>
          </a:prstGeom>
          <a:solidFill>
            <a:srgbClr val="B5432A"/>
          </a:solidFill>
          <a:ln w="12700">
            <a:solidFill>
              <a:srgbClr val="FFFFFF"/>
            </a:solidFill>
            <a:prstDash val="solid"/>
          </a:ln>
        </p:spPr>
      </p:sp>
      <p:sp>
        <p:nvSpPr>
          <p:cNvPr id="9" name="Text 6"/>
          <p:cNvSpPr txBox="1"/>
          <p:nvPr/>
        </p:nvSpPr>
        <p:spPr>
          <a:xfrm>
            <a:off x="3566160" y="310896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rPr>
              <a:t>Prompt:  top 4 chunks</a:t>
            </a:r>
            <a:endParaRPr lang="en-US" sz="1400" dirty="0"/>
          </a:p>
        </p:txBody>
      </p:sp>
      <p:sp>
        <p:nvSpPr>
          <p:cNvPr id="10" name="Text 7"/>
          <p:cNvSpPr txBox="1"/>
          <p:nvPr/>
        </p:nvSpPr>
        <p:spPr>
          <a:xfrm>
            <a:off x="457200" y="4023360"/>
            <a:ext cx="8229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9.3  Fewer, better chunks at each stage</a:t>
            </a:r>
            <a:endParaRPr lang="en-US" sz="1100" dirty="0"/>
          </a:p>
        </p:txBody>
      </p:sp>
      <p:sp>
        <p:nvSpPr>
          <p:cNvPr id="11" name="Text 8"/>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400" dirty="0">
                <a:solidFill>
                  <a:schemeClr val="accent1"/>
                </a:solidFill>
                <a:latin typeface="Cambria" pitchFamily="34" charset="0"/>
                <a:ea typeface="Cambria" pitchFamily="34" charset="-122"/>
                <a:cs typeface="Cambria" pitchFamily="34" charset="-120"/>
              </a:rPr>
              <a:t>Rerank cost grows with the candidate count; start at 20 to 50 and measure.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Improving the question</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3657600"/>
                <a:gridCol w="283464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Technique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Watch out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Rewriting</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Make follow-ups standalone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Rewrite errors propagate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Multi-query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Ask several paraphrases, merge results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More calls and more noise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HyDE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Embed a hypothetical answer instead of the question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The invented answer can mislead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Metadata filters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Restrict by source, date or tenant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Needs reliable metadata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Where the time goes</a:t>
            </a:r>
            <a:endParaRPr lang="en-US" sz="3000" dirty="0"/>
          </a:p>
        </p:txBody>
      </p:sp>
      <p:sp>
        <p:nvSpPr>
          <p:cNvPr id="4" name="Shape 1"/>
          <p:cNvSpPr/>
          <p:nvPr/>
        </p:nvSpPr>
        <p:spPr>
          <a:xfrm>
            <a:off x="457200" y="1554480"/>
            <a:ext cx="164592" cy="731520"/>
          </a:xfrm>
          <a:prstGeom prst="rect">
            <a:avLst/>
          </a:prstGeom>
          <a:solidFill>
            <a:srgbClr val="2F5D8A"/>
          </a:solidFill>
          <a:ln w="12700">
            <a:solidFill>
              <a:srgbClr val="FFFFFF"/>
            </a:solidFill>
            <a:prstDash val="solid"/>
          </a:ln>
        </p:spPr>
      </p:sp>
      <p:sp>
        <p:nvSpPr>
          <p:cNvPr id="5" name="Shape 2"/>
          <p:cNvSpPr/>
          <p:nvPr/>
        </p:nvSpPr>
        <p:spPr>
          <a:xfrm>
            <a:off x="621792" y="1554480"/>
            <a:ext cx="246888" cy="731520"/>
          </a:xfrm>
          <a:prstGeom prst="rect">
            <a:avLst/>
          </a:prstGeom>
          <a:solidFill>
            <a:srgbClr val="8A6D1F"/>
          </a:solidFill>
          <a:ln w="12700">
            <a:solidFill>
              <a:srgbClr val="FFFFFF"/>
            </a:solidFill>
            <a:prstDash val="solid"/>
          </a:ln>
        </p:spPr>
      </p:sp>
      <p:sp>
        <p:nvSpPr>
          <p:cNvPr id="6" name="Shape 3"/>
          <p:cNvSpPr/>
          <p:nvPr/>
        </p:nvSpPr>
        <p:spPr>
          <a:xfrm>
            <a:off x="868680" y="1554480"/>
            <a:ext cx="1234440" cy="731520"/>
          </a:xfrm>
          <a:prstGeom prst="rect">
            <a:avLst/>
          </a:prstGeom>
          <a:solidFill>
            <a:srgbClr val="3B7A57"/>
          </a:solidFill>
          <a:ln w="12700">
            <a:solidFill>
              <a:srgbClr val="FFFFFF"/>
            </a:solidFill>
            <a:prstDash val="solid"/>
          </a:ln>
        </p:spPr>
      </p:sp>
      <p:sp>
        <p:nvSpPr>
          <p:cNvPr id="7" name="Shape 4"/>
          <p:cNvSpPr/>
          <p:nvPr/>
        </p:nvSpPr>
        <p:spPr>
          <a:xfrm>
            <a:off x="2103120" y="1554480"/>
            <a:ext cx="82296" cy="731520"/>
          </a:xfrm>
          <a:prstGeom prst="rect">
            <a:avLst/>
          </a:prstGeom>
          <a:solidFill>
            <a:srgbClr val="6B7280"/>
          </a:solidFill>
          <a:ln w="12700">
            <a:solidFill>
              <a:srgbClr val="FFFFFF"/>
            </a:solidFill>
            <a:prstDash val="solid"/>
          </a:ln>
        </p:spPr>
      </p:sp>
      <p:sp>
        <p:nvSpPr>
          <p:cNvPr id="8" name="Shape 5"/>
          <p:cNvSpPr/>
          <p:nvPr/>
        </p:nvSpPr>
        <p:spPr>
          <a:xfrm>
            <a:off x="2185416" y="1554480"/>
            <a:ext cx="6501384" cy="731520"/>
          </a:xfrm>
          <a:prstGeom prst="rect">
            <a:avLst/>
          </a:prstGeom>
          <a:solidFill>
            <a:srgbClr val="B5432A"/>
          </a:solidFill>
          <a:ln w="12700">
            <a:solidFill>
              <a:srgbClr val="FFFFFF"/>
            </a:solidFill>
            <a:prstDash val="solid"/>
          </a:ln>
        </p:spPr>
      </p:sp>
      <p:sp>
        <p:nvSpPr>
          <p:cNvPr id="9" name="Text 6"/>
          <p:cNvSpPr txBox="1"/>
          <p:nvPr/>
        </p:nvSpPr>
        <p:spPr>
          <a:xfrm>
            <a:off x="457200" y="2423160"/>
            <a:ext cx="1645920" cy="274320"/>
          </a:xfrm>
          <a:prstGeom prst="rect">
            <a:avLst/>
          </a:prstGeom>
          <a:noFill/>
          <a:ln/>
        </p:spPr>
        <p:txBody>
          <a:bodyPr wrap="square" lIns="0" tIns="0" rIns="0" bIns="0" rtlCol="0" anchor="t"/>
          <a:lstStyle/>
          <a:p>
            <a:pPr indent="0" marL="0">
              <a:buNone/>
            </a:pPr>
            <a:r>
              <a:rPr lang="en-US" sz="1200" b="1" dirty="0">
                <a:solidFill>
                  <a:srgbClr val="2F5D8A"/>
                </a:solidFill>
              </a:rPr>
              <a:t>embed query</a:t>
            </a:r>
            <a:endParaRPr lang="en-US" sz="1200" dirty="0"/>
          </a:p>
        </p:txBody>
      </p:sp>
      <p:sp>
        <p:nvSpPr>
          <p:cNvPr id="10" name="Text 7"/>
          <p:cNvSpPr txBox="1"/>
          <p:nvPr/>
        </p:nvSpPr>
        <p:spPr>
          <a:xfrm>
            <a:off x="2103120" y="2423160"/>
            <a:ext cx="1645920" cy="274320"/>
          </a:xfrm>
          <a:prstGeom prst="rect">
            <a:avLst/>
          </a:prstGeom>
          <a:noFill/>
          <a:ln/>
        </p:spPr>
        <p:txBody>
          <a:bodyPr wrap="square" lIns="0" tIns="0" rIns="0" bIns="0" rtlCol="0" anchor="t"/>
          <a:lstStyle/>
          <a:p>
            <a:pPr indent="0" marL="0">
              <a:buNone/>
            </a:pPr>
            <a:r>
              <a:rPr lang="en-US" sz="1200" b="1" dirty="0">
                <a:solidFill>
                  <a:srgbClr val="8A6D1F"/>
                </a:solidFill>
              </a:rPr>
              <a:t>vector search</a:t>
            </a:r>
            <a:endParaRPr lang="en-US" sz="1200" dirty="0"/>
          </a:p>
        </p:txBody>
      </p:sp>
      <p:sp>
        <p:nvSpPr>
          <p:cNvPr id="11" name="Text 8"/>
          <p:cNvSpPr txBox="1"/>
          <p:nvPr/>
        </p:nvSpPr>
        <p:spPr>
          <a:xfrm>
            <a:off x="3749040" y="2423160"/>
            <a:ext cx="1645920" cy="274320"/>
          </a:xfrm>
          <a:prstGeom prst="rect">
            <a:avLst/>
          </a:prstGeom>
          <a:noFill/>
          <a:ln/>
        </p:spPr>
        <p:txBody>
          <a:bodyPr wrap="square" lIns="0" tIns="0" rIns="0" bIns="0" rtlCol="0" anchor="t"/>
          <a:lstStyle/>
          <a:p>
            <a:pPr indent="0" marL="0">
              <a:buNone/>
            </a:pPr>
            <a:r>
              <a:rPr lang="en-US" sz="1200" b="1" dirty="0">
                <a:solidFill>
                  <a:srgbClr val="3B7A57"/>
                </a:solidFill>
              </a:rPr>
              <a:t>rerank</a:t>
            </a:r>
            <a:endParaRPr lang="en-US" sz="1200" dirty="0"/>
          </a:p>
        </p:txBody>
      </p:sp>
      <p:sp>
        <p:nvSpPr>
          <p:cNvPr id="12" name="Text 9"/>
          <p:cNvSpPr txBox="1"/>
          <p:nvPr/>
        </p:nvSpPr>
        <p:spPr>
          <a:xfrm>
            <a:off x="5394960" y="2423160"/>
            <a:ext cx="1645920" cy="274320"/>
          </a:xfrm>
          <a:prstGeom prst="rect">
            <a:avLst/>
          </a:prstGeom>
          <a:noFill/>
          <a:ln/>
        </p:spPr>
        <p:txBody>
          <a:bodyPr wrap="square" lIns="0" tIns="0" rIns="0" bIns="0" rtlCol="0" anchor="t"/>
          <a:lstStyle/>
          <a:p>
            <a:pPr indent="0" marL="0">
              <a:buNone/>
            </a:pPr>
            <a:r>
              <a:rPr lang="en-US" sz="1200" b="1" dirty="0">
                <a:solidFill>
                  <a:srgbClr val="6B7280"/>
                </a:solidFill>
              </a:rPr>
              <a:t>build prompt</a:t>
            </a:r>
            <a:endParaRPr lang="en-US" sz="1200" dirty="0"/>
          </a:p>
        </p:txBody>
      </p:sp>
      <p:sp>
        <p:nvSpPr>
          <p:cNvPr id="13" name="Text 10"/>
          <p:cNvSpPr txBox="1"/>
          <p:nvPr/>
        </p:nvSpPr>
        <p:spPr>
          <a:xfrm>
            <a:off x="7040880" y="2423160"/>
            <a:ext cx="1645920" cy="274320"/>
          </a:xfrm>
          <a:prstGeom prst="rect">
            <a:avLst/>
          </a:prstGeom>
          <a:noFill/>
          <a:ln/>
        </p:spPr>
        <p:txBody>
          <a:bodyPr wrap="square" lIns="0" tIns="0" rIns="0" bIns="0" rtlCol="0" anchor="t"/>
          <a:lstStyle/>
          <a:p>
            <a:pPr indent="0" marL="0">
              <a:buNone/>
            </a:pPr>
            <a:r>
              <a:rPr lang="en-US" sz="1200" b="1" dirty="0">
                <a:solidFill>
                  <a:srgbClr val="B5432A"/>
                </a:solidFill>
              </a:rPr>
              <a:t>generate</a:t>
            </a:r>
            <a:endParaRPr lang="en-US" sz="1200" dirty="0"/>
          </a:p>
        </p:txBody>
      </p:sp>
      <p:sp>
        <p:nvSpPr>
          <p:cNvPr id="14" name="Text 11"/>
          <p:cNvSpPr txBox="1"/>
          <p:nvPr/>
        </p:nvSpPr>
        <p:spPr>
          <a:xfrm>
            <a:off x="457200" y="2834640"/>
            <a:ext cx="8229600" cy="274320"/>
          </a:xfrm>
          <a:prstGeom prst="rect">
            <a:avLst/>
          </a:prstGeom>
          <a:noFill/>
          <a:ln/>
        </p:spPr>
        <p:txBody>
          <a:bodyPr wrap="square" lIns="0" tIns="0" rIns="0" bIns="0" rtlCol="0" anchor="t"/>
          <a:lstStyle/>
          <a:p>
            <a:pPr indent="0" marL="0">
              <a:buNone/>
            </a:pPr>
            <a:r>
              <a:rPr lang="en-US" sz="1100" i="1" dirty="0">
                <a:solidFill>
                  <a:schemeClr val="accent5"/>
                </a:solidFill>
                <a:latin typeface="Cambria" pitchFamily="34" charset="0"/>
                <a:ea typeface="Cambria" pitchFamily="34" charset="-122"/>
                <a:cs typeface="Cambria" pitchFamily="34" charset="-120"/>
              </a:rPr>
              <a:t>Figure 9.4  Illustrative share of end-to-end latency (not measured)</a:t>
            </a:r>
            <a:endParaRPr lang="en-US" sz="1100" dirty="0"/>
          </a:p>
        </p:txBody>
      </p:sp>
      <p:sp>
        <p:nvSpPr>
          <p:cNvPr id="15" name="Text 12"/>
          <p:cNvSpPr txBox="1"/>
          <p:nvPr/>
        </p:nvSpPr>
        <p:spPr>
          <a:xfrm>
            <a:off x="457200" y="3200400"/>
            <a:ext cx="822960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Generation usually dominates: shorter prompts and answers, smaller or quantized models</a:t>
            </a:r>
            <a:endParaRPr lang="en-US" sz="1400" dirty="0"/>
          </a:p>
          <a:p>
            <a:pPr marL="342900" indent="-342900">
              <a:spcAft>
                <a:spcPts val="800"/>
              </a:spcAft>
              <a:buSzPct val="100000"/>
              <a:buChar char="•"/>
            </a:pPr>
            <a:r>
              <a:rPr lang="en-US" sz="1400" dirty="0">
                <a:solidFill>
                  <a:schemeClr val="tx1"/>
                </a:solidFill>
              </a:rPr>
              <a:t>Reranking adds a visible cost: limit candidates</a:t>
            </a:r>
            <a:endParaRPr lang="en-US" sz="1400" dirty="0"/>
          </a:p>
          <a:p>
            <a:pPr marL="342900" indent="-342900">
              <a:spcAft>
                <a:spcPts val="800"/>
              </a:spcAft>
              <a:buSzPct val="100000"/>
              <a:buChar char="•"/>
            </a:pPr>
            <a:r>
              <a:rPr lang="en-US" sz="1400" dirty="0">
                <a:solidFill>
                  <a:schemeClr val="tx1"/>
                </a:solidFill>
              </a:rPr>
              <a:t>Retrieval is cheap; do not over-optimize it first</a:t>
            </a:r>
            <a:endParaRPr lang="en-US" sz="1400" dirty="0"/>
          </a:p>
          <a:p>
            <a:pPr marL="342900" indent="-342900">
              <a:spcAft>
                <a:spcPts val="800"/>
              </a:spcAft>
              <a:buSzPct val="100000"/>
              <a:buChar char="•"/>
            </a:pPr>
            <a:r>
              <a:rPr lang="en-US" sz="1400" dirty="0">
                <a:solidFill>
                  <a:schemeClr val="tx1"/>
                </a:solidFill>
              </a:rPr>
              <a:t>Always report p95 latency, not only the average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Performance levers</a:t>
            </a:r>
            <a:endParaRPr lang="en-US" sz="3000" dirty="0"/>
          </a:p>
        </p:txBody>
      </p:sp>
      <p:sp>
        <p:nvSpPr>
          <p:cNvPr id="4" name="Text 1"/>
          <p:cNvSpPr txBox="1"/>
          <p:nvPr/>
        </p:nvSpPr>
        <p:spPr>
          <a:xfrm>
            <a:off x="457200" y="1280160"/>
            <a:ext cx="20116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Caching</a:t>
            </a:r>
            <a:endParaRPr lang="en-US" sz="1600" dirty="0"/>
          </a:p>
        </p:txBody>
      </p:sp>
      <p:sp>
        <p:nvSpPr>
          <p:cNvPr id="5" name="Text 2"/>
          <p:cNvSpPr txBox="1"/>
          <p:nvPr/>
        </p:nvSpPr>
        <p:spPr>
          <a:xfrm>
            <a:off x="2560320" y="1280160"/>
            <a:ext cx="6126480" cy="457200"/>
          </a:xfrm>
          <a:prstGeom prst="rect">
            <a:avLst/>
          </a:prstGeom>
          <a:noFill/>
          <a:ln/>
        </p:spPr>
        <p:txBody>
          <a:bodyPr wrap="square" lIns="0" tIns="0" rIns="0" bIns="0" rtlCol="0" anchor="ctr"/>
          <a:lstStyle/>
          <a:p>
            <a:pPr indent="0" marL="0">
              <a:buNone/>
            </a:pPr>
            <a:r>
              <a:rPr lang="en-US" sz="1300" dirty="0">
                <a:solidFill>
                  <a:schemeClr val="tx1"/>
                </a:solidFill>
              </a:rPr>
              <a:t>Cache query embeddings and, for repeated questions, final answers.</a:t>
            </a:r>
            <a:endParaRPr lang="en-US" sz="1300" dirty="0"/>
          </a:p>
        </p:txBody>
      </p:sp>
      <p:sp>
        <p:nvSpPr>
          <p:cNvPr id="6" name="Shape 3"/>
          <p:cNvSpPr/>
          <p:nvPr/>
        </p:nvSpPr>
        <p:spPr>
          <a:xfrm>
            <a:off x="457200" y="1783080"/>
            <a:ext cx="8229600" cy="0"/>
          </a:xfrm>
          <a:prstGeom prst="line">
            <a:avLst/>
          </a:prstGeom>
          <a:noFill/>
          <a:ln w="6350">
            <a:solidFill>
              <a:schemeClr val="accent6"/>
            </a:solidFill>
            <a:prstDash val="solid"/>
          </a:ln>
        </p:spPr>
      </p:sp>
      <p:sp>
        <p:nvSpPr>
          <p:cNvPr id="7" name="Text 4"/>
          <p:cNvSpPr txBox="1"/>
          <p:nvPr/>
        </p:nvSpPr>
        <p:spPr>
          <a:xfrm>
            <a:off x="457200" y="1828800"/>
            <a:ext cx="20116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Batching</a:t>
            </a:r>
            <a:endParaRPr lang="en-US" sz="1600" dirty="0"/>
          </a:p>
        </p:txBody>
      </p:sp>
      <p:sp>
        <p:nvSpPr>
          <p:cNvPr id="8" name="Text 5"/>
          <p:cNvSpPr txBox="1"/>
          <p:nvPr/>
        </p:nvSpPr>
        <p:spPr>
          <a:xfrm>
            <a:off x="2560320" y="1828800"/>
            <a:ext cx="6126480" cy="457200"/>
          </a:xfrm>
          <a:prstGeom prst="rect">
            <a:avLst/>
          </a:prstGeom>
          <a:noFill/>
          <a:ln/>
        </p:spPr>
        <p:txBody>
          <a:bodyPr wrap="square" lIns="0" tIns="0" rIns="0" bIns="0" rtlCol="0" anchor="ctr"/>
          <a:lstStyle/>
          <a:p>
            <a:pPr indent="0" marL="0">
              <a:buNone/>
            </a:pPr>
            <a:r>
              <a:rPr lang="en-US" sz="1300" dirty="0">
                <a:solidFill>
                  <a:schemeClr val="tx1"/>
                </a:solidFill>
              </a:rPr>
              <a:t>Embed documents in batches; process several queries together.</a:t>
            </a:r>
            <a:endParaRPr lang="en-US" sz="1300" dirty="0"/>
          </a:p>
        </p:txBody>
      </p:sp>
      <p:sp>
        <p:nvSpPr>
          <p:cNvPr id="9" name="Shape 6"/>
          <p:cNvSpPr/>
          <p:nvPr/>
        </p:nvSpPr>
        <p:spPr>
          <a:xfrm>
            <a:off x="457200" y="2331720"/>
            <a:ext cx="8229600" cy="0"/>
          </a:xfrm>
          <a:prstGeom prst="line">
            <a:avLst/>
          </a:prstGeom>
          <a:noFill/>
          <a:ln w="6350">
            <a:solidFill>
              <a:schemeClr val="accent6"/>
            </a:solidFill>
            <a:prstDash val="solid"/>
          </a:ln>
        </p:spPr>
      </p:sp>
      <p:sp>
        <p:nvSpPr>
          <p:cNvPr id="10" name="Text 7"/>
          <p:cNvSpPr txBox="1"/>
          <p:nvPr/>
        </p:nvSpPr>
        <p:spPr>
          <a:xfrm>
            <a:off x="457200" y="2377440"/>
            <a:ext cx="20116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Index settings</a:t>
            </a:r>
            <a:endParaRPr lang="en-US" sz="1600" dirty="0"/>
          </a:p>
        </p:txBody>
      </p:sp>
      <p:sp>
        <p:nvSpPr>
          <p:cNvPr id="11" name="Text 8"/>
          <p:cNvSpPr txBox="1"/>
          <p:nvPr/>
        </p:nvSpPr>
        <p:spPr>
          <a:xfrm>
            <a:off x="2560320" y="2377440"/>
            <a:ext cx="6126480" cy="457200"/>
          </a:xfrm>
          <a:prstGeom prst="rect">
            <a:avLst/>
          </a:prstGeom>
          <a:noFill/>
          <a:ln/>
        </p:spPr>
        <p:txBody>
          <a:bodyPr wrap="square" lIns="0" tIns="0" rIns="0" bIns="0" rtlCol="0" anchor="ctr"/>
          <a:lstStyle/>
          <a:p>
            <a:pPr indent="0" marL="0">
              <a:buNone/>
            </a:pPr>
            <a:r>
              <a:rPr lang="en-US" sz="1300" dirty="0">
                <a:solidFill>
                  <a:schemeClr val="tx1"/>
                </a:solidFill>
              </a:rPr>
              <a:t>Tune ef_search and the distance threshold (Lectures 4 and 7).</a:t>
            </a:r>
            <a:endParaRPr lang="en-US" sz="1300" dirty="0"/>
          </a:p>
        </p:txBody>
      </p:sp>
      <p:sp>
        <p:nvSpPr>
          <p:cNvPr id="12" name="Shape 9"/>
          <p:cNvSpPr/>
          <p:nvPr/>
        </p:nvSpPr>
        <p:spPr>
          <a:xfrm>
            <a:off x="457200" y="2880360"/>
            <a:ext cx="8229600" cy="0"/>
          </a:xfrm>
          <a:prstGeom prst="line">
            <a:avLst/>
          </a:prstGeom>
          <a:noFill/>
          <a:ln w="6350">
            <a:solidFill>
              <a:schemeClr val="accent6"/>
            </a:solidFill>
            <a:prstDash val="solid"/>
          </a:ln>
        </p:spPr>
      </p:sp>
      <p:sp>
        <p:nvSpPr>
          <p:cNvPr id="13" name="Text 10"/>
          <p:cNvSpPr txBox="1"/>
          <p:nvPr/>
        </p:nvSpPr>
        <p:spPr>
          <a:xfrm>
            <a:off x="457200" y="2926080"/>
            <a:ext cx="20116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Smaller models</a:t>
            </a:r>
            <a:endParaRPr lang="en-US" sz="1600" dirty="0"/>
          </a:p>
        </p:txBody>
      </p:sp>
      <p:sp>
        <p:nvSpPr>
          <p:cNvPr id="14" name="Text 11"/>
          <p:cNvSpPr txBox="1"/>
          <p:nvPr/>
        </p:nvSpPr>
        <p:spPr>
          <a:xfrm>
            <a:off x="2560320" y="2926080"/>
            <a:ext cx="6126480" cy="457200"/>
          </a:xfrm>
          <a:prstGeom prst="rect">
            <a:avLst/>
          </a:prstGeom>
          <a:noFill/>
          <a:ln/>
        </p:spPr>
        <p:txBody>
          <a:bodyPr wrap="square" lIns="0" tIns="0" rIns="0" bIns="0" rtlCol="0" anchor="ctr"/>
          <a:lstStyle/>
          <a:p>
            <a:pPr indent="0" marL="0">
              <a:buNone/>
            </a:pPr>
            <a:r>
              <a:rPr lang="en-US" sz="1300" dirty="0">
                <a:solidFill>
                  <a:schemeClr val="tx1"/>
                </a:solidFill>
              </a:rPr>
              <a:t>Quantized or smaller generators and rerankers cut memory and time.</a:t>
            </a:r>
            <a:endParaRPr lang="en-US" sz="1300" dirty="0"/>
          </a:p>
        </p:txBody>
      </p:sp>
      <p:sp>
        <p:nvSpPr>
          <p:cNvPr id="15" name="Shape 12"/>
          <p:cNvSpPr/>
          <p:nvPr/>
        </p:nvSpPr>
        <p:spPr>
          <a:xfrm>
            <a:off x="457200" y="3429000"/>
            <a:ext cx="8229600" cy="0"/>
          </a:xfrm>
          <a:prstGeom prst="line">
            <a:avLst/>
          </a:prstGeom>
          <a:noFill/>
          <a:ln w="6350">
            <a:solidFill>
              <a:schemeClr val="accent6"/>
            </a:solidFill>
            <a:prstDash val="solid"/>
          </a:ln>
        </p:spPr>
      </p:sp>
      <p:sp>
        <p:nvSpPr>
          <p:cNvPr id="16" name="Text 13"/>
          <p:cNvSpPr txBox="1"/>
          <p:nvPr/>
        </p:nvSpPr>
        <p:spPr>
          <a:xfrm>
            <a:off x="457200" y="3474720"/>
            <a:ext cx="20116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Streaming</a:t>
            </a:r>
            <a:endParaRPr lang="en-US" sz="1600" dirty="0"/>
          </a:p>
        </p:txBody>
      </p:sp>
      <p:sp>
        <p:nvSpPr>
          <p:cNvPr id="17" name="Text 14"/>
          <p:cNvSpPr txBox="1"/>
          <p:nvPr/>
        </p:nvSpPr>
        <p:spPr>
          <a:xfrm>
            <a:off x="2560320" y="3474720"/>
            <a:ext cx="6126480" cy="457200"/>
          </a:xfrm>
          <a:prstGeom prst="rect">
            <a:avLst/>
          </a:prstGeom>
          <a:noFill/>
          <a:ln/>
        </p:spPr>
        <p:txBody>
          <a:bodyPr wrap="square" lIns="0" tIns="0" rIns="0" bIns="0" rtlCol="0" anchor="ctr"/>
          <a:lstStyle/>
          <a:p>
            <a:pPr indent="0" marL="0">
              <a:buNone/>
            </a:pPr>
            <a:r>
              <a:rPr lang="en-US" sz="1300" dirty="0">
                <a:solidFill>
                  <a:schemeClr val="tx1"/>
                </a:solidFill>
              </a:rPr>
              <a:t>Send tokens as they are produced: users see progress early.</a:t>
            </a:r>
            <a:endParaRPr lang="en-US" sz="1300" dirty="0"/>
          </a:p>
        </p:txBody>
      </p:sp>
      <p:sp>
        <p:nvSpPr>
          <p:cNvPr id="18" name="Shape 15"/>
          <p:cNvSpPr/>
          <p:nvPr/>
        </p:nvSpPr>
        <p:spPr>
          <a:xfrm>
            <a:off x="457200" y="3977640"/>
            <a:ext cx="8229600" cy="0"/>
          </a:xfrm>
          <a:prstGeom prst="line">
            <a:avLst/>
          </a:prstGeom>
          <a:noFill/>
          <a:ln w="6350">
            <a:solidFill>
              <a:schemeClr val="accent6"/>
            </a:solidFill>
            <a:prstDash val="solid"/>
          </a:ln>
        </p:spPr>
      </p:sp>
      <p:sp>
        <p:nvSpPr>
          <p:cNvPr id="19" name="Text 16"/>
          <p:cNvSpPr txBox="1"/>
          <p:nvPr/>
        </p:nvSpPr>
        <p:spPr>
          <a:xfrm>
            <a:off x="457200" y="4023360"/>
            <a:ext cx="20116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Scale out</a:t>
            </a:r>
            <a:endParaRPr lang="en-US" sz="1600" dirty="0"/>
          </a:p>
        </p:txBody>
      </p:sp>
      <p:sp>
        <p:nvSpPr>
          <p:cNvPr id="20" name="Text 17"/>
          <p:cNvSpPr txBox="1"/>
          <p:nvPr/>
        </p:nvSpPr>
        <p:spPr>
          <a:xfrm>
            <a:off x="2560320" y="4023360"/>
            <a:ext cx="6126480" cy="457200"/>
          </a:xfrm>
          <a:prstGeom prst="rect">
            <a:avLst/>
          </a:prstGeom>
          <a:noFill/>
          <a:ln/>
        </p:spPr>
        <p:txBody>
          <a:bodyPr wrap="square" lIns="0" tIns="0" rIns="0" bIns="0" rtlCol="0" anchor="ctr"/>
          <a:lstStyle/>
          <a:p>
            <a:pPr indent="0" marL="0">
              <a:buNone/>
            </a:pPr>
            <a:r>
              <a:rPr lang="en-US" sz="1300" dirty="0">
                <a:solidFill>
                  <a:schemeClr val="tx1"/>
                </a:solidFill>
              </a:rPr>
              <a:t>One node is often enough; see Lecture 5 for when to move.</a:t>
            </a:r>
            <a:endParaRPr lang="en-US" sz="1300" dirty="0"/>
          </a:p>
        </p:txBody>
      </p:sp>
      <p:sp>
        <p:nvSpPr>
          <p:cNvPr id="21" name="Shape 18"/>
          <p:cNvSpPr/>
          <p:nvPr/>
        </p:nvSpPr>
        <p:spPr>
          <a:xfrm>
            <a:off x="457200" y="4526280"/>
            <a:ext cx="8229600" cy="0"/>
          </a:xfrm>
          <a:prstGeom prst="line">
            <a:avLst/>
          </a:prstGeom>
          <a:noFill/>
          <a:ln w="6350">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Trust boundaries in RAG</a:t>
            </a:r>
            <a:endParaRPr lang="en-US" sz="3000" dirty="0"/>
          </a:p>
        </p:txBody>
      </p:sp>
      <p:sp>
        <p:nvSpPr>
          <p:cNvPr id="4" name="Shape 1"/>
          <p:cNvSpPr/>
          <p:nvPr/>
        </p:nvSpPr>
        <p:spPr>
          <a:xfrm>
            <a:off x="457200" y="1371600"/>
            <a:ext cx="2194560" cy="640080"/>
          </a:xfrm>
          <a:prstGeom prst="rect">
            <a:avLst/>
          </a:prstGeom>
          <a:solidFill>
            <a:schemeClr val="bg1"/>
          </a:solidFill>
          <a:ln w="25400">
            <a:solidFill>
              <a:srgbClr val="3B7A57"/>
            </a:solidFill>
            <a:prstDash val="solid"/>
          </a:ln>
        </p:spPr>
      </p:sp>
      <p:sp>
        <p:nvSpPr>
          <p:cNvPr id="5" name="Text 2"/>
          <p:cNvSpPr txBox="1"/>
          <p:nvPr/>
        </p:nvSpPr>
        <p:spPr>
          <a:xfrm>
            <a:off x="457200" y="1371600"/>
            <a:ext cx="2194560" cy="640080"/>
          </a:xfrm>
          <a:prstGeom prst="rect">
            <a:avLst/>
          </a:prstGeom>
          <a:noFill/>
          <a:ln/>
        </p:spPr>
        <p:txBody>
          <a:bodyPr wrap="square" lIns="0" tIns="0" rIns="0" bIns="0" rtlCol="0" anchor="ctr"/>
          <a:lstStyle/>
          <a:p>
            <a:pPr algn="ctr" indent="0" marL="0">
              <a:buNone/>
            </a:pPr>
            <a:r>
              <a:rPr lang="en-US" sz="1400" b="1" dirty="0">
                <a:solidFill>
                  <a:schemeClr val="tx1"/>
                </a:solidFill>
              </a:rPr>
              <a:t>System prompt</a:t>
            </a:r>
            <a:endParaRPr lang="en-US" sz="1400" dirty="0"/>
          </a:p>
        </p:txBody>
      </p:sp>
      <p:sp>
        <p:nvSpPr>
          <p:cNvPr id="6" name="Text 3"/>
          <p:cNvSpPr txBox="1"/>
          <p:nvPr/>
        </p:nvSpPr>
        <p:spPr>
          <a:xfrm>
            <a:off x="457200" y="2057400"/>
            <a:ext cx="2194560" cy="274320"/>
          </a:xfrm>
          <a:prstGeom prst="rect">
            <a:avLst/>
          </a:prstGeom>
          <a:noFill/>
          <a:ln/>
        </p:spPr>
        <p:txBody>
          <a:bodyPr wrap="square" lIns="0" tIns="0" rIns="0" bIns="0" rtlCol="0" anchor="t"/>
          <a:lstStyle/>
          <a:p>
            <a:pPr algn="ctr" indent="0" marL="0">
              <a:buNone/>
            </a:pPr>
            <a:r>
              <a:rPr lang="en-US" sz="1200" i="1" dirty="0">
                <a:solidFill>
                  <a:schemeClr val="accent3"/>
                </a:solidFill>
                <a:latin typeface="Cambria" pitchFamily="34" charset="0"/>
                <a:ea typeface="Cambria" pitchFamily="34" charset="-122"/>
                <a:cs typeface="Cambria" pitchFamily="34" charset="-120"/>
              </a:rPr>
              <a:t>trusted</a:t>
            </a:r>
            <a:endParaRPr lang="en-US" sz="1200" dirty="0"/>
          </a:p>
        </p:txBody>
      </p:sp>
      <p:sp>
        <p:nvSpPr>
          <p:cNvPr id="7" name="Shape 4"/>
          <p:cNvSpPr/>
          <p:nvPr/>
        </p:nvSpPr>
        <p:spPr>
          <a:xfrm>
            <a:off x="457200" y="2560320"/>
            <a:ext cx="2194560" cy="640080"/>
          </a:xfrm>
          <a:prstGeom prst="rect">
            <a:avLst/>
          </a:prstGeom>
          <a:solidFill>
            <a:schemeClr val="bg1"/>
          </a:solidFill>
          <a:ln w="25400">
            <a:solidFill>
              <a:srgbClr val="B5432A"/>
            </a:solidFill>
            <a:prstDash val="solid"/>
          </a:ln>
        </p:spPr>
      </p:sp>
      <p:sp>
        <p:nvSpPr>
          <p:cNvPr id="8" name="Text 5"/>
          <p:cNvSpPr txBox="1"/>
          <p:nvPr/>
        </p:nvSpPr>
        <p:spPr>
          <a:xfrm>
            <a:off x="457200" y="2560320"/>
            <a:ext cx="2194560" cy="640080"/>
          </a:xfrm>
          <a:prstGeom prst="rect">
            <a:avLst/>
          </a:prstGeom>
          <a:noFill/>
          <a:ln/>
        </p:spPr>
        <p:txBody>
          <a:bodyPr wrap="square" lIns="0" tIns="0" rIns="0" bIns="0" rtlCol="0" anchor="ctr"/>
          <a:lstStyle/>
          <a:p>
            <a:pPr algn="ctr" indent="0" marL="0">
              <a:buNone/>
            </a:pPr>
            <a:r>
              <a:rPr lang="en-US" sz="1400" b="1" dirty="0">
                <a:solidFill>
                  <a:schemeClr val="tx1"/>
                </a:solidFill>
              </a:rPr>
              <a:t>User question</a:t>
            </a:r>
            <a:endParaRPr lang="en-US" sz="1400" dirty="0"/>
          </a:p>
        </p:txBody>
      </p:sp>
      <p:sp>
        <p:nvSpPr>
          <p:cNvPr id="9" name="Text 6"/>
          <p:cNvSpPr txBox="1"/>
          <p:nvPr/>
        </p:nvSpPr>
        <p:spPr>
          <a:xfrm>
            <a:off x="457200" y="3246120"/>
            <a:ext cx="2194560" cy="274320"/>
          </a:xfrm>
          <a:prstGeom prst="rect">
            <a:avLst/>
          </a:prstGeom>
          <a:noFill/>
          <a:ln/>
        </p:spPr>
        <p:txBody>
          <a:bodyPr wrap="square" lIns="0" tIns="0" rIns="0" bIns="0" rtlCol="0" anchor="t"/>
          <a:lstStyle/>
          <a:p>
            <a:pPr algn="ctr" indent="0" marL="0">
              <a:buNone/>
            </a:pPr>
            <a:r>
              <a:rPr lang="en-US" sz="1200" i="1" dirty="0">
                <a:solidFill>
                  <a:schemeClr val="accent1"/>
                </a:solidFill>
                <a:latin typeface="Cambria" pitchFamily="34" charset="0"/>
                <a:ea typeface="Cambria" pitchFamily="34" charset="-122"/>
                <a:cs typeface="Cambria" pitchFamily="34" charset="-120"/>
              </a:rPr>
              <a:t>untrusted</a:t>
            </a:r>
            <a:endParaRPr lang="en-US" sz="1200" dirty="0"/>
          </a:p>
        </p:txBody>
      </p:sp>
      <p:sp>
        <p:nvSpPr>
          <p:cNvPr id="10" name="Shape 7"/>
          <p:cNvSpPr/>
          <p:nvPr/>
        </p:nvSpPr>
        <p:spPr>
          <a:xfrm>
            <a:off x="457200" y="3749040"/>
            <a:ext cx="2194560" cy="640080"/>
          </a:xfrm>
          <a:prstGeom prst="rect">
            <a:avLst/>
          </a:prstGeom>
          <a:solidFill>
            <a:schemeClr val="bg1"/>
          </a:solidFill>
          <a:ln w="25400">
            <a:solidFill>
              <a:srgbClr val="B5432A"/>
            </a:solidFill>
            <a:prstDash val="solid"/>
          </a:ln>
        </p:spPr>
      </p:sp>
      <p:sp>
        <p:nvSpPr>
          <p:cNvPr id="11" name="Text 8"/>
          <p:cNvSpPr txBox="1"/>
          <p:nvPr/>
        </p:nvSpPr>
        <p:spPr>
          <a:xfrm>
            <a:off x="457200" y="3749040"/>
            <a:ext cx="2194560" cy="640080"/>
          </a:xfrm>
          <a:prstGeom prst="rect">
            <a:avLst/>
          </a:prstGeom>
          <a:noFill/>
          <a:ln/>
        </p:spPr>
        <p:txBody>
          <a:bodyPr wrap="square" lIns="0" tIns="0" rIns="0" bIns="0" rtlCol="0" anchor="ctr"/>
          <a:lstStyle/>
          <a:p>
            <a:pPr algn="ctr" indent="0" marL="0">
              <a:buNone/>
            </a:pPr>
            <a:r>
              <a:rPr lang="en-US" sz="1400" b="1" dirty="0">
                <a:solidFill>
                  <a:schemeClr val="tx1"/>
                </a:solidFill>
              </a:rPr>
              <a:t>Retrieved documents</a:t>
            </a:r>
            <a:endParaRPr lang="en-US" sz="1400" dirty="0"/>
          </a:p>
        </p:txBody>
      </p:sp>
      <p:sp>
        <p:nvSpPr>
          <p:cNvPr id="12" name="Text 9"/>
          <p:cNvSpPr txBox="1"/>
          <p:nvPr/>
        </p:nvSpPr>
        <p:spPr>
          <a:xfrm>
            <a:off x="457200" y="4434840"/>
            <a:ext cx="2194560" cy="274320"/>
          </a:xfrm>
          <a:prstGeom prst="rect">
            <a:avLst/>
          </a:prstGeom>
          <a:noFill/>
          <a:ln/>
        </p:spPr>
        <p:txBody>
          <a:bodyPr wrap="square" lIns="0" tIns="0" rIns="0" bIns="0" rtlCol="0" anchor="t"/>
          <a:lstStyle/>
          <a:p>
            <a:pPr algn="ctr" indent="0" marL="0">
              <a:buNone/>
            </a:pPr>
            <a:r>
              <a:rPr lang="en-US" sz="1200" i="1" dirty="0">
                <a:solidFill>
                  <a:schemeClr val="accent1"/>
                </a:solidFill>
                <a:latin typeface="Cambria" pitchFamily="34" charset="0"/>
                <a:ea typeface="Cambria" pitchFamily="34" charset="-122"/>
                <a:cs typeface="Cambria" pitchFamily="34" charset="-120"/>
              </a:rPr>
              <a:t>untrusted</a:t>
            </a:r>
            <a:endParaRPr lang="en-US" sz="1200" dirty="0"/>
          </a:p>
        </p:txBody>
      </p:sp>
      <p:sp>
        <p:nvSpPr>
          <p:cNvPr id="13" name="Shape 10"/>
          <p:cNvSpPr/>
          <p:nvPr/>
        </p:nvSpPr>
        <p:spPr>
          <a:xfrm>
            <a:off x="2651760" y="1691640"/>
            <a:ext cx="640080" cy="1188720"/>
          </a:xfrm>
          <a:prstGeom prst="line">
            <a:avLst/>
          </a:prstGeom>
          <a:noFill/>
          <a:ln w="15875">
            <a:solidFill>
              <a:srgbClr val="6B7280"/>
            </a:solidFill>
            <a:prstDash val="solid"/>
            <a:tailEnd type="triangle"/>
          </a:ln>
        </p:spPr>
      </p:sp>
      <p:sp>
        <p:nvSpPr>
          <p:cNvPr id="14" name="Shape 11"/>
          <p:cNvSpPr/>
          <p:nvPr/>
        </p:nvSpPr>
        <p:spPr>
          <a:xfrm>
            <a:off x="2651760" y="2880360"/>
            <a:ext cx="640080" cy="0"/>
          </a:xfrm>
          <a:prstGeom prst="line">
            <a:avLst/>
          </a:prstGeom>
          <a:noFill/>
          <a:ln w="15875">
            <a:solidFill>
              <a:srgbClr val="6B7280"/>
            </a:solidFill>
            <a:prstDash val="solid"/>
            <a:tailEnd type="triangle"/>
          </a:ln>
        </p:spPr>
      </p:sp>
      <p:sp>
        <p:nvSpPr>
          <p:cNvPr id="15" name="Shape 12"/>
          <p:cNvSpPr/>
          <p:nvPr/>
        </p:nvSpPr>
        <p:spPr>
          <a:xfrm flipV="1">
            <a:off x="2651760" y="2880360"/>
            <a:ext cx="640080" cy="1188720"/>
          </a:xfrm>
          <a:prstGeom prst="line">
            <a:avLst/>
          </a:prstGeom>
          <a:noFill/>
          <a:ln w="15875">
            <a:solidFill>
              <a:srgbClr val="6B7280"/>
            </a:solidFill>
            <a:prstDash val="solid"/>
            <a:tailEnd type="triangle"/>
          </a:ln>
        </p:spPr>
      </p:sp>
      <p:sp>
        <p:nvSpPr>
          <p:cNvPr id="16" name="Shape 13"/>
          <p:cNvSpPr/>
          <p:nvPr/>
        </p:nvSpPr>
        <p:spPr>
          <a:xfrm>
            <a:off x="3291840" y="2468880"/>
            <a:ext cx="1828800" cy="822960"/>
          </a:xfrm>
          <a:prstGeom prst="rect">
            <a:avLst/>
          </a:prstGeom>
          <a:solidFill>
            <a:schemeClr val="bg1"/>
          </a:solidFill>
          <a:ln w="25400">
            <a:solidFill>
              <a:srgbClr val="1B2A41"/>
            </a:solidFill>
            <a:prstDash val="solid"/>
          </a:ln>
        </p:spPr>
      </p:sp>
      <p:sp>
        <p:nvSpPr>
          <p:cNvPr id="17" name="Text 14"/>
          <p:cNvSpPr txBox="1"/>
          <p:nvPr/>
        </p:nvSpPr>
        <p:spPr>
          <a:xfrm>
            <a:off x="3291840" y="2468880"/>
            <a:ext cx="1828800" cy="822960"/>
          </a:xfrm>
          <a:prstGeom prst="rect">
            <a:avLst/>
          </a:prstGeom>
          <a:noFill/>
          <a:ln/>
        </p:spPr>
        <p:txBody>
          <a:bodyPr wrap="square" lIns="0" tIns="0" rIns="0" bIns="0" rtlCol="0" anchor="ctr"/>
          <a:lstStyle/>
          <a:p>
            <a:pPr algn="ctr" indent="0" marL="0">
              <a:buNone/>
            </a:pPr>
            <a:r>
              <a:rPr lang="en-US" sz="1500" b="1" dirty="0">
                <a:solidFill>
                  <a:schemeClr val="tx1"/>
                </a:solidFill>
              </a:rPr>
              <a:t>Language model</a:t>
            </a:r>
            <a:endParaRPr lang="en-US" sz="1500" dirty="0"/>
          </a:p>
        </p:txBody>
      </p:sp>
      <p:sp>
        <p:nvSpPr>
          <p:cNvPr id="18" name="Shape 15"/>
          <p:cNvSpPr/>
          <p:nvPr/>
        </p:nvSpPr>
        <p:spPr>
          <a:xfrm>
            <a:off x="5120640" y="2880360"/>
            <a:ext cx="548640" cy="0"/>
          </a:xfrm>
          <a:prstGeom prst="line">
            <a:avLst/>
          </a:prstGeom>
          <a:noFill/>
          <a:ln w="19050">
            <a:solidFill>
              <a:srgbClr val="1B2A41"/>
            </a:solidFill>
            <a:prstDash val="solid"/>
            <a:tailEnd type="triangle"/>
          </a:ln>
        </p:spPr>
      </p:sp>
      <p:sp>
        <p:nvSpPr>
          <p:cNvPr id="19" name="Shape 16"/>
          <p:cNvSpPr/>
          <p:nvPr/>
        </p:nvSpPr>
        <p:spPr>
          <a:xfrm>
            <a:off x="5669280" y="2468880"/>
            <a:ext cx="2011680" cy="822960"/>
          </a:xfrm>
          <a:prstGeom prst="rect">
            <a:avLst/>
          </a:prstGeom>
          <a:solidFill>
            <a:schemeClr val="bg1"/>
          </a:solidFill>
          <a:ln w="12700">
            <a:solidFill>
              <a:srgbClr val="1B2A41"/>
            </a:solidFill>
            <a:prstDash val="solid"/>
          </a:ln>
        </p:spPr>
      </p:sp>
      <p:sp>
        <p:nvSpPr>
          <p:cNvPr id="20" name="Text 17"/>
          <p:cNvSpPr txBox="1"/>
          <p:nvPr/>
        </p:nvSpPr>
        <p:spPr>
          <a:xfrm>
            <a:off x="5669280" y="2468880"/>
            <a:ext cx="2011680" cy="822960"/>
          </a:xfrm>
          <a:prstGeom prst="rect">
            <a:avLst/>
          </a:prstGeom>
          <a:noFill/>
          <a:ln/>
        </p:spPr>
        <p:txBody>
          <a:bodyPr wrap="square" lIns="0" tIns="0" rIns="0" bIns="0" rtlCol="0" anchor="ctr"/>
          <a:lstStyle/>
          <a:p>
            <a:pPr algn="ctr" indent="0" marL="0">
              <a:buNone/>
            </a:pPr>
            <a:r>
              <a:rPr lang="en-US" sz="1400" b="1" dirty="0">
                <a:solidFill>
                  <a:schemeClr val="tx1"/>
                </a:solidFill>
              </a:rPr>
              <a:t>Answer to the user</a:t>
            </a:r>
            <a:endParaRPr lang="en-US" sz="1400" dirty="0"/>
          </a:p>
        </p:txBody>
      </p:sp>
      <p:sp>
        <p:nvSpPr>
          <p:cNvPr id="21" name="Text 18"/>
          <p:cNvSpPr txBox="1"/>
          <p:nvPr/>
        </p:nvSpPr>
        <p:spPr>
          <a:xfrm>
            <a:off x="5486400" y="3566160"/>
            <a:ext cx="3200400" cy="1005840"/>
          </a:xfrm>
          <a:prstGeom prst="rect">
            <a:avLst/>
          </a:prstGeom>
          <a:noFill/>
          <a:ln/>
        </p:spPr>
        <p:txBody>
          <a:bodyPr wrap="square" lIns="0" tIns="0" rIns="0" bIns="0" rtlCol="0" anchor="t"/>
          <a:lstStyle/>
          <a:p>
            <a:pPr indent="0" marL="0">
              <a:buNone/>
            </a:pPr>
            <a:r>
              <a:rPr lang="en-US" sz="1300" i="1" dirty="0">
                <a:solidFill>
                  <a:schemeClr val="accent1"/>
                </a:solidFill>
                <a:latin typeface="Cambria" pitchFamily="34" charset="0"/>
                <a:ea typeface="Cambria" pitchFamily="34" charset="-122"/>
                <a:cs typeface="Cambria" pitchFamily="34" charset="-120"/>
              </a:rPr>
              <a:t>A poisoned chunk such as "Ignore previous instructions and ..." arrives through retrieval, not through the user.</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Security controls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468880"/>
                <a:gridCol w="57607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Threat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Controls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64008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Indirect prompt injection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Delimit context; tell the model it is data; never give the model powerful tools; validate outputs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Cross-user data leakage</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Server-side access filter on every query (tenant, ACL)</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Personal data in the index</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Redact before indexing; retention and deletion rules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Secrets and keys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Environment variables; never in prompts, metadata or logs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Abuse and overload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Rate limits, input length limits, timeouts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Access control belongs in the filter</a:t>
            </a:r>
            <a:endParaRPr lang="en-US" sz="3000" dirty="0"/>
          </a:p>
        </p:txBody>
      </p:sp>
      <p:sp>
        <p:nvSpPr>
          <p:cNvPr id="4" name="Shape 1"/>
          <p:cNvSpPr/>
          <p:nvPr/>
        </p:nvSpPr>
        <p:spPr>
          <a:xfrm>
            <a:off x="457200" y="1280160"/>
            <a:ext cx="5486400" cy="2011680"/>
          </a:xfrm>
          <a:prstGeom prst="rect">
            <a:avLst/>
          </a:prstGeom>
          <a:solidFill>
            <a:srgbClr val="F3F4F6"/>
          </a:solidFill>
          <a:ln w="12700">
            <a:solidFill>
              <a:srgbClr val="D1D5DB"/>
            </a:solidFill>
            <a:prstDash val="solid"/>
          </a:ln>
        </p:spPr>
      </p:sp>
      <p:sp>
        <p:nvSpPr>
          <p:cNvPr id="5" name="Text 2"/>
          <p:cNvSpPr txBox="1"/>
          <p:nvPr/>
        </p:nvSpPr>
        <p:spPr>
          <a:xfrm>
            <a:off x="594360" y="1389888"/>
            <a:ext cx="5212080" cy="1792224"/>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res = col.query(</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query_texts=[question],</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n_results=5,</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where={"tenant": session.tenant_id},</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6" name="Text 3"/>
          <p:cNvSpPr txBox="1"/>
          <p:nvPr/>
        </p:nvSpPr>
        <p:spPr>
          <a:xfrm>
            <a:off x="6217920" y="1280160"/>
            <a:ext cx="246888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tenant comes from the session, not the request</a:t>
            </a:r>
            <a:endParaRPr lang="en-US" sz="1300" dirty="0"/>
          </a:p>
          <a:p>
            <a:pPr marL="342900" indent="-342900">
              <a:spcAft>
                <a:spcPts val="800"/>
              </a:spcAft>
              <a:buSzPct val="100000"/>
              <a:buChar char="•"/>
            </a:pPr>
            <a:r>
              <a:rPr lang="en-US" sz="1300" dirty="0">
                <a:solidFill>
                  <a:schemeClr val="tx1"/>
                </a:solidFill>
              </a:rPr>
              <a:t>Store the tenant on every chunk at ingestion</a:t>
            </a:r>
            <a:endParaRPr lang="en-US" sz="1300" dirty="0"/>
          </a:p>
          <a:p>
            <a:pPr marL="342900" indent="-342900">
              <a:spcAft>
                <a:spcPts val="800"/>
              </a:spcAft>
              <a:buSzPct val="100000"/>
              <a:buChar char="•"/>
            </a:pPr>
            <a:r>
              <a:rPr lang="en-US" sz="1300" dirty="0">
                <a:solidFill>
                  <a:schemeClr val="tx1"/>
                </a:solidFill>
              </a:rPr>
              <a:t>Write a test that tries to cross tenants</a:t>
            </a:r>
            <a:endParaRPr lang="en-US" sz="1300" dirty="0"/>
          </a:p>
          <a:p>
            <a:pPr marL="342900" indent="-342900">
              <a:spcAft>
                <a:spcPts val="800"/>
              </a:spcAft>
              <a:buSzPct val="100000"/>
              <a:buChar char="•"/>
            </a:pPr>
            <a:r>
              <a:rPr lang="en-US" sz="1300" dirty="0">
                <a:solidFill>
                  <a:schemeClr val="tx1"/>
                </a:solidFill>
              </a:rPr>
              <a:t>Combine with logging of what was retrieved</a:t>
            </a:r>
            <a:endParaRPr lang="en-US" sz="1300" dirty="0"/>
          </a:p>
        </p:txBody>
      </p:sp>
      <p:sp>
        <p:nvSpPr>
          <p:cNvPr id="7" name="Text 4"/>
          <p:cNvSpPr txBox="1"/>
          <p:nvPr/>
        </p:nvSpPr>
        <p:spPr>
          <a:xfrm>
            <a:off x="457200" y="3566160"/>
            <a:ext cx="5486400" cy="73152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The prompt cannot enforce permissions; the retrieval filter can.</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Deploying for free</a:t>
            </a:r>
            <a:endParaRPr lang="en-US" sz="3000" dirty="0"/>
          </a:p>
        </p:txBody>
      </p:sp>
      <p:sp>
        <p:nvSpPr>
          <p:cNvPr id="4" name="Shape 1"/>
          <p:cNvSpPr/>
          <p:nvPr/>
        </p:nvSpPr>
        <p:spPr>
          <a:xfrm>
            <a:off x="457200" y="1280160"/>
            <a:ext cx="4754880" cy="2926080"/>
          </a:xfrm>
          <a:prstGeom prst="rect">
            <a:avLst/>
          </a:prstGeom>
          <a:solidFill>
            <a:srgbClr val="F3F4F6"/>
          </a:solidFill>
          <a:ln w="12700">
            <a:solidFill>
              <a:srgbClr val="D1D5DB"/>
            </a:solidFill>
            <a:prstDash val="solid"/>
          </a:ln>
        </p:spPr>
      </p:sp>
      <p:sp>
        <p:nvSpPr>
          <p:cNvPr id="5" name="Text 2"/>
          <p:cNvSpPr txBox="1"/>
          <p:nvPr/>
        </p:nvSpPr>
        <p:spPr>
          <a:xfrm>
            <a:off x="594360" y="1389888"/>
            <a:ext cx="4480560" cy="2706624"/>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FROM python:3.11-slim</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WORKDIR /app</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COPY requirements.txt .</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RUN pip install --no-cache-dir \</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-r requirements.txt</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COPY app.py .</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EXPOSE 8000</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CMD ["uvicorn", "app:app",</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"--host", "0.0.0.0",</a:t>
            </a:r>
            <a:endParaRPr lang="en-US" sz="1050" dirty="0"/>
          </a:p>
          <a:p>
            <a:pPr indent="0" marL="0">
              <a:buNone/>
            </a:pPr>
            <a:r>
              <a:rPr lang="en-US" sz="1050" dirty="0">
                <a:solidFill>
                  <a:schemeClr val="tx1"/>
                </a:solidFill>
                <a:latin typeface="Courier New" pitchFamily="34" charset="0"/>
                <a:ea typeface="Courier New" pitchFamily="34" charset="-122"/>
                <a:cs typeface="Courier New" pitchFamily="34" charset="-120"/>
              </a:rPr>
              <a:t>     "--port", "8000"]</a:t>
            </a:r>
            <a:endParaRPr lang="en-US" sz="1050" dirty="0"/>
          </a:p>
        </p:txBody>
      </p:sp>
      <p:sp>
        <p:nvSpPr>
          <p:cNvPr id="6" name="Text 3"/>
          <p:cNvSpPr txBox="1"/>
          <p:nvPr/>
        </p:nvSpPr>
        <p:spPr>
          <a:xfrm>
            <a:off x="5486400" y="1280160"/>
            <a:ext cx="320040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Free building blocks</a:t>
            </a:r>
            <a:endParaRPr lang="en-US" sz="1600" dirty="0"/>
          </a:p>
        </p:txBody>
      </p:sp>
      <p:sp>
        <p:nvSpPr>
          <p:cNvPr id="7" name="Text 4"/>
          <p:cNvSpPr txBox="1"/>
          <p:nvPr/>
        </p:nvSpPr>
        <p:spPr>
          <a:xfrm>
            <a:off x="5486400" y="1691640"/>
            <a:ext cx="32004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FastAPI and Uvicorn for the API</a:t>
            </a:r>
            <a:endParaRPr lang="en-US" sz="1300" dirty="0"/>
          </a:p>
          <a:p>
            <a:pPr marL="342900" indent="-342900">
              <a:spcAft>
                <a:spcPts val="600"/>
              </a:spcAft>
              <a:buSzPct val="100000"/>
              <a:buChar char="•"/>
            </a:pPr>
            <a:r>
              <a:rPr lang="en-US" sz="1300" dirty="0">
                <a:solidFill>
                  <a:schemeClr val="tx1"/>
                </a:solidFill>
              </a:rPr>
              <a:t>Docker for packaging</a:t>
            </a:r>
            <a:endParaRPr lang="en-US" sz="1300" dirty="0"/>
          </a:p>
          <a:p>
            <a:pPr marL="342900" indent="-342900">
              <a:spcAft>
                <a:spcPts val="600"/>
              </a:spcAft>
              <a:buSzPct val="100000"/>
              <a:buChar char="•"/>
            </a:pPr>
            <a:r>
              <a:rPr lang="en-US" sz="1300" dirty="0">
                <a:solidFill>
                  <a:schemeClr val="tx1"/>
                </a:solidFill>
              </a:rPr>
              <a:t>A volume for the Chroma directory</a:t>
            </a:r>
            <a:endParaRPr lang="en-US" sz="1300" dirty="0"/>
          </a:p>
          <a:p>
            <a:pPr marL="342900" indent="-342900">
              <a:spcAft>
                <a:spcPts val="600"/>
              </a:spcAft>
              <a:buSzPct val="100000"/>
              <a:buChar char="•"/>
            </a:pPr>
            <a:r>
              <a:rPr lang="en-US" sz="1300" dirty="0">
                <a:solidFill>
                  <a:schemeClr val="tx1"/>
                </a:solidFill>
              </a:rPr>
              <a:t>Environment variables for settings</a:t>
            </a:r>
            <a:endParaRPr lang="en-US" sz="1300" dirty="0"/>
          </a:p>
          <a:p>
            <a:pPr marL="342900" indent="-342900">
              <a:spcAft>
                <a:spcPts val="600"/>
              </a:spcAft>
              <a:buSzPct val="100000"/>
              <a:buChar char="•"/>
            </a:pPr>
            <a:r>
              <a:rPr lang="en-US" sz="1300" dirty="0">
                <a:solidFill>
                  <a:schemeClr val="tx1"/>
                </a:solidFill>
              </a:rPr>
              <a:t>A /health endpoint for checks</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Monitoring and the feedback loop</a:t>
            </a:r>
            <a:endParaRPr lang="en-US" sz="3000" dirty="0"/>
          </a:p>
        </p:txBody>
      </p:sp>
      <p:sp>
        <p:nvSpPr>
          <p:cNvPr id="4" name="Shape 1"/>
          <p:cNvSpPr/>
          <p:nvPr/>
        </p:nvSpPr>
        <p:spPr>
          <a:xfrm>
            <a:off x="457200" y="1463040"/>
            <a:ext cx="1737360" cy="731520"/>
          </a:xfrm>
          <a:prstGeom prst="rect">
            <a:avLst/>
          </a:prstGeom>
          <a:solidFill>
            <a:schemeClr val="bg1"/>
          </a:solidFill>
          <a:ln w="12700">
            <a:solidFill>
              <a:srgbClr val="1B2A41"/>
            </a:solidFill>
            <a:prstDash val="solid"/>
          </a:ln>
        </p:spPr>
      </p:sp>
      <p:sp>
        <p:nvSpPr>
          <p:cNvPr id="5" name="Text 2"/>
          <p:cNvSpPr txBox="1"/>
          <p:nvPr/>
        </p:nvSpPr>
        <p:spPr>
          <a:xfrm>
            <a:off x="457200" y="1463040"/>
            <a:ext cx="1737360" cy="731520"/>
          </a:xfrm>
          <a:prstGeom prst="rect">
            <a:avLst/>
          </a:prstGeom>
          <a:noFill/>
          <a:ln/>
        </p:spPr>
        <p:txBody>
          <a:bodyPr wrap="square" lIns="0" tIns="0" rIns="0" bIns="0" rtlCol="0" anchor="ctr"/>
          <a:lstStyle/>
          <a:p>
            <a:pPr algn="ctr" indent="0" marL="0">
              <a:buNone/>
            </a:pPr>
            <a:r>
              <a:rPr lang="en-US" sz="1400" b="1" dirty="0">
                <a:solidFill>
                  <a:schemeClr val="tx1"/>
                </a:solidFill>
              </a:rPr>
              <a:t>Log each request</a:t>
            </a:r>
            <a:endParaRPr lang="en-US" sz="1400" dirty="0"/>
          </a:p>
        </p:txBody>
      </p:sp>
      <p:sp>
        <p:nvSpPr>
          <p:cNvPr id="6" name="Shape 3"/>
          <p:cNvSpPr/>
          <p:nvPr/>
        </p:nvSpPr>
        <p:spPr>
          <a:xfrm>
            <a:off x="2194560" y="1828800"/>
            <a:ext cx="365760" cy="0"/>
          </a:xfrm>
          <a:prstGeom prst="line">
            <a:avLst/>
          </a:prstGeom>
          <a:noFill/>
          <a:ln w="15875">
            <a:solidFill>
              <a:srgbClr val="1B2A41"/>
            </a:solidFill>
            <a:prstDash val="solid"/>
            <a:tailEnd type="triangle"/>
          </a:ln>
        </p:spPr>
      </p:sp>
      <p:sp>
        <p:nvSpPr>
          <p:cNvPr id="7" name="Shape 4"/>
          <p:cNvSpPr/>
          <p:nvPr/>
        </p:nvSpPr>
        <p:spPr>
          <a:xfrm>
            <a:off x="2560320" y="1463040"/>
            <a:ext cx="1737360" cy="731520"/>
          </a:xfrm>
          <a:prstGeom prst="rect">
            <a:avLst/>
          </a:prstGeom>
          <a:solidFill>
            <a:schemeClr val="bg1"/>
          </a:solidFill>
          <a:ln w="12700">
            <a:solidFill>
              <a:srgbClr val="1B2A41"/>
            </a:solidFill>
            <a:prstDash val="solid"/>
          </a:ln>
        </p:spPr>
      </p:sp>
      <p:sp>
        <p:nvSpPr>
          <p:cNvPr id="8" name="Text 5"/>
          <p:cNvSpPr txBox="1"/>
          <p:nvPr/>
        </p:nvSpPr>
        <p:spPr>
          <a:xfrm>
            <a:off x="2560320" y="1463040"/>
            <a:ext cx="1737360" cy="731520"/>
          </a:xfrm>
          <a:prstGeom prst="rect">
            <a:avLst/>
          </a:prstGeom>
          <a:noFill/>
          <a:ln/>
        </p:spPr>
        <p:txBody>
          <a:bodyPr wrap="square" lIns="0" tIns="0" rIns="0" bIns="0" rtlCol="0" anchor="ctr"/>
          <a:lstStyle/>
          <a:p>
            <a:pPr algn="ctr" indent="0" marL="0">
              <a:buNone/>
            </a:pPr>
            <a:r>
              <a:rPr lang="en-US" sz="1400" b="1" dirty="0">
                <a:solidFill>
                  <a:schemeClr val="tx1"/>
                </a:solidFill>
              </a:rPr>
              <a:t>Review failures</a:t>
            </a:r>
            <a:endParaRPr lang="en-US" sz="1400" dirty="0"/>
          </a:p>
        </p:txBody>
      </p:sp>
      <p:sp>
        <p:nvSpPr>
          <p:cNvPr id="9" name="Shape 6"/>
          <p:cNvSpPr/>
          <p:nvPr/>
        </p:nvSpPr>
        <p:spPr>
          <a:xfrm>
            <a:off x="4297680" y="1828800"/>
            <a:ext cx="365760" cy="0"/>
          </a:xfrm>
          <a:prstGeom prst="line">
            <a:avLst/>
          </a:prstGeom>
          <a:noFill/>
          <a:ln w="15875">
            <a:solidFill>
              <a:srgbClr val="1B2A41"/>
            </a:solidFill>
            <a:prstDash val="solid"/>
            <a:tailEnd type="triangle"/>
          </a:ln>
        </p:spPr>
      </p:sp>
      <p:sp>
        <p:nvSpPr>
          <p:cNvPr id="10" name="Shape 7"/>
          <p:cNvSpPr/>
          <p:nvPr/>
        </p:nvSpPr>
        <p:spPr>
          <a:xfrm>
            <a:off x="4663440" y="1463040"/>
            <a:ext cx="1737360" cy="731520"/>
          </a:xfrm>
          <a:prstGeom prst="rect">
            <a:avLst/>
          </a:prstGeom>
          <a:solidFill>
            <a:schemeClr val="bg1"/>
          </a:solidFill>
          <a:ln w="28575">
            <a:solidFill>
              <a:srgbClr val="B5432A"/>
            </a:solidFill>
            <a:prstDash val="solid"/>
          </a:ln>
        </p:spPr>
      </p:sp>
      <p:sp>
        <p:nvSpPr>
          <p:cNvPr id="11" name="Text 8"/>
          <p:cNvSpPr txBox="1"/>
          <p:nvPr/>
        </p:nvSpPr>
        <p:spPr>
          <a:xfrm>
            <a:off x="4663440" y="1463040"/>
            <a:ext cx="1737360" cy="731520"/>
          </a:xfrm>
          <a:prstGeom prst="rect">
            <a:avLst/>
          </a:prstGeom>
          <a:noFill/>
          <a:ln/>
        </p:spPr>
        <p:txBody>
          <a:bodyPr wrap="square" lIns="0" tIns="0" rIns="0" bIns="0" rtlCol="0" anchor="ctr"/>
          <a:lstStyle/>
          <a:p>
            <a:pPr algn="ctr" indent="0" marL="0">
              <a:buNone/>
            </a:pPr>
            <a:r>
              <a:rPr lang="en-US" sz="1400" b="1" dirty="0">
                <a:solidFill>
                  <a:schemeClr val="tx1"/>
                </a:solidFill>
              </a:rPr>
              <a:t>Add to eval set</a:t>
            </a:r>
            <a:endParaRPr lang="en-US" sz="1400" dirty="0"/>
          </a:p>
        </p:txBody>
      </p:sp>
      <p:sp>
        <p:nvSpPr>
          <p:cNvPr id="12" name="Shape 9"/>
          <p:cNvSpPr/>
          <p:nvPr/>
        </p:nvSpPr>
        <p:spPr>
          <a:xfrm>
            <a:off x="6400800" y="1828800"/>
            <a:ext cx="365760" cy="0"/>
          </a:xfrm>
          <a:prstGeom prst="line">
            <a:avLst/>
          </a:prstGeom>
          <a:noFill/>
          <a:ln w="15875">
            <a:solidFill>
              <a:srgbClr val="1B2A41"/>
            </a:solidFill>
            <a:prstDash val="solid"/>
            <a:tailEnd type="triangle"/>
          </a:ln>
        </p:spPr>
      </p:sp>
      <p:sp>
        <p:nvSpPr>
          <p:cNvPr id="13" name="Shape 10"/>
          <p:cNvSpPr/>
          <p:nvPr/>
        </p:nvSpPr>
        <p:spPr>
          <a:xfrm>
            <a:off x="6766560" y="1463040"/>
            <a:ext cx="1737360" cy="731520"/>
          </a:xfrm>
          <a:prstGeom prst="rect">
            <a:avLst/>
          </a:prstGeom>
          <a:solidFill>
            <a:schemeClr val="bg1"/>
          </a:solidFill>
          <a:ln w="12700">
            <a:solidFill>
              <a:srgbClr val="1B2A41"/>
            </a:solidFill>
            <a:prstDash val="solid"/>
          </a:ln>
        </p:spPr>
      </p:sp>
      <p:sp>
        <p:nvSpPr>
          <p:cNvPr id="14" name="Text 11"/>
          <p:cNvSpPr txBox="1"/>
          <p:nvPr/>
        </p:nvSpPr>
        <p:spPr>
          <a:xfrm>
            <a:off x="6766560" y="1463040"/>
            <a:ext cx="1737360" cy="731520"/>
          </a:xfrm>
          <a:prstGeom prst="rect">
            <a:avLst/>
          </a:prstGeom>
          <a:noFill/>
          <a:ln/>
        </p:spPr>
        <p:txBody>
          <a:bodyPr wrap="square" lIns="0" tIns="0" rIns="0" bIns="0" rtlCol="0" anchor="ctr"/>
          <a:lstStyle/>
          <a:p>
            <a:pPr algn="ctr" indent="0" marL="0">
              <a:buNone/>
            </a:pPr>
            <a:r>
              <a:rPr lang="en-US" sz="1400" b="1" dirty="0">
                <a:solidFill>
                  <a:schemeClr val="tx1"/>
                </a:solidFill>
              </a:rPr>
              <a:t>Fix and re-measure</a:t>
            </a:r>
            <a:endParaRPr lang="en-US" sz="1400" dirty="0"/>
          </a:p>
        </p:txBody>
      </p:sp>
      <p:sp>
        <p:nvSpPr>
          <p:cNvPr id="15" name="Shape 12"/>
          <p:cNvSpPr/>
          <p:nvPr/>
        </p:nvSpPr>
        <p:spPr>
          <a:xfrm>
            <a:off x="1325880" y="2194560"/>
            <a:ext cx="0" cy="457200"/>
          </a:xfrm>
          <a:prstGeom prst="line">
            <a:avLst/>
          </a:prstGeom>
          <a:noFill/>
          <a:ln w="12700">
            <a:solidFill>
              <a:srgbClr val="6B7280"/>
            </a:solidFill>
            <a:prstDash val="solid"/>
          </a:ln>
        </p:spPr>
      </p:sp>
      <p:sp>
        <p:nvSpPr>
          <p:cNvPr id="16" name="Shape 13"/>
          <p:cNvSpPr/>
          <p:nvPr/>
        </p:nvSpPr>
        <p:spPr>
          <a:xfrm>
            <a:off x="1325880" y="2651760"/>
            <a:ext cx="6263640" cy="0"/>
          </a:xfrm>
          <a:prstGeom prst="line">
            <a:avLst/>
          </a:prstGeom>
          <a:noFill/>
          <a:ln w="12700">
            <a:solidFill>
              <a:srgbClr val="6B7280"/>
            </a:solidFill>
            <a:prstDash val="solid"/>
          </a:ln>
        </p:spPr>
      </p:sp>
      <p:sp>
        <p:nvSpPr>
          <p:cNvPr id="17" name="Shape 14"/>
          <p:cNvSpPr/>
          <p:nvPr/>
        </p:nvSpPr>
        <p:spPr>
          <a:xfrm>
            <a:off x="7589520" y="2194560"/>
            <a:ext cx="0" cy="457200"/>
          </a:xfrm>
          <a:prstGeom prst="line">
            <a:avLst/>
          </a:prstGeom>
          <a:noFill/>
          <a:ln w="12700">
            <a:solidFill>
              <a:srgbClr val="6B7280"/>
            </a:solidFill>
            <a:prstDash val="solid"/>
            <a:tailEnd type="triangle"/>
          </a:ln>
        </p:spPr>
      </p:sp>
      <p:sp>
        <p:nvSpPr>
          <p:cNvPr id="18" name="Text 15"/>
          <p:cNvSpPr txBox="1"/>
          <p:nvPr/>
        </p:nvSpPr>
        <p:spPr>
          <a:xfrm>
            <a:off x="457200" y="2926080"/>
            <a:ext cx="8229600" cy="1280160"/>
          </a:xfrm>
          <a:prstGeom prst="rect">
            <a:avLst/>
          </a:prstGeom>
          <a:noFill/>
          <a:ln/>
        </p:spPr>
        <p:txBody>
          <a:bodyPr wrap="square" lIns="0" tIns="0" rIns="0" bIns="0" rtlCol="0" anchor="t"/>
          <a:lstStyle/>
          <a:p>
            <a:pPr indent="0" marL="0">
              <a:buNone/>
            </a:pPr>
            <a:r>
              <a:rPr lang="en-US" sz="1400" dirty="0">
                <a:solidFill>
                  <a:schemeClr val="tx1"/>
                </a:solidFill>
              </a:rPr>
              <a:t>What to log: question, retrieved chunk ids and distances, answer, latency per stage, refusal flag, user feedback. Avoid storing sensitive text unless needed.</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Keeping the index healthy</a:t>
            </a:r>
            <a:endParaRPr lang="en-US" sz="3000" dirty="0"/>
          </a:p>
        </p:txBody>
      </p:sp>
      <p:sp>
        <p:nvSpPr>
          <p:cNvPr id="4" name="Text 1"/>
          <p:cNvSpPr txBox="1"/>
          <p:nvPr/>
        </p:nvSpPr>
        <p:spPr>
          <a:xfrm>
            <a:off x="457200" y="1280160"/>
            <a:ext cx="219456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Freshness</a:t>
            </a:r>
            <a:endParaRPr lang="en-US" sz="1600" dirty="0"/>
          </a:p>
        </p:txBody>
      </p:sp>
      <p:sp>
        <p:nvSpPr>
          <p:cNvPr id="5" name="Text 2"/>
          <p:cNvSpPr txBox="1"/>
          <p:nvPr/>
        </p:nvSpPr>
        <p:spPr>
          <a:xfrm>
            <a:off x="2743200" y="1280160"/>
            <a:ext cx="5943600" cy="548640"/>
          </a:xfrm>
          <a:prstGeom prst="rect">
            <a:avLst/>
          </a:prstGeom>
          <a:noFill/>
          <a:ln/>
        </p:spPr>
        <p:txBody>
          <a:bodyPr wrap="square" lIns="0" tIns="0" rIns="0" bIns="0" rtlCol="0" anchor="ctr"/>
          <a:lstStyle/>
          <a:p>
            <a:pPr indent="0" marL="0">
              <a:buNone/>
            </a:pPr>
            <a:r>
              <a:rPr lang="en-US" sz="1300" dirty="0">
                <a:solidFill>
                  <a:schemeClr val="tx1"/>
                </a:solidFill>
              </a:rPr>
              <a:t>Re-ingest changed documents with deterministic ids (Lecture 6).</a:t>
            </a:r>
            <a:endParaRPr lang="en-US" sz="1300" dirty="0"/>
          </a:p>
        </p:txBody>
      </p:sp>
      <p:sp>
        <p:nvSpPr>
          <p:cNvPr id="6" name="Shape 3"/>
          <p:cNvSpPr/>
          <p:nvPr/>
        </p:nvSpPr>
        <p:spPr>
          <a:xfrm>
            <a:off x="457200" y="1874520"/>
            <a:ext cx="8229600" cy="0"/>
          </a:xfrm>
          <a:prstGeom prst="line">
            <a:avLst/>
          </a:prstGeom>
          <a:noFill/>
          <a:ln w="6350">
            <a:solidFill>
              <a:schemeClr val="accent6"/>
            </a:solidFill>
            <a:prstDash val="solid"/>
          </a:ln>
        </p:spPr>
      </p:sp>
      <p:sp>
        <p:nvSpPr>
          <p:cNvPr id="7" name="Text 4"/>
          <p:cNvSpPr txBox="1"/>
          <p:nvPr/>
        </p:nvSpPr>
        <p:spPr>
          <a:xfrm>
            <a:off x="457200" y="1920240"/>
            <a:ext cx="219456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Deletion</a:t>
            </a:r>
            <a:endParaRPr lang="en-US" sz="1600" dirty="0"/>
          </a:p>
        </p:txBody>
      </p:sp>
      <p:sp>
        <p:nvSpPr>
          <p:cNvPr id="8" name="Text 5"/>
          <p:cNvSpPr txBox="1"/>
          <p:nvPr/>
        </p:nvSpPr>
        <p:spPr>
          <a:xfrm>
            <a:off x="2743200" y="1920240"/>
            <a:ext cx="5943600" cy="548640"/>
          </a:xfrm>
          <a:prstGeom prst="rect">
            <a:avLst/>
          </a:prstGeom>
          <a:noFill/>
          <a:ln/>
        </p:spPr>
        <p:txBody>
          <a:bodyPr wrap="square" lIns="0" tIns="0" rIns="0" bIns="0" rtlCol="0" anchor="ctr"/>
          <a:lstStyle/>
          <a:p>
            <a:pPr indent="0" marL="0">
              <a:buNone/>
            </a:pPr>
            <a:r>
              <a:rPr lang="en-US" sz="1300" dirty="0">
                <a:solidFill>
                  <a:schemeClr val="tx1"/>
                </a:solidFill>
              </a:rPr>
              <a:t>Remove withdrawn documents and honour deletion requests by metadata.</a:t>
            </a:r>
            <a:endParaRPr lang="en-US" sz="1300" dirty="0"/>
          </a:p>
        </p:txBody>
      </p:sp>
      <p:sp>
        <p:nvSpPr>
          <p:cNvPr id="9" name="Shape 6"/>
          <p:cNvSpPr/>
          <p:nvPr/>
        </p:nvSpPr>
        <p:spPr>
          <a:xfrm>
            <a:off x="457200" y="2514600"/>
            <a:ext cx="8229600" cy="0"/>
          </a:xfrm>
          <a:prstGeom prst="line">
            <a:avLst/>
          </a:prstGeom>
          <a:noFill/>
          <a:ln w="6350">
            <a:solidFill>
              <a:schemeClr val="accent6"/>
            </a:solidFill>
            <a:prstDash val="solid"/>
          </a:ln>
        </p:spPr>
      </p:sp>
      <p:sp>
        <p:nvSpPr>
          <p:cNvPr id="10" name="Text 7"/>
          <p:cNvSpPr txBox="1"/>
          <p:nvPr/>
        </p:nvSpPr>
        <p:spPr>
          <a:xfrm>
            <a:off x="457200" y="2560320"/>
            <a:ext cx="219456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Model changes</a:t>
            </a:r>
            <a:endParaRPr lang="en-US" sz="1600" dirty="0"/>
          </a:p>
        </p:txBody>
      </p:sp>
      <p:sp>
        <p:nvSpPr>
          <p:cNvPr id="11" name="Text 8"/>
          <p:cNvSpPr txBox="1"/>
          <p:nvPr/>
        </p:nvSpPr>
        <p:spPr>
          <a:xfrm>
            <a:off x="2743200" y="2560320"/>
            <a:ext cx="5943600" cy="548640"/>
          </a:xfrm>
          <a:prstGeom prst="rect">
            <a:avLst/>
          </a:prstGeom>
          <a:noFill/>
          <a:ln/>
        </p:spPr>
        <p:txBody>
          <a:bodyPr wrap="square" lIns="0" tIns="0" rIns="0" bIns="0" rtlCol="0" anchor="ctr"/>
          <a:lstStyle/>
          <a:p>
            <a:pPr indent="0" marL="0">
              <a:buNone/>
            </a:pPr>
            <a:r>
              <a:rPr lang="en-US" sz="1300" dirty="0">
                <a:solidFill>
                  <a:schemeClr val="tx1"/>
                </a:solidFill>
              </a:rPr>
              <a:t>New embedding model: new collection, re-embed, evaluate, switch (Lecture 7).</a:t>
            </a:r>
            <a:endParaRPr lang="en-US" sz="1300" dirty="0"/>
          </a:p>
        </p:txBody>
      </p:sp>
      <p:sp>
        <p:nvSpPr>
          <p:cNvPr id="12" name="Shape 9"/>
          <p:cNvSpPr/>
          <p:nvPr/>
        </p:nvSpPr>
        <p:spPr>
          <a:xfrm>
            <a:off x="457200" y="3154680"/>
            <a:ext cx="8229600" cy="0"/>
          </a:xfrm>
          <a:prstGeom prst="line">
            <a:avLst/>
          </a:prstGeom>
          <a:noFill/>
          <a:ln w="6350">
            <a:solidFill>
              <a:schemeClr val="accent6"/>
            </a:solidFill>
            <a:prstDash val="solid"/>
          </a:ln>
        </p:spPr>
      </p:sp>
      <p:sp>
        <p:nvSpPr>
          <p:cNvPr id="13" name="Text 10"/>
          <p:cNvSpPr txBox="1"/>
          <p:nvPr/>
        </p:nvSpPr>
        <p:spPr>
          <a:xfrm>
            <a:off x="457200" y="3200400"/>
            <a:ext cx="219456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Backups</a:t>
            </a:r>
            <a:endParaRPr lang="en-US" sz="1600" dirty="0"/>
          </a:p>
        </p:txBody>
      </p:sp>
      <p:sp>
        <p:nvSpPr>
          <p:cNvPr id="14" name="Text 11"/>
          <p:cNvSpPr txBox="1"/>
          <p:nvPr/>
        </p:nvSpPr>
        <p:spPr>
          <a:xfrm>
            <a:off x="2743200" y="3200400"/>
            <a:ext cx="5943600" cy="548640"/>
          </a:xfrm>
          <a:prstGeom prst="rect">
            <a:avLst/>
          </a:prstGeom>
          <a:noFill/>
          <a:ln/>
        </p:spPr>
        <p:txBody>
          <a:bodyPr wrap="square" lIns="0" tIns="0" rIns="0" bIns="0" rtlCol="0" anchor="ctr"/>
          <a:lstStyle/>
          <a:p>
            <a:pPr indent="0" marL="0">
              <a:buNone/>
            </a:pPr>
            <a:r>
              <a:rPr lang="en-US" sz="1300" dirty="0">
                <a:solidFill>
                  <a:schemeClr val="tx1"/>
                </a:solidFill>
              </a:rPr>
              <a:t>Copy the Chroma directory while idle, and test the restore.</a:t>
            </a:r>
            <a:endParaRPr lang="en-US" sz="1300" dirty="0"/>
          </a:p>
        </p:txBody>
      </p:sp>
      <p:sp>
        <p:nvSpPr>
          <p:cNvPr id="15" name="Shape 12"/>
          <p:cNvSpPr/>
          <p:nvPr/>
        </p:nvSpPr>
        <p:spPr>
          <a:xfrm>
            <a:off x="457200" y="3794760"/>
            <a:ext cx="8229600" cy="0"/>
          </a:xfrm>
          <a:prstGeom prst="line">
            <a:avLst/>
          </a:prstGeom>
          <a:noFill/>
          <a:ln w="6350">
            <a:solidFill>
              <a:schemeClr val="accent6"/>
            </a:solidFill>
            <a:prstDash val="solid"/>
          </a:ln>
        </p:spPr>
      </p:sp>
      <p:sp>
        <p:nvSpPr>
          <p:cNvPr id="16" name="Text 13"/>
          <p:cNvSpPr txBox="1"/>
          <p:nvPr/>
        </p:nvSpPr>
        <p:spPr>
          <a:xfrm>
            <a:off x="457200" y="3840480"/>
            <a:ext cx="219456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Regression checks</a:t>
            </a:r>
            <a:endParaRPr lang="en-US" sz="1600" dirty="0"/>
          </a:p>
        </p:txBody>
      </p:sp>
      <p:sp>
        <p:nvSpPr>
          <p:cNvPr id="17" name="Text 14"/>
          <p:cNvSpPr txBox="1"/>
          <p:nvPr/>
        </p:nvSpPr>
        <p:spPr>
          <a:xfrm>
            <a:off x="2743200" y="3840480"/>
            <a:ext cx="5943600" cy="548640"/>
          </a:xfrm>
          <a:prstGeom prst="rect">
            <a:avLst/>
          </a:prstGeom>
          <a:noFill/>
          <a:ln/>
        </p:spPr>
        <p:txBody>
          <a:bodyPr wrap="square" lIns="0" tIns="0" rIns="0" bIns="0" rtlCol="0" anchor="ctr"/>
          <a:lstStyle/>
          <a:p>
            <a:pPr indent="0" marL="0">
              <a:buNone/>
            </a:pPr>
            <a:r>
              <a:rPr lang="en-US" sz="1300" dirty="0">
                <a:solidFill>
                  <a:schemeClr val="tx1"/>
                </a:solidFill>
              </a:rPr>
              <a:t>Run the evaluation set automatically and alert on drops.</a:t>
            </a:r>
            <a:endParaRPr lang="en-US" sz="1300" dirty="0"/>
          </a:p>
        </p:txBody>
      </p:sp>
      <p:sp>
        <p:nvSpPr>
          <p:cNvPr id="18" name="Shape 15"/>
          <p:cNvSpPr/>
          <p:nvPr/>
        </p:nvSpPr>
        <p:spPr>
          <a:xfrm>
            <a:off x="457200" y="4434840"/>
            <a:ext cx="8229600" cy="0"/>
          </a:xfrm>
          <a:prstGeom prst="line">
            <a:avLst/>
          </a:prstGeom>
          <a:noFill/>
          <a:ln w="6350">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Production readiness checklist</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649224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Area</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Ready when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Quality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Evaluation set with recall@k, MRR and refusal accuracy; test split untouched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Safety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Server-side access filter tested; prompt-injection test passes; no secrets in logs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Speed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Latency measured per stage; p95 within target</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Reliability</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Health check, restart policy, backup and restore tested</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Operations</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Logging, feedback capture, scheduled evaluation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Documentation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Settings, data flow and limits written down</a:t>
                      </a:r>
                      <a:endParaRPr lang="en-US" sz="130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Common mistakes</a:t>
            </a:r>
            <a:endParaRPr lang="en-US" sz="3000" dirty="0"/>
          </a:p>
        </p:txBody>
      </p:sp>
      <p:sp>
        <p:nvSpPr>
          <p:cNvPr id="4" name="Shape 1"/>
          <p:cNvSpPr/>
          <p:nvPr/>
        </p:nvSpPr>
        <p:spPr>
          <a:xfrm>
            <a:off x="4572000" y="1280160"/>
            <a:ext cx="0" cy="3200400"/>
          </a:xfrm>
          <a:prstGeom prst="line">
            <a:avLst/>
          </a:prstGeom>
          <a:noFill/>
          <a:ln w="9525">
            <a:solidFill>
              <a:schemeClr val="accent6"/>
            </a:solidFill>
            <a:prstDash val="solid"/>
          </a:ln>
        </p:spPr>
      </p:sp>
      <p:sp>
        <p:nvSpPr>
          <p:cNvPr id="5" name="Text 2"/>
          <p:cNvSpPr txBox="1"/>
          <p:nvPr/>
        </p:nvSpPr>
        <p:spPr>
          <a:xfrm>
            <a:off x="457200" y="1280160"/>
            <a:ext cx="39319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Mistakes</a:t>
            </a:r>
            <a:endParaRPr lang="en-US" sz="1800" dirty="0"/>
          </a:p>
        </p:txBody>
      </p:sp>
      <p:sp>
        <p:nvSpPr>
          <p:cNvPr id="6" name="Text 3"/>
          <p:cNvSpPr txBox="1"/>
          <p:nvPr/>
        </p:nvSpPr>
        <p:spPr>
          <a:xfrm>
            <a:off x="457200" y="1783080"/>
            <a:ext cx="39319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Tuning on the test questions</a:t>
            </a:r>
            <a:endParaRPr lang="en-US" sz="1400" dirty="0"/>
          </a:p>
          <a:p>
            <a:pPr marL="342900" indent="-342900">
              <a:spcAft>
                <a:spcPts val="800"/>
              </a:spcAft>
              <a:buSzPct val="100000"/>
              <a:buChar char="•"/>
            </a:pPr>
            <a:r>
              <a:rPr lang="en-US" sz="1400" dirty="0">
                <a:solidFill>
                  <a:schemeClr val="tx1"/>
                </a:solidFill>
              </a:rPr>
              <a:t>Trusting a weak judge without calibration</a:t>
            </a:r>
            <a:endParaRPr lang="en-US" sz="1400" dirty="0"/>
          </a:p>
          <a:p>
            <a:pPr marL="342900" indent="-342900">
              <a:spcAft>
                <a:spcPts val="800"/>
              </a:spcAft>
              <a:buSzPct val="100000"/>
              <a:buChar char="•"/>
            </a:pPr>
            <a:r>
              <a:rPr lang="en-US" sz="1400" dirty="0">
                <a:solidFill>
                  <a:schemeClr val="tx1"/>
                </a:solidFill>
              </a:rPr>
              <a:t>Enforcing permissions in the prompt</a:t>
            </a:r>
            <a:endParaRPr lang="en-US" sz="1400" dirty="0"/>
          </a:p>
          <a:p>
            <a:pPr marL="342900" indent="-342900">
              <a:spcAft>
                <a:spcPts val="800"/>
              </a:spcAft>
              <a:buSzPct val="100000"/>
              <a:buChar char="•"/>
            </a:pPr>
            <a:r>
              <a:rPr lang="en-US" sz="1400" dirty="0">
                <a:solidFill>
                  <a:schemeClr val="tx1"/>
                </a:solidFill>
              </a:rPr>
              <a:t>Adding rerankers without measuring latency</a:t>
            </a:r>
            <a:endParaRPr lang="en-US" sz="1400" dirty="0"/>
          </a:p>
          <a:p>
            <a:pPr marL="342900" indent="-342900">
              <a:spcAft>
                <a:spcPts val="800"/>
              </a:spcAft>
              <a:buSzPct val="100000"/>
              <a:buChar char="•"/>
            </a:pPr>
            <a:r>
              <a:rPr lang="en-US" sz="1400" dirty="0">
                <a:solidFill>
                  <a:schemeClr val="tx1"/>
                </a:solidFill>
              </a:rPr>
              <a:t>Never re-running the evaluation</a:t>
            </a:r>
            <a:endParaRPr lang="en-US" sz="1400" dirty="0"/>
          </a:p>
        </p:txBody>
      </p:sp>
      <p:sp>
        <p:nvSpPr>
          <p:cNvPr id="7" name="Text 4"/>
          <p:cNvSpPr txBox="1"/>
          <p:nvPr/>
        </p:nvSpPr>
        <p:spPr>
          <a:xfrm>
            <a:off x="4846320" y="1280160"/>
            <a:ext cx="3840480" cy="36576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Habits that help</a:t>
            </a:r>
            <a:endParaRPr lang="en-US" sz="1800" dirty="0"/>
          </a:p>
        </p:txBody>
      </p:sp>
      <p:sp>
        <p:nvSpPr>
          <p:cNvPr id="8" name="Text 5"/>
          <p:cNvSpPr txBox="1"/>
          <p:nvPr/>
        </p:nvSpPr>
        <p:spPr>
          <a:xfrm>
            <a:off x="4846320" y="1783080"/>
            <a:ext cx="384048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Dev and test splits</a:t>
            </a:r>
            <a:endParaRPr lang="en-US" sz="1400" dirty="0"/>
          </a:p>
          <a:p>
            <a:pPr marL="342900" indent="-342900">
              <a:spcAft>
                <a:spcPts val="800"/>
              </a:spcAft>
              <a:buSzPct val="100000"/>
              <a:buChar char="•"/>
            </a:pPr>
            <a:r>
              <a:rPr lang="en-US" sz="1400" dirty="0">
                <a:solidFill>
                  <a:schemeClr val="tx1"/>
                </a:solidFill>
              </a:rPr>
              <a:t>Change one thing, then re-measure</a:t>
            </a:r>
            <a:endParaRPr lang="en-US" sz="1400" dirty="0"/>
          </a:p>
          <a:p>
            <a:pPr marL="342900" indent="-342900">
              <a:spcAft>
                <a:spcPts val="800"/>
              </a:spcAft>
              <a:buSzPct val="100000"/>
              <a:buChar char="•"/>
            </a:pPr>
            <a:r>
              <a:rPr lang="en-US" sz="1400" dirty="0">
                <a:solidFill>
                  <a:schemeClr val="tx1"/>
                </a:solidFill>
              </a:rPr>
              <a:t>Authorization in the retrieval filter</a:t>
            </a:r>
            <a:endParaRPr lang="en-US" sz="1400" dirty="0"/>
          </a:p>
          <a:p>
            <a:pPr marL="342900" indent="-342900">
              <a:spcAft>
                <a:spcPts val="800"/>
              </a:spcAft>
              <a:buSzPct val="100000"/>
              <a:buChar char="•"/>
            </a:pPr>
            <a:r>
              <a:rPr lang="en-US" sz="1400" dirty="0">
                <a:solidFill>
                  <a:schemeClr val="tx1"/>
                </a:solidFill>
              </a:rPr>
              <a:t>Log failures, add them to the eval set</a:t>
            </a:r>
            <a:endParaRPr lang="en-US" sz="1400" dirty="0"/>
          </a:p>
          <a:p>
            <a:pPr marL="342900" indent="-342900">
              <a:spcAft>
                <a:spcPts val="800"/>
              </a:spcAft>
              <a:buSzPct val="100000"/>
              <a:buChar char="•"/>
            </a:pPr>
            <a:r>
              <a:rPr lang="en-US" sz="1400" dirty="0">
                <a:solidFill>
                  <a:schemeClr val="tx1"/>
                </a:solidFill>
              </a:rPr>
              <a:t>Keep checks automatic</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Check your understanding</a:t>
            </a:r>
            <a:endParaRPr lang="en-US" sz="3000" dirty="0"/>
          </a:p>
        </p:txBody>
      </p:sp>
      <p:sp>
        <p:nvSpPr>
          <p:cNvPr id="4" name="Text 1"/>
          <p:cNvSpPr txBox="1"/>
          <p:nvPr/>
        </p:nvSpPr>
        <p:spPr>
          <a:xfrm>
            <a:off x="457200" y="12801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Q1</a:t>
            </a:r>
            <a:endParaRPr lang="en-US" sz="2200" dirty="0"/>
          </a:p>
        </p:txBody>
      </p:sp>
      <p:sp>
        <p:nvSpPr>
          <p:cNvPr id="5" name="Text 2"/>
          <p:cNvSpPr txBox="1"/>
          <p:nvPr/>
        </p:nvSpPr>
        <p:spPr>
          <a:xfrm>
            <a:off x="1280160" y="12801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Why measure retrieval and generation separately?</a:t>
            </a:r>
            <a:endParaRPr lang="en-US" sz="1600" dirty="0"/>
          </a:p>
        </p:txBody>
      </p:sp>
      <p:sp>
        <p:nvSpPr>
          <p:cNvPr id="6" name="Text 3"/>
          <p:cNvSpPr txBox="1"/>
          <p:nvPr/>
        </p:nvSpPr>
        <p:spPr>
          <a:xfrm>
            <a:off x="457200" y="19659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Q2</a:t>
            </a:r>
            <a:endParaRPr lang="en-US" sz="2200" dirty="0"/>
          </a:p>
        </p:txBody>
      </p:sp>
      <p:sp>
        <p:nvSpPr>
          <p:cNvPr id="7" name="Text 4"/>
          <p:cNvSpPr txBox="1"/>
          <p:nvPr/>
        </p:nvSpPr>
        <p:spPr>
          <a:xfrm>
            <a:off x="1280160" y="19659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A query has 2 relevant chunks; one is at rank 2, one at rank 6. What are recall@3 and the reciprocal rank?</a:t>
            </a:r>
            <a:endParaRPr lang="en-US" sz="1600" dirty="0"/>
          </a:p>
        </p:txBody>
      </p:sp>
      <p:sp>
        <p:nvSpPr>
          <p:cNvPr id="8" name="Text 5"/>
          <p:cNvSpPr txBox="1"/>
          <p:nvPr/>
        </p:nvSpPr>
        <p:spPr>
          <a:xfrm>
            <a:off x="457200" y="26517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Q3</a:t>
            </a:r>
            <a:endParaRPr lang="en-US" sz="2200" dirty="0"/>
          </a:p>
        </p:txBody>
      </p:sp>
      <p:sp>
        <p:nvSpPr>
          <p:cNvPr id="9" name="Text 6"/>
          <p:cNvSpPr txBox="1"/>
          <p:nvPr/>
        </p:nvSpPr>
        <p:spPr>
          <a:xfrm>
            <a:off x="1280160" y="26517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What is indirect prompt injection?</a:t>
            </a:r>
            <a:endParaRPr lang="en-US" sz="1600" dirty="0"/>
          </a:p>
        </p:txBody>
      </p:sp>
      <p:sp>
        <p:nvSpPr>
          <p:cNvPr id="10" name="Text 7"/>
          <p:cNvSpPr txBox="1"/>
          <p:nvPr/>
        </p:nvSpPr>
        <p:spPr>
          <a:xfrm>
            <a:off x="457200" y="33375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Q4</a:t>
            </a:r>
            <a:endParaRPr lang="en-US" sz="2200" dirty="0"/>
          </a:p>
        </p:txBody>
      </p:sp>
      <p:sp>
        <p:nvSpPr>
          <p:cNvPr id="11" name="Text 8"/>
          <p:cNvSpPr txBox="1"/>
          <p:nvPr/>
        </p:nvSpPr>
        <p:spPr>
          <a:xfrm>
            <a:off x="1280160" y="33375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Why rerank only a short candidate list?</a:t>
            </a:r>
            <a:endParaRPr lang="en-US" sz="1600" dirty="0"/>
          </a:p>
        </p:txBody>
      </p:sp>
      <p:sp>
        <p:nvSpPr>
          <p:cNvPr id="12" name="Text 9"/>
          <p:cNvSpPr txBox="1"/>
          <p:nvPr/>
        </p:nvSpPr>
        <p:spPr>
          <a:xfrm>
            <a:off x="457200" y="4023360"/>
            <a:ext cx="731520" cy="54864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Q5</a:t>
            </a:r>
            <a:endParaRPr lang="en-US" sz="2200" dirty="0"/>
          </a:p>
        </p:txBody>
      </p:sp>
      <p:sp>
        <p:nvSpPr>
          <p:cNvPr id="13" name="Text 10"/>
          <p:cNvSpPr txBox="1"/>
          <p:nvPr/>
        </p:nvSpPr>
        <p:spPr>
          <a:xfrm>
            <a:off x="1280160" y="4023360"/>
            <a:ext cx="7315200" cy="64008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Where do you enforce who may see which document?</a:t>
            </a:r>
            <a:endParaRPr lang="en-US" sz="16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whole course in one picture</a:t>
            </a:r>
            <a:endParaRPr lang="en-US" sz="3000" dirty="0"/>
          </a:p>
        </p:txBody>
      </p:sp>
      <p:sp>
        <p:nvSpPr>
          <p:cNvPr id="4" name="Shape 1"/>
          <p:cNvSpPr/>
          <p:nvPr/>
        </p:nvSpPr>
        <p:spPr>
          <a:xfrm>
            <a:off x="457200" y="1280160"/>
            <a:ext cx="2651760" cy="685800"/>
          </a:xfrm>
          <a:prstGeom prst="rect">
            <a:avLst/>
          </a:prstGeom>
          <a:solidFill>
            <a:schemeClr val="bg1"/>
          </a:solidFill>
          <a:ln w="12700">
            <a:solidFill>
              <a:srgbClr val="1B2A41"/>
            </a:solidFill>
            <a:prstDash val="solid"/>
          </a:ln>
        </p:spPr>
      </p:sp>
      <p:sp>
        <p:nvSpPr>
          <p:cNvPr id="5" name="Text 2"/>
          <p:cNvSpPr txBox="1"/>
          <p:nvPr/>
        </p:nvSpPr>
        <p:spPr>
          <a:xfrm>
            <a:off x="457200" y="1280160"/>
            <a:ext cx="2651760" cy="685800"/>
          </a:xfrm>
          <a:prstGeom prst="rect">
            <a:avLst/>
          </a:prstGeom>
          <a:noFill/>
          <a:ln/>
        </p:spPr>
        <p:txBody>
          <a:bodyPr wrap="square" lIns="0" tIns="0" rIns="0" bIns="0" rtlCol="0" anchor="ctr"/>
          <a:lstStyle/>
          <a:p>
            <a:pPr algn="ctr" indent="0" marL="0">
              <a:buNone/>
            </a:pPr>
            <a:r>
              <a:rPr lang="en-US" sz="1400" b="1" dirty="0">
                <a:solidFill>
                  <a:schemeClr val="tx1"/>
                </a:solidFill>
              </a:rPr>
              <a:t>1  Why vector databases</a:t>
            </a:r>
            <a:endParaRPr lang="en-US" sz="1400" dirty="0"/>
          </a:p>
        </p:txBody>
      </p:sp>
      <p:sp>
        <p:nvSpPr>
          <p:cNvPr id="6" name="Shape 3"/>
          <p:cNvSpPr/>
          <p:nvPr/>
        </p:nvSpPr>
        <p:spPr>
          <a:xfrm>
            <a:off x="3291840" y="1280160"/>
            <a:ext cx="2651760" cy="685800"/>
          </a:xfrm>
          <a:prstGeom prst="rect">
            <a:avLst/>
          </a:prstGeom>
          <a:solidFill>
            <a:schemeClr val="bg1"/>
          </a:solidFill>
          <a:ln w="12700">
            <a:solidFill>
              <a:srgbClr val="1B2A41"/>
            </a:solidFill>
            <a:prstDash val="solid"/>
          </a:ln>
        </p:spPr>
      </p:sp>
      <p:sp>
        <p:nvSpPr>
          <p:cNvPr id="7" name="Text 4"/>
          <p:cNvSpPr txBox="1"/>
          <p:nvPr/>
        </p:nvSpPr>
        <p:spPr>
          <a:xfrm>
            <a:off x="3291840" y="1280160"/>
            <a:ext cx="2651760" cy="685800"/>
          </a:xfrm>
          <a:prstGeom prst="rect">
            <a:avLst/>
          </a:prstGeom>
          <a:noFill/>
          <a:ln/>
        </p:spPr>
        <p:txBody>
          <a:bodyPr wrap="square" lIns="0" tIns="0" rIns="0" bIns="0" rtlCol="0" anchor="ctr"/>
          <a:lstStyle/>
          <a:p>
            <a:pPr algn="ctr" indent="0" marL="0">
              <a:buNone/>
            </a:pPr>
            <a:r>
              <a:rPr lang="en-US" sz="1400" b="1" dirty="0">
                <a:solidFill>
                  <a:schemeClr val="tx1"/>
                </a:solidFill>
              </a:rPr>
              <a:t>2  Embeddings</a:t>
            </a:r>
            <a:endParaRPr lang="en-US" sz="1400" dirty="0"/>
          </a:p>
        </p:txBody>
      </p:sp>
      <p:sp>
        <p:nvSpPr>
          <p:cNvPr id="8" name="Shape 5"/>
          <p:cNvSpPr/>
          <p:nvPr/>
        </p:nvSpPr>
        <p:spPr>
          <a:xfrm>
            <a:off x="6126480" y="1280160"/>
            <a:ext cx="2651760" cy="685800"/>
          </a:xfrm>
          <a:prstGeom prst="rect">
            <a:avLst/>
          </a:prstGeom>
          <a:solidFill>
            <a:schemeClr val="bg1"/>
          </a:solidFill>
          <a:ln w="12700">
            <a:solidFill>
              <a:srgbClr val="1B2A41"/>
            </a:solidFill>
            <a:prstDash val="solid"/>
          </a:ln>
        </p:spPr>
      </p:sp>
      <p:sp>
        <p:nvSpPr>
          <p:cNvPr id="9" name="Text 6"/>
          <p:cNvSpPr txBox="1"/>
          <p:nvPr/>
        </p:nvSpPr>
        <p:spPr>
          <a:xfrm>
            <a:off x="6126480" y="1280160"/>
            <a:ext cx="2651760" cy="685800"/>
          </a:xfrm>
          <a:prstGeom prst="rect">
            <a:avLst/>
          </a:prstGeom>
          <a:noFill/>
          <a:ln/>
        </p:spPr>
        <p:txBody>
          <a:bodyPr wrap="square" lIns="0" tIns="0" rIns="0" bIns="0" rtlCol="0" anchor="ctr"/>
          <a:lstStyle/>
          <a:p>
            <a:pPr algn="ctr" indent="0" marL="0">
              <a:buNone/>
            </a:pPr>
            <a:r>
              <a:rPr lang="en-US" sz="1400" b="1" dirty="0">
                <a:solidFill>
                  <a:schemeClr val="tx1"/>
                </a:solidFill>
              </a:rPr>
              <a:t>3  Similarity metrics</a:t>
            </a:r>
            <a:endParaRPr lang="en-US" sz="1400" dirty="0"/>
          </a:p>
        </p:txBody>
      </p:sp>
      <p:sp>
        <p:nvSpPr>
          <p:cNvPr id="10" name="Shape 7"/>
          <p:cNvSpPr/>
          <p:nvPr/>
        </p:nvSpPr>
        <p:spPr>
          <a:xfrm>
            <a:off x="457200" y="2148840"/>
            <a:ext cx="2651760" cy="685800"/>
          </a:xfrm>
          <a:prstGeom prst="rect">
            <a:avLst/>
          </a:prstGeom>
          <a:solidFill>
            <a:schemeClr val="bg1"/>
          </a:solidFill>
          <a:ln w="12700">
            <a:solidFill>
              <a:srgbClr val="1B2A41"/>
            </a:solidFill>
            <a:prstDash val="solid"/>
          </a:ln>
        </p:spPr>
      </p:sp>
      <p:sp>
        <p:nvSpPr>
          <p:cNvPr id="11" name="Text 8"/>
          <p:cNvSpPr txBox="1"/>
          <p:nvPr/>
        </p:nvSpPr>
        <p:spPr>
          <a:xfrm>
            <a:off x="457200" y="2148840"/>
            <a:ext cx="2651760" cy="685800"/>
          </a:xfrm>
          <a:prstGeom prst="rect">
            <a:avLst/>
          </a:prstGeom>
          <a:noFill/>
          <a:ln/>
        </p:spPr>
        <p:txBody>
          <a:bodyPr wrap="square" lIns="0" tIns="0" rIns="0" bIns="0" rtlCol="0" anchor="ctr"/>
          <a:lstStyle/>
          <a:p>
            <a:pPr algn="ctr" indent="0" marL="0">
              <a:buNone/>
            </a:pPr>
            <a:r>
              <a:rPr lang="en-US" sz="1400" b="1" dirty="0">
                <a:solidFill>
                  <a:schemeClr val="tx1"/>
                </a:solidFill>
              </a:rPr>
              <a:t>4  ANN and indexing</a:t>
            </a:r>
            <a:endParaRPr lang="en-US" sz="1400" dirty="0"/>
          </a:p>
        </p:txBody>
      </p:sp>
      <p:sp>
        <p:nvSpPr>
          <p:cNvPr id="12" name="Shape 9"/>
          <p:cNvSpPr/>
          <p:nvPr/>
        </p:nvSpPr>
        <p:spPr>
          <a:xfrm>
            <a:off x="3291840" y="2148840"/>
            <a:ext cx="2651760" cy="685800"/>
          </a:xfrm>
          <a:prstGeom prst="rect">
            <a:avLst/>
          </a:prstGeom>
          <a:solidFill>
            <a:schemeClr val="bg1"/>
          </a:solidFill>
          <a:ln w="12700">
            <a:solidFill>
              <a:srgbClr val="1B2A41"/>
            </a:solidFill>
            <a:prstDash val="solid"/>
          </a:ln>
        </p:spPr>
      </p:sp>
      <p:sp>
        <p:nvSpPr>
          <p:cNvPr id="13" name="Text 10"/>
          <p:cNvSpPr txBox="1"/>
          <p:nvPr/>
        </p:nvSpPr>
        <p:spPr>
          <a:xfrm>
            <a:off x="3291840" y="2148840"/>
            <a:ext cx="2651760" cy="685800"/>
          </a:xfrm>
          <a:prstGeom prst="rect">
            <a:avLst/>
          </a:prstGeom>
          <a:noFill/>
          <a:ln/>
        </p:spPr>
        <p:txBody>
          <a:bodyPr wrap="square" lIns="0" tIns="0" rIns="0" bIns="0" rtlCol="0" anchor="ctr"/>
          <a:lstStyle/>
          <a:p>
            <a:pPr algn="ctr" indent="0" marL="0">
              <a:buNone/>
            </a:pPr>
            <a:r>
              <a:rPr lang="en-US" sz="1400" b="1" dirty="0">
                <a:solidFill>
                  <a:schemeClr val="tx1"/>
                </a:solidFill>
              </a:rPr>
              <a:t>5  The landscape</a:t>
            </a:r>
            <a:endParaRPr lang="en-US" sz="1400" dirty="0"/>
          </a:p>
        </p:txBody>
      </p:sp>
      <p:sp>
        <p:nvSpPr>
          <p:cNvPr id="14" name="Shape 11"/>
          <p:cNvSpPr/>
          <p:nvPr/>
        </p:nvSpPr>
        <p:spPr>
          <a:xfrm>
            <a:off x="6126480" y="2148840"/>
            <a:ext cx="2651760" cy="685800"/>
          </a:xfrm>
          <a:prstGeom prst="rect">
            <a:avLst/>
          </a:prstGeom>
          <a:solidFill>
            <a:schemeClr val="bg1"/>
          </a:solidFill>
          <a:ln w="12700">
            <a:solidFill>
              <a:srgbClr val="1B2A41"/>
            </a:solidFill>
            <a:prstDash val="solid"/>
          </a:ln>
        </p:spPr>
      </p:sp>
      <p:sp>
        <p:nvSpPr>
          <p:cNvPr id="15" name="Text 12"/>
          <p:cNvSpPr txBox="1"/>
          <p:nvPr/>
        </p:nvSpPr>
        <p:spPr>
          <a:xfrm>
            <a:off x="6126480" y="2148840"/>
            <a:ext cx="2651760" cy="685800"/>
          </a:xfrm>
          <a:prstGeom prst="rect">
            <a:avLst/>
          </a:prstGeom>
          <a:noFill/>
          <a:ln/>
        </p:spPr>
        <p:txBody>
          <a:bodyPr wrap="square" lIns="0" tIns="0" rIns="0" bIns="0" rtlCol="0" anchor="ctr"/>
          <a:lstStyle/>
          <a:p>
            <a:pPr algn="ctr" indent="0" marL="0">
              <a:buNone/>
            </a:pPr>
            <a:r>
              <a:rPr lang="en-US" sz="1400" b="1" dirty="0">
                <a:solidFill>
                  <a:schemeClr val="tx1"/>
                </a:solidFill>
              </a:rPr>
              <a:t>6  Chunking</a:t>
            </a:r>
            <a:endParaRPr lang="en-US" sz="1400" dirty="0"/>
          </a:p>
        </p:txBody>
      </p:sp>
      <p:sp>
        <p:nvSpPr>
          <p:cNvPr id="16" name="Shape 13"/>
          <p:cNvSpPr/>
          <p:nvPr/>
        </p:nvSpPr>
        <p:spPr>
          <a:xfrm>
            <a:off x="457200" y="3017520"/>
            <a:ext cx="2651760" cy="685800"/>
          </a:xfrm>
          <a:prstGeom prst="rect">
            <a:avLst/>
          </a:prstGeom>
          <a:solidFill>
            <a:schemeClr val="bg1"/>
          </a:solidFill>
          <a:ln w="12700">
            <a:solidFill>
              <a:srgbClr val="1B2A41"/>
            </a:solidFill>
            <a:prstDash val="solid"/>
          </a:ln>
        </p:spPr>
      </p:sp>
      <p:sp>
        <p:nvSpPr>
          <p:cNvPr id="17" name="Text 14"/>
          <p:cNvSpPr txBox="1"/>
          <p:nvPr/>
        </p:nvSpPr>
        <p:spPr>
          <a:xfrm>
            <a:off x="457200" y="3017520"/>
            <a:ext cx="2651760" cy="685800"/>
          </a:xfrm>
          <a:prstGeom prst="rect">
            <a:avLst/>
          </a:prstGeom>
          <a:noFill/>
          <a:ln/>
        </p:spPr>
        <p:txBody>
          <a:bodyPr wrap="square" lIns="0" tIns="0" rIns="0" bIns="0" rtlCol="0" anchor="ctr"/>
          <a:lstStyle/>
          <a:p>
            <a:pPr algn="ctr" indent="0" marL="0">
              <a:buNone/>
            </a:pPr>
            <a:r>
              <a:rPr lang="en-US" sz="1400" b="1" dirty="0">
                <a:solidFill>
                  <a:schemeClr val="tx1"/>
                </a:solidFill>
              </a:rPr>
              <a:t>7  ChromaDB</a:t>
            </a:r>
            <a:endParaRPr lang="en-US" sz="1400" dirty="0"/>
          </a:p>
        </p:txBody>
      </p:sp>
      <p:sp>
        <p:nvSpPr>
          <p:cNvPr id="18" name="Shape 15"/>
          <p:cNvSpPr/>
          <p:nvPr/>
        </p:nvSpPr>
        <p:spPr>
          <a:xfrm>
            <a:off x="3291840" y="3017520"/>
            <a:ext cx="2651760" cy="685800"/>
          </a:xfrm>
          <a:prstGeom prst="rect">
            <a:avLst/>
          </a:prstGeom>
          <a:solidFill>
            <a:schemeClr val="bg1"/>
          </a:solidFill>
          <a:ln w="12700">
            <a:solidFill>
              <a:srgbClr val="1B2A41"/>
            </a:solidFill>
            <a:prstDash val="solid"/>
          </a:ln>
        </p:spPr>
      </p:sp>
      <p:sp>
        <p:nvSpPr>
          <p:cNvPr id="19" name="Text 16"/>
          <p:cNvSpPr txBox="1"/>
          <p:nvPr/>
        </p:nvSpPr>
        <p:spPr>
          <a:xfrm>
            <a:off x="3291840" y="3017520"/>
            <a:ext cx="2651760" cy="685800"/>
          </a:xfrm>
          <a:prstGeom prst="rect">
            <a:avLst/>
          </a:prstGeom>
          <a:noFill/>
          <a:ln/>
        </p:spPr>
        <p:txBody>
          <a:bodyPr wrap="square" lIns="0" tIns="0" rIns="0" bIns="0" rtlCol="0" anchor="ctr"/>
          <a:lstStyle/>
          <a:p>
            <a:pPr algn="ctr" indent="0" marL="0">
              <a:buNone/>
            </a:pPr>
            <a:r>
              <a:rPr lang="en-US" sz="1400" b="1" dirty="0">
                <a:solidFill>
                  <a:schemeClr val="tx1"/>
                </a:solidFill>
              </a:rPr>
              <a:t>8  RAG</a:t>
            </a:r>
            <a:endParaRPr lang="en-US" sz="1400" dirty="0"/>
          </a:p>
        </p:txBody>
      </p:sp>
      <p:sp>
        <p:nvSpPr>
          <p:cNvPr id="20" name="Shape 17"/>
          <p:cNvSpPr/>
          <p:nvPr/>
        </p:nvSpPr>
        <p:spPr>
          <a:xfrm>
            <a:off x="6126480" y="3017520"/>
            <a:ext cx="2651760" cy="685800"/>
          </a:xfrm>
          <a:prstGeom prst="rect">
            <a:avLst/>
          </a:prstGeom>
          <a:solidFill>
            <a:srgbClr val="B5432A"/>
          </a:solidFill>
          <a:ln w="28575">
            <a:solidFill>
              <a:srgbClr val="B5432A"/>
            </a:solidFill>
            <a:prstDash val="solid"/>
          </a:ln>
        </p:spPr>
      </p:sp>
      <p:sp>
        <p:nvSpPr>
          <p:cNvPr id="21" name="Text 18"/>
          <p:cNvSpPr txBox="1"/>
          <p:nvPr/>
        </p:nvSpPr>
        <p:spPr>
          <a:xfrm>
            <a:off x="6126480" y="3017520"/>
            <a:ext cx="2651760" cy="685800"/>
          </a:xfrm>
          <a:prstGeom prst="rect">
            <a:avLst/>
          </a:prstGeom>
          <a:noFill/>
          <a:ln/>
        </p:spPr>
        <p:txBody>
          <a:bodyPr wrap="square" lIns="0" tIns="0" rIns="0" bIns="0" rtlCol="0" anchor="ctr"/>
          <a:lstStyle/>
          <a:p>
            <a:pPr algn="ctr" indent="0" marL="0">
              <a:buNone/>
            </a:pPr>
            <a:r>
              <a:rPr lang="en-US" sz="1400" b="1" dirty="0">
                <a:solidFill>
                  <a:srgbClr val="FFFFFF"/>
                </a:solidFill>
              </a:rPr>
              <a:t>9  Production and evaluation</a:t>
            </a:r>
            <a:endParaRPr lang="en-US" sz="1400" dirty="0"/>
          </a:p>
        </p:txBody>
      </p:sp>
      <p:sp>
        <p:nvSpPr>
          <p:cNvPr id="22" name="Text 19"/>
          <p:cNvSpPr txBox="1"/>
          <p:nvPr/>
        </p:nvSpPr>
        <p:spPr>
          <a:xfrm>
            <a:off x="457200" y="3977640"/>
            <a:ext cx="8229600" cy="274320"/>
          </a:xfrm>
          <a:prstGeom prst="rect">
            <a:avLst/>
          </a:prstGeom>
          <a:noFill/>
          <a:ln/>
        </p:spPr>
        <p:txBody>
          <a:bodyPr wrap="square" lIns="0" tIns="0" rIns="0" bIns="0" rtlCol="0" anchor="t"/>
          <a:lstStyle/>
          <a:p>
            <a:pPr algn="ctr" indent="0" marL="0">
              <a:buNone/>
            </a:pPr>
            <a:r>
              <a:rPr lang="en-US" sz="1300" i="1" dirty="0">
                <a:solidFill>
                  <a:schemeClr val="accent5"/>
                </a:solidFill>
                <a:latin typeface="Cambria" pitchFamily="34" charset="0"/>
                <a:ea typeface="Cambria" pitchFamily="34" charset="-122"/>
                <a:cs typeface="Cambria" pitchFamily="34" charset="-120"/>
              </a:rPr>
              <a:t>Foundations (1 to 3)   |   Inside the database (4 to 6)   |   Build and ship (7 to 9)</a:t>
            </a:r>
            <a:endParaRPr lang="en-US" sz="1300" dirty="0"/>
          </a:p>
        </p:txBody>
      </p:sp>
      <p:sp>
        <p:nvSpPr>
          <p:cNvPr id="23" name="Text 20"/>
          <p:cNvSpPr txBox="1"/>
          <p:nvPr/>
        </p:nvSpPr>
        <p:spPr>
          <a:xfrm>
            <a:off x="457200" y="4343400"/>
            <a:ext cx="8229600" cy="365760"/>
          </a:xfrm>
          <a:prstGeom prst="rect">
            <a:avLst/>
          </a:prstGeom>
          <a:noFill/>
          <a:ln/>
        </p:spPr>
        <p:txBody>
          <a:bodyPr wrap="square" lIns="0" tIns="0" rIns="0" bIns="0" rtlCol="0" anchor="t"/>
          <a:lstStyle/>
          <a:p>
            <a:pPr algn="ctr" indent="0" marL="0">
              <a:buNone/>
            </a:pPr>
            <a:r>
              <a:rPr lang="en-US" sz="1400" dirty="0">
                <a:solidFill>
                  <a:schemeClr val="accent1"/>
                </a:solidFill>
                <a:latin typeface="Cambria" pitchFamily="34" charset="0"/>
                <a:ea typeface="Cambria" pitchFamily="34" charset="-122"/>
                <a:cs typeface="Cambria" pitchFamily="34" charset="-120"/>
              </a:rPr>
              <a:t>Lab 9 closes the loop: measure, improve, secure. Final project: your documents, an evaluation set, the checklist.</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Editorial9">
  <a:themeElements>
    <a:clrScheme name="Editorial9">
      <a:dk1>
        <a:srgbClr val="1B2A41"/>
      </a:dk1>
      <a:lt1>
        <a:srgbClr val="FFFFFF"/>
      </a:lt1>
      <a:dk2>
        <a:srgbClr val="0F1B2D"/>
      </a:dk2>
      <a:lt2>
        <a:srgbClr val="F3F4F6"/>
      </a:lt2>
      <a:accent1>
        <a:srgbClr val="B5432A"/>
      </a:accent1>
      <a:accent2>
        <a:srgbClr val="2F5D8A"/>
      </a:accent2>
      <a:accent3>
        <a:srgbClr val="3B7A57"/>
      </a:accent3>
      <a:accent4>
        <a:srgbClr val="8A6D1F"/>
      </a:accent4>
      <a:accent5>
        <a:srgbClr val="6B7280"/>
      </a:accent5>
      <a:accent6>
        <a:srgbClr val="D1D5DB"/>
      </a:accent6>
      <a:hlink>
        <a:srgbClr val="2F5D8A"/>
      </a:hlink>
      <a:folHlink>
        <a:srgbClr val="6B7280"/>
      </a:folHlink>
    </a:clrScheme>
    <a:fontScheme name="Editorial9">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9: Production and Evaluation</dc:title>
  <dc:subject>PptxGenJS Presentation</dc:subject>
  <dc:creator>PptxGenJS</dc:creator>
  <cp:lastModifiedBy>PptxGenJS</cp:lastModifiedBy>
  <cp:revision>1</cp:revision>
  <dcterms:created xsi:type="dcterms:W3CDTF">2026-10-28T10:20:07Z</dcterms:created>
  <dcterms:modified xsi:type="dcterms:W3CDTF">2026-10-28T10:20:07Z</dcterms:modified>
</cp:coreProperties>
</file>