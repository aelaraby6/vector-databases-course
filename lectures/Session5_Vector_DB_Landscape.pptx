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ecture 5" id="{6e72ef69-8833-5e8b-32df-30c0b361749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(2 min). Parts 1 and 2 gave you the theory. Now we map the tools. A word of caution for students: this field moves fast. This lecture is a snapshot from October 2026; always check current documentation before deciding.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(1 min). 90 minutes: about 60 lecture, 30 lab. The lab compares FAISS and Qdrant on the same data, with an optional pgvector 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distinction (6 min). FAISS answers 'which vectors are nearest?' extremely well. Everything else a product needs (storage, updates, filters, concurrency, access control) is your job unless you use a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Taxonomy (5 min). Where a tool sits decides how much you operate yourself. Many products appear more than once: Qdrant has a local mode, a server and a cloud; Chroma runs in-process, as a server, and as Chroma Cloud.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checklist (5 min). These are the questions to ask of any tool. Hybrid search and filtering are where products differ most; Lecture 9 returns to hybrid 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FAISS (6 min). It is the engine inside many other systems and the standard for benchmarking. Use write_index and read_index for persistence, but remember payloads are not stored.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Chroma (6 min). We study it in depth in Lectures 7 to 9. Point out the default distance, the reason for the Lecture 3 warning. Snapshot of current docs; features, especially hybrid, evolve quickly.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pgvector (6 min). Operators: &lt;-&gt; L2 distance, &lt;#&gt; negative inner product, &lt;=&gt; cosine distance. 0.8.x was current at the time of writing; check the repository. The strongest argument: one system, one backup, transactional consistency.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Qdrant (6 min). The Python client's local mode (QdrantClient(':memory:')) lets students try the API without Docker, which is why the lab uses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more engines (5 min). Weaviate emphasizes built-in hybrid search and modular vectorizers; Milvus emphasizes scale and index variety. Verify specifics in current docs.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Pinecone (4 min). The main trade is operations for control. Do not quote prices in class; they change. The lock-in mitigation is the abstraction layer shown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Comparison (5 min). Entries summarize vendor documentation as of October 2026 and simplify heavily. The lab will let students feel the differences that matter for their own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Filtering (6 min). Post-filtering takes the ANN top-k first and then discards non-matching items, so you may get fewer than k results. Filter-aware search applies the condition while traversing the index. pgvector 0.8 added iterative scans to keep searching until enough rows pass; Qdrant is designed to filter during 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Hybrid search (5 min). Reciprocal rank fusion needs no score calibration, which is why it is popular. k = 60 is a common default. In the example, C and A tie almost exactly because each is strong in one list and middling in the other. Lecture 9 evaluates hybrid 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Selection guide (5 min). These are starting points, not rules. Whatever you pick, run the funnel on the next slide before committing.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Method (5 min). The expensive step is testing on your own data. Insist on your own embeddings, your own filters and your own latency target; public benchmarks use other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(4 min). Switching databases is easy if the application never touches a vendor SDK directly. Keep raw text, metadata and the embedding model name in storage you control, so you can re-embed or migrate.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Pitfalls (4 min). The left column are the regrets teachers hear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 discussion (5 min). Answers: 1) storage, filters, CRUD, API, ops; 2) post-filter may return fewer than k; 3) fuse the ranks yourself, e.g. RRF; 4) pgvector, with the SQL filters and transactions; 5) own raw text, metadata and the model name, behind an interface.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(3 min), then hand out Lab 5. Next lecture: how to prepare data, meaning chunking and metadata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48188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Databases  —  Lecture 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PEN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25880"/>
            <a:ext cx="457200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6"/>
                </a:solidFill>
              </a:rPr>
              <a:t>LECTURE 5 OF 9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32588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The Vector Database Landscape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Libraries, engines, extensions and services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Vector Databases: from zero to ChromaDB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57784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faiss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577840" y="1417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chroma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577840" y="2103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embedded, server, cloud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57784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pgvector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577840" y="2788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 extension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57784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B54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qdrant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3474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 and cloud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pinecone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4160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managed service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Today's lecture in five questions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52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13258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separates a library from a database?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097280" y="1856232"/>
            <a:ext cx="512064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892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9659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kinds of tools exist?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097280" y="2496312"/>
            <a:ext cx="512064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2532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6060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each major tool offer, and where does it struggle?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097280" y="3136392"/>
            <a:ext cx="512064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3172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2461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filtering and hybrid search really work?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097280" y="3776472"/>
            <a:ext cx="512064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3813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3886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we choose, and how do we avoid lock-in?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675120" y="1325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Prerequisites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675120" y="16459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Lectures 1 to 4.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675120" y="2651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Lab 5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675120" y="29718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Load the same data into FAISS and Qdrant, filter, persist, fuse rankings. Optional: pgvector.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library gives you the algorithm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Library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3108960" y="1280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57200" y="3749040"/>
            <a:ext cx="2194560" cy="548640"/>
          </a:xfrm>
          <a:prstGeom prst="rect">
            <a:avLst/>
          </a:prstGeom>
          <a:solidFill>
            <a:schemeClr val="bg1"/>
          </a:solidFill>
          <a:ln w="25400">
            <a:solidFill>
              <a:srgbClr val="2F5D8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3749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ANN index in memory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108960" y="3749040"/>
            <a:ext cx="3291840" cy="548640"/>
          </a:xfrm>
          <a:prstGeom prst="rect">
            <a:avLst/>
          </a:prstGeom>
          <a:solidFill>
            <a:schemeClr val="bg1"/>
          </a:solidFill>
          <a:ln w="25400">
            <a:solidFill>
              <a:srgbClr val="2F5D8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108960" y="37490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ANN index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108960" y="3127248"/>
            <a:ext cx="3291840" cy="548640"/>
          </a:xfrm>
          <a:prstGeom prst="rect">
            <a:avLst/>
          </a:prstGeom>
          <a:solidFill>
            <a:schemeClr val="bg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108960" y="31272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Storage and persistence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108960" y="2505456"/>
            <a:ext cx="3291840" cy="548640"/>
          </a:xfrm>
          <a:prstGeom prst="rect">
            <a:avLst/>
          </a:prstGeom>
          <a:solidFill>
            <a:schemeClr val="bg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108960" y="250545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Metadata and filters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108960" y="1883664"/>
            <a:ext cx="3291840" cy="548640"/>
          </a:xfrm>
          <a:prstGeom prst="rect">
            <a:avLst/>
          </a:prstGeom>
          <a:solidFill>
            <a:schemeClr val="bg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108960" y="188366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Create, update, delete, concurrency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108960" y="1261872"/>
            <a:ext cx="3291840" cy="548640"/>
          </a:xfrm>
          <a:prstGeom prst="rect">
            <a:avLst/>
          </a:prstGeom>
          <a:solidFill>
            <a:schemeClr val="bg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108960" y="126187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API, auth, backup, replication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4348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Figure 5.1  What a database adds around the same index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766560" y="1280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index is only the core.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766560" y="2011680"/>
            <a:ext cx="1920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library hands you the algorithm. A database hands you everything a service needs around it.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Five kinds of tools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40080" y="2240280"/>
            <a:ext cx="7863840" cy="0"/>
          </a:xfrm>
          <a:prstGeom prst="line">
            <a:avLst/>
          </a:prstGeom>
          <a:noFill/>
          <a:ln w="15875">
            <a:solidFill>
              <a:srgbClr val="1B2A4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2920" y="1645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Library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197864" y="2157984"/>
            <a:ext cx="164592" cy="164592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25603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FAISS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hnswlib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ScaNN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2148840" y="1645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Embedded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843784" y="2157984"/>
            <a:ext cx="164592" cy="164592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148840" y="25603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Chroma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LanceDB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Qdrant local mode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794760" y="1645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Extension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489704" y="2157984"/>
            <a:ext cx="164592" cy="164592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94760" y="25603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pgvector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OpenSearch and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Elasticsearch kNN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40680" y="1645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135624" y="2157984"/>
            <a:ext cx="164592" cy="164592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40680" y="25603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Qdrant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Weaviate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Milvus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086600" y="1645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Managed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781544" y="2157984"/>
            <a:ext cx="164592" cy="164592"/>
          </a:xfrm>
          <a:prstGeom prst="ellipse">
            <a:avLst/>
          </a:prstGeom>
          <a:solidFill>
            <a:srgbClr val="B5432A"/>
          </a:solidFill>
          <a:ln w="12700">
            <a:solidFill>
              <a:srgbClr val="B5432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086600" y="25603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Pinecone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Chroma Cloud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Qdrant Cloud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Zilliz Cloud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run everything, full control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02920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vendor runs it, less control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separates the products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Persistence and durability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3200400" y="1280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Does data survive restarts, and how fast is recovery?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719072"/>
            <a:ext cx="822960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737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Metadata filtering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3200400" y="17373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Which operators, and is filtering done during or after the ANN search?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176272"/>
            <a:ext cx="822960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2194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search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200400" y="21945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Native keyword plus vector, or do you fuse ranks yourself?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2633472"/>
            <a:ext cx="822960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26517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 choices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200400" y="2651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HNSW only, or IVF, PQ, disk-based, quantization?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3090672"/>
            <a:ext cx="822960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3108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Multi-tenancy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3200400" y="3108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Isolation per user or customer: namespaces, collections, partitions.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3547872"/>
            <a:ext cx="822960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200" y="35661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out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3200400" y="3566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Sharding, replication, and what happens when a node dies.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7200" y="4005072"/>
            <a:ext cx="822960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7200" y="4023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3200400" y="40233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Backups, monitoring, upgrades, auth, and who is on call.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7200" y="4462272"/>
            <a:ext cx="822960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FAISS: the reference library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7269480" y="12801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FORM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7269480" y="1536192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library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7086600" y="1280160"/>
            <a:ext cx="0" cy="320040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280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920240" y="12801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C++ library with Python bindings, from Meta's research group.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1719072"/>
            <a:ext cx="649224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1737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920240" y="17373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Flat, IVF, PQ, HNSW and more (Lecture 4); GPU support available.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2176272"/>
            <a:ext cx="649224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2194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Filtering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920240" y="21945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 metadata store. You filter yourself, or restrict the search with ID selectors.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2633472"/>
            <a:ext cx="649224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2651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920240" y="2651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None built in.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3090672"/>
            <a:ext cx="649224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200" y="31089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920240" y="31089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Single machine; sharding is your responsibility.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7200" y="3547872"/>
            <a:ext cx="649224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7200" y="3566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for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920240" y="35661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Research, benchmarks, custom pipelines, embedding inside a larger system.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7200" y="4005072"/>
            <a:ext cx="649224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57200" y="4023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out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920240" y="40233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Persistence, updates, filters and serving are all yours to build.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57200" y="4462272"/>
            <a:ext cx="649224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Chroma: developer-first embedding database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7269480" y="12801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FORM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7269480" y="1536192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embedded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7086600" y="1280160"/>
            <a:ext cx="0" cy="320040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280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920240" y="12801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Open-source embedding database: in-process, client-server, or Chroma Cloud.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1719072"/>
            <a:ext cx="649224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1737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920240" y="17373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HNSW on a single node; SPANN in distributed and Cloud deployments (per its docs).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2176272"/>
            <a:ext cx="649224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2194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Filtering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920240" y="21945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where and where_document filters, covered in Lecture 7.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2633472"/>
            <a:ext cx="649224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2651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920240" y="2651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Docs describe dense, sparse and hybrid search; check your version and deployment.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3090672"/>
            <a:ext cx="649224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200" y="31089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920240" y="31089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Best on one node; distributed scale through Chroma Cloud.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7200" y="3547872"/>
            <a:ext cx="649224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7200" y="3566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for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920240" y="35661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Prototypes, notebooks, RAG apps with moderate data.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7200" y="4005072"/>
            <a:ext cx="649224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57200" y="4023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out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920240" y="40233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default distance is squared L2; set cosine for most text models.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57200" y="4462272"/>
            <a:ext cx="649224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pgvector: vectors inside PostgreSQL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7269480" y="12801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FORM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7269480" y="1536192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extension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7086600" y="1280160"/>
            <a:ext cx="0" cy="320040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280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920240" y="12801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Postgres extension adding a vector type and distance operators.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1719072"/>
            <a:ext cx="649224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1737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920240" y="17373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HNSW and IVFFlat; halfvec, sparsevec and bit types for smaller or sparse data.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2176272"/>
            <a:ext cx="649224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2194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Filtering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920240" y="21945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Ordinary SQL WHERE. Version 0.8 added iterative index scans to avoid over-filtering.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2633472"/>
            <a:ext cx="649224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2651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920240" y="2651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Combine with Postgres full-text search and fuse the ranks yourself.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3090672"/>
            <a:ext cx="649224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200" y="31089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920240" y="31089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One Postgres node, plus replicas and partitioning.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7200" y="3547872"/>
            <a:ext cx="649224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7200" y="3566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for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920240" y="35661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Teams already on Postgres; vectors next to relational data and transactions.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7200" y="4005072"/>
            <a:ext cx="649224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57200" y="4023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out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920240" y="40233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Memory and tuning are on you; very large sets may outgrow one node.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57200" y="4462272"/>
            <a:ext cx="649224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Qdrant: filtering-focused engine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7269480" y="12801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FORM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7269480" y="1536192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7086600" y="1280160"/>
            <a:ext cx="0" cy="320040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280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920240" y="12801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Open-source engine written in Rust: local mode, server, or Qdrant Cloud.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1719072"/>
            <a:ext cx="649224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1737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920240" y="17373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HNSW, with scalar, product and binary quantization options.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2176272"/>
            <a:ext cx="649224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2194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Filtering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920240" y="21945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Rich payload filters, designed to apply during the search.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2633472"/>
            <a:ext cx="649224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2651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920240" y="2651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Dense and sparse vectors with fusion queries.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3090672"/>
            <a:ext cx="649224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200" y="31089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920240" y="31089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Distributed mode with sharding and replication.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7200" y="3547872"/>
            <a:ext cx="649224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7200" y="3566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for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920240" y="35661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Self-hosted production search with demanding filters.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7200" y="4005072"/>
            <a:ext cx="649224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57200" y="4023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out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920240" y="40233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One more service to run; local mode is for development, not benchmarks.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57200" y="4462272"/>
            <a:ext cx="649224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Weaviate and Milvus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0" y="1280160"/>
            <a:ext cx="0" cy="320040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Weaviate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73736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Open-source engine written in Go, with a managed cloud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HNSW index (plus flat for small sets)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Built-in hybrid search: BM25 keyword plus vectors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Modules that can embed text for you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Multi-tenancy support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Best for: apps where hybrid search is central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Watch out: more concepts to learn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Milvus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846320" y="173736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Open-source, distributed architecture; managed as Zilliz Cloud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Many index types: HNSW, IVF, DiskANN and others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Built for very large collections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Dense, sparse and full-text search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Best for: hundreds of millions of vectors and beyond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Watch out: more components to deploy and operate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Pinecone: fully managed service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7269480" y="12801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FORM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7269480" y="1536192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managed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7086600" y="1280160"/>
            <a:ext cx="0" cy="320040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280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920240" y="12801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Hosted vector database; you cannot self-host it.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1719072"/>
            <a:ext cx="649224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1737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920240" y="17373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Managed by the vendor; you configure the index, not the algorithm.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2176272"/>
            <a:ext cx="649224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2194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Filtering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920240" y="21945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Metadata filters; namespaces separate tenants or datasets.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2633472"/>
            <a:ext cx="649224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2651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920240" y="2651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Dense and sparse vectors supported.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3090672"/>
            <a:ext cx="649224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200" y="31089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920240" y="31089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Serverless: capacity is the vendor's concern.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7200" y="3547872"/>
            <a:ext cx="649224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7200" y="3566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for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920240" y="35661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Teams that want zero operations and fast time to production.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7200" y="4005072"/>
            <a:ext cx="649224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57200" y="4023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out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920240" y="40233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Cost at scale, lock-in, data residency. Keep raw text and vectors exportable.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57200" y="4462272"/>
            <a:ext cx="649224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Side by side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737360"/>
                <a:gridCol w="1737360"/>
                <a:gridCol w="1280160"/>
                <a:gridCol w="1097280"/>
                <a:gridCol w="13716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Flat, IVF, PQ, HNSW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built 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in-process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embedded, server, cloud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HNSW; SPANN in cloud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filters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 or cloud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pgvector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 extension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HNSW, IVFFlat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SQL WHERE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 SQL FTS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 or managed Postgres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Qdrant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server, local, cloud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HNSW + quantization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 payload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+ sparse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 or cloud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Weaviate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server, cloud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HNSW (and flat)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 + vector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 or cloud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Milvus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distributed server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HNSW, IVF, DiskANN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+ sparse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 or Zilliz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Pinecone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vendor-managed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metadata filters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+ sparse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5.1  Simplified comparison; verify against current documentation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Filtering: before or after the search?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Post-filter: ANN first, filter after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645920"/>
            <a:ext cx="502920" cy="411480"/>
          </a:xfrm>
          <a:prstGeom prst="rect">
            <a:avLst/>
          </a:prstGeom>
          <a:solidFill>
            <a:schemeClr val="bg1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6459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033272" y="1645920"/>
            <a:ext cx="502920" cy="411480"/>
          </a:xfrm>
          <a:prstGeom prst="rect">
            <a:avLst/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33272" y="16459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609344" y="1645920"/>
            <a:ext cx="502920" cy="411480"/>
          </a:xfrm>
          <a:prstGeom prst="rect">
            <a:avLst/>
          </a:prstGeom>
          <a:solidFill>
            <a:schemeClr val="bg1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609344" y="16459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185416" y="1645920"/>
            <a:ext cx="502920" cy="411480"/>
          </a:xfrm>
          <a:prstGeom prst="rect">
            <a:avLst/>
          </a:prstGeom>
          <a:solidFill>
            <a:schemeClr val="bg1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185416" y="16459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761488" y="1645920"/>
            <a:ext cx="502920" cy="411480"/>
          </a:xfrm>
          <a:prstGeom prst="rect">
            <a:avLst/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761488" y="16459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337560" y="1645920"/>
            <a:ext cx="502920" cy="411480"/>
          </a:xfrm>
          <a:prstGeom prst="rect">
            <a:avLst/>
          </a:prstGeom>
          <a:solidFill>
            <a:schemeClr val="bg1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337560" y="16459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6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913632" y="1645920"/>
            <a:ext cx="502920" cy="411480"/>
          </a:xfrm>
          <a:prstGeom prst="rect">
            <a:avLst/>
          </a:prstGeom>
          <a:solidFill>
            <a:schemeClr val="bg1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913632" y="16459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7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489704" y="1645920"/>
            <a:ext cx="502920" cy="411480"/>
          </a:xfrm>
          <a:prstGeom prst="rect">
            <a:avLst/>
          </a:prstGeom>
          <a:solidFill>
            <a:schemeClr val="bg1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489704" y="16459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8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065776" y="1645920"/>
            <a:ext cx="502920" cy="411480"/>
          </a:xfrm>
          <a:prstGeom prst="rect">
            <a:avLst/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065776" y="16459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9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641848" y="1645920"/>
            <a:ext cx="502920" cy="411480"/>
          </a:xfrm>
          <a:prstGeom prst="rect">
            <a:avLst/>
          </a:prstGeom>
          <a:solidFill>
            <a:schemeClr val="bg1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641848" y="16459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10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21031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from the index; green = topic is "billing"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291840" y="2423160"/>
            <a:ext cx="0" cy="32004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2651760" y="2788920"/>
            <a:ext cx="502920" cy="411480"/>
          </a:xfrm>
          <a:prstGeom prst="rect">
            <a:avLst/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651760" y="27889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3227832" y="2788920"/>
            <a:ext cx="502920" cy="411480"/>
          </a:xfrm>
          <a:prstGeom prst="rect">
            <a:avLst/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227832" y="27889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3803904" y="2788920"/>
            <a:ext cx="502920" cy="411480"/>
          </a:xfrm>
          <a:prstGeom prst="rect">
            <a:avLst/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803904" y="27889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9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4480560" y="2743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3 results although k = 10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34290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Filter-aware: apply the condition during search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457200" y="3794760"/>
            <a:ext cx="502920" cy="411480"/>
          </a:xfrm>
          <a:prstGeom prst="rect">
            <a:avLst/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57200" y="37947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1033272" y="3794760"/>
            <a:ext cx="502920" cy="411480"/>
          </a:xfrm>
          <a:prstGeom prst="rect">
            <a:avLst/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33272" y="37947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1609344" y="3794760"/>
            <a:ext cx="502920" cy="411480"/>
          </a:xfrm>
          <a:prstGeom prst="rect">
            <a:avLst/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609344" y="37947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2185416" y="3794760"/>
            <a:ext cx="502920" cy="411480"/>
          </a:xfrm>
          <a:prstGeom prst="rect">
            <a:avLst/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2185416" y="37947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2761488" y="3794760"/>
            <a:ext cx="502920" cy="411480"/>
          </a:xfrm>
          <a:prstGeom prst="rect">
            <a:avLst/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2761488" y="37947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3337560" y="3794760"/>
            <a:ext cx="502920" cy="411480"/>
          </a:xfrm>
          <a:prstGeom prst="rect">
            <a:avLst/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3337560" y="37947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3913632" y="3794760"/>
            <a:ext cx="502920" cy="411480"/>
          </a:xfrm>
          <a:prstGeom prst="rect">
            <a:avLst/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3913632" y="37947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4489704" y="3794760"/>
            <a:ext cx="502920" cy="411480"/>
          </a:xfrm>
          <a:prstGeom prst="rect">
            <a:avLst/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4489704" y="37947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5065776" y="3794760"/>
            <a:ext cx="502920" cy="411480"/>
          </a:xfrm>
          <a:prstGeom prst="rect">
            <a:avLst/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5065776" y="37947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9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5641848" y="3794760"/>
            <a:ext cx="502920" cy="411480"/>
          </a:xfrm>
          <a:prstGeom prst="rect">
            <a:avLst/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5641848" y="37947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55" name="Text 52"/>
          <p:cNvSpPr txBox="1"/>
          <p:nvPr/>
        </p:nvSpPr>
        <p:spPr>
          <a:xfrm>
            <a:off x="6309360" y="3840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matching results</a:t>
            </a:r>
            <a:endParaRPr lang="en-US" sz="1300" dirty="0"/>
          </a:p>
        </p:txBody>
      </p:sp>
      <p:sp>
        <p:nvSpPr>
          <p:cNvPr id="56" name="Text 53"/>
          <p:cNvSpPr txBox="1"/>
          <p:nvPr/>
        </p:nvSpPr>
        <p:spPr>
          <a:xfrm>
            <a:off x="457200" y="43434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Figure 5.2  Post-filtering can return fewer than k results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6309360" y="12801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What to ask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Does the engine filter during traversal, or after? What happens when a filter matches only 1% of the data?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pgvector 0.8 added iterative index scans to avoid returning too few rows.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Hybrid search: fusing two rankings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ranking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57200" y="1691640"/>
            <a:ext cx="1645920" cy="457200"/>
          </a:xfrm>
          <a:prstGeom prst="rect">
            <a:avLst/>
          </a:prstGeom>
          <a:solidFill>
            <a:schemeClr val="bg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691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1.  B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2258568"/>
            <a:ext cx="1645920" cy="457200"/>
          </a:xfrm>
          <a:prstGeom prst="rect">
            <a:avLst/>
          </a:prstGeom>
          <a:solidFill>
            <a:schemeClr val="bg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22585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2.  A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2825496"/>
            <a:ext cx="1645920" cy="457200"/>
          </a:xfrm>
          <a:prstGeom prst="rect">
            <a:avLst/>
          </a:prstGeom>
          <a:solidFill>
            <a:schemeClr val="bg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282549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3.  C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3392424"/>
            <a:ext cx="1645920" cy="457200"/>
          </a:xfrm>
          <a:prstGeom prst="rect">
            <a:avLst/>
          </a:prstGeom>
          <a:solidFill>
            <a:schemeClr val="bg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" y="339242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4.  D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2377440" y="1280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 ranking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377440" y="1691640"/>
            <a:ext cx="1645920" cy="457200"/>
          </a:xfrm>
          <a:prstGeom prst="rect">
            <a:avLst/>
          </a:prstGeom>
          <a:solidFill>
            <a:schemeClr val="bg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377440" y="1691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1.  C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2377440" y="2258568"/>
            <a:ext cx="1645920" cy="457200"/>
          </a:xfrm>
          <a:prstGeom prst="rect">
            <a:avLst/>
          </a:prstGeom>
          <a:solidFill>
            <a:schemeClr val="bg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377440" y="22585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2.  A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2377440" y="2825496"/>
            <a:ext cx="1645920" cy="457200"/>
          </a:xfrm>
          <a:prstGeom prst="rect">
            <a:avLst/>
          </a:prstGeom>
          <a:solidFill>
            <a:schemeClr val="bg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377440" y="282549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3.  D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2377440" y="3392424"/>
            <a:ext cx="1645920" cy="457200"/>
          </a:xfrm>
          <a:prstGeom prst="rect">
            <a:avLst/>
          </a:prstGeom>
          <a:solidFill>
            <a:schemeClr val="bg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377440" y="339242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4.  B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4069080" y="2468880"/>
            <a:ext cx="457200" cy="0"/>
          </a:xfrm>
          <a:prstGeom prst="line">
            <a:avLst/>
          </a:prstGeom>
          <a:noFill/>
          <a:ln w="19050">
            <a:solidFill>
              <a:srgbClr val="1B2A41"/>
            </a:solidFill>
            <a:prstDash val="solid"/>
            <a:tailEnd type="triangle"/>
          </a:ln>
        </p:spPr>
      </p:sp>
      <p:sp>
        <p:nvSpPr>
          <p:cNvPr id="23" name="Text 20"/>
          <p:cNvSpPr txBox="1"/>
          <p:nvPr/>
        </p:nvSpPr>
        <p:spPr>
          <a:xfrm>
            <a:off x="4572000" y="1280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Fused (RRF)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72000" y="1691640"/>
            <a:ext cx="914400" cy="457200"/>
          </a:xfrm>
          <a:prstGeom prst="rect">
            <a:avLst/>
          </a:prstGeom>
          <a:solidFill>
            <a:schemeClr val="bg1"/>
          </a:solidFill>
          <a:ln w="25400">
            <a:solidFill>
              <a:srgbClr val="B5432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572000" y="1691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1.  C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5577840" y="1691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0.0323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572000" y="2258568"/>
            <a:ext cx="914400" cy="457200"/>
          </a:xfrm>
          <a:prstGeom prst="rect">
            <a:avLst/>
          </a:prstGeom>
          <a:solidFill>
            <a:schemeClr val="bg1"/>
          </a:solidFill>
          <a:ln w="12700">
            <a:solidFill>
              <a:srgbClr val="B5432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572000" y="22585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2.  A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577840" y="22585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0.0323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72000" y="2825496"/>
            <a:ext cx="914400" cy="457200"/>
          </a:xfrm>
          <a:prstGeom prst="rect">
            <a:avLst/>
          </a:prstGeom>
          <a:solidFill>
            <a:schemeClr val="bg1"/>
          </a:solidFill>
          <a:ln w="12700">
            <a:solidFill>
              <a:srgbClr val="B5432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572000" y="282549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3.  B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577840" y="282549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0.0320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4572000" y="3392424"/>
            <a:ext cx="914400" cy="457200"/>
          </a:xfrm>
          <a:prstGeom prst="rect">
            <a:avLst/>
          </a:prstGeom>
          <a:solidFill>
            <a:schemeClr val="bg1"/>
          </a:solidFill>
          <a:ln w="12700">
            <a:solidFill>
              <a:srgbClr val="B5432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572000" y="339242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4.  D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5577840" y="339242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0.0315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457200" y="4114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score(d) = Σ 1 / (k + rank)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6949440" y="1280160"/>
            <a:ext cx="1737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Why it works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Uses ranks, not scores, so BM25 and cosine values never need to be comparable.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Native in some engines; in others you fuse the lists yourself, as in the lab.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Choosing: start from your situation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 Prototyping in a notebook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754880" y="12801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→  Chroma (embedded) or Qdrant local mode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783080"/>
            <a:ext cx="822960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828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 Already on PostgreSQL, moderate data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754880" y="1828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→  pgvector: one system, transactions, SQL filters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331720"/>
            <a:ext cx="822960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23774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 Complex filters, self-hosted production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754880" y="2377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→  Qdrant, or Weaviate when hybrid search is central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2880360"/>
            <a:ext cx="822960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29260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 Hundreds of millions of vectors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754880" y="29260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→  Milvus, or a managed distributed service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7200" y="3429000"/>
            <a:ext cx="822960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34747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 No operations team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754880" y="3474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→  Pinecone, Chroma Cloud, Qdrant Cloud or Zilliz Cloud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57200" y="3977640"/>
            <a:ext cx="822960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200" y="4023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 Research, benchmarks, custom stack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754880" y="40233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→  FAISS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57200" y="4526280"/>
            <a:ext cx="822960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How to decide: a funnel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731520" y="1325880"/>
            <a:ext cx="7680960" cy="640080"/>
          </a:xfrm>
          <a:prstGeom prst="rect">
            <a:avLst/>
          </a:prstGeom>
          <a:solidFill>
            <a:schemeClr val="bg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3258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Long list: every tool that meets your constraints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645920" y="2103120"/>
            <a:ext cx="5852160" cy="640080"/>
          </a:xfrm>
          <a:prstGeom prst="rect">
            <a:avLst/>
          </a:prstGeom>
          <a:solidFill>
            <a:schemeClr val="bg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645920" y="21031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Short list: two or three, by form, features and operations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560320" y="2880360"/>
            <a:ext cx="4023360" cy="640080"/>
          </a:xfrm>
          <a:prstGeom prst="rect">
            <a:avLst/>
          </a:prstGeom>
          <a:solidFill>
            <a:schemeClr val="bg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560320" y="28803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 on your data: recall, p95 latency, filters, cost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383280" y="3657600"/>
            <a:ext cx="2377440" cy="640080"/>
          </a:xfrm>
          <a:prstGeom prst="rect">
            <a:avLst/>
          </a:prstGeom>
          <a:solidFill>
            <a:srgbClr val="B5432A"/>
          </a:solidFill>
          <a:ln w="28575">
            <a:solidFill>
              <a:srgbClr val="B543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38328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Decide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Criteria to weigh: recall target, latency, data size and growth, filter complexity, update rate, team skills, hosting rules, total cost.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Avoiding lock-in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1463040" y="1280160"/>
            <a:ext cx="2926080" cy="54864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463040" y="1280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Your application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2926080" y="1828800"/>
            <a:ext cx="0" cy="320040"/>
          </a:xfrm>
          <a:prstGeom prst="line">
            <a:avLst/>
          </a:prstGeom>
          <a:noFill/>
          <a:ln w="19050">
            <a:solidFill>
              <a:srgbClr val="1B2A41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457200" y="2194560"/>
            <a:ext cx="4937760" cy="594360"/>
          </a:xfrm>
          <a:prstGeom prst="rect">
            <a:avLst/>
          </a:prstGeom>
          <a:solidFill>
            <a:schemeClr val="bg1"/>
          </a:solidFill>
          <a:ln w="25400">
            <a:solidFill>
              <a:srgbClr val="B5432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21945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VectorStore interface:  add, search, delete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234440" y="2788920"/>
            <a:ext cx="0" cy="36576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457200" y="3200400"/>
            <a:ext cx="1554480" cy="548640"/>
          </a:xfrm>
          <a:prstGeom prst="rect">
            <a:avLst/>
          </a:prstGeom>
          <a:solidFill>
            <a:schemeClr val="bg1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3200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Chroma adapter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926080" y="2788920"/>
            <a:ext cx="0" cy="36576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148840" y="3200400"/>
            <a:ext cx="1554480" cy="548640"/>
          </a:xfrm>
          <a:prstGeom prst="rect">
            <a:avLst/>
          </a:prstGeom>
          <a:solidFill>
            <a:schemeClr val="bg1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148840" y="3200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pgvector adapter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617720" y="2788920"/>
            <a:ext cx="0" cy="36576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3840480" y="3200400"/>
            <a:ext cx="1554480" cy="548640"/>
          </a:xfrm>
          <a:prstGeom prst="rect">
            <a:avLst/>
          </a:prstGeom>
          <a:solidFill>
            <a:schemeClr val="bg1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840480" y="3200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Qdrant adapter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3931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Figure 5.3  The application depends on an interface, not on a vendor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760720" y="1280160"/>
            <a:ext cx="2926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Own your source text and metadata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Store the embedding model name and version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Write one adapter per database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Test the interface with the same sample queries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0" y="1280160"/>
            <a:ext cx="0" cy="320040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Mistakes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78308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Choosing from a blog benchmark, not your data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Ignoring filter selectivity until production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Leaving the default distance function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Running a database where a library would do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export path, so no way to leave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Habits that help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846320" y="178308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Write down the workload first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Test with realistic filters and sizes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Set the metric explicitly at creation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Start simple; migrate when you outgrow it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Keep an adapter layer and exports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Check your understanding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1280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three things a vector database adds on top of a library such as FAISS.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9659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965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can post-filtering return fewer than k results?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6517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2651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engine has no native hybrid search. How do you combine keyword and vector rankings?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3375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3337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already run PostgreSQL with 2 million documents. What would you try first, and why?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0233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4023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you keep the option to switch databases later?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Summary and next steps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Libraries give you the index; databases add storage, filters, CRUD and operations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Tools range from libraries to managed services; more control means more work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Filtering and hybrid search are where products differ most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Choose by your workload, then test on your own data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Keep an adapter layer and exportable data to avoid lock-in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577840" y="1280160"/>
            <a:ext cx="0" cy="320040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852160" y="1280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Lab 5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852160" y="16002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FAISS and Qdrant on the same data, plus optional pgvector (60 to 75 minutes).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852160" y="2514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Further reading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852160" y="283464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pgvector README (github.com/pgvector/pgvector).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Qdrant documentation and Python client (qdrant.tech).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Chroma documentation (docs.trychroma.com).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ANN-Benchmarks (ann-benchmarks.com).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itorial5">
  <a:themeElements>
    <a:clrScheme name="Editorial5">
      <a:dk1>
        <a:srgbClr val="1B2A41"/>
      </a:dk1>
      <a:lt1>
        <a:srgbClr val="FFFFFF"/>
      </a:lt1>
      <a:dk2>
        <a:srgbClr val="0F1B2D"/>
      </a:dk2>
      <a:lt2>
        <a:srgbClr val="F3F4F6"/>
      </a:lt2>
      <a:accent1>
        <a:srgbClr val="B5432A"/>
      </a:accent1>
      <a:accent2>
        <a:srgbClr val="2F5D8A"/>
      </a:accent2>
      <a:accent3>
        <a:srgbClr val="3B7A57"/>
      </a:accent3>
      <a:accent4>
        <a:srgbClr val="8A6D1F"/>
      </a:accent4>
      <a:accent5>
        <a:srgbClr val="6B7280"/>
      </a:accent5>
      <a:accent6>
        <a:srgbClr val="D1D5DB"/>
      </a:accent6>
      <a:hlink>
        <a:srgbClr val="2F5D8A"/>
      </a:hlink>
      <a:folHlink>
        <a:srgbClr val="6B7280"/>
      </a:folHlink>
    </a:clrScheme>
    <a:fontScheme name="Editorial5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5: The Vector Database Landscape</dc:title>
  <dc:subject>PptxGenJS Presentation</dc:subject>
  <dc:creator>PptxGenJS</dc:creator>
  <cp:lastModifiedBy>PptxGenJS</cp:lastModifiedBy>
  <cp:revision>1</cp:revision>
  <dcterms:created xsi:type="dcterms:W3CDTF">2026-10-26T18:13:07Z</dcterms:created>
  <dcterms:modified xsi:type="dcterms:W3CDTF">2026-10-26T18:13:07Z</dcterms:modified>
</cp:coreProperties>
</file>