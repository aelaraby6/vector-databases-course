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3" id="{0eab8438-de21-2f2e-7378-33e0beb9ce82}">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Farthest / nearest distance, 500 random points (log scale)</a:t>
            </a:r>
          </a:p>
        </c:rich>
      </c:tx>
      <c:layout/>
      <c:overlay val="0"/>
    </c:title>
    <c:autoTitleDeleted val="0"/>
    <c:plotArea>
      <c:layout/>
      <c:barChart>
        <c:barDir val="col"/>
        <c:grouping val="clustered"/>
        <c:varyColors val="0"/>
        <c:ser>
          <c:idx val="0"/>
          <c:order val="0"/>
          <c:tx>
            <c:strRef>
              <c:f>Sheet1!$B$1</c:f>
              <c:strCache>
                <c:ptCount val="1"/>
                <c:pt idx="0">
                  <c:v>ratio</c:v>
                </c:pt>
              </c:strCache>
            </c:strRef>
          </c:tx>
          <c:spPr>
            <a:solidFill>
              <a:srgbClr val="B5432A"/>
            </a:solidFill>
            <a:effectLst/>
          </c:spPr>
          <c:invertIfNegative val="0"/>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2</c:v>
                  </c:pt>
                  <c:pt idx="1">
                    <c:v>10</c:v>
                  </c:pt>
                  <c:pt idx="2">
                    <c:v>100</c:v>
                  </c:pt>
                  <c:pt idx="3">
                    <c:v>1000</c:v>
                  </c:pt>
                </c:lvl>
              </c:multiLvlStrCache>
            </c:multiLvlStrRef>
          </c:cat>
          <c:val>
            <c:numRef>
              <c:f>Sheet1!$B$2:$B$5</c:f>
              <c:numCache>
                <c:formatCode>General</c:formatCode>
                <c:ptCount val="4"/>
                <c:pt idx="0">
                  <c:v>58.35</c:v>
                </c:pt>
                <c:pt idx="1">
                  <c:v>3.17</c:v>
                </c:pt>
                <c:pt idx="2">
                  <c:v>1.49</c:v>
                </c:pt>
                <c:pt idx="3">
                  <c:v>1.11</c:v>
                </c:pt>
              </c:numCache>
            </c:numRef>
          </c:val>
        </c:ser>
        <c:dLbls>
          <c:numFmt formatCode="0.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dimensions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logBase val="10"/>
          <c:orientation val="minMax"/>
          <c:min val="1"/>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Lecture 2 turned meaning into vectors. Today: how do we compare two vectors, and which formula should we pick? We end by building exact search with plain NumPy.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90 minutes: about 60 lecture, 30 lab. The lab builds a complete search engine in NumPy with no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Geometry refresher (5 min). Everything today is built from two quantities: the length of each vector and the angle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Cosine (6 min). Range is -1 to 1. It ignores length entirely: (1, 2) and (10, 20) are identical. Cosine distance = 1 - cosine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product (5 min). a . b = |a||b|cos(theta). Geometrically it is the length of b's shadow on a, times |a|. Long vectors score high even at a mediocre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L2 (4 min). Smaller means closer, the opposite sign convention to cosine and dot. Squared L2 skips the square root and gives the same ranking, so libraries often return squared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comparison (6 min). c = 2a points the same way as a. Cosine calls them identical; L2 calls b closer to a than c; the dot product rewards the longer vector. Let students predict the rankings before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unifying fact (5 min). Walk through the algebra line by line. For unit vectors, L2 distance squared is a decreasing function of cosine, so all three produce the same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big three (4 min). Hamming matters because binary quantization compresses vectors to bits and compares them with XOR plus popcount. Jaccard is for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rules (5 min). Rule 1 settles most cases: the model card usually names the metric it was trained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by tool (4 min). Chroma defaults to squared L2, a frequent surprise; set it to cosine for most text models. pgvector's &lt;#&gt; returns the negative inner product so that ORDER BY ascending works. Check each tool's docs for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search (5 min). With normalized vectors, all N scores come from a single matrix-vector product. It is exact and simple, and the baseline that Lecture 4's ANN indexes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walkthrough (4 min). argpartition finds the k largest in linear time; argsort on the k survivors costs almost nothing. Batching queries (Q @ D.T) is much faster than a Python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Curse of dimensionality (5 min). The numbers are computed from random Gaussian data, so they are real but idealized. Real embeddings are not random, which is why search still works, but contrast shrinks and scores need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(4 min). Most 'bad search quality' bug reports come from the left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Answers: 1) cosine uses direction only; 2) c = 2a has cosine 1, dot 20, L2 farther than b; 3) the squared L2 = 2 - 2cos relation; 4) set the space to cosine, or normalize and use ip; 5) O(N d)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(3 min), then hand out Lab 3. Next lecture: why exact search is too slow at scale and how ANN indexes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i="1" dirty="0">
                <a:solidFill>
                  <a:schemeClr val="accent5"/>
                </a:solidFill>
                <a:latin typeface="Cambria" pitchFamily="34" charset="0"/>
                <a:ea typeface="Cambria" pitchFamily="34" charset="-122"/>
                <a:cs typeface="Cambria" pitchFamily="34" charset="-120"/>
              </a:rPr>
              <a:t>Vector Databases  —  Lecture 3</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5720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indent="0" marL="0">
              <a:buNone/>
            </a:pPr>
            <a:r>
              <a:rPr lang="en-US" sz="1200" b="1" spc="400" kern="0" dirty="0">
                <a:solidFill>
                  <a:schemeClr val="accent6"/>
                </a:solidFill>
              </a:rPr>
              <a:t>LECTURE 3 OF 9</a:t>
            </a:r>
            <a:endParaRPr lang="en-US" sz="1200" dirty="0"/>
          </a:p>
        </p:txBody>
      </p:sp>
      <p:sp>
        <p:nvSpPr>
          <p:cNvPr id="3" name="Text 0"/>
          <p:cNvSpPr/>
          <p:nvPr>
            <p:ph idx="100" type="title" hasCustomPrompt="1"/>
          </p:nvPr>
        </p:nvSpPr>
        <p:spPr>
          <a:xfrm>
            <a:off x="548640" y="1325880"/>
            <a:ext cx="4572000" cy="1554480"/>
          </a:xfrm>
          <a:prstGeom prst="rect">
            <a:avLst/>
          </a:prstGeom>
          <a:noFill/>
          <a:ln/>
        </p:spPr>
        <p:txBody>
          <a:bodyPr wrap="square" lIns="0" tIns="0" rIns="0" bIns="0" rtlCol="0" anchor="t"/>
          <a:lstStyle/>
          <a:p>
            <a:pPr algn="l" indent="0" marL="0">
              <a:buNone/>
            </a:pPr>
            <a:r>
              <a:rPr lang="en-US" sz="4400" b="1" dirty="0">
                <a:solidFill>
                  <a:schemeClr val="bg1"/>
                </a:solidFill>
              </a:rPr>
              <a:t>Similarity Metrics</a:t>
            </a:r>
            <a:endParaRPr lang="en-US" sz="4400" dirty="0"/>
          </a:p>
        </p:txBody>
      </p:sp>
      <p:sp>
        <p:nvSpPr>
          <p:cNvPr id="4" name="Text 2"/>
          <p:cNvSpPr txBox="1"/>
          <p:nvPr/>
        </p:nvSpPr>
        <p:spPr>
          <a:xfrm>
            <a:off x="548640" y="2743200"/>
            <a:ext cx="4572000" cy="365760"/>
          </a:xfrm>
          <a:prstGeom prst="rect">
            <a:avLst/>
          </a:prstGeom>
          <a:noFill/>
          <a:ln/>
        </p:spPr>
        <p:txBody>
          <a:bodyPr wrap="square" lIns="0" tIns="0" rIns="0" bIns="0" rtlCol="0" anchor="t"/>
          <a:lstStyle/>
          <a:p>
            <a:pPr indent="0" marL="0">
              <a:buNone/>
            </a:pPr>
            <a:r>
              <a:rPr lang="en-US" sz="2000" i="1" dirty="0">
                <a:solidFill>
                  <a:schemeClr val="bg2"/>
                </a:solidFill>
                <a:latin typeface="Cambria" pitchFamily="34" charset="0"/>
                <a:ea typeface="Cambria" pitchFamily="34" charset="-122"/>
                <a:cs typeface="Cambria" pitchFamily="34" charset="-120"/>
              </a:rPr>
              <a:t>How close is close?</a:t>
            </a:r>
            <a:endParaRPr lang="en-US" sz="2000" dirty="0"/>
          </a:p>
        </p:txBody>
      </p:sp>
      <p:sp>
        <p:nvSpPr>
          <p:cNvPr id="5" name="Text 3"/>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chemeClr val="accent6"/>
                </a:solidFill>
              </a:rPr>
              <a:t>Vector Databases: from zero to ChromaDB</a:t>
            </a:r>
            <a:endParaRPr lang="en-US" sz="1200" dirty="0"/>
          </a:p>
        </p:txBody>
      </p:sp>
      <p:sp>
        <p:nvSpPr>
          <p:cNvPr id="6" name="Text 4"/>
          <p:cNvSpPr txBox="1"/>
          <p:nvPr/>
        </p:nvSpPr>
        <p:spPr>
          <a:xfrm>
            <a:off x="5577840" y="1280160"/>
            <a:ext cx="2743200" cy="274320"/>
          </a:xfrm>
          <a:prstGeom prst="rect">
            <a:avLst/>
          </a:prstGeom>
          <a:noFill/>
          <a:ln/>
        </p:spPr>
        <p:txBody>
          <a:bodyPr wrap="square" lIns="0" tIns="0" rIns="0" bIns="0" rtlCol="0" anchor="t"/>
          <a:lstStyle/>
          <a:p>
            <a:pPr indent="0" marL="0">
              <a:buNone/>
            </a:pPr>
            <a:r>
              <a:rPr lang="en-US" sz="1600" b="1" i="1" dirty="0">
                <a:solidFill>
                  <a:srgbClr val="B5432A"/>
                </a:solidFill>
                <a:latin typeface="Cambria" pitchFamily="34" charset="0"/>
                <a:ea typeface="Cambria" pitchFamily="34" charset="-122"/>
                <a:cs typeface="Cambria" pitchFamily="34" charset="-120"/>
              </a:rPr>
              <a:t>cosine</a:t>
            </a:r>
            <a:endParaRPr lang="en-US" sz="1600" dirty="0"/>
          </a:p>
        </p:txBody>
      </p:sp>
      <p:sp>
        <p:nvSpPr>
          <p:cNvPr id="7" name="Text 5"/>
          <p:cNvSpPr txBox="1"/>
          <p:nvPr/>
        </p:nvSpPr>
        <p:spPr>
          <a:xfrm>
            <a:off x="5577840" y="160020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a . b / (|a| |b|)</a:t>
            </a:r>
            <a:endParaRPr lang="en-US" sz="1300" dirty="0"/>
          </a:p>
        </p:txBody>
      </p:sp>
      <p:sp>
        <p:nvSpPr>
          <p:cNvPr id="8" name="Text 6"/>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dot product</a:t>
            </a:r>
            <a:endParaRPr lang="en-US" sz="1600" dirty="0"/>
          </a:p>
        </p:txBody>
      </p:sp>
      <p:sp>
        <p:nvSpPr>
          <p:cNvPr id="9" name="Text 7"/>
          <p:cNvSpPr txBox="1"/>
          <p:nvPr/>
        </p:nvSpPr>
        <p:spPr>
          <a:xfrm>
            <a:off x="5577840" y="237744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a . b</a:t>
            </a:r>
            <a:endParaRPr lang="en-US" sz="1300" dirty="0"/>
          </a:p>
        </p:txBody>
      </p:sp>
      <p:sp>
        <p:nvSpPr>
          <p:cNvPr id="10" name="Text 8"/>
          <p:cNvSpPr txBox="1"/>
          <p:nvPr/>
        </p:nvSpPr>
        <p:spPr>
          <a:xfrm>
            <a:off x="5577840" y="283464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euclidean</a:t>
            </a:r>
            <a:endParaRPr lang="en-US" sz="1600" dirty="0"/>
          </a:p>
        </p:txBody>
      </p:sp>
      <p:sp>
        <p:nvSpPr>
          <p:cNvPr id="11" name="Text 9"/>
          <p:cNvSpPr txBox="1"/>
          <p:nvPr/>
        </p:nvSpPr>
        <p:spPr>
          <a:xfrm>
            <a:off x="5577840" y="315468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sqrt( sum (a_i - b_i)^2 )</a:t>
            </a:r>
            <a:endParaRPr lang="en-US" sz="1300" dirty="0"/>
          </a:p>
        </p:txBody>
      </p:sp>
      <p:sp>
        <p:nvSpPr>
          <p:cNvPr id="12" name="Text 10"/>
          <p:cNvSpPr txBox="1"/>
          <p:nvPr/>
        </p:nvSpPr>
        <p:spPr>
          <a:xfrm>
            <a:off x="5577840" y="361188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hamming</a:t>
            </a:r>
            <a:endParaRPr lang="en-US" sz="1600" dirty="0"/>
          </a:p>
        </p:txBody>
      </p:sp>
      <p:sp>
        <p:nvSpPr>
          <p:cNvPr id="13" name="Text 11"/>
          <p:cNvSpPr txBox="1"/>
          <p:nvPr/>
        </p:nvSpPr>
        <p:spPr>
          <a:xfrm>
            <a:off x="5577840" y="3931920"/>
            <a:ext cx="3108960" cy="274320"/>
          </a:xfrm>
          <a:prstGeom prst="rect">
            <a:avLst/>
          </a:prstGeom>
          <a:noFill/>
          <a:ln/>
        </p:spPr>
        <p:txBody>
          <a:bodyPr wrap="square" lIns="0" tIns="0" rIns="0" bIns="0" rtlCol="0" anchor="t"/>
          <a:lstStyle/>
          <a:p>
            <a:pPr indent="0" marL="0">
              <a:buNone/>
            </a:pPr>
            <a:r>
              <a:rPr lang="en-US" sz="1300" dirty="0">
                <a:solidFill>
                  <a:srgbClr val="D1D5DB"/>
                </a:solidFill>
                <a:latin typeface="Courier New" pitchFamily="34" charset="0"/>
                <a:ea typeface="Courier New" pitchFamily="34" charset="-122"/>
                <a:cs typeface="Courier New" pitchFamily="34" charset="-120"/>
              </a:rPr>
              <a:t>number of differing bits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32588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do length and angle mean for a vector?</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8" name="Text 5"/>
          <p:cNvSpPr txBox="1"/>
          <p:nvPr/>
        </p:nvSpPr>
        <p:spPr>
          <a:xfrm>
            <a:off x="1097280" y="196596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cosine, dot product and L2 differ?</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1" name="Text 8"/>
          <p:cNvSpPr txBox="1"/>
          <p:nvPr/>
        </p:nvSpPr>
        <p:spPr>
          <a:xfrm>
            <a:off x="1097280" y="260604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Why do normalized vectors make them agree?</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4" name="Text 11"/>
          <p:cNvSpPr txBox="1"/>
          <p:nvPr/>
        </p:nvSpPr>
        <p:spPr>
          <a:xfrm>
            <a:off x="1097280" y="324612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we pick a metric in real tools?</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1097280" y="388620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does brute-force kNN work, and where does it break?</a:t>
            </a:r>
            <a:endParaRPr lang="en-US" sz="1800" dirty="0"/>
          </a:p>
        </p:txBody>
      </p:sp>
      <p:sp>
        <p:nvSpPr>
          <p:cNvPr id="18" name="Text 15"/>
          <p:cNvSpPr txBox="1"/>
          <p:nvPr/>
        </p:nvSpPr>
        <p:spPr>
          <a:xfrm>
            <a:off x="6675120" y="132588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a:ln/>
        </p:spPr>
        <p:txBody>
          <a:bodyPr wrap="square" lIns="0" tIns="0" rIns="0" bIns="0" rtlCol="0" anchor="t"/>
          <a:lstStyle/>
          <a:p>
            <a:pPr indent="0" marL="0">
              <a:buNone/>
            </a:pPr>
            <a:r>
              <a:rPr lang="en-US" sz="1400" dirty="0">
                <a:solidFill>
                  <a:schemeClr val="tx1"/>
                </a:solidFill>
              </a:rPr>
              <a:t>Lectures 1 and 2, NumPy basics.</a:t>
            </a:r>
            <a:endParaRPr lang="en-US" sz="1400" dirty="0"/>
          </a:p>
        </p:txBody>
      </p:sp>
      <p:sp>
        <p:nvSpPr>
          <p:cNvPr id="20" name="Text 17"/>
          <p:cNvSpPr txBox="1"/>
          <p:nvPr/>
        </p:nvSpPr>
        <p:spPr>
          <a:xfrm>
            <a:off x="6675120" y="265176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3</a:t>
            </a:r>
            <a:endParaRPr lang="en-US" sz="1200" dirty="0"/>
          </a:p>
        </p:txBody>
      </p:sp>
      <p:sp>
        <p:nvSpPr>
          <p:cNvPr id="21" name="Text 18"/>
          <p:cNvSpPr txBox="1"/>
          <p:nvPr/>
        </p:nvSpPr>
        <p:spPr>
          <a:xfrm>
            <a:off x="6675120" y="2971800"/>
            <a:ext cx="2011680" cy="1371600"/>
          </a:xfrm>
          <a:prstGeom prst="rect">
            <a:avLst/>
          </a:prstGeom>
          <a:noFill/>
          <a:ln/>
        </p:spPr>
        <p:txBody>
          <a:bodyPr wrap="square" lIns="0" tIns="0" rIns="0" bIns="0" rtlCol="0" anchor="t"/>
          <a:lstStyle/>
          <a:p>
            <a:pPr indent="0" marL="0">
              <a:buNone/>
            </a:pPr>
            <a:r>
              <a:rPr lang="en-US" sz="1400" dirty="0">
                <a:solidFill>
                  <a:schemeClr val="tx1"/>
                </a:solidFill>
              </a:rPr>
              <a:t>Implement the metrics by hand, then build and benchmark a NumPy search engine.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vector has length and direction</a:t>
            </a:r>
            <a:endParaRPr lang="en-US" sz="3000" dirty="0"/>
          </a:p>
        </p:txBody>
      </p:sp>
      <p:sp>
        <p:nvSpPr>
          <p:cNvPr id="4" name="Shape 1"/>
          <p:cNvSpPr/>
          <p:nvPr/>
        </p:nvSpPr>
        <p:spPr>
          <a:xfrm>
            <a:off x="457200" y="1280160"/>
            <a:ext cx="4754880" cy="3108960"/>
          </a:xfrm>
          <a:prstGeom prst="rect">
            <a:avLst/>
          </a:prstGeom>
          <a:solidFill>
            <a:schemeClr val="bg1"/>
          </a:solidFill>
          <a:ln w="12700">
            <a:solidFill>
              <a:schemeClr val="accent6"/>
            </a:solidFill>
            <a:prstDash val="solid"/>
          </a:ln>
        </p:spPr>
      </p:sp>
      <p:sp>
        <p:nvSpPr>
          <p:cNvPr id="5" name="Shape 2"/>
          <p:cNvSpPr/>
          <p:nvPr/>
        </p:nvSpPr>
        <p:spPr>
          <a:xfrm>
            <a:off x="914400" y="4114800"/>
            <a:ext cx="4023360" cy="0"/>
          </a:xfrm>
          <a:prstGeom prst="line">
            <a:avLst/>
          </a:prstGeom>
          <a:noFill/>
          <a:ln w="12700">
            <a:solidFill>
              <a:srgbClr val="6B7280"/>
            </a:solidFill>
            <a:prstDash val="solid"/>
            <a:tailEnd type="triangle"/>
          </a:ln>
        </p:spPr>
      </p:sp>
      <p:sp>
        <p:nvSpPr>
          <p:cNvPr id="6" name="Shape 3"/>
          <p:cNvSpPr/>
          <p:nvPr/>
        </p:nvSpPr>
        <p:spPr>
          <a:xfrm>
            <a:off x="914400" y="1554480"/>
            <a:ext cx="0" cy="2560320"/>
          </a:xfrm>
          <a:prstGeom prst="line">
            <a:avLst/>
          </a:prstGeom>
          <a:noFill/>
          <a:ln w="12700">
            <a:solidFill>
              <a:srgbClr val="6B7280"/>
            </a:solidFill>
            <a:prstDash val="solid"/>
            <a:tailEnd type="triangle"/>
          </a:ln>
        </p:spPr>
      </p:sp>
      <p:sp>
        <p:nvSpPr>
          <p:cNvPr id="7" name="Shape 4"/>
          <p:cNvSpPr/>
          <p:nvPr/>
        </p:nvSpPr>
        <p:spPr>
          <a:xfrm flipV="1">
            <a:off x="914400" y="1554480"/>
            <a:ext cx="1280160" cy="2560320"/>
          </a:xfrm>
          <a:prstGeom prst="line">
            <a:avLst/>
          </a:prstGeom>
          <a:noFill/>
          <a:ln w="28575">
            <a:solidFill>
              <a:srgbClr val="B5432A"/>
            </a:solidFill>
            <a:prstDash val="solid"/>
            <a:tailEnd type="triangle"/>
          </a:ln>
        </p:spPr>
      </p:sp>
      <p:sp>
        <p:nvSpPr>
          <p:cNvPr id="8" name="Shape 5"/>
          <p:cNvSpPr/>
          <p:nvPr/>
        </p:nvSpPr>
        <p:spPr>
          <a:xfrm flipV="1">
            <a:off x="914400" y="2834640"/>
            <a:ext cx="3200400" cy="1280160"/>
          </a:xfrm>
          <a:prstGeom prst="line">
            <a:avLst/>
          </a:prstGeom>
          <a:noFill/>
          <a:ln w="28575">
            <a:solidFill>
              <a:srgbClr val="2F5D8A"/>
            </a:solidFill>
            <a:prstDash val="solid"/>
            <a:tailEnd type="triangle"/>
          </a:ln>
        </p:spPr>
      </p:sp>
      <p:sp>
        <p:nvSpPr>
          <p:cNvPr id="9" name="Text 6"/>
          <p:cNvSpPr txBox="1"/>
          <p:nvPr/>
        </p:nvSpPr>
        <p:spPr>
          <a:xfrm>
            <a:off x="2331720" y="1463040"/>
            <a:ext cx="1188720" cy="228600"/>
          </a:xfrm>
          <a:prstGeom prst="rect">
            <a:avLst/>
          </a:prstGeom>
          <a:noFill/>
          <a:ln/>
        </p:spPr>
        <p:txBody>
          <a:bodyPr wrap="square" lIns="0" tIns="0" rIns="0" bIns="0" rtlCol="0" anchor="t"/>
          <a:lstStyle/>
          <a:p>
            <a:pPr indent="0" marL="0">
              <a:buNone/>
            </a:pPr>
            <a:r>
              <a:rPr lang="en-US" sz="1300" i="1" dirty="0">
                <a:solidFill>
                  <a:schemeClr val="accent1"/>
                </a:solidFill>
                <a:latin typeface="Cambria" pitchFamily="34" charset="0"/>
                <a:ea typeface="Cambria" pitchFamily="34" charset="-122"/>
                <a:cs typeface="Cambria" pitchFamily="34" charset="-120"/>
              </a:rPr>
              <a:t>a = (2, 4)</a:t>
            </a:r>
            <a:endParaRPr lang="en-US" sz="1300" dirty="0"/>
          </a:p>
        </p:txBody>
      </p:sp>
      <p:sp>
        <p:nvSpPr>
          <p:cNvPr id="10" name="Text 7"/>
          <p:cNvSpPr txBox="1"/>
          <p:nvPr/>
        </p:nvSpPr>
        <p:spPr>
          <a:xfrm>
            <a:off x="4160520" y="2880360"/>
            <a:ext cx="914400" cy="228600"/>
          </a:xfrm>
          <a:prstGeom prst="rect">
            <a:avLst/>
          </a:prstGeom>
          <a:noFill/>
          <a:ln/>
        </p:spPr>
        <p:txBody>
          <a:bodyPr wrap="square" lIns="0" tIns="0" rIns="0" bIns="0" rtlCol="0" anchor="t"/>
          <a:lstStyle/>
          <a:p>
            <a:pPr indent="0" marL="0">
              <a:buNone/>
            </a:pPr>
            <a:r>
              <a:rPr lang="en-US" sz="1300" i="1" dirty="0">
                <a:solidFill>
                  <a:schemeClr val="accent2"/>
                </a:solidFill>
                <a:latin typeface="Cambria" pitchFamily="34" charset="0"/>
                <a:ea typeface="Cambria" pitchFamily="34" charset="-122"/>
                <a:cs typeface="Cambria" pitchFamily="34" charset="-120"/>
              </a:rPr>
              <a:t>b = (5, 2)</a:t>
            </a:r>
            <a:endParaRPr lang="en-US" sz="1300" dirty="0"/>
          </a:p>
        </p:txBody>
      </p:sp>
      <p:sp>
        <p:nvSpPr>
          <p:cNvPr id="11" name="Text 8"/>
          <p:cNvSpPr txBox="1"/>
          <p:nvPr/>
        </p:nvSpPr>
        <p:spPr>
          <a:xfrm>
            <a:off x="1828800" y="3291840"/>
            <a:ext cx="365760" cy="274320"/>
          </a:xfrm>
          <a:prstGeom prst="rect">
            <a:avLst/>
          </a:prstGeom>
          <a:noFill/>
          <a:ln/>
        </p:spPr>
        <p:txBody>
          <a:bodyPr wrap="square" lIns="0" tIns="0" rIns="0" bIns="0" rtlCol="0" anchor="t"/>
          <a:lstStyle/>
          <a:p>
            <a:pPr indent="0" marL="0">
              <a:buNone/>
            </a:pPr>
            <a:r>
              <a:rPr lang="en-US" sz="1800" i="1" dirty="0">
                <a:solidFill>
                  <a:schemeClr val="tx1"/>
                </a:solidFill>
                <a:latin typeface="Cambria" pitchFamily="34" charset="0"/>
                <a:ea typeface="Cambria" pitchFamily="34" charset="-122"/>
                <a:cs typeface="Cambria" pitchFamily="34" charset="-120"/>
              </a:rPr>
              <a:t>θ</a:t>
            </a:r>
            <a:endParaRPr lang="en-US" sz="1800" dirty="0"/>
          </a:p>
        </p:txBody>
      </p:sp>
      <p:sp>
        <p:nvSpPr>
          <p:cNvPr id="12" name="Text 9"/>
          <p:cNvSpPr txBox="1"/>
          <p:nvPr/>
        </p:nvSpPr>
        <p:spPr>
          <a:xfrm>
            <a:off x="594360" y="4434840"/>
            <a:ext cx="45720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3.1  Two vectors and the angle between them</a:t>
            </a:r>
            <a:endParaRPr lang="en-US" sz="1100" dirty="0"/>
          </a:p>
        </p:txBody>
      </p:sp>
      <p:sp>
        <p:nvSpPr>
          <p:cNvPr id="13" name="Text 10"/>
          <p:cNvSpPr txBox="1"/>
          <p:nvPr/>
        </p:nvSpPr>
        <p:spPr>
          <a:xfrm>
            <a:off x="5486400" y="1280160"/>
            <a:ext cx="3200400" cy="3108960"/>
          </a:xfrm>
          <a:prstGeom prst="rect">
            <a:avLst/>
          </a:prstGeom>
          <a:noFill/>
          <a:ln/>
        </p:spPr>
        <p:txBody>
          <a:bodyPr wrap="square" lIns="0" tIns="0" rIns="0" bIns="0" rtlCol="0" anchor="t"/>
          <a:lstStyle/>
          <a:p>
            <a:pPr indent="0" marL="0">
              <a:buNone/>
            </a:pPr>
            <a:r>
              <a:rPr lang="en-US" sz="1400" b="1" dirty="0">
                <a:solidFill>
                  <a:schemeClr val="tx1"/>
                </a:solidFill>
              </a:rPr>
              <a:t>Length</a:t>
            </a:r>
            <a:endParaRPr lang="en-US" sz="1400" dirty="0"/>
          </a:p>
          <a:p>
            <a:pPr indent="0" marL="0">
              <a:spcAft>
                <a:spcPts val="1200"/>
              </a:spcAft>
              <a:buNone/>
            </a:pPr>
            <a:r>
              <a:rPr lang="en-US" sz="1200" dirty="0">
                <a:solidFill>
                  <a:schemeClr val="tx1"/>
                </a:solidFill>
                <a:latin typeface="Courier New" pitchFamily="34" charset="0"/>
                <a:ea typeface="Courier New" pitchFamily="34" charset="-122"/>
                <a:cs typeface="Courier New" pitchFamily="34" charset="-120"/>
              </a:rPr>
              <a:t>|a| = sqrt( a1² + a2² + ... + ad² )</a:t>
            </a:r>
            <a:endParaRPr lang="en-US" sz="1400" dirty="0"/>
          </a:p>
          <a:p>
            <a:pPr indent="0" marL="0">
              <a:buNone/>
            </a:pPr>
            <a:r>
              <a:rPr lang="en-US" sz="1400" b="1" dirty="0">
                <a:solidFill>
                  <a:schemeClr val="tx1"/>
                </a:solidFill>
              </a:rPr>
              <a:t>Direction</a:t>
            </a:r>
            <a:endParaRPr lang="en-US" sz="1400" dirty="0"/>
          </a:p>
          <a:p>
            <a:pPr indent="0" marL="0">
              <a:spcAft>
                <a:spcPts val="1200"/>
              </a:spcAft>
              <a:buNone/>
            </a:pPr>
            <a:r>
              <a:rPr lang="en-US" sz="1400" dirty="0">
                <a:solidFill>
                  <a:schemeClr val="tx1"/>
                </a:solidFill>
              </a:rPr>
              <a:t>What a vector points toward; the angle θ compares two directions.</a:t>
            </a:r>
            <a:endParaRPr lang="en-US" sz="1400" dirty="0"/>
          </a:p>
          <a:p>
            <a:pPr indent="0" marL="0">
              <a:buNone/>
            </a:pPr>
            <a:r>
              <a:rPr lang="en-US" sz="1400" i="1" dirty="0">
                <a:solidFill>
                  <a:srgbClr val="B5432A"/>
                </a:solidFill>
                <a:latin typeface="Cambria" pitchFamily="34" charset="0"/>
                <a:ea typeface="Cambria" pitchFamily="34" charset="-122"/>
                <a:cs typeface="Cambria" pitchFamily="34" charset="-120"/>
              </a:rPr>
              <a:t>Metrics differ in what they use: the angle, the lengths, or both.</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Cosine similarity compares direction</a:t>
            </a:r>
            <a:endParaRPr lang="en-US" sz="3000" dirty="0"/>
          </a:p>
        </p:txBody>
      </p:sp>
      <p:sp>
        <p:nvSpPr>
          <p:cNvPr id="4" name="Shape 1"/>
          <p:cNvSpPr/>
          <p:nvPr/>
        </p:nvSpPr>
        <p:spPr>
          <a:xfrm>
            <a:off x="457200" y="1280160"/>
            <a:ext cx="2651760" cy="2103120"/>
          </a:xfrm>
          <a:prstGeom prst="rect">
            <a:avLst/>
          </a:prstGeom>
          <a:solidFill>
            <a:schemeClr val="bg1"/>
          </a:solidFill>
          <a:ln w="12700">
            <a:solidFill>
              <a:schemeClr val="accent6"/>
            </a:solidFill>
            <a:prstDash val="solid"/>
          </a:ln>
        </p:spPr>
      </p:sp>
      <p:sp>
        <p:nvSpPr>
          <p:cNvPr id="5" name="Shape 2"/>
          <p:cNvSpPr/>
          <p:nvPr/>
        </p:nvSpPr>
        <p:spPr>
          <a:xfrm flipV="1">
            <a:off x="914400" y="1737360"/>
            <a:ext cx="1828800" cy="1097280"/>
          </a:xfrm>
          <a:prstGeom prst="line">
            <a:avLst/>
          </a:prstGeom>
          <a:noFill/>
          <a:ln w="28575">
            <a:solidFill>
              <a:srgbClr val="B5432A"/>
            </a:solidFill>
            <a:prstDash val="solid"/>
            <a:tailEnd type="triangle"/>
          </a:ln>
        </p:spPr>
      </p:sp>
      <p:sp>
        <p:nvSpPr>
          <p:cNvPr id="6" name="Shape 3"/>
          <p:cNvSpPr/>
          <p:nvPr/>
        </p:nvSpPr>
        <p:spPr>
          <a:xfrm flipV="1">
            <a:off x="914400" y="2066544"/>
            <a:ext cx="1280160" cy="768096"/>
          </a:xfrm>
          <a:prstGeom prst="line">
            <a:avLst/>
          </a:prstGeom>
          <a:noFill/>
          <a:ln w="28575">
            <a:solidFill>
              <a:srgbClr val="2F5D8A"/>
            </a:solidFill>
            <a:prstDash val="solid"/>
            <a:tailEnd type="triangle"/>
          </a:ln>
        </p:spPr>
      </p:sp>
      <p:sp>
        <p:nvSpPr>
          <p:cNvPr id="7" name="Text 4"/>
          <p:cNvSpPr txBox="1"/>
          <p:nvPr/>
        </p:nvSpPr>
        <p:spPr>
          <a:xfrm>
            <a:off x="457200" y="2926080"/>
            <a:ext cx="2651760" cy="320040"/>
          </a:xfrm>
          <a:prstGeom prst="rect">
            <a:avLst/>
          </a:prstGeom>
          <a:noFill/>
          <a:ln/>
        </p:spPr>
        <p:txBody>
          <a:bodyPr wrap="square" lIns="0" tIns="0" rIns="0" bIns="0" rtlCol="0" anchor="t"/>
          <a:lstStyle/>
          <a:p>
            <a:pPr algn="ctr" indent="0" marL="0">
              <a:buNone/>
            </a:pPr>
            <a:r>
              <a:rPr lang="en-US" sz="1400" b="1" dirty="0">
                <a:solidFill>
                  <a:schemeClr val="tx1"/>
                </a:solidFill>
                <a:latin typeface="Cambria" pitchFamily="34" charset="0"/>
                <a:ea typeface="Cambria" pitchFamily="34" charset="-122"/>
                <a:cs typeface="Cambria" pitchFamily="34" charset="-120"/>
              </a:rPr>
              <a:t>θ = 0°   cos = 1</a:t>
            </a:r>
            <a:endParaRPr lang="en-US" sz="1400" dirty="0"/>
          </a:p>
        </p:txBody>
      </p:sp>
      <p:sp>
        <p:nvSpPr>
          <p:cNvPr id="8" name="Shape 5"/>
          <p:cNvSpPr/>
          <p:nvPr/>
        </p:nvSpPr>
        <p:spPr>
          <a:xfrm>
            <a:off x="3291840" y="1280160"/>
            <a:ext cx="2651760" cy="2103120"/>
          </a:xfrm>
          <a:prstGeom prst="rect">
            <a:avLst/>
          </a:prstGeom>
          <a:solidFill>
            <a:schemeClr val="bg1"/>
          </a:solidFill>
          <a:ln w="12700">
            <a:solidFill>
              <a:schemeClr val="accent6"/>
            </a:solidFill>
            <a:prstDash val="solid"/>
          </a:ln>
        </p:spPr>
      </p:sp>
      <p:sp>
        <p:nvSpPr>
          <p:cNvPr id="9" name="Shape 6"/>
          <p:cNvSpPr/>
          <p:nvPr/>
        </p:nvSpPr>
        <p:spPr>
          <a:xfrm>
            <a:off x="3840480" y="1645920"/>
            <a:ext cx="0" cy="1188720"/>
          </a:xfrm>
          <a:prstGeom prst="line">
            <a:avLst/>
          </a:prstGeom>
          <a:noFill/>
          <a:ln w="28575">
            <a:solidFill>
              <a:srgbClr val="B5432A"/>
            </a:solidFill>
            <a:prstDash val="solid"/>
            <a:tailEnd type="triangle"/>
          </a:ln>
        </p:spPr>
      </p:sp>
      <p:sp>
        <p:nvSpPr>
          <p:cNvPr id="10" name="Shape 7"/>
          <p:cNvSpPr/>
          <p:nvPr/>
        </p:nvSpPr>
        <p:spPr>
          <a:xfrm>
            <a:off x="3840480" y="2834640"/>
            <a:ext cx="1645920" cy="0"/>
          </a:xfrm>
          <a:prstGeom prst="line">
            <a:avLst/>
          </a:prstGeom>
          <a:noFill/>
          <a:ln w="28575">
            <a:solidFill>
              <a:srgbClr val="2F5D8A"/>
            </a:solidFill>
            <a:prstDash val="solid"/>
            <a:tailEnd type="triangle"/>
          </a:ln>
        </p:spPr>
      </p:sp>
      <p:sp>
        <p:nvSpPr>
          <p:cNvPr id="11" name="Text 8"/>
          <p:cNvSpPr txBox="1"/>
          <p:nvPr/>
        </p:nvSpPr>
        <p:spPr>
          <a:xfrm>
            <a:off x="3291840" y="2926080"/>
            <a:ext cx="2651760" cy="320040"/>
          </a:xfrm>
          <a:prstGeom prst="rect">
            <a:avLst/>
          </a:prstGeom>
          <a:noFill/>
          <a:ln/>
        </p:spPr>
        <p:txBody>
          <a:bodyPr wrap="square" lIns="0" tIns="0" rIns="0" bIns="0" rtlCol="0" anchor="t"/>
          <a:lstStyle/>
          <a:p>
            <a:pPr algn="ctr" indent="0" marL="0">
              <a:buNone/>
            </a:pPr>
            <a:r>
              <a:rPr lang="en-US" sz="1400" b="1" dirty="0">
                <a:solidFill>
                  <a:schemeClr val="tx1"/>
                </a:solidFill>
                <a:latin typeface="Cambria" pitchFamily="34" charset="0"/>
                <a:ea typeface="Cambria" pitchFamily="34" charset="-122"/>
                <a:cs typeface="Cambria" pitchFamily="34" charset="-120"/>
              </a:rPr>
              <a:t>θ = 90°   cos = 0</a:t>
            </a:r>
            <a:endParaRPr lang="en-US" sz="1400" dirty="0"/>
          </a:p>
        </p:txBody>
      </p:sp>
      <p:sp>
        <p:nvSpPr>
          <p:cNvPr id="12" name="Shape 9"/>
          <p:cNvSpPr/>
          <p:nvPr/>
        </p:nvSpPr>
        <p:spPr>
          <a:xfrm>
            <a:off x="6126480" y="1280160"/>
            <a:ext cx="2651760" cy="2103120"/>
          </a:xfrm>
          <a:prstGeom prst="rect">
            <a:avLst/>
          </a:prstGeom>
          <a:solidFill>
            <a:schemeClr val="bg1"/>
          </a:solidFill>
          <a:ln w="12700">
            <a:solidFill>
              <a:schemeClr val="accent6"/>
            </a:solidFill>
            <a:prstDash val="solid"/>
          </a:ln>
        </p:spPr>
      </p:sp>
      <p:sp>
        <p:nvSpPr>
          <p:cNvPr id="13" name="Shape 10"/>
          <p:cNvSpPr/>
          <p:nvPr/>
        </p:nvSpPr>
        <p:spPr>
          <a:xfrm>
            <a:off x="7452360" y="2377440"/>
            <a:ext cx="1005840" cy="0"/>
          </a:xfrm>
          <a:prstGeom prst="line">
            <a:avLst/>
          </a:prstGeom>
          <a:noFill/>
          <a:ln w="28575">
            <a:solidFill>
              <a:srgbClr val="B5432A"/>
            </a:solidFill>
            <a:prstDash val="solid"/>
            <a:tailEnd type="triangle"/>
          </a:ln>
        </p:spPr>
      </p:sp>
      <p:sp>
        <p:nvSpPr>
          <p:cNvPr id="14" name="Shape 11"/>
          <p:cNvSpPr/>
          <p:nvPr/>
        </p:nvSpPr>
        <p:spPr>
          <a:xfrm>
            <a:off x="6446520" y="2377440"/>
            <a:ext cx="1005840" cy="0"/>
          </a:xfrm>
          <a:prstGeom prst="line">
            <a:avLst/>
          </a:prstGeom>
          <a:noFill/>
          <a:ln w="28575">
            <a:solidFill>
              <a:srgbClr val="2F5D8A"/>
            </a:solidFill>
            <a:prstDash val="solid"/>
            <a:tailEnd type="triangle"/>
          </a:ln>
        </p:spPr>
      </p:sp>
      <p:sp>
        <p:nvSpPr>
          <p:cNvPr id="15" name="Text 12"/>
          <p:cNvSpPr txBox="1"/>
          <p:nvPr/>
        </p:nvSpPr>
        <p:spPr>
          <a:xfrm>
            <a:off x="6126480" y="2926080"/>
            <a:ext cx="2651760" cy="320040"/>
          </a:xfrm>
          <a:prstGeom prst="rect">
            <a:avLst/>
          </a:prstGeom>
          <a:noFill/>
          <a:ln/>
        </p:spPr>
        <p:txBody>
          <a:bodyPr wrap="square" lIns="0" tIns="0" rIns="0" bIns="0" rtlCol="0" anchor="t"/>
          <a:lstStyle/>
          <a:p>
            <a:pPr algn="ctr" indent="0" marL="0">
              <a:buNone/>
            </a:pPr>
            <a:r>
              <a:rPr lang="en-US" sz="1400" b="1" dirty="0">
                <a:solidFill>
                  <a:schemeClr val="tx1"/>
                </a:solidFill>
                <a:latin typeface="Cambria" pitchFamily="34" charset="0"/>
                <a:ea typeface="Cambria" pitchFamily="34" charset="-122"/>
                <a:cs typeface="Cambria" pitchFamily="34" charset="-120"/>
              </a:rPr>
              <a:t>θ = 180°   cos = −1</a:t>
            </a:r>
            <a:endParaRPr lang="en-US" sz="1400" dirty="0"/>
          </a:p>
        </p:txBody>
      </p:sp>
      <p:sp>
        <p:nvSpPr>
          <p:cNvPr id="16" name="Text 13"/>
          <p:cNvSpPr txBox="1"/>
          <p:nvPr/>
        </p:nvSpPr>
        <p:spPr>
          <a:xfrm>
            <a:off x="457200" y="3474720"/>
            <a:ext cx="5486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3.2  Same direction, perpendicular, opposite</a:t>
            </a:r>
            <a:endParaRPr lang="en-US" sz="1100" dirty="0"/>
          </a:p>
        </p:txBody>
      </p:sp>
      <p:sp>
        <p:nvSpPr>
          <p:cNvPr id="17" name="Text 14"/>
          <p:cNvSpPr txBox="1"/>
          <p:nvPr/>
        </p:nvSpPr>
        <p:spPr>
          <a:xfrm>
            <a:off x="457200" y="3840480"/>
            <a:ext cx="5303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cos(a, b) = a · b / ( |a| |b| )</a:t>
            </a:r>
            <a:endParaRPr lang="en-US" sz="2200" dirty="0"/>
          </a:p>
        </p:txBody>
      </p:sp>
      <p:sp>
        <p:nvSpPr>
          <p:cNvPr id="18" name="Text 15"/>
          <p:cNvSpPr txBox="1"/>
          <p:nvPr/>
        </p:nvSpPr>
        <p:spPr>
          <a:xfrm>
            <a:off x="5760720" y="3794760"/>
            <a:ext cx="2926080" cy="777240"/>
          </a:xfrm>
          <a:prstGeom prst="rect">
            <a:avLst/>
          </a:prstGeom>
          <a:noFill/>
          <a:ln/>
        </p:spPr>
        <p:txBody>
          <a:bodyPr wrap="square" lIns="0" tIns="0" rIns="0" bIns="0" rtlCol="0" anchor="t"/>
          <a:lstStyle/>
          <a:p>
            <a:pPr indent="0" marL="0">
              <a:buNone/>
            </a:pPr>
            <a:r>
              <a:rPr lang="en-US" sz="1300" i="1" dirty="0">
                <a:solidFill>
                  <a:srgbClr val="6B7280"/>
                </a:solidFill>
                <a:latin typeface="Cambria" pitchFamily="34" charset="0"/>
                <a:ea typeface="Cambria" pitchFamily="34" charset="-122"/>
                <a:cs typeface="Cambria" pitchFamily="34" charset="-120"/>
              </a:rPr>
              <a:t>Direction only; length is ignored. Scores depend on the model, so do not reuse thresholds across models.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dot product mixes angle and length</a:t>
            </a:r>
            <a:endParaRPr lang="en-US" sz="3000" dirty="0"/>
          </a:p>
        </p:txBody>
      </p:sp>
      <p:sp>
        <p:nvSpPr>
          <p:cNvPr id="4" name="Shape 1"/>
          <p:cNvSpPr/>
          <p:nvPr/>
        </p:nvSpPr>
        <p:spPr>
          <a:xfrm>
            <a:off x="457200" y="1280160"/>
            <a:ext cx="4754880" cy="3108960"/>
          </a:xfrm>
          <a:prstGeom prst="rect">
            <a:avLst/>
          </a:prstGeom>
          <a:solidFill>
            <a:schemeClr val="bg1"/>
          </a:solidFill>
          <a:ln w="12700">
            <a:solidFill>
              <a:schemeClr val="accent6"/>
            </a:solidFill>
            <a:prstDash val="solid"/>
          </a:ln>
        </p:spPr>
      </p:sp>
      <p:sp>
        <p:nvSpPr>
          <p:cNvPr id="5" name="Shape 2"/>
          <p:cNvSpPr/>
          <p:nvPr/>
        </p:nvSpPr>
        <p:spPr>
          <a:xfrm>
            <a:off x="914400" y="3657600"/>
            <a:ext cx="4023360" cy="0"/>
          </a:xfrm>
          <a:prstGeom prst="line">
            <a:avLst/>
          </a:prstGeom>
          <a:noFill/>
          <a:ln w="12700">
            <a:solidFill>
              <a:srgbClr val="6B7280"/>
            </a:solidFill>
            <a:prstDash val="solid"/>
            <a:tailEnd type="triangle"/>
          </a:ln>
        </p:spPr>
      </p:sp>
      <p:sp>
        <p:nvSpPr>
          <p:cNvPr id="6" name="Shape 3"/>
          <p:cNvSpPr/>
          <p:nvPr/>
        </p:nvSpPr>
        <p:spPr>
          <a:xfrm>
            <a:off x="914400" y="1554480"/>
            <a:ext cx="0" cy="2103120"/>
          </a:xfrm>
          <a:prstGeom prst="line">
            <a:avLst/>
          </a:prstGeom>
          <a:noFill/>
          <a:ln w="12700">
            <a:solidFill>
              <a:srgbClr val="6B7280"/>
            </a:solidFill>
            <a:prstDash val="solid"/>
            <a:tailEnd type="triangle"/>
          </a:ln>
        </p:spPr>
      </p:sp>
      <p:sp>
        <p:nvSpPr>
          <p:cNvPr id="7" name="Shape 4"/>
          <p:cNvSpPr/>
          <p:nvPr/>
        </p:nvSpPr>
        <p:spPr>
          <a:xfrm>
            <a:off x="914400" y="3657600"/>
            <a:ext cx="3200400" cy="0"/>
          </a:xfrm>
          <a:prstGeom prst="line">
            <a:avLst/>
          </a:prstGeom>
          <a:noFill/>
          <a:ln w="28575">
            <a:solidFill>
              <a:srgbClr val="2F5D8A"/>
            </a:solidFill>
            <a:prstDash val="solid"/>
            <a:tailEnd type="triangle"/>
          </a:ln>
        </p:spPr>
      </p:sp>
      <p:sp>
        <p:nvSpPr>
          <p:cNvPr id="8" name="Shape 5"/>
          <p:cNvSpPr/>
          <p:nvPr/>
        </p:nvSpPr>
        <p:spPr>
          <a:xfrm flipV="1">
            <a:off x="914400" y="1737360"/>
            <a:ext cx="1920240" cy="1920240"/>
          </a:xfrm>
          <a:prstGeom prst="line">
            <a:avLst/>
          </a:prstGeom>
          <a:noFill/>
          <a:ln w="28575">
            <a:solidFill>
              <a:srgbClr val="B5432A"/>
            </a:solidFill>
            <a:prstDash val="solid"/>
            <a:tailEnd type="triangle"/>
          </a:ln>
        </p:spPr>
      </p:sp>
      <p:sp>
        <p:nvSpPr>
          <p:cNvPr id="9" name="Shape 6"/>
          <p:cNvSpPr/>
          <p:nvPr/>
        </p:nvSpPr>
        <p:spPr>
          <a:xfrm>
            <a:off x="2834640" y="1737360"/>
            <a:ext cx="0" cy="1920240"/>
          </a:xfrm>
          <a:prstGeom prst="line">
            <a:avLst/>
          </a:prstGeom>
          <a:noFill/>
          <a:ln w="12700">
            <a:solidFill>
              <a:srgbClr val="6B7280"/>
            </a:solidFill>
            <a:prstDash val="dash"/>
          </a:ln>
        </p:spPr>
      </p:sp>
      <p:sp>
        <p:nvSpPr>
          <p:cNvPr id="10" name="Shape 7"/>
          <p:cNvSpPr/>
          <p:nvPr/>
        </p:nvSpPr>
        <p:spPr>
          <a:xfrm>
            <a:off x="914400" y="3794760"/>
            <a:ext cx="1920240" cy="0"/>
          </a:xfrm>
          <a:prstGeom prst="line">
            <a:avLst/>
          </a:prstGeom>
          <a:noFill/>
          <a:ln w="50800">
            <a:solidFill>
              <a:srgbClr val="3B7A57"/>
            </a:solidFill>
            <a:prstDash val="solid"/>
          </a:ln>
        </p:spPr>
      </p:sp>
      <p:sp>
        <p:nvSpPr>
          <p:cNvPr id="11" name="Text 8"/>
          <p:cNvSpPr txBox="1"/>
          <p:nvPr/>
        </p:nvSpPr>
        <p:spPr>
          <a:xfrm>
            <a:off x="4206240" y="3520440"/>
            <a:ext cx="274320" cy="228600"/>
          </a:xfrm>
          <a:prstGeom prst="rect">
            <a:avLst/>
          </a:prstGeom>
          <a:noFill/>
          <a:ln/>
        </p:spPr>
        <p:txBody>
          <a:bodyPr wrap="square" lIns="0" tIns="0" rIns="0" bIns="0" rtlCol="0" anchor="t"/>
          <a:lstStyle/>
          <a:p>
            <a:pPr indent="0" marL="0">
              <a:buNone/>
            </a:pPr>
            <a:r>
              <a:rPr lang="en-US" sz="1400" i="1" dirty="0">
                <a:solidFill>
                  <a:schemeClr val="accent2"/>
                </a:solidFill>
                <a:latin typeface="Cambria" pitchFamily="34" charset="0"/>
                <a:ea typeface="Cambria" pitchFamily="34" charset="-122"/>
                <a:cs typeface="Cambria" pitchFamily="34" charset="-120"/>
              </a:rPr>
              <a:t>a</a:t>
            </a:r>
            <a:endParaRPr lang="en-US" sz="1400" dirty="0"/>
          </a:p>
        </p:txBody>
      </p:sp>
      <p:sp>
        <p:nvSpPr>
          <p:cNvPr id="12" name="Text 9"/>
          <p:cNvSpPr txBox="1"/>
          <p:nvPr/>
        </p:nvSpPr>
        <p:spPr>
          <a:xfrm>
            <a:off x="2971800" y="1645920"/>
            <a:ext cx="274320" cy="228600"/>
          </a:xfrm>
          <a:prstGeom prst="rect">
            <a:avLst/>
          </a:prstGeom>
          <a:noFill/>
          <a:ln/>
        </p:spPr>
        <p:txBody>
          <a:bodyPr wrap="square" lIns="0" tIns="0" rIns="0" bIns="0" rtlCol="0" anchor="t"/>
          <a:lstStyle/>
          <a:p>
            <a:pPr indent="0" marL="0">
              <a:buNone/>
            </a:pPr>
            <a:r>
              <a:rPr lang="en-US" sz="1400" i="1" dirty="0">
                <a:solidFill>
                  <a:schemeClr val="accent1"/>
                </a:solidFill>
                <a:latin typeface="Cambria" pitchFamily="34" charset="0"/>
                <a:ea typeface="Cambria" pitchFamily="34" charset="-122"/>
                <a:cs typeface="Cambria" pitchFamily="34" charset="-120"/>
              </a:rPr>
              <a:t>b</a:t>
            </a:r>
            <a:endParaRPr lang="en-US" sz="1400" dirty="0"/>
          </a:p>
        </p:txBody>
      </p:sp>
      <p:sp>
        <p:nvSpPr>
          <p:cNvPr id="13" name="Text 10"/>
          <p:cNvSpPr txBox="1"/>
          <p:nvPr/>
        </p:nvSpPr>
        <p:spPr>
          <a:xfrm>
            <a:off x="1645920" y="3246120"/>
            <a:ext cx="365760" cy="274320"/>
          </a:xfrm>
          <a:prstGeom prst="rect">
            <a:avLst/>
          </a:prstGeom>
          <a:noFill/>
          <a:ln/>
        </p:spPr>
        <p:txBody>
          <a:bodyPr wrap="square" lIns="0" tIns="0" rIns="0" bIns="0" rtlCol="0" anchor="t"/>
          <a:lstStyle/>
          <a:p>
            <a:pPr indent="0" marL="0">
              <a:buNone/>
            </a:pPr>
            <a:r>
              <a:rPr lang="en-US" sz="1800" i="1" dirty="0">
                <a:solidFill>
                  <a:schemeClr val="tx1"/>
                </a:solidFill>
                <a:latin typeface="Cambria" pitchFamily="34" charset="0"/>
                <a:ea typeface="Cambria" pitchFamily="34" charset="-122"/>
                <a:cs typeface="Cambria" pitchFamily="34" charset="-120"/>
              </a:rPr>
              <a:t>θ</a:t>
            </a:r>
            <a:endParaRPr lang="en-US" sz="1800" dirty="0"/>
          </a:p>
        </p:txBody>
      </p:sp>
      <p:sp>
        <p:nvSpPr>
          <p:cNvPr id="14" name="Text 11"/>
          <p:cNvSpPr txBox="1"/>
          <p:nvPr/>
        </p:nvSpPr>
        <p:spPr>
          <a:xfrm>
            <a:off x="1280160" y="3886200"/>
            <a:ext cx="1280160" cy="228600"/>
          </a:xfrm>
          <a:prstGeom prst="rect">
            <a:avLst/>
          </a:prstGeom>
          <a:noFill/>
          <a:ln/>
        </p:spPr>
        <p:txBody>
          <a:bodyPr wrap="square" lIns="0" tIns="0" rIns="0" bIns="0" rtlCol="0" anchor="t"/>
          <a:lstStyle/>
          <a:p>
            <a:pPr indent="0" marL="0">
              <a:buNone/>
            </a:pPr>
            <a:r>
              <a:rPr lang="en-US" sz="1200" i="1" dirty="0">
                <a:solidFill>
                  <a:schemeClr val="accent3"/>
                </a:solidFill>
                <a:latin typeface="Cambria" pitchFamily="34" charset="0"/>
                <a:ea typeface="Cambria" pitchFamily="34" charset="-122"/>
                <a:cs typeface="Cambria" pitchFamily="34" charset="-120"/>
              </a:rPr>
              <a:t>|b| cos θ</a:t>
            </a:r>
            <a:endParaRPr lang="en-US" sz="1200" dirty="0"/>
          </a:p>
        </p:txBody>
      </p:sp>
      <p:sp>
        <p:nvSpPr>
          <p:cNvPr id="15" name="Text 12"/>
          <p:cNvSpPr txBox="1"/>
          <p:nvPr/>
        </p:nvSpPr>
        <p:spPr>
          <a:xfrm>
            <a:off x="594360" y="4434840"/>
            <a:ext cx="45720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3.3  Projection of b onto a</a:t>
            </a:r>
            <a:endParaRPr lang="en-US" sz="1100" dirty="0"/>
          </a:p>
        </p:txBody>
      </p:sp>
      <p:sp>
        <p:nvSpPr>
          <p:cNvPr id="16" name="Text 13"/>
          <p:cNvSpPr txBox="1"/>
          <p:nvPr/>
        </p:nvSpPr>
        <p:spPr>
          <a:xfrm>
            <a:off x="5486400" y="1280160"/>
            <a:ext cx="3200400" cy="73152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a · b = Σ a_i b_i = |a| |b| cos θ</a:t>
            </a:r>
            <a:endParaRPr lang="en-US" sz="1800" dirty="0"/>
          </a:p>
        </p:txBody>
      </p:sp>
      <p:sp>
        <p:nvSpPr>
          <p:cNvPr id="17" name="Text 14"/>
          <p:cNvSpPr txBox="1"/>
          <p:nvPr/>
        </p:nvSpPr>
        <p:spPr>
          <a:xfrm>
            <a:off x="5486400" y="2103120"/>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Cheap to compute: multiply and add</a:t>
            </a:r>
            <a:endParaRPr lang="en-US" sz="1400" dirty="0"/>
          </a:p>
          <a:p>
            <a:pPr marL="342900" indent="-342900">
              <a:spcAft>
                <a:spcPts val="800"/>
              </a:spcAft>
              <a:buSzPct val="100000"/>
              <a:buChar char="•"/>
            </a:pPr>
            <a:r>
              <a:rPr lang="en-US" sz="1400" dirty="0">
                <a:solidFill>
                  <a:schemeClr val="tx1"/>
                </a:solidFill>
              </a:rPr>
              <a:t>Grows with the length of either vector</a:t>
            </a:r>
            <a:endParaRPr lang="en-US" sz="1400" dirty="0"/>
          </a:p>
          <a:p>
            <a:pPr marL="342900" indent="-342900">
              <a:spcAft>
                <a:spcPts val="800"/>
              </a:spcAft>
              <a:buSzPct val="100000"/>
              <a:buChar char="•"/>
            </a:pPr>
            <a:r>
              <a:rPr lang="en-US" sz="1400" dirty="0">
                <a:solidFill>
                  <a:schemeClr val="tx1"/>
                </a:solidFill>
              </a:rPr>
              <a:t>Equals cosine when both vectors have length 1</a:t>
            </a:r>
            <a:endParaRPr lang="en-US" sz="1400" dirty="0"/>
          </a:p>
          <a:p>
            <a:pPr marL="342900" indent="-342900">
              <a:spcAft>
                <a:spcPts val="800"/>
              </a:spcAft>
              <a:buSzPct val="100000"/>
              <a:buChar char="•"/>
            </a:pPr>
            <a:r>
              <a:rPr lang="en-US" sz="1400" dirty="0">
                <a:solidFill>
                  <a:schemeClr val="tx1"/>
                </a:solidFill>
              </a:rPr>
              <a:t>Unbounded: scores have no fixed scale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Euclidean distance measures the gap</a:t>
            </a:r>
            <a:endParaRPr lang="en-US" sz="3000" dirty="0"/>
          </a:p>
        </p:txBody>
      </p:sp>
      <p:sp>
        <p:nvSpPr>
          <p:cNvPr id="4" name="Shape 1"/>
          <p:cNvSpPr/>
          <p:nvPr/>
        </p:nvSpPr>
        <p:spPr>
          <a:xfrm>
            <a:off x="457200" y="1280160"/>
            <a:ext cx="4754880" cy="3108960"/>
          </a:xfrm>
          <a:prstGeom prst="rect">
            <a:avLst/>
          </a:prstGeom>
          <a:solidFill>
            <a:schemeClr val="bg1"/>
          </a:solidFill>
          <a:ln w="12700">
            <a:solidFill>
              <a:schemeClr val="accent6"/>
            </a:solidFill>
            <a:prstDash val="solid"/>
          </a:ln>
        </p:spPr>
      </p:sp>
      <p:sp>
        <p:nvSpPr>
          <p:cNvPr id="5" name="Shape 2"/>
          <p:cNvSpPr/>
          <p:nvPr/>
        </p:nvSpPr>
        <p:spPr>
          <a:xfrm>
            <a:off x="1645920" y="2011680"/>
            <a:ext cx="2560320" cy="0"/>
          </a:xfrm>
          <a:prstGeom prst="line">
            <a:avLst/>
          </a:prstGeom>
          <a:noFill/>
          <a:ln w="12700">
            <a:solidFill>
              <a:srgbClr val="6B7280"/>
            </a:solidFill>
            <a:prstDash val="dash"/>
          </a:ln>
        </p:spPr>
      </p:sp>
      <p:sp>
        <p:nvSpPr>
          <p:cNvPr id="6" name="Shape 3"/>
          <p:cNvSpPr/>
          <p:nvPr/>
        </p:nvSpPr>
        <p:spPr>
          <a:xfrm>
            <a:off x="4206240" y="2011680"/>
            <a:ext cx="0" cy="1280160"/>
          </a:xfrm>
          <a:prstGeom prst="line">
            <a:avLst/>
          </a:prstGeom>
          <a:noFill/>
          <a:ln w="12700">
            <a:solidFill>
              <a:srgbClr val="6B7280"/>
            </a:solidFill>
            <a:prstDash val="dash"/>
          </a:ln>
        </p:spPr>
      </p:sp>
      <p:sp>
        <p:nvSpPr>
          <p:cNvPr id="7" name="Shape 4"/>
          <p:cNvSpPr/>
          <p:nvPr/>
        </p:nvSpPr>
        <p:spPr>
          <a:xfrm>
            <a:off x="1645920" y="2011680"/>
            <a:ext cx="2560320" cy="1280160"/>
          </a:xfrm>
          <a:prstGeom prst="line">
            <a:avLst/>
          </a:prstGeom>
          <a:noFill/>
          <a:ln w="28575">
            <a:solidFill>
              <a:srgbClr val="B5432A"/>
            </a:solidFill>
            <a:prstDash val="solid"/>
          </a:ln>
        </p:spPr>
      </p:sp>
      <p:sp>
        <p:nvSpPr>
          <p:cNvPr id="8" name="Shape 5"/>
          <p:cNvSpPr/>
          <p:nvPr/>
        </p:nvSpPr>
        <p:spPr>
          <a:xfrm>
            <a:off x="1591056" y="1956816"/>
            <a:ext cx="128016" cy="128016"/>
          </a:xfrm>
          <a:prstGeom prst="ellipse">
            <a:avLst/>
          </a:prstGeom>
          <a:solidFill>
            <a:srgbClr val="2F5D8A"/>
          </a:solidFill>
          <a:ln w="12700">
            <a:solidFill>
              <a:srgbClr val="2F5D8A"/>
            </a:solidFill>
            <a:prstDash val="solid"/>
          </a:ln>
        </p:spPr>
      </p:sp>
      <p:sp>
        <p:nvSpPr>
          <p:cNvPr id="9" name="Shape 6"/>
          <p:cNvSpPr/>
          <p:nvPr/>
        </p:nvSpPr>
        <p:spPr>
          <a:xfrm>
            <a:off x="4151376" y="3236976"/>
            <a:ext cx="128016" cy="128016"/>
          </a:xfrm>
          <a:prstGeom prst="ellipse">
            <a:avLst/>
          </a:prstGeom>
          <a:solidFill>
            <a:srgbClr val="2F5D8A"/>
          </a:solidFill>
          <a:ln w="12700">
            <a:solidFill>
              <a:srgbClr val="2F5D8A"/>
            </a:solidFill>
            <a:prstDash val="solid"/>
          </a:ln>
        </p:spPr>
      </p:sp>
      <p:sp>
        <p:nvSpPr>
          <p:cNvPr id="10" name="Text 7"/>
          <p:cNvSpPr txBox="1"/>
          <p:nvPr/>
        </p:nvSpPr>
        <p:spPr>
          <a:xfrm>
            <a:off x="1371600" y="1691640"/>
            <a:ext cx="274320" cy="22860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a</a:t>
            </a:r>
            <a:endParaRPr lang="en-US" sz="1400" dirty="0"/>
          </a:p>
        </p:txBody>
      </p:sp>
      <p:sp>
        <p:nvSpPr>
          <p:cNvPr id="11" name="Text 8"/>
          <p:cNvSpPr txBox="1"/>
          <p:nvPr/>
        </p:nvSpPr>
        <p:spPr>
          <a:xfrm>
            <a:off x="4343400" y="3200400"/>
            <a:ext cx="274320" cy="22860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b</a:t>
            </a:r>
            <a:endParaRPr lang="en-US" sz="1400" dirty="0"/>
          </a:p>
        </p:txBody>
      </p:sp>
      <p:sp>
        <p:nvSpPr>
          <p:cNvPr id="12" name="Text 9"/>
          <p:cNvSpPr txBox="1"/>
          <p:nvPr/>
        </p:nvSpPr>
        <p:spPr>
          <a:xfrm>
            <a:off x="3017520" y="2331720"/>
            <a:ext cx="914400" cy="228600"/>
          </a:xfrm>
          <a:prstGeom prst="rect">
            <a:avLst/>
          </a:prstGeom>
          <a:noFill/>
          <a:ln/>
        </p:spPr>
        <p:txBody>
          <a:bodyPr wrap="square" lIns="0" tIns="0" rIns="0" bIns="0" rtlCol="0" anchor="t"/>
          <a:lstStyle/>
          <a:p>
            <a:pPr indent="0" marL="0">
              <a:buNone/>
            </a:pPr>
            <a:r>
              <a:rPr lang="en-US" sz="1300" i="1" dirty="0">
                <a:solidFill>
                  <a:schemeClr val="accent1"/>
                </a:solidFill>
                <a:latin typeface="Cambria" pitchFamily="34" charset="0"/>
                <a:ea typeface="Cambria" pitchFamily="34" charset="-122"/>
                <a:cs typeface="Cambria" pitchFamily="34" charset="-120"/>
              </a:rPr>
              <a:t>|a − b|</a:t>
            </a:r>
            <a:endParaRPr lang="en-US" sz="1300" dirty="0"/>
          </a:p>
        </p:txBody>
      </p:sp>
      <p:sp>
        <p:nvSpPr>
          <p:cNvPr id="13" name="Text 10"/>
          <p:cNvSpPr txBox="1"/>
          <p:nvPr/>
        </p:nvSpPr>
        <p:spPr>
          <a:xfrm>
            <a:off x="594360" y="4434840"/>
            <a:ext cx="475488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3.4  The segment between two points (Pythagoras in d dimensions)</a:t>
            </a:r>
            <a:endParaRPr lang="en-US" sz="1100" dirty="0"/>
          </a:p>
        </p:txBody>
      </p:sp>
      <p:sp>
        <p:nvSpPr>
          <p:cNvPr id="14" name="Text 11"/>
          <p:cNvSpPr txBox="1"/>
          <p:nvPr/>
        </p:nvSpPr>
        <p:spPr>
          <a:xfrm>
            <a:off x="5486400" y="1280160"/>
            <a:ext cx="3200400" cy="73152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d(a, b) = sqrt( Σ (a_i − b_i)² )</a:t>
            </a:r>
            <a:endParaRPr lang="en-US" sz="1800" dirty="0"/>
          </a:p>
        </p:txBody>
      </p:sp>
      <p:sp>
        <p:nvSpPr>
          <p:cNvPr id="15" name="Text 12"/>
          <p:cNvSpPr txBox="1"/>
          <p:nvPr/>
        </p:nvSpPr>
        <p:spPr>
          <a:xfrm>
            <a:off x="5486400" y="2103120"/>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Uses both position and length</a:t>
            </a:r>
            <a:endParaRPr lang="en-US" sz="1400" dirty="0"/>
          </a:p>
          <a:p>
            <a:pPr marL="342900" indent="-342900">
              <a:spcAft>
                <a:spcPts val="800"/>
              </a:spcAft>
              <a:buSzPct val="100000"/>
              <a:buChar char="•"/>
            </a:pPr>
            <a:r>
              <a:rPr lang="en-US" sz="1400" dirty="0">
                <a:solidFill>
                  <a:schemeClr val="tx1"/>
                </a:solidFill>
              </a:rPr>
              <a:t>Smaller value means more similar</a:t>
            </a:r>
            <a:endParaRPr lang="en-US" sz="1400" dirty="0"/>
          </a:p>
          <a:p>
            <a:pPr marL="342900" indent="-342900">
              <a:spcAft>
                <a:spcPts val="800"/>
              </a:spcAft>
              <a:buSzPct val="100000"/>
              <a:buChar char="•"/>
            </a:pPr>
            <a:r>
              <a:rPr lang="en-US" sz="1400" dirty="0">
                <a:solidFill>
                  <a:schemeClr val="tx1"/>
                </a:solidFill>
              </a:rPr>
              <a:t>Squared L2 gives the same ranking, no sqrt</a:t>
            </a:r>
            <a:endParaRPr lang="en-US" sz="1400" dirty="0"/>
          </a:p>
          <a:p>
            <a:pPr marL="342900" indent="-342900">
              <a:spcAft>
                <a:spcPts val="800"/>
              </a:spcAft>
              <a:buSzPct val="100000"/>
              <a:buChar char="•"/>
            </a:pPr>
            <a:r>
              <a:rPr lang="en-US" sz="1400" dirty="0">
                <a:solidFill>
                  <a:schemeClr val="tx1"/>
                </a:solidFill>
              </a:rPr>
              <a:t>Sensitive to vector length: scaling a vector changes distances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Same direction, different length</a:t>
            </a:r>
            <a:endParaRPr lang="en-US" sz="3000" dirty="0"/>
          </a:p>
        </p:txBody>
      </p:sp>
      <p:sp>
        <p:nvSpPr>
          <p:cNvPr id="4" name="Shape 1"/>
          <p:cNvSpPr/>
          <p:nvPr/>
        </p:nvSpPr>
        <p:spPr>
          <a:xfrm>
            <a:off x="457200" y="1280160"/>
            <a:ext cx="3657600" cy="3108960"/>
          </a:xfrm>
          <a:prstGeom prst="rect">
            <a:avLst/>
          </a:prstGeom>
          <a:solidFill>
            <a:schemeClr val="bg1"/>
          </a:solidFill>
          <a:ln w="12700">
            <a:solidFill>
              <a:schemeClr val="accent6"/>
            </a:solidFill>
            <a:prstDash val="solid"/>
          </a:ln>
        </p:spPr>
      </p:sp>
      <p:sp>
        <p:nvSpPr>
          <p:cNvPr id="5" name="Shape 2"/>
          <p:cNvSpPr/>
          <p:nvPr/>
        </p:nvSpPr>
        <p:spPr>
          <a:xfrm>
            <a:off x="914400" y="4023360"/>
            <a:ext cx="2926080" cy="0"/>
          </a:xfrm>
          <a:prstGeom prst="line">
            <a:avLst/>
          </a:prstGeom>
          <a:noFill/>
          <a:ln w="12700">
            <a:solidFill>
              <a:srgbClr val="6B7280"/>
            </a:solidFill>
            <a:prstDash val="solid"/>
            <a:tailEnd type="triangle"/>
          </a:ln>
        </p:spPr>
      </p:sp>
      <p:sp>
        <p:nvSpPr>
          <p:cNvPr id="6" name="Shape 3"/>
          <p:cNvSpPr/>
          <p:nvPr/>
        </p:nvSpPr>
        <p:spPr>
          <a:xfrm>
            <a:off x="914400" y="1463040"/>
            <a:ext cx="0" cy="2560320"/>
          </a:xfrm>
          <a:prstGeom prst="line">
            <a:avLst/>
          </a:prstGeom>
          <a:noFill/>
          <a:ln w="12700">
            <a:solidFill>
              <a:srgbClr val="6B7280"/>
            </a:solidFill>
            <a:prstDash val="solid"/>
            <a:tailEnd type="triangle"/>
          </a:ln>
        </p:spPr>
      </p:sp>
      <p:sp>
        <p:nvSpPr>
          <p:cNvPr id="7" name="Shape 4"/>
          <p:cNvSpPr/>
          <p:nvPr/>
        </p:nvSpPr>
        <p:spPr>
          <a:xfrm flipV="1">
            <a:off x="914400" y="2788920"/>
            <a:ext cx="411480" cy="1234440"/>
          </a:xfrm>
          <a:prstGeom prst="line">
            <a:avLst/>
          </a:prstGeom>
          <a:noFill/>
          <a:ln w="28575">
            <a:solidFill>
              <a:srgbClr val="B5432A"/>
            </a:solidFill>
            <a:prstDash val="solid"/>
            <a:tailEnd type="triangle"/>
          </a:ln>
        </p:spPr>
      </p:sp>
      <p:sp>
        <p:nvSpPr>
          <p:cNvPr id="8" name="Shape 5"/>
          <p:cNvSpPr/>
          <p:nvPr/>
        </p:nvSpPr>
        <p:spPr>
          <a:xfrm flipV="1">
            <a:off x="914400" y="3611880"/>
            <a:ext cx="1234440" cy="411480"/>
          </a:xfrm>
          <a:prstGeom prst="line">
            <a:avLst/>
          </a:prstGeom>
          <a:noFill/>
          <a:ln w="28575">
            <a:solidFill>
              <a:srgbClr val="2F5D8A"/>
            </a:solidFill>
            <a:prstDash val="solid"/>
            <a:tailEnd type="triangle"/>
          </a:ln>
        </p:spPr>
      </p:sp>
      <p:sp>
        <p:nvSpPr>
          <p:cNvPr id="9" name="Shape 6"/>
          <p:cNvSpPr/>
          <p:nvPr/>
        </p:nvSpPr>
        <p:spPr>
          <a:xfrm flipV="1">
            <a:off x="914400" y="1554480"/>
            <a:ext cx="822960" cy="2468880"/>
          </a:xfrm>
          <a:prstGeom prst="line">
            <a:avLst/>
          </a:prstGeom>
          <a:noFill/>
          <a:ln w="28575">
            <a:solidFill>
              <a:srgbClr val="3B7A57"/>
            </a:solidFill>
            <a:prstDash val="solid"/>
            <a:tailEnd type="triangle"/>
          </a:ln>
        </p:spPr>
      </p:sp>
      <p:sp>
        <p:nvSpPr>
          <p:cNvPr id="10" name="Text 7"/>
          <p:cNvSpPr txBox="1"/>
          <p:nvPr/>
        </p:nvSpPr>
        <p:spPr>
          <a:xfrm>
            <a:off x="1371600" y="2743200"/>
            <a:ext cx="274320" cy="228600"/>
          </a:xfrm>
          <a:prstGeom prst="rect">
            <a:avLst/>
          </a:prstGeom>
          <a:noFill/>
          <a:ln/>
        </p:spPr>
        <p:txBody>
          <a:bodyPr wrap="square" lIns="0" tIns="0" rIns="0" bIns="0" rtlCol="0" anchor="t"/>
          <a:lstStyle/>
          <a:p>
            <a:pPr indent="0" marL="0">
              <a:buNone/>
            </a:pPr>
            <a:r>
              <a:rPr lang="en-US" sz="1400" i="1" dirty="0">
                <a:solidFill>
                  <a:schemeClr val="accent1"/>
                </a:solidFill>
                <a:latin typeface="Cambria" pitchFamily="34" charset="0"/>
                <a:ea typeface="Cambria" pitchFamily="34" charset="-122"/>
                <a:cs typeface="Cambria" pitchFamily="34" charset="-120"/>
              </a:rPr>
              <a:t>a</a:t>
            </a:r>
            <a:endParaRPr lang="en-US" sz="1400" dirty="0"/>
          </a:p>
        </p:txBody>
      </p:sp>
      <p:sp>
        <p:nvSpPr>
          <p:cNvPr id="11" name="Text 8"/>
          <p:cNvSpPr txBox="1"/>
          <p:nvPr/>
        </p:nvSpPr>
        <p:spPr>
          <a:xfrm>
            <a:off x="2240280" y="3566160"/>
            <a:ext cx="274320" cy="228600"/>
          </a:xfrm>
          <a:prstGeom prst="rect">
            <a:avLst/>
          </a:prstGeom>
          <a:noFill/>
          <a:ln/>
        </p:spPr>
        <p:txBody>
          <a:bodyPr wrap="square" lIns="0" tIns="0" rIns="0" bIns="0" rtlCol="0" anchor="t"/>
          <a:lstStyle/>
          <a:p>
            <a:pPr indent="0" marL="0">
              <a:buNone/>
            </a:pPr>
            <a:r>
              <a:rPr lang="en-US" sz="1400" i="1" dirty="0">
                <a:solidFill>
                  <a:schemeClr val="accent2"/>
                </a:solidFill>
                <a:latin typeface="Cambria" pitchFamily="34" charset="0"/>
                <a:ea typeface="Cambria" pitchFamily="34" charset="-122"/>
                <a:cs typeface="Cambria" pitchFamily="34" charset="-120"/>
              </a:rPr>
              <a:t>b</a:t>
            </a:r>
            <a:endParaRPr lang="en-US" sz="1400" dirty="0"/>
          </a:p>
        </p:txBody>
      </p:sp>
      <p:sp>
        <p:nvSpPr>
          <p:cNvPr id="12" name="Text 9"/>
          <p:cNvSpPr txBox="1"/>
          <p:nvPr/>
        </p:nvSpPr>
        <p:spPr>
          <a:xfrm>
            <a:off x="1828800" y="1508760"/>
            <a:ext cx="731520" cy="228600"/>
          </a:xfrm>
          <a:prstGeom prst="rect">
            <a:avLst/>
          </a:prstGeom>
          <a:noFill/>
          <a:ln/>
        </p:spPr>
        <p:txBody>
          <a:bodyPr wrap="square" lIns="0" tIns="0" rIns="0" bIns="0" rtlCol="0" anchor="t"/>
          <a:lstStyle/>
          <a:p>
            <a:pPr indent="0" marL="0">
              <a:buNone/>
            </a:pPr>
            <a:r>
              <a:rPr lang="en-US" sz="1400" i="1" dirty="0">
                <a:solidFill>
                  <a:schemeClr val="accent3"/>
                </a:solidFill>
                <a:latin typeface="Cambria" pitchFamily="34" charset="0"/>
                <a:ea typeface="Cambria" pitchFamily="34" charset="-122"/>
                <a:cs typeface="Cambria" pitchFamily="34" charset="-120"/>
              </a:rPr>
              <a:t>c = 2a</a:t>
            </a:r>
            <a:endParaRPr lang="en-US" sz="1400" dirty="0"/>
          </a:p>
        </p:txBody>
      </p:sp>
      <p:sp>
        <p:nvSpPr>
          <p:cNvPr id="13" name="Text 10"/>
          <p:cNvSpPr txBox="1"/>
          <p:nvPr/>
        </p:nvSpPr>
        <p:spPr>
          <a:xfrm>
            <a:off x="594360" y="4434840"/>
            <a:ext cx="3657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3.5  a = (1,3), b = (3,1), c = (2,6)</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80560" y="1280160"/>
          <a:ext cx="4206240" cy="914400"/>
        </p:xfrm>
        <a:graphic>
          <a:graphicData uri="http://schemas.openxmlformats.org/drawingml/2006/table">
            <a:tbl>
              <a:tblPr/>
              <a:tblGrid>
                <a:gridCol w="1188720"/>
                <a:gridCol w="1005840"/>
                <a:gridCol w="1005840"/>
                <a:gridCol w="10058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Pair</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Cosine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L2</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1148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 b</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0.60</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2.83</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148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 c</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3.16</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15" name="Text 11"/>
          <p:cNvSpPr txBox="1"/>
          <p:nvPr/>
        </p:nvSpPr>
        <p:spPr>
          <a:xfrm>
            <a:off x="4480560" y="2743200"/>
            <a:ext cx="4206240" cy="1828800"/>
          </a:xfrm>
          <a:prstGeom prst="rect">
            <a:avLst/>
          </a:prstGeom>
          <a:noFill/>
          <a:ln/>
        </p:spPr>
        <p:txBody>
          <a:bodyPr wrap="square" lIns="0" tIns="0" rIns="0" bIns="0" rtlCol="0" anchor="t"/>
          <a:lstStyle/>
          <a:p>
            <a:pPr indent="0" marL="0">
              <a:buNone/>
            </a:pPr>
            <a:r>
              <a:rPr lang="en-US" sz="1400" b="1" dirty="0">
                <a:solidFill>
                  <a:schemeClr val="tx1"/>
                </a:solidFill>
              </a:rPr>
              <a:t>For the query a:</a:t>
            </a:r>
            <a:endParaRPr lang="en-US" sz="1400" dirty="0"/>
          </a:p>
          <a:p>
            <a:pPr indent="0" marL="0">
              <a:buNone/>
            </a:pPr>
            <a:r>
              <a:rPr lang="en-US" sz="1400" dirty="0">
                <a:solidFill>
                  <a:schemeClr val="tx1"/>
                </a:solidFill>
              </a:rPr>
              <a:t>Cosine and dot rank c first.</a:t>
            </a:r>
            <a:endParaRPr lang="en-US" sz="1400" dirty="0"/>
          </a:p>
          <a:p>
            <a:pPr indent="0" marL="0">
              <a:spcAft>
                <a:spcPts val="1200"/>
              </a:spcAft>
              <a:buNone/>
            </a:pPr>
            <a:r>
              <a:rPr lang="en-US" sz="1400" dirty="0">
                <a:solidFill>
                  <a:schemeClr val="tx1"/>
                </a:solidFill>
              </a:rPr>
              <a:t>L2 ranks b first, because c is far away in space.</a:t>
            </a:r>
            <a:endParaRPr lang="en-US" sz="1400" dirty="0"/>
          </a:p>
          <a:p>
            <a:pPr indent="0" marL="0">
              <a:buNone/>
            </a:pPr>
            <a:r>
              <a:rPr lang="en-US" sz="1400" i="1" dirty="0">
                <a:solidFill>
                  <a:srgbClr val="B5432A"/>
                </a:solidFill>
                <a:latin typeface="Cambria" pitchFamily="34" charset="0"/>
                <a:ea typeface="Cambria" pitchFamily="34" charset="-122"/>
                <a:cs typeface="Cambria" pitchFamily="34" charset="-120"/>
              </a:rPr>
              <a:t>Length decides the answer, so decide deliberately whether length should matter.</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Normalize once and all three agree</a:t>
            </a:r>
            <a:endParaRPr lang="en-US" sz="3000" dirty="0"/>
          </a:p>
        </p:txBody>
      </p:sp>
      <p:sp>
        <p:nvSpPr>
          <p:cNvPr id="4" name="Shape 1"/>
          <p:cNvSpPr/>
          <p:nvPr/>
        </p:nvSpPr>
        <p:spPr>
          <a:xfrm>
            <a:off x="457200" y="1280160"/>
            <a:ext cx="4754880" cy="3108960"/>
          </a:xfrm>
          <a:prstGeom prst="rect">
            <a:avLst/>
          </a:prstGeom>
          <a:solidFill>
            <a:schemeClr val="bg1"/>
          </a:solidFill>
          <a:ln w="12700">
            <a:solidFill>
              <a:schemeClr val="accent6"/>
            </a:solidFill>
            <a:prstDash val="solid"/>
          </a:ln>
        </p:spPr>
      </p:sp>
      <p:sp>
        <p:nvSpPr>
          <p:cNvPr id="5" name="Shape 2"/>
          <p:cNvSpPr/>
          <p:nvPr/>
        </p:nvSpPr>
        <p:spPr>
          <a:xfrm>
            <a:off x="1188720" y="1645920"/>
            <a:ext cx="2377440" cy="2377440"/>
          </a:xfrm>
          <a:prstGeom prst="ellipse">
            <a:avLst/>
          </a:prstGeom>
          <a:solidFill>
            <a:srgbClr val="FFFFFF">
              <a:alpha val="0"/>
            </a:srgbClr>
          </a:solidFill>
          <a:ln w="12700">
            <a:solidFill>
              <a:srgbClr val="6B7280"/>
            </a:solidFill>
            <a:prstDash val="solid"/>
          </a:ln>
        </p:spPr>
      </p:sp>
      <p:sp>
        <p:nvSpPr>
          <p:cNvPr id="6" name="Shape 3"/>
          <p:cNvSpPr/>
          <p:nvPr/>
        </p:nvSpPr>
        <p:spPr>
          <a:xfrm flipV="1">
            <a:off x="2377440" y="2240280"/>
            <a:ext cx="1033272" cy="594360"/>
          </a:xfrm>
          <a:prstGeom prst="line">
            <a:avLst/>
          </a:prstGeom>
          <a:noFill/>
          <a:ln w="28575">
            <a:solidFill>
              <a:srgbClr val="2F5D8A"/>
            </a:solidFill>
            <a:prstDash val="solid"/>
            <a:tailEnd type="triangle"/>
          </a:ln>
        </p:spPr>
      </p:sp>
      <p:sp>
        <p:nvSpPr>
          <p:cNvPr id="7" name="Shape 4"/>
          <p:cNvSpPr/>
          <p:nvPr/>
        </p:nvSpPr>
        <p:spPr>
          <a:xfrm>
            <a:off x="1975104" y="1719072"/>
            <a:ext cx="402336" cy="1115568"/>
          </a:xfrm>
          <a:prstGeom prst="line">
            <a:avLst/>
          </a:prstGeom>
          <a:noFill/>
          <a:ln w="28575">
            <a:solidFill>
              <a:srgbClr val="B5432A"/>
            </a:solidFill>
            <a:prstDash val="solid"/>
            <a:tailEnd type="triangle"/>
          </a:ln>
        </p:spPr>
      </p:sp>
      <p:sp>
        <p:nvSpPr>
          <p:cNvPr id="8" name="Shape 5"/>
          <p:cNvSpPr/>
          <p:nvPr/>
        </p:nvSpPr>
        <p:spPr>
          <a:xfrm>
            <a:off x="1975104" y="1719072"/>
            <a:ext cx="1435608" cy="521208"/>
          </a:xfrm>
          <a:prstGeom prst="line">
            <a:avLst/>
          </a:prstGeom>
          <a:noFill/>
          <a:ln w="28575">
            <a:solidFill>
              <a:srgbClr val="3B7A57"/>
            </a:solidFill>
            <a:prstDash val="dash"/>
          </a:ln>
        </p:spPr>
      </p:sp>
      <p:sp>
        <p:nvSpPr>
          <p:cNvPr id="9" name="Shape 6"/>
          <p:cNvSpPr/>
          <p:nvPr/>
        </p:nvSpPr>
        <p:spPr>
          <a:xfrm>
            <a:off x="2331720" y="2788920"/>
            <a:ext cx="91440" cy="91440"/>
          </a:xfrm>
          <a:prstGeom prst="ellipse">
            <a:avLst/>
          </a:prstGeom>
          <a:solidFill>
            <a:srgbClr val="1B2A41"/>
          </a:solidFill>
          <a:ln w="12700">
            <a:solidFill>
              <a:srgbClr val="1B2A41"/>
            </a:solidFill>
            <a:prstDash val="solid"/>
          </a:ln>
        </p:spPr>
      </p:sp>
      <p:sp>
        <p:nvSpPr>
          <p:cNvPr id="10" name="Text 7"/>
          <p:cNvSpPr txBox="1"/>
          <p:nvPr/>
        </p:nvSpPr>
        <p:spPr>
          <a:xfrm>
            <a:off x="3520440" y="2148840"/>
            <a:ext cx="274320" cy="228600"/>
          </a:xfrm>
          <a:prstGeom prst="rect">
            <a:avLst/>
          </a:prstGeom>
          <a:noFill/>
          <a:ln/>
        </p:spPr>
        <p:txBody>
          <a:bodyPr wrap="square" lIns="0" tIns="0" rIns="0" bIns="0" rtlCol="0" anchor="t"/>
          <a:lstStyle/>
          <a:p>
            <a:pPr indent="0" marL="0">
              <a:buNone/>
            </a:pPr>
            <a:r>
              <a:rPr lang="en-US" sz="1400" i="1" dirty="0">
                <a:solidFill>
                  <a:schemeClr val="accent2"/>
                </a:solidFill>
                <a:latin typeface="Cambria" pitchFamily="34" charset="0"/>
                <a:ea typeface="Cambria" pitchFamily="34" charset="-122"/>
                <a:cs typeface="Cambria" pitchFamily="34" charset="-120"/>
              </a:rPr>
              <a:t>a</a:t>
            </a:r>
            <a:endParaRPr lang="en-US" sz="1400" dirty="0"/>
          </a:p>
        </p:txBody>
      </p:sp>
      <p:sp>
        <p:nvSpPr>
          <p:cNvPr id="11" name="Text 8"/>
          <p:cNvSpPr txBox="1"/>
          <p:nvPr/>
        </p:nvSpPr>
        <p:spPr>
          <a:xfrm>
            <a:off x="1783080" y="1417320"/>
            <a:ext cx="274320" cy="228600"/>
          </a:xfrm>
          <a:prstGeom prst="rect">
            <a:avLst/>
          </a:prstGeom>
          <a:noFill/>
          <a:ln/>
        </p:spPr>
        <p:txBody>
          <a:bodyPr wrap="square" lIns="0" tIns="0" rIns="0" bIns="0" rtlCol="0" anchor="t"/>
          <a:lstStyle/>
          <a:p>
            <a:pPr indent="0" marL="0">
              <a:buNone/>
            </a:pPr>
            <a:r>
              <a:rPr lang="en-US" sz="1400" i="1" dirty="0">
                <a:solidFill>
                  <a:schemeClr val="accent1"/>
                </a:solidFill>
                <a:latin typeface="Cambria" pitchFamily="34" charset="0"/>
                <a:ea typeface="Cambria" pitchFamily="34" charset="-122"/>
                <a:cs typeface="Cambria" pitchFamily="34" charset="-120"/>
              </a:rPr>
              <a:t>b</a:t>
            </a:r>
            <a:endParaRPr lang="en-US" sz="1400" dirty="0"/>
          </a:p>
        </p:txBody>
      </p:sp>
      <p:sp>
        <p:nvSpPr>
          <p:cNvPr id="12" name="Text 9"/>
          <p:cNvSpPr txBox="1"/>
          <p:nvPr/>
        </p:nvSpPr>
        <p:spPr>
          <a:xfrm>
            <a:off x="2514600" y="2148840"/>
            <a:ext cx="274320" cy="228600"/>
          </a:xfrm>
          <a:prstGeom prst="rect">
            <a:avLst/>
          </a:prstGeom>
          <a:noFill/>
          <a:ln/>
        </p:spPr>
        <p:txBody>
          <a:bodyPr wrap="square" lIns="0" tIns="0" rIns="0" bIns="0" rtlCol="0" anchor="t"/>
          <a:lstStyle/>
          <a:p>
            <a:pPr indent="0" marL="0">
              <a:buNone/>
            </a:pPr>
            <a:r>
              <a:rPr lang="en-US" sz="1600" i="1" dirty="0">
                <a:solidFill>
                  <a:schemeClr val="tx1"/>
                </a:solidFill>
                <a:latin typeface="Cambria" pitchFamily="34" charset="0"/>
                <a:ea typeface="Cambria" pitchFamily="34" charset="-122"/>
                <a:cs typeface="Cambria" pitchFamily="34" charset="-120"/>
              </a:rPr>
              <a:t>θ</a:t>
            </a:r>
            <a:endParaRPr lang="en-US" sz="1600" dirty="0"/>
          </a:p>
        </p:txBody>
      </p:sp>
      <p:sp>
        <p:nvSpPr>
          <p:cNvPr id="13" name="Text 10"/>
          <p:cNvSpPr txBox="1"/>
          <p:nvPr/>
        </p:nvSpPr>
        <p:spPr>
          <a:xfrm>
            <a:off x="2743200" y="1600200"/>
            <a:ext cx="914400" cy="228600"/>
          </a:xfrm>
          <a:prstGeom prst="rect">
            <a:avLst/>
          </a:prstGeom>
          <a:noFill/>
          <a:ln/>
        </p:spPr>
        <p:txBody>
          <a:bodyPr wrap="square" lIns="0" tIns="0" rIns="0" bIns="0" rtlCol="0" anchor="t"/>
          <a:lstStyle/>
          <a:p>
            <a:pPr indent="0" marL="0">
              <a:buNone/>
            </a:pPr>
            <a:r>
              <a:rPr lang="en-US" sz="1200" i="1" dirty="0">
                <a:solidFill>
                  <a:schemeClr val="accent3"/>
                </a:solidFill>
                <a:latin typeface="Cambria" pitchFamily="34" charset="0"/>
                <a:ea typeface="Cambria" pitchFamily="34" charset="-122"/>
                <a:cs typeface="Cambria" pitchFamily="34" charset="-120"/>
              </a:rPr>
              <a:t>|a − b|</a:t>
            </a:r>
            <a:endParaRPr lang="en-US" sz="1200" dirty="0"/>
          </a:p>
        </p:txBody>
      </p:sp>
      <p:sp>
        <p:nvSpPr>
          <p:cNvPr id="14" name="Text 11"/>
          <p:cNvSpPr txBox="1"/>
          <p:nvPr/>
        </p:nvSpPr>
        <p:spPr>
          <a:xfrm>
            <a:off x="594360" y="4434840"/>
            <a:ext cx="475488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3.6  Unit vectors lie on a circle (a sphere in d dimensions)</a:t>
            </a:r>
            <a:endParaRPr lang="en-US" sz="1100" dirty="0"/>
          </a:p>
        </p:txBody>
      </p:sp>
      <p:sp>
        <p:nvSpPr>
          <p:cNvPr id="15" name="Text 12"/>
          <p:cNvSpPr txBox="1"/>
          <p:nvPr/>
        </p:nvSpPr>
        <p:spPr>
          <a:xfrm>
            <a:off x="5486400" y="1280160"/>
            <a:ext cx="3200400" cy="1463040"/>
          </a:xfrm>
          <a:prstGeom prst="rect">
            <a:avLst/>
          </a:prstGeom>
          <a:noFill/>
          <a:ln/>
        </p:spPr>
        <p:txBody>
          <a:bodyPr wrap="square" lIns="0" tIns="0" rIns="0" bIns="0" rtlCol="0" anchor="t"/>
          <a:lstStyle/>
          <a:p>
            <a:pPr indent="0" marL="0">
              <a:spcAft>
                <a:spcPts val="600"/>
              </a:spcAft>
              <a:buNone/>
            </a:pPr>
            <a:r>
              <a:rPr lang="en-US" sz="1500" b="1" dirty="0">
                <a:solidFill>
                  <a:srgbClr val="B5432A"/>
                </a:solidFill>
                <a:latin typeface="Cambria" pitchFamily="34" charset="0"/>
                <a:ea typeface="Cambria" pitchFamily="34" charset="-122"/>
                <a:cs typeface="Cambria" pitchFamily="34" charset="-120"/>
              </a:rPr>
              <a:t>|a − b|² = |a|² + |b|² − 2 a·b</a:t>
            </a:r>
            <a:endParaRPr lang="en-US" sz="1500" dirty="0"/>
          </a:p>
          <a:p>
            <a:pPr indent="0" marL="0">
              <a:spcAft>
                <a:spcPts val="600"/>
              </a:spcAft>
              <a:buNone/>
            </a:pPr>
            <a:r>
              <a:rPr lang="en-US" sz="1500" b="1" dirty="0">
                <a:solidFill>
                  <a:srgbClr val="B5432A"/>
                </a:solidFill>
                <a:latin typeface="Cambria" pitchFamily="34" charset="0"/>
                <a:ea typeface="Cambria" pitchFamily="34" charset="-122"/>
                <a:cs typeface="Cambria" pitchFamily="34" charset="-120"/>
              </a:rPr>
              <a:t>            = 1 + 1 − 2 cos θ</a:t>
            </a:r>
            <a:endParaRPr lang="en-US" sz="1500" dirty="0"/>
          </a:p>
          <a:p>
            <a:pPr indent="0" marL="0">
              <a:spcAft>
                <a:spcPts val="1400"/>
              </a:spcAft>
              <a:buNone/>
            </a:pPr>
            <a:r>
              <a:rPr lang="en-US" sz="1500" b="1" dirty="0">
                <a:solidFill>
                  <a:srgbClr val="B5432A"/>
                </a:solidFill>
                <a:latin typeface="Cambria" pitchFamily="34" charset="0"/>
                <a:ea typeface="Cambria" pitchFamily="34" charset="-122"/>
                <a:cs typeface="Cambria" pitchFamily="34" charset="-120"/>
              </a:rPr>
              <a:t>            = 2 − 2 a·b</a:t>
            </a:r>
            <a:endParaRPr lang="en-US" sz="1500" dirty="0"/>
          </a:p>
        </p:txBody>
      </p:sp>
      <p:sp>
        <p:nvSpPr>
          <p:cNvPr id="16" name="Text 13"/>
          <p:cNvSpPr txBox="1"/>
          <p:nvPr/>
        </p:nvSpPr>
        <p:spPr>
          <a:xfrm>
            <a:off x="5486400" y="2651760"/>
            <a:ext cx="32004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Smaller L2 means larger cosine and larger dot product</a:t>
            </a:r>
            <a:endParaRPr lang="en-US" sz="1400" dirty="0"/>
          </a:p>
          <a:p>
            <a:pPr marL="342900" indent="-342900">
              <a:spcAft>
                <a:spcPts val="800"/>
              </a:spcAft>
              <a:buSzPct val="100000"/>
              <a:buChar char="•"/>
            </a:pPr>
            <a:r>
              <a:rPr lang="en-US" sz="1400" dirty="0">
                <a:solidFill>
                  <a:schemeClr val="tx1"/>
                </a:solidFill>
              </a:rPr>
              <a:t>All three give the same ranking</a:t>
            </a:r>
            <a:endParaRPr lang="en-US" sz="1400" dirty="0"/>
          </a:p>
          <a:p>
            <a:pPr marL="342900" indent="-342900">
              <a:spcAft>
                <a:spcPts val="800"/>
              </a:spcAft>
              <a:buSzPct val="100000"/>
              <a:buChar char="•"/>
            </a:pPr>
            <a:r>
              <a:rPr lang="en-US" sz="1400" dirty="0">
                <a:solidFill>
                  <a:schemeClr val="tx1"/>
                </a:solidFill>
              </a:rPr>
              <a:t>Normalize once at ingestion, then use the fastest: the dot product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Other metrics you will meet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2194560"/>
                <a:gridCol w="1463040"/>
                <a:gridCol w="28346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Definition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Typical use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4864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L1 (Manhattan)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sum |a_i − b_i|</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Real vectors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Sparse features, robustness to outliers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Hamming</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Number of differing bits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Binary codes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Binary quantization, hashes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Jaccard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 ∩ B| / |A ∪ B|</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Sets of tokens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Near-duplicate detection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Inner product (MIPS)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 · b, unnormalized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Real vectors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Recommenders, where length carries signal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402336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Table 3.1  Metrics beyond cosine, dot product and L2</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Four rules for choosing a metric</a:t>
            </a:r>
            <a:endParaRPr lang="en-US" sz="3000" dirty="0"/>
          </a:p>
        </p:txBody>
      </p:sp>
      <p:sp>
        <p:nvSpPr>
          <p:cNvPr id="4" name="Text 1"/>
          <p:cNvSpPr txBox="1"/>
          <p:nvPr/>
        </p:nvSpPr>
        <p:spPr>
          <a:xfrm>
            <a:off x="457200" y="1280160"/>
            <a:ext cx="4572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5" name="Text 2"/>
          <p:cNvSpPr txBox="1"/>
          <p:nvPr/>
        </p:nvSpPr>
        <p:spPr>
          <a:xfrm>
            <a:off x="1005840" y="1280160"/>
            <a:ext cx="521208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Follow the model</a:t>
            </a:r>
            <a:endParaRPr lang="en-US" sz="1800" dirty="0"/>
          </a:p>
        </p:txBody>
      </p:sp>
      <p:sp>
        <p:nvSpPr>
          <p:cNvPr id="6" name="Text 3"/>
          <p:cNvSpPr txBox="1"/>
          <p:nvPr/>
        </p:nvSpPr>
        <p:spPr>
          <a:xfrm>
            <a:off x="1005840" y="1609344"/>
            <a:ext cx="5212080" cy="502920"/>
          </a:xfrm>
          <a:prstGeom prst="rect">
            <a:avLst/>
          </a:prstGeom>
          <a:noFill/>
          <a:ln/>
        </p:spPr>
        <p:txBody>
          <a:bodyPr wrap="square" lIns="0" tIns="0" rIns="0" bIns="0" rtlCol="0" anchor="t"/>
          <a:lstStyle/>
          <a:p>
            <a:pPr indent="0" marL="0">
              <a:buNone/>
            </a:pPr>
            <a:r>
              <a:rPr lang="en-US" sz="1300" dirty="0">
                <a:solidFill>
                  <a:schemeClr val="tx1"/>
                </a:solidFill>
              </a:rPr>
              <a:t>Use the metric the embedding model was trained with; the model card says which.</a:t>
            </a:r>
            <a:endParaRPr lang="en-US" sz="1300" dirty="0"/>
          </a:p>
        </p:txBody>
      </p:sp>
      <p:sp>
        <p:nvSpPr>
          <p:cNvPr id="7" name="Text 4"/>
          <p:cNvSpPr txBox="1"/>
          <p:nvPr/>
        </p:nvSpPr>
        <p:spPr>
          <a:xfrm>
            <a:off x="457200" y="2103120"/>
            <a:ext cx="4572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8" name="Text 5"/>
          <p:cNvSpPr txBox="1"/>
          <p:nvPr/>
        </p:nvSpPr>
        <p:spPr>
          <a:xfrm>
            <a:off x="1005840" y="2103120"/>
            <a:ext cx="521208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Normalized vectors: take the fast path</a:t>
            </a:r>
            <a:endParaRPr lang="en-US" sz="1800" dirty="0"/>
          </a:p>
        </p:txBody>
      </p:sp>
      <p:sp>
        <p:nvSpPr>
          <p:cNvPr id="9" name="Text 6"/>
          <p:cNvSpPr txBox="1"/>
          <p:nvPr/>
        </p:nvSpPr>
        <p:spPr>
          <a:xfrm>
            <a:off x="1005840" y="2432304"/>
            <a:ext cx="5212080" cy="502920"/>
          </a:xfrm>
          <a:prstGeom prst="rect">
            <a:avLst/>
          </a:prstGeom>
          <a:noFill/>
          <a:ln/>
        </p:spPr>
        <p:txBody>
          <a:bodyPr wrap="square" lIns="0" tIns="0" rIns="0" bIns="0" rtlCol="0" anchor="t"/>
          <a:lstStyle/>
          <a:p>
            <a:pPr indent="0" marL="0">
              <a:buNone/>
            </a:pPr>
            <a:r>
              <a:rPr lang="en-US" sz="1300" dirty="0">
                <a:solidFill>
                  <a:schemeClr val="tx1"/>
                </a:solidFill>
              </a:rPr>
              <a:t>If vectors have unit length, cosine, dot and L2 rank identically. Use the dot product.</a:t>
            </a:r>
            <a:endParaRPr lang="en-US" sz="1300" dirty="0"/>
          </a:p>
        </p:txBody>
      </p:sp>
      <p:sp>
        <p:nvSpPr>
          <p:cNvPr id="10" name="Text 7"/>
          <p:cNvSpPr txBox="1"/>
          <p:nvPr/>
        </p:nvSpPr>
        <p:spPr>
          <a:xfrm>
            <a:off x="457200" y="2926080"/>
            <a:ext cx="4572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1" name="Text 8"/>
          <p:cNvSpPr txBox="1"/>
          <p:nvPr/>
        </p:nvSpPr>
        <p:spPr>
          <a:xfrm>
            <a:off x="1005840" y="2926080"/>
            <a:ext cx="521208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Use dot product when length is signal</a:t>
            </a:r>
            <a:endParaRPr lang="en-US" sz="1800" dirty="0"/>
          </a:p>
        </p:txBody>
      </p:sp>
      <p:sp>
        <p:nvSpPr>
          <p:cNvPr id="12" name="Text 9"/>
          <p:cNvSpPr txBox="1"/>
          <p:nvPr/>
        </p:nvSpPr>
        <p:spPr>
          <a:xfrm>
            <a:off x="1005840" y="3255264"/>
            <a:ext cx="5212080" cy="502920"/>
          </a:xfrm>
          <a:prstGeom prst="rect">
            <a:avLst/>
          </a:prstGeom>
          <a:noFill/>
          <a:ln/>
        </p:spPr>
        <p:txBody>
          <a:bodyPr wrap="square" lIns="0" tIns="0" rIns="0" bIns="0" rtlCol="0" anchor="t"/>
          <a:lstStyle/>
          <a:p>
            <a:pPr indent="0" marL="0">
              <a:buNone/>
            </a:pPr>
            <a:r>
              <a:rPr lang="en-US" sz="1300" dirty="0">
                <a:solidFill>
                  <a:schemeClr val="tx1"/>
                </a:solidFill>
              </a:rPr>
              <a:t>Recommenders may encode popularity or confidence in the vector length.</a:t>
            </a:r>
            <a:endParaRPr lang="en-US" sz="1300" dirty="0"/>
          </a:p>
        </p:txBody>
      </p:sp>
      <p:sp>
        <p:nvSpPr>
          <p:cNvPr id="13" name="Text 10"/>
          <p:cNvSpPr txBox="1"/>
          <p:nvPr/>
        </p:nvSpPr>
        <p:spPr>
          <a:xfrm>
            <a:off x="457200" y="3749040"/>
            <a:ext cx="4572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14" name="Text 11"/>
          <p:cNvSpPr txBox="1"/>
          <p:nvPr/>
        </p:nvSpPr>
        <p:spPr>
          <a:xfrm>
            <a:off x="1005840" y="3749040"/>
            <a:ext cx="5212080" cy="27432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Never mix</a:t>
            </a:r>
            <a:endParaRPr lang="en-US" sz="1800" dirty="0"/>
          </a:p>
        </p:txBody>
      </p:sp>
      <p:sp>
        <p:nvSpPr>
          <p:cNvPr id="15" name="Text 12"/>
          <p:cNvSpPr txBox="1"/>
          <p:nvPr/>
        </p:nvSpPr>
        <p:spPr>
          <a:xfrm>
            <a:off x="1005840" y="4078224"/>
            <a:ext cx="5212080" cy="502920"/>
          </a:xfrm>
          <a:prstGeom prst="rect">
            <a:avLst/>
          </a:prstGeom>
          <a:noFill/>
          <a:ln/>
        </p:spPr>
        <p:txBody>
          <a:bodyPr wrap="square" lIns="0" tIns="0" rIns="0" bIns="0" rtlCol="0" anchor="t"/>
          <a:lstStyle/>
          <a:p>
            <a:pPr indent="0" marL="0">
              <a:buNone/>
            </a:pPr>
            <a:r>
              <a:rPr lang="en-US" sz="1300" dirty="0">
                <a:solidFill>
                  <a:schemeClr val="tx1"/>
                </a:solidFill>
              </a:rPr>
              <a:t>The index metric must match the query metric, and scores from different models or metrics are not comparable.</a:t>
            </a:r>
            <a:endParaRPr lang="en-US" sz="1300" dirty="0"/>
          </a:p>
        </p:txBody>
      </p:sp>
      <p:sp>
        <p:nvSpPr>
          <p:cNvPr id="16" name="Shape 13"/>
          <p:cNvSpPr/>
          <p:nvPr/>
        </p:nvSpPr>
        <p:spPr>
          <a:xfrm>
            <a:off x="6583680" y="1280160"/>
            <a:ext cx="0" cy="3200400"/>
          </a:xfrm>
          <a:prstGeom prst="line">
            <a:avLst/>
          </a:prstGeom>
          <a:noFill/>
          <a:ln w="9525">
            <a:solidFill>
              <a:schemeClr val="accent6"/>
            </a:solidFill>
            <a:prstDash val="solid"/>
          </a:ln>
        </p:spPr>
      </p:sp>
      <p:sp>
        <p:nvSpPr>
          <p:cNvPr id="17" name="Text 14"/>
          <p:cNvSpPr txBox="1"/>
          <p:nvPr/>
        </p:nvSpPr>
        <p:spPr>
          <a:xfrm>
            <a:off x="6766560" y="1371600"/>
            <a:ext cx="1920240" cy="2560320"/>
          </a:xfrm>
          <a:prstGeom prst="rect">
            <a:avLst/>
          </a:prstGeom>
          <a:noFill/>
          <a:ln/>
        </p:spPr>
        <p:txBody>
          <a:bodyPr wrap="square" lIns="0" tIns="0" rIns="0" bIns="0" rtlCol="0" anchor="t"/>
          <a:lstStyle/>
          <a:p>
            <a:pPr indent="0" marL="0">
              <a:buNone/>
            </a:pPr>
            <a:r>
              <a:rPr lang="en-US" sz="1400" i="1" dirty="0">
                <a:solidFill>
                  <a:schemeClr val="accent5"/>
                </a:solidFill>
                <a:latin typeface="Cambria" pitchFamily="34" charset="0"/>
                <a:ea typeface="Cambria" pitchFamily="34" charset="-122"/>
                <a:cs typeface="Cambria" pitchFamily="34" charset="-120"/>
              </a:rPr>
              <a:t>When in doubt: normalize the vectors and use cosine. It is the safe default for text.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same choice in real tools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63040"/>
                <a:gridCol w="2286000"/>
                <a:gridCol w="2286000"/>
                <a:gridCol w="219456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Euclidean</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Inner product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Cosine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Chroma</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space: "l2" (default)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space: "ip"</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space: "cosine"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pgvector</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&lt;-&gt;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&lt;#&gt; (negative)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&lt;=&gt;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FAISS</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IndexFlatL2</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IndexFlatIP</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normalize, then IP</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Qdrant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Euclid</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Dot</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Cosine</a:t>
                      </a:r>
                      <a:endParaRPr lang="en-US" sz="14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93192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Table 3.2  Metric settings in common tools (verify against current docs)</a:t>
            </a:r>
            <a:endParaRPr lang="en-US" sz="1100" dirty="0"/>
          </a:p>
        </p:txBody>
      </p:sp>
      <p:sp>
        <p:nvSpPr>
          <p:cNvPr id="6" name="Text 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dirty="0">
                <a:solidFill>
                  <a:srgbClr val="B5432A"/>
                </a:solidFill>
                <a:latin typeface="Cambria" pitchFamily="34" charset="0"/>
                <a:ea typeface="Cambria" pitchFamily="34" charset="-122"/>
                <a:cs typeface="Cambria" pitchFamily="34" charset="-120"/>
              </a:rPr>
              <a:t>Chroma's default is L2, not cosine. Check it when you create a collection (Lecture 7).</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Brute-force kNN is one matrix product</a:t>
            </a:r>
            <a:endParaRPr lang="en-US" sz="3000" dirty="0"/>
          </a:p>
        </p:txBody>
      </p:sp>
      <p:sp>
        <p:nvSpPr>
          <p:cNvPr id="4" name="Shape 1"/>
          <p:cNvSpPr/>
          <p:nvPr/>
        </p:nvSpPr>
        <p:spPr>
          <a:xfrm>
            <a:off x="457200" y="1371600"/>
            <a:ext cx="1188720" cy="822960"/>
          </a:xfrm>
          <a:prstGeom prst="rect">
            <a:avLst/>
          </a:prstGeom>
          <a:solidFill>
            <a:schemeClr val="bg1"/>
          </a:solidFill>
          <a:ln w="12700">
            <a:solidFill>
              <a:srgbClr val="1B2A41"/>
            </a:solidFill>
            <a:prstDash val="solid"/>
          </a:ln>
        </p:spPr>
      </p:sp>
      <p:sp>
        <p:nvSpPr>
          <p:cNvPr id="5" name="Text 2"/>
          <p:cNvSpPr txBox="1"/>
          <p:nvPr/>
        </p:nvSpPr>
        <p:spPr>
          <a:xfrm>
            <a:off x="457200" y="1371600"/>
            <a:ext cx="1188720" cy="822960"/>
          </a:xfrm>
          <a:prstGeom prst="rect">
            <a:avLst/>
          </a:prstGeom>
          <a:noFill/>
          <a:ln/>
        </p:spPr>
        <p:txBody>
          <a:bodyPr wrap="square" lIns="0" tIns="0" rIns="0" bIns="0" rtlCol="0" anchor="ctr"/>
          <a:lstStyle/>
          <a:p>
            <a:pPr algn="ctr" indent="0" marL="0">
              <a:buNone/>
            </a:pPr>
            <a:r>
              <a:rPr lang="en-US" sz="1600" b="1" dirty="0">
                <a:solidFill>
                  <a:schemeClr val="tx1"/>
                </a:solidFill>
              </a:rPr>
              <a:t>q</a:t>
            </a:r>
            <a:endParaRPr lang="en-US" sz="1600" dirty="0"/>
          </a:p>
        </p:txBody>
      </p:sp>
      <p:sp>
        <p:nvSpPr>
          <p:cNvPr id="6" name="Text 3"/>
          <p:cNvSpPr txBox="1"/>
          <p:nvPr/>
        </p:nvSpPr>
        <p:spPr>
          <a:xfrm>
            <a:off x="457200" y="2286000"/>
            <a:ext cx="118872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mbria" pitchFamily="34" charset="0"/>
                <a:ea typeface="Cambria" pitchFamily="34" charset="-122"/>
                <a:cs typeface="Cambria" pitchFamily="34" charset="-120"/>
              </a:rPr>
              <a:t>1 × d</a:t>
            </a:r>
            <a:endParaRPr lang="en-US" sz="1200" dirty="0"/>
          </a:p>
        </p:txBody>
      </p:sp>
      <p:sp>
        <p:nvSpPr>
          <p:cNvPr id="7" name="Shape 4"/>
          <p:cNvSpPr/>
          <p:nvPr/>
        </p:nvSpPr>
        <p:spPr>
          <a:xfrm>
            <a:off x="2103120" y="1371600"/>
            <a:ext cx="1828800" cy="822960"/>
          </a:xfrm>
          <a:prstGeom prst="rect">
            <a:avLst/>
          </a:prstGeom>
          <a:solidFill>
            <a:schemeClr val="bg1"/>
          </a:solidFill>
          <a:ln w="12700">
            <a:solidFill>
              <a:srgbClr val="1B2A41"/>
            </a:solidFill>
            <a:prstDash val="solid"/>
          </a:ln>
        </p:spPr>
      </p:sp>
      <p:sp>
        <p:nvSpPr>
          <p:cNvPr id="8" name="Text 5"/>
          <p:cNvSpPr txBox="1"/>
          <p:nvPr/>
        </p:nvSpPr>
        <p:spPr>
          <a:xfrm>
            <a:off x="2103120" y="1371600"/>
            <a:ext cx="1828800" cy="822960"/>
          </a:xfrm>
          <a:prstGeom prst="rect">
            <a:avLst/>
          </a:prstGeom>
          <a:noFill/>
          <a:ln/>
        </p:spPr>
        <p:txBody>
          <a:bodyPr wrap="square" lIns="0" tIns="0" rIns="0" bIns="0" rtlCol="0" anchor="ctr"/>
          <a:lstStyle/>
          <a:p>
            <a:pPr algn="ctr" indent="0" marL="0">
              <a:buNone/>
            </a:pPr>
            <a:r>
              <a:rPr lang="en-US" sz="1600" b="1" dirty="0">
                <a:solidFill>
                  <a:schemeClr val="tx1"/>
                </a:solidFill>
              </a:rPr>
              <a:t>Dᵀ</a:t>
            </a:r>
            <a:endParaRPr lang="en-US" sz="1600" dirty="0"/>
          </a:p>
        </p:txBody>
      </p:sp>
      <p:sp>
        <p:nvSpPr>
          <p:cNvPr id="9" name="Text 6"/>
          <p:cNvSpPr txBox="1"/>
          <p:nvPr/>
        </p:nvSpPr>
        <p:spPr>
          <a:xfrm>
            <a:off x="2103120" y="2286000"/>
            <a:ext cx="182880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mbria" pitchFamily="34" charset="0"/>
                <a:ea typeface="Cambria" pitchFamily="34" charset="-122"/>
                <a:cs typeface="Cambria" pitchFamily="34" charset="-120"/>
              </a:rPr>
              <a:t>d × N</a:t>
            </a:r>
            <a:endParaRPr lang="en-US" sz="1200" dirty="0"/>
          </a:p>
        </p:txBody>
      </p:sp>
      <p:sp>
        <p:nvSpPr>
          <p:cNvPr id="10" name="Shape 7"/>
          <p:cNvSpPr/>
          <p:nvPr/>
        </p:nvSpPr>
        <p:spPr>
          <a:xfrm>
            <a:off x="4389120" y="1371600"/>
            <a:ext cx="1737360" cy="822960"/>
          </a:xfrm>
          <a:prstGeom prst="rect">
            <a:avLst/>
          </a:prstGeom>
          <a:solidFill>
            <a:schemeClr val="bg1"/>
          </a:solidFill>
          <a:ln w="12700">
            <a:solidFill>
              <a:srgbClr val="1B2A41"/>
            </a:solidFill>
            <a:prstDash val="solid"/>
          </a:ln>
        </p:spPr>
      </p:sp>
      <p:sp>
        <p:nvSpPr>
          <p:cNvPr id="11" name="Text 8"/>
          <p:cNvSpPr txBox="1"/>
          <p:nvPr/>
        </p:nvSpPr>
        <p:spPr>
          <a:xfrm>
            <a:off x="4389120" y="1371600"/>
            <a:ext cx="1737360" cy="822960"/>
          </a:xfrm>
          <a:prstGeom prst="rect">
            <a:avLst/>
          </a:prstGeom>
          <a:noFill/>
          <a:ln/>
        </p:spPr>
        <p:txBody>
          <a:bodyPr wrap="square" lIns="0" tIns="0" rIns="0" bIns="0" rtlCol="0" anchor="ctr"/>
          <a:lstStyle/>
          <a:p>
            <a:pPr algn="ctr" indent="0" marL="0">
              <a:buNone/>
            </a:pPr>
            <a:r>
              <a:rPr lang="en-US" sz="1600" b="1" dirty="0">
                <a:solidFill>
                  <a:schemeClr val="tx1"/>
                </a:solidFill>
              </a:rPr>
              <a:t>scores</a:t>
            </a:r>
            <a:endParaRPr lang="en-US" sz="1600" dirty="0"/>
          </a:p>
        </p:txBody>
      </p:sp>
      <p:sp>
        <p:nvSpPr>
          <p:cNvPr id="12" name="Text 9"/>
          <p:cNvSpPr txBox="1"/>
          <p:nvPr/>
        </p:nvSpPr>
        <p:spPr>
          <a:xfrm>
            <a:off x="4389120" y="2286000"/>
            <a:ext cx="173736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mbria" pitchFamily="34" charset="0"/>
                <a:ea typeface="Cambria" pitchFamily="34" charset="-122"/>
                <a:cs typeface="Cambria" pitchFamily="34" charset="-120"/>
              </a:rPr>
              <a:t>1 × N</a:t>
            </a:r>
            <a:endParaRPr lang="en-US" sz="1200" dirty="0"/>
          </a:p>
        </p:txBody>
      </p:sp>
      <p:sp>
        <p:nvSpPr>
          <p:cNvPr id="13" name="Shape 10"/>
          <p:cNvSpPr/>
          <p:nvPr/>
        </p:nvSpPr>
        <p:spPr>
          <a:xfrm>
            <a:off x="6492240" y="1371600"/>
            <a:ext cx="1463040" cy="822960"/>
          </a:xfrm>
          <a:prstGeom prst="rect">
            <a:avLst/>
          </a:prstGeom>
          <a:solidFill>
            <a:schemeClr val="bg1"/>
          </a:solidFill>
          <a:ln w="28575">
            <a:solidFill>
              <a:srgbClr val="B5432A"/>
            </a:solidFill>
            <a:prstDash val="solid"/>
          </a:ln>
        </p:spPr>
      </p:sp>
      <p:sp>
        <p:nvSpPr>
          <p:cNvPr id="14" name="Text 11"/>
          <p:cNvSpPr txBox="1"/>
          <p:nvPr/>
        </p:nvSpPr>
        <p:spPr>
          <a:xfrm>
            <a:off x="6492240" y="1371600"/>
            <a:ext cx="1463040" cy="822960"/>
          </a:xfrm>
          <a:prstGeom prst="rect">
            <a:avLst/>
          </a:prstGeom>
          <a:noFill/>
          <a:ln/>
        </p:spPr>
        <p:txBody>
          <a:bodyPr wrap="square" lIns="0" tIns="0" rIns="0" bIns="0" rtlCol="0" anchor="ctr"/>
          <a:lstStyle/>
          <a:p>
            <a:pPr algn="ctr" indent="0" marL="0">
              <a:buNone/>
            </a:pPr>
            <a:r>
              <a:rPr lang="en-US" sz="1600" b="1" dirty="0">
                <a:solidFill>
                  <a:schemeClr val="tx1"/>
                </a:solidFill>
              </a:rPr>
              <a:t>top-k</a:t>
            </a:r>
            <a:endParaRPr lang="en-US" sz="1600" dirty="0"/>
          </a:p>
        </p:txBody>
      </p:sp>
      <p:sp>
        <p:nvSpPr>
          <p:cNvPr id="15" name="Text 12"/>
          <p:cNvSpPr txBox="1"/>
          <p:nvPr/>
        </p:nvSpPr>
        <p:spPr>
          <a:xfrm>
            <a:off x="6492240" y="2286000"/>
            <a:ext cx="1463040" cy="274320"/>
          </a:xfrm>
          <a:prstGeom prst="rect">
            <a:avLst/>
          </a:prstGeom>
          <a:noFill/>
          <a:ln/>
        </p:spPr>
        <p:txBody>
          <a:bodyPr wrap="square" lIns="0" tIns="0" rIns="0" bIns="0" rtlCol="0" anchor="t"/>
          <a:lstStyle/>
          <a:p>
            <a:pPr algn="ctr" indent="0" marL="0">
              <a:buNone/>
            </a:pPr>
            <a:r>
              <a:rPr lang="en-US" sz="1200" i="1" dirty="0">
                <a:solidFill>
                  <a:schemeClr val="accent5"/>
                </a:solidFill>
                <a:latin typeface="Cambria" pitchFamily="34" charset="0"/>
                <a:ea typeface="Cambria" pitchFamily="34" charset="-122"/>
                <a:cs typeface="Cambria" pitchFamily="34" charset="-120"/>
              </a:rPr>
              <a:t>indices</a:t>
            </a:r>
            <a:endParaRPr lang="en-US" sz="1200" dirty="0"/>
          </a:p>
        </p:txBody>
      </p:sp>
      <p:sp>
        <p:nvSpPr>
          <p:cNvPr id="16" name="Text 13"/>
          <p:cNvSpPr txBox="1"/>
          <p:nvPr/>
        </p:nvSpPr>
        <p:spPr>
          <a:xfrm>
            <a:off x="1645920" y="1371600"/>
            <a:ext cx="457200" cy="82296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a:t>
            </a:r>
            <a:endParaRPr lang="en-US" sz="2600" dirty="0"/>
          </a:p>
        </p:txBody>
      </p:sp>
      <p:sp>
        <p:nvSpPr>
          <p:cNvPr id="17" name="Text 14"/>
          <p:cNvSpPr txBox="1"/>
          <p:nvPr/>
        </p:nvSpPr>
        <p:spPr>
          <a:xfrm>
            <a:off x="3931920" y="1371600"/>
            <a:ext cx="457200" cy="822960"/>
          </a:xfrm>
          <a:prstGeom prst="rect">
            <a:avLst/>
          </a:prstGeom>
          <a:noFill/>
          <a:ln/>
        </p:spPr>
        <p:txBody>
          <a:bodyPr wrap="square" lIns="0" tIns="0" rIns="0" bIns="0" rtlCol="0" anchor="ctr"/>
          <a:lstStyle/>
          <a:p>
            <a:pPr algn="ctr" indent="0" marL="0">
              <a:buNone/>
            </a:pPr>
            <a:r>
              <a:rPr lang="en-US" sz="2600" b="1" dirty="0">
                <a:solidFill>
                  <a:schemeClr val="tx1"/>
                </a:solidFill>
                <a:latin typeface="Cambria" pitchFamily="34" charset="0"/>
                <a:ea typeface="Cambria" pitchFamily="34" charset="-122"/>
                <a:cs typeface="Cambria" pitchFamily="34" charset="-120"/>
              </a:rPr>
              <a:t>=</a:t>
            </a:r>
            <a:endParaRPr lang="en-US" sz="2600" dirty="0"/>
          </a:p>
        </p:txBody>
      </p:sp>
      <p:sp>
        <p:nvSpPr>
          <p:cNvPr id="18" name="Shape 15"/>
          <p:cNvSpPr/>
          <p:nvPr/>
        </p:nvSpPr>
        <p:spPr>
          <a:xfrm>
            <a:off x="6126480" y="1783080"/>
            <a:ext cx="365760" cy="0"/>
          </a:xfrm>
          <a:prstGeom prst="line">
            <a:avLst/>
          </a:prstGeom>
          <a:noFill/>
          <a:ln w="15875">
            <a:solidFill>
              <a:srgbClr val="1B2A41"/>
            </a:solidFill>
            <a:prstDash val="solid"/>
            <a:tailEnd type="triangle"/>
          </a:ln>
        </p:spPr>
      </p:sp>
      <p:sp>
        <p:nvSpPr>
          <p:cNvPr id="19" name="Text 16"/>
          <p:cNvSpPr txBox="1"/>
          <p:nvPr/>
        </p:nvSpPr>
        <p:spPr>
          <a:xfrm>
            <a:off x="457200" y="2697480"/>
            <a:ext cx="64008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3.7  Query times document matrix gives one score per document</a:t>
            </a:r>
            <a:endParaRPr lang="en-US" sz="1100" dirty="0"/>
          </a:p>
        </p:txBody>
      </p:sp>
      <p:sp>
        <p:nvSpPr>
          <p:cNvPr id="20" name="Text 17"/>
          <p:cNvSpPr txBox="1"/>
          <p:nvPr/>
        </p:nvSpPr>
        <p:spPr>
          <a:xfrm>
            <a:off x="457200" y="3108960"/>
            <a:ext cx="8229600" cy="1463040"/>
          </a:xfrm>
          <a:prstGeom prst="rect">
            <a:avLst/>
          </a:prstGeom>
          <a:noFill/>
          <a:ln/>
        </p:spPr>
        <p:txBody>
          <a:bodyPr wrap="square" lIns="0" tIns="0" rIns="0" bIns="0" rtlCol="0" anchor="t"/>
          <a:lstStyle/>
          <a:p>
            <a:pPr indent="0" marL="0">
              <a:buNone/>
            </a:pPr>
            <a:r>
              <a:rPr lang="en-US" sz="1400" b="1" dirty="0">
                <a:solidFill>
                  <a:schemeClr val="tx1"/>
                </a:solidFill>
              </a:rPr>
              <a:t>1  Normalize </a:t>
            </a:r>
            <a:pPr indent="0" marL="0">
              <a:spcAft>
                <a:spcPts val="800"/>
              </a:spcAft>
              <a:buNone/>
            </a:pPr>
            <a:r>
              <a:rPr lang="en-US" sz="1400" dirty="0">
                <a:solidFill>
                  <a:schemeClr val="tx1"/>
                </a:solidFill>
              </a:rPr>
              <a:t>the document matrix once, and each query.</a:t>
            </a:r>
            <a:endParaRPr lang="en-US" sz="1400" dirty="0"/>
          </a:p>
          <a:p>
            <a:pPr indent="0" marL="0">
              <a:buNone/>
            </a:pPr>
            <a:r>
              <a:rPr lang="en-US" sz="1400" b="1" dirty="0">
                <a:solidFill>
                  <a:schemeClr val="tx1"/>
                </a:solidFill>
              </a:rPr>
              <a:t>2  Score </a:t>
            </a:r>
            <a:pPr indent="0" marL="0">
              <a:spcAft>
                <a:spcPts val="800"/>
              </a:spcAft>
              <a:buNone/>
            </a:pPr>
            <a:r>
              <a:rPr lang="en-US" sz="1400" dirty="0">
                <a:solidFill>
                  <a:schemeClr val="tx1"/>
                </a:solidFill>
              </a:rPr>
              <a:t>every document with one product: cost proportional to N x d.</a:t>
            </a:r>
            <a:endParaRPr lang="en-US" sz="1400" dirty="0"/>
          </a:p>
          <a:p>
            <a:pPr indent="0" marL="0">
              <a:buNone/>
            </a:pPr>
            <a:r>
              <a:rPr lang="en-US" sz="1400" b="1" dirty="0">
                <a:solidFill>
                  <a:schemeClr val="tx1"/>
                </a:solidFill>
              </a:rPr>
              <a:t>3  Select </a:t>
            </a:r>
            <a:pPr indent="0" marL="0">
              <a:spcAft>
                <a:spcPts val="800"/>
              </a:spcAft>
              <a:buNone/>
            </a:pPr>
            <a:r>
              <a:rPr lang="en-US" sz="1400" dirty="0">
                <a:solidFill>
                  <a:schemeClr val="tx1"/>
                </a:solidFill>
              </a:rPr>
              <a:t>the k largest with argpartition (linear time), then sort only those k.</a:t>
            </a:r>
            <a:endParaRPr lang="en-US" sz="1400" dirty="0"/>
          </a:p>
          <a:p>
            <a:pPr indent="0" marL="0">
              <a:buNone/>
            </a:pPr>
            <a:r>
              <a:rPr lang="en-US" sz="1400" b="1" dirty="0">
                <a:solidFill>
                  <a:schemeClr val="tx1"/>
                </a:solidFill>
              </a:rPr>
              <a:t>4  Return </a:t>
            </a:r>
            <a:pPr indent="0" marL="0">
              <a:buNone/>
            </a:pPr>
            <a:r>
              <a:rPr lang="en-US" sz="1400" dirty="0">
                <a:solidFill>
                  <a:schemeClr val="tx1"/>
                </a:solidFill>
              </a:rPr>
              <a:t>ids and scores, plus metadata for display.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Exact search in six lines of NumPy</a:t>
            </a:r>
            <a:endParaRPr lang="en-US" sz="3000" dirty="0"/>
          </a:p>
        </p:txBody>
      </p:sp>
      <p:sp>
        <p:nvSpPr>
          <p:cNvPr id="4" name="Shape 1"/>
          <p:cNvSpPr/>
          <p:nvPr/>
        </p:nvSpPr>
        <p:spPr>
          <a:xfrm>
            <a:off x="457200" y="1280160"/>
            <a:ext cx="5120640" cy="3200400"/>
          </a:xfrm>
          <a:prstGeom prst="rect">
            <a:avLst/>
          </a:prstGeom>
          <a:solidFill>
            <a:srgbClr val="F3F4F6"/>
          </a:solidFill>
          <a:ln w="12700">
            <a:solidFill>
              <a:srgbClr val="D1D5DB"/>
            </a:solidFill>
            <a:prstDash val="solid"/>
          </a:ln>
        </p:spPr>
      </p:sp>
      <p:sp>
        <p:nvSpPr>
          <p:cNvPr id="5" name="Text 2"/>
          <p:cNvSpPr txBox="1"/>
          <p:nvPr/>
        </p:nvSpPr>
        <p:spPr>
          <a:xfrm>
            <a:off x="640080" y="1417320"/>
            <a:ext cx="4846320" cy="292608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import numpy as np</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def normalize(X):</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return X / np.linalg.norm(X, axis=1, keepdims=True)</a:t>
            </a:r>
            <a:endParaRPr lang="en-US" sz="1100" dirty="0"/>
          </a:p>
          <a:p>
            <a:pPr indent="0" marL="0">
              <a:buNone/>
            </a:pP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def knn(q, D, k=5):</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scores = D @ q                     # (N,)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top = np.argpartition(-scores, k)[:k]</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return top[np.argsort(-scores[top])]</a:t>
            </a:r>
            <a:endParaRPr lang="en-US" sz="1100" dirty="0"/>
          </a:p>
        </p:txBody>
      </p:sp>
      <p:sp>
        <p:nvSpPr>
          <p:cNvPr id="6" name="Text 3"/>
          <p:cNvSpPr txBox="1"/>
          <p:nvPr/>
        </p:nvSpPr>
        <p:spPr>
          <a:xfrm>
            <a:off x="5852160" y="1280160"/>
            <a:ext cx="28346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Practical notes</a:t>
            </a:r>
            <a:endParaRPr lang="en-US" sz="1800" dirty="0"/>
          </a:p>
        </p:txBody>
      </p:sp>
      <p:sp>
        <p:nvSpPr>
          <p:cNvPr id="7" name="Text 4"/>
          <p:cNvSpPr txBox="1"/>
          <p:nvPr/>
        </p:nvSpPr>
        <p:spPr>
          <a:xfrm>
            <a:off x="5852160" y="1737360"/>
            <a:ext cx="28346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 and q must be normalized for cosine</a:t>
            </a:r>
            <a:endParaRPr lang="en-US" sz="1400" dirty="0"/>
          </a:p>
          <a:p>
            <a:pPr marL="342900" indent="-342900">
              <a:spcAft>
                <a:spcPts val="800"/>
              </a:spcAft>
              <a:buSzPct val="100000"/>
              <a:buChar char="•"/>
            </a:pPr>
            <a:r>
              <a:rPr lang="en-US" sz="1400" dirty="0">
                <a:solidFill>
                  <a:schemeClr val="tx1"/>
                </a:solidFill>
              </a:rPr>
              <a:t>k must be smaller than N</a:t>
            </a:r>
            <a:endParaRPr lang="en-US" sz="1400" dirty="0"/>
          </a:p>
          <a:p>
            <a:pPr marL="342900" indent="-342900">
              <a:spcAft>
                <a:spcPts val="800"/>
              </a:spcAft>
              <a:buSzPct val="100000"/>
              <a:buChar char="•"/>
            </a:pPr>
            <a:r>
              <a:rPr lang="en-US" sz="1400" dirty="0">
                <a:solidFill>
                  <a:schemeClr val="tx1"/>
                </a:solidFill>
              </a:rPr>
              <a:t>Many queries: use Q @ D.T</a:t>
            </a:r>
            <a:endParaRPr lang="en-US" sz="1400" dirty="0"/>
          </a:p>
          <a:p>
            <a:pPr marL="342900" indent="-342900">
              <a:spcAft>
                <a:spcPts val="800"/>
              </a:spcAft>
              <a:buSzPct val="100000"/>
              <a:buChar char="•"/>
            </a:pPr>
            <a:r>
              <a:rPr lang="en-US" sz="1400" dirty="0">
                <a:solidFill>
                  <a:schemeClr val="tx1"/>
                </a:solidFill>
              </a:rPr>
              <a:t>For huge D, process in chunks to bound memory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Why distances get harder in high dimensions</a:t>
            </a:r>
            <a:endParaRPr lang="en-US" sz="3000" dirty="0"/>
          </a:p>
        </p:txBody>
      </p:sp>
      <p:graphicFrame>
        <p:nvGraphicFramePr>
          <p:cNvPr id="4" name="Chart 0" descr=""/>
          <p:cNvGraphicFramePr/>
          <p:nvPr/>
        </p:nvGraphicFramePr>
        <p:xfrm>
          <a:off x="457200" y="128016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669280" y="1280160"/>
            <a:ext cx="3017520" cy="3200400"/>
          </a:xfrm>
          <a:prstGeom prst="rect">
            <a:avLst/>
          </a:prstGeom>
          <a:noFill/>
          <a:ln/>
        </p:spPr>
        <p:txBody>
          <a:bodyPr wrap="square" lIns="0" tIns="0" rIns="0" bIns="0" rtlCol="0" anchor="t"/>
          <a:lstStyle/>
          <a:p>
            <a:pPr indent="0" marL="0">
              <a:buNone/>
            </a:pPr>
            <a:r>
              <a:rPr lang="en-US" sz="1400" b="1" dirty="0">
                <a:solidFill>
                  <a:schemeClr val="tx1"/>
                </a:solidFill>
              </a:rPr>
              <a:t>Distances concentrate</a:t>
            </a:r>
            <a:endParaRPr lang="en-US" sz="1400" dirty="0"/>
          </a:p>
          <a:p>
            <a:pPr indent="0" marL="0">
              <a:spcAft>
                <a:spcPts val="1000"/>
              </a:spcAft>
              <a:buNone/>
            </a:pPr>
            <a:r>
              <a:rPr lang="en-US" sz="1400" dirty="0">
                <a:solidFill>
                  <a:schemeClr val="tx1"/>
                </a:solidFill>
              </a:rPr>
              <a:t>As d grows, nearest and farthest points become almost equally far.</a:t>
            </a:r>
            <a:endParaRPr lang="en-US" sz="1400" dirty="0"/>
          </a:p>
          <a:p>
            <a:pPr indent="0" marL="0">
              <a:buNone/>
            </a:pPr>
            <a:r>
              <a:rPr lang="en-US" sz="1400" b="1" dirty="0">
                <a:solidFill>
                  <a:schemeClr val="tx1"/>
                </a:solidFill>
              </a:rPr>
              <a:t>Consequences</a:t>
            </a:r>
            <a:endParaRPr lang="en-US" sz="1400" dirty="0"/>
          </a:p>
          <a:p>
            <a:pPr indent="0" marL="0">
              <a:spcAft>
                <a:spcPts val="1000"/>
              </a:spcAft>
              <a:buNone/>
            </a:pPr>
            <a:r>
              <a:rPr lang="en-US" sz="1400" dirty="0">
                <a:solidFill>
                  <a:schemeClr val="tx1"/>
                </a:solidFill>
              </a:rPr>
              <a:t>Scores of good and bad matches get closer together, so absolute thresholds are fragile and ranking matters more than raw values.</a:t>
            </a:r>
            <a:endParaRPr lang="en-US" sz="1400" dirty="0"/>
          </a:p>
          <a:p>
            <a:pPr indent="0" marL="0">
              <a:buNone/>
            </a:pPr>
            <a:r>
              <a:rPr lang="en-US" sz="1400" i="1" dirty="0">
                <a:solidFill>
                  <a:srgbClr val="6B7280"/>
                </a:solidFill>
                <a:latin typeface="Cambria" pitchFamily="34" charset="0"/>
                <a:ea typeface="Cambria" pitchFamily="34" charset="-122"/>
                <a:cs typeface="Cambria" pitchFamily="34" charset="-120"/>
              </a:rPr>
              <a:t>Lab 3 repeats this experiment.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Mistakes</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Forgetting to normalize before using the dot product</a:t>
            </a:r>
            <a:endParaRPr lang="en-US" sz="1400" dirty="0"/>
          </a:p>
          <a:p>
            <a:pPr marL="342900" indent="-342900">
              <a:spcAft>
                <a:spcPts val="800"/>
              </a:spcAft>
              <a:buSzPct val="100000"/>
              <a:buChar char="•"/>
            </a:pPr>
            <a:r>
              <a:rPr lang="en-US" sz="1400" dirty="0">
                <a:solidFill>
                  <a:schemeClr val="tx1"/>
                </a:solidFill>
              </a:rPr>
              <a:t>Index built with L2, queried as if it were cosine</a:t>
            </a:r>
            <a:endParaRPr lang="en-US" sz="1400" dirty="0"/>
          </a:p>
          <a:p>
            <a:pPr marL="342900" indent="-342900">
              <a:spcAft>
                <a:spcPts val="800"/>
              </a:spcAft>
              <a:buSzPct val="100000"/>
              <a:buChar char="•"/>
            </a:pPr>
            <a:r>
              <a:rPr lang="en-US" sz="1400" dirty="0">
                <a:solidFill>
                  <a:schemeClr val="tx1"/>
                </a:solidFill>
              </a:rPr>
              <a:t>Treating a cosine score as a probability</a:t>
            </a:r>
            <a:endParaRPr lang="en-US" sz="1400" dirty="0"/>
          </a:p>
          <a:p>
            <a:pPr marL="342900" indent="-342900">
              <a:spcAft>
                <a:spcPts val="800"/>
              </a:spcAft>
              <a:buSzPct val="100000"/>
              <a:buChar char="•"/>
            </a:pPr>
            <a:r>
              <a:rPr lang="en-US" sz="1400" dirty="0">
                <a:solidFill>
                  <a:schemeClr val="tx1"/>
                </a:solidFill>
              </a:rPr>
              <a:t>One fixed threshold for every model</a:t>
            </a:r>
            <a:endParaRPr lang="en-US" sz="1400" dirty="0"/>
          </a:p>
          <a:p>
            <a:pPr marL="342900" indent="-342900">
              <a:spcAft>
                <a:spcPts val="800"/>
              </a:spcAft>
              <a:buSzPct val="100000"/>
              <a:buChar char="•"/>
            </a:pPr>
            <a:r>
              <a:rPr lang="en-US" sz="1400" dirty="0">
                <a:solidFill>
                  <a:schemeClr val="tx1"/>
                </a:solidFill>
              </a:rPr>
              <a:t>Comparing scores across different models</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Habits that help</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Store the metric next to the vectors</a:t>
            </a:r>
            <a:endParaRPr lang="en-US" sz="1400" dirty="0"/>
          </a:p>
          <a:p>
            <a:pPr marL="342900" indent="-342900">
              <a:spcAft>
                <a:spcPts val="800"/>
              </a:spcAft>
              <a:buSzPct val="100000"/>
              <a:buChar char="•"/>
            </a:pPr>
            <a:r>
              <a:rPr lang="en-US" sz="1400" dirty="0">
                <a:solidFill>
                  <a:schemeClr val="tx1"/>
                </a:solidFill>
              </a:rPr>
              <a:t>Normalize at ingestion, and test it</a:t>
            </a:r>
            <a:endParaRPr lang="en-US" sz="1400" dirty="0"/>
          </a:p>
          <a:p>
            <a:pPr marL="342900" indent="-342900">
              <a:spcAft>
                <a:spcPts val="800"/>
              </a:spcAft>
              <a:buSzPct val="100000"/>
              <a:buChar char="•"/>
            </a:pPr>
            <a:r>
              <a:rPr lang="en-US" sz="1400" dirty="0">
                <a:solidFill>
                  <a:schemeClr val="tx1"/>
                </a:solidFill>
              </a:rPr>
              <a:t>Rank first; pick thresholds from your own data</a:t>
            </a:r>
            <a:endParaRPr lang="en-US" sz="1400" dirty="0"/>
          </a:p>
          <a:p>
            <a:pPr marL="342900" indent="-342900">
              <a:spcAft>
                <a:spcPts val="800"/>
              </a:spcAft>
              <a:buSzPct val="100000"/>
              <a:buChar char="•"/>
            </a:pPr>
            <a:r>
              <a:rPr lang="en-US" sz="1400" dirty="0">
                <a:solidFill>
                  <a:schemeClr val="tx1"/>
                </a:solidFill>
              </a:rPr>
              <a:t>Evaluate with labeled queries (Lecture 9)</a:t>
            </a:r>
            <a:endParaRPr lang="en-US" sz="1400" dirty="0"/>
          </a:p>
          <a:p>
            <a:pPr marL="342900" indent="-342900">
              <a:spcAft>
                <a:spcPts val="800"/>
              </a:spcAft>
              <a:buSzPct val="100000"/>
              <a:buChar char="•"/>
            </a:pPr>
            <a:r>
              <a:rPr lang="en-US" sz="1400" dirty="0">
                <a:solidFill>
                  <a:schemeClr val="tx1"/>
                </a:solidFill>
              </a:rPr>
              <a:t>Unit-test the metric on a known example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Q1</a:t>
            </a:r>
            <a:endParaRPr lang="en-US" sz="2200" dirty="0"/>
          </a:p>
        </p:txBody>
      </p:sp>
      <p:sp>
        <p:nvSpPr>
          <p:cNvPr id="5" name="Text 2"/>
          <p:cNvSpPr txBox="1"/>
          <p:nvPr/>
        </p:nvSpPr>
        <p:spPr>
          <a:xfrm>
            <a:off x="1280160" y="12801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When is cosine similarity a better choice than the dot product?</a:t>
            </a:r>
            <a:endParaRPr lang="en-US" sz="1600" dirty="0"/>
          </a:p>
        </p:txBody>
      </p:sp>
      <p:sp>
        <p:nvSpPr>
          <p:cNvPr id="6" name="Text 3"/>
          <p:cNvSpPr txBox="1"/>
          <p:nvPr/>
        </p:nvSpPr>
        <p:spPr>
          <a:xfrm>
            <a:off x="457200" y="19659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Q2</a:t>
            </a:r>
            <a:endParaRPr lang="en-US" sz="2200" dirty="0"/>
          </a:p>
        </p:txBody>
      </p:sp>
      <p:sp>
        <p:nvSpPr>
          <p:cNvPr id="7" name="Text 4"/>
          <p:cNvSpPr txBox="1"/>
          <p:nvPr/>
        </p:nvSpPr>
        <p:spPr>
          <a:xfrm>
            <a:off x="1280160" y="19659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For the query a = (1, 3), how do b = (3, 1) and c = (2, 6) rank under cosine, dot and L2?</a:t>
            </a:r>
            <a:endParaRPr lang="en-US" sz="1600" dirty="0"/>
          </a:p>
        </p:txBody>
      </p:sp>
      <p:sp>
        <p:nvSpPr>
          <p:cNvPr id="8" name="Text 5"/>
          <p:cNvSpPr txBox="1"/>
          <p:nvPr/>
        </p:nvSpPr>
        <p:spPr>
          <a:xfrm>
            <a:off x="457200" y="26517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Q3</a:t>
            </a:r>
            <a:endParaRPr lang="en-US" sz="2200" dirty="0"/>
          </a:p>
        </p:txBody>
      </p:sp>
      <p:sp>
        <p:nvSpPr>
          <p:cNvPr id="9" name="Text 6"/>
          <p:cNvSpPr txBox="1"/>
          <p:nvPr/>
        </p:nvSpPr>
        <p:spPr>
          <a:xfrm>
            <a:off x="1280160" y="26517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do cosine, dot and L2 rank identically for unit vectors?</a:t>
            </a:r>
            <a:endParaRPr lang="en-US" sz="1600" dirty="0"/>
          </a:p>
        </p:txBody>
      </p:sp>
      <p:sp>
        <p:nvSpPr>
          <p:cNvPr id="10" name="Text 7"/>
          <p:cNvSpPr txBox="1"/>
          <p:nvPr/>
        </p:nvSpPr>
        <p:spPr>
          <a:xfrm>
            <a:off x="457200" y="33375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Q4</a:t>
            </a:r>
            <a:endParaRPr lang="en-US" sz="2200" dirty="0"/>
          </a:p>
        </p:txBody>
      </p:sp>
      <p:sp>
        <p:nvSpPr>
          <p:cNvPr id="11" name="Text 8"/>
          <p:cNvSpPr txBox="1"/>
          <p:nvPr/>
        </p:nvSpPr>
        <p:spPr>
          <a:xfrm>
            <a:off x="1280160" y="33375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How would you make Chroma use cosine for your collection?</a:t>
            </a:r>
            <a:endParaRPr lang="en-US" sz="1600" dirty="0"/>
          </a:p>
        </p:txBody>
      </p:sp>
      <p:sp>
        <p:nvSpPr>
          <p:cNvPr id="12" name="Text 9"/>
          <p:cNvSpPr txBox="1"/>
          <p:nvPr/>
        </p:nvSpPr>
        <p:spPr>
          <a:xfrm>
            <a:off x="457200" y="40233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Q5</a:t>
            </a:r>
            <a:endParaRPr lang="en-US" sz="2200" dirty="0"/>
          </a:p>
        </p:txBody>
      </p:sp>
      <p:sp>
        <p:nvSpPr>
          <p:cNvPr id="13" name="Text 10"/>
          <p:cNvSpPr txBox="1"/>
          <p:nvPr/>
        </p:nvSpPr>
        <p:spPr>
          <a:xfrm>
            <a:off x="1280160" y="40233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What is the cost of exact search, and what happens at 100 million vectors?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Summary and next steps</a:t>
            </a:r>
            <a:endParaRPr lang="en-US" sz="3000" dirty="0"/>
          </a:p>
        </p:txBody>
      </p:sp>
      <p:sp>
        <p:nvSpPr>
          <p:cNvPr id="4" name="Text 1"/>
          <p:cNvSpPr txBox="1"/>
          <p:nvPr/>
        </p:nvSpPr>
        <p:spPr>
          <a:xfrm>
            <a:off x="457200" y="1280160"/>
            <a:ext cx="4846320" cy="32918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Cosine uses direction; dot product uses direction and length; L2 uses position</a:t>
            </a:r>
            <a:endParaRPr lang="en-US" sz="1500" dirty="0"/>
          </a:p>
          <a:p>
            <a:pPr marL="342900" indent="-342900">
              <a:spcAft>
                <a:spcPts val="1200"/>
              </a:spcAft>
              <a:buSzPct val="100000"/>
              <a:buChar char="•"/>
            </a:pPr>
            <a:r>
              <a:rPr lang="en-US" sz="1500" dirty="0">
                <a:solidFill>
                  <a:schemeClr val="tx1"/>
                </a:solidFill>
              </a:rPr>
              <a:t>For unit vectors all three give the same ranking</a:t>
            </a:r>
            <a:endParaRPr lang="en-US" sz="1500" dirty="0"/>
          </a:p>
          <a:p>
            <a:pPr marL="342900" indent="-342900">
              <a:spcAft>
                <a:spcPts val="1200"/>
              </a:spcAft>
              <a:buSzPct val="100000"/>
              <a:buChar char="•"/>
            </a:pPr>
            <a:r>
              <a:rPr lang="en-US" sz="1500" dirty="0">
                <a:solidFill>
                  <a:schemeClr val="tx1"/>
                </a:solidFill>
              </a:rPr>
              <a:t>Follow the model card, and keep index and query metrics consistent</a:t>
            </a:r>
            <a:endParaRPr lang="en-US" sz="1500" dirty="0"/>
          </a:p>
          <a:p>
            <a:pPr marL="342900" indent="-342900">
              <a:spcAft>
                <a:spcPts val="1200"/>
              </a:spcAft>
              <a:buSzPct val="100000"/>
              <a:buChar char="•"/>
            </a:pPr>
            <a:r>
              <a:rPr lang="en-US" sz="1500" dirty="0">
                <a:solidFill>
                  <a:schemeClr val="tx1"/>
                </a:solidFill>
              </a:rPr>
              <a:t>Exact kNN is one matrix product: simple, correct, linear in N x d</a:t>
            </a:r>
            <a:endParaRPr lang="en-US" sz="1500" dirty="0"/>
          </a:p>
          <a:p>
            <a:pPr marL="342900" indent="-342900">
              <a:spcAft>
                <a:spcPts val="1200"/>
              </a:spcAft>
              <a:buSzPct val="100000"/>
              <a:buChar char="•"/>
            </a:pPr>
            <a:r>
              <a:rPr lang="en-US" sz="1500" dirty="0">
                <a:solidFill>
                  <a:schemeClr val="tx1"/>
                </a:solidFill>
              </a:rPr>
              <a:t>High dimensions compress score contrast, so rank and evaluate on your data</a:t>
            </a:r>
            <a:endParaRPr lang="en-US" sz="1500" dirty="0"/>
          </a:p>
        </p:txBody>
      </p:sp>
      <p:sp>
        <p:nvSpPr>
          <p:cNvPr id="5" name="Shape 2"/>
          <p:cNvSpPr/>
          <p:nvPr/>
        </p:nvSpPr>
        <p:spPr>
          <a:xfrm>
            <a:off x="5577840" y="1280160"/>
            <a:ext cx="0" cy="3200400"/>
          </a:xfrm>
          <a:prstGeom prst="line">
            <a:avLst/>
          </a:prstGeom>
          <a:noFill/>
          <a:ln w="9525">
            <a:solidFill>
              <a:schemeClr val="accent6"/>
            </a:solidFill>
            <a:prstDash val="solid"/>
          </a:ln>
        </p:spPr>
      </p:sp>
      <p:sp>
        <p:nvSpPr>
          <p:cNvPr id="6" name="Text 3"/>
          <p:cNvSpPr txBox="1"/>
          <p:nvPr/>
        </p:nvSpPr>
        <p:spPr>
          <a:xfrm>
            <a:off x="5852160" y="128016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3</a:t>
            </a:r>
            <a:endParaRPr lang="en-US" sz="1200" dirty="0"/>
          </a:p>
        </p:txBody>
      </p:sp>
      <p:sp>
        <p:nvSpPr>
          <p:cNvPr id="7" name="Text 4"/>
          <p:cNvSpPr txBox="1"/>
          <p:nvPr/>
        </p:nvSpPr>
        <p:spPr>
          <a:xfrm>
            <a:off x="5852160" y="1600200"/>
            <a:ext cx="2834640" cy="731520"/>
          </a:xfrm>
          <a:prstGeom prst="rect">
            <a:avLst/>
          </a:prstGeom>
          <a:noFill/>
          <a:ln/>
        </p:spPr>
        <p:txBody>
          <a:bodyPr wrap="square" lIns="0" tIns="0" rIns="0" bIns="0" rtlCol="0" anchor="t"/>
          <a:lstStyle/>
          <a:p>
            <a:pPr indent="0" marL="0">
              <a:buNone/>
            </a:pPr>
            <a:r>
              <a:rPr lang="en-US" sz="1400" dirty="0">
                <a:solidFill>
                  <a:schemeClr val="tx1"/>
                </a:solidFill>
              </a:rPr>
              <a:t>Build a NumPy search engine and benchmark it (60 minutes).</a:t>
            </a:r>
            <a:endParaRPr lang="en-US" sz="1400" dirty="0"/>
          </a:p>
        </p:txBody>
      </p:sp>
      <p:sp>
        <p:nvSpPr>
          <p:cNvPr id="8" name="Text 5"/>
          <p:cNvSpPr txBox="1"/>
          <p:nvPr/>
        </p:nvSpPr>
        <p:spPr>
          <a:xfrm>
            <a:off x="5852160" y="2514600"/>
            <a:ext cx="28346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Further reading</a:t>
            </a:r>
            <a:endParaRPr lang="en-US" sz="1200" dirty="0"/>
          </a:p>
        </p:txBody>
      </p:sp>
      <p:sp>
        <p:nvSpPr>
          <p:cNvPr id="9" name="Text 6"/>
          <p:cNvSpPr txBox="1"/>
          <p:nvPr/>
        </p:nvSpPr>
        <p:spPr>
          <a:xfrm>
            <a:off x="5852160" y="2834640"/>
            <a:ext cx="2834640" cy="1737360"/>
          </a:xfrm>
          <a:prstGeom prst="rect">
            <a:avLst/>
          </a:prstGeom>
          <a:noFill/>
          <a:ln/>
        </p:spPr>
        <p:txBody>
          <a:bodyPr wrap="square" lIns="0" tIns="0" rIns="0" bIns="0" rtlCol="0" anchor="t"/>
          <a:lstStyle/>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Manning, Raghavan and Schutze (2008). Introduction to Information Retrieval, chapter 6.</a:t>
            </a:r>
            <a:endParaRPr lang="en-US" sz="1200" dirty="0"/>
          </a:p>
          <a:p>
            <a:pPr indent="0" marL="0">
              <a:spcAft>
                <a:spcPts val="500"/>
              </a:spcAft>
              <a:buNone/>
            </a:pPr>
            <a:r>
              <a:rPr lang="en-US" sz="1200" i="1" dirty="0">
                <a:solidFill>
                  <a:schemeClr val="tx1"/>
                </a:solidFill>
                <a:latin typeface="Cambria" pitchFamily="34" charset="0"/>
                <a:ea typeface="Cambria" pitchFamily="34" charset="-122"/>
                <a:cs typeface="Cambria" pitchFamily="34" charset="-120"/>
              </a:rPr>
              <a:t>Beyer et al. (1999). When Is Nearest Neighbor Meaningful?</a:t>
            </a:r>
            <a:endParaRPr lang="en-US" sz="1200" dirty="0"/>
          </a:p>
          <a:p>
            <a:pPr indent="0" marL="0">
              <a:buNone/>
            </a:pPr>
            <a:r>
              <a:rPr lang="en-US" sz="1200" i="1" dirty="0">
                <a:solidFill>
                  <a:schemeClr val="tx1"/>
                </a:solidFill>
                <a:latin typeface="Cambria" pitchFamily="34" charset="0"/>
                <a:ea typeface="Cambria" pitchFamily="34" charset="-122"/>
                <a:cs typeface="Cambria" pitchFamily="34" charset="-120"/>
              </a:rPr>
              <a:t>Aggarwal, Hinneburg and Keim (2001). On the Surprising Behavior of Distance Metrics in High Dimensional Space.</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Editorial3">
  <a:themeElements>
    <a:clrScheme name="Editorial3">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3">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Similarity Metrics</dc:title>
  <dc:subject>PptxGenJS Presentation</dc:subject>
  <dc:creator>PptxGenJS</dc:creator>
  <cp:lastModifiedBy>PptxGenJS</cp:lastModifiedBy>
  <cp:revision>1</cp:revision>
  <dcterms:created xsi:type="dcterms:W3CDTF">2026-10-26T06:32:52Z</dcterms:created>
  <dcterms:modified xsi:type="dcterms:W3CDTF">2026-10-26T06:32:52Z</dcterms:modified>
</cp:coreProperties>
</file>