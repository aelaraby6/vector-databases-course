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cture 7" id="{e904904c-9a77-c4ee-ceb0-adf812c53a26}">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(2 min). We have the theory (Parts 1 and 2) and prepared data (Lecture 6). Today we store and query it with Chroma. Everything here was tested against Chroma 1.5.x; APIs evolve, so students should check the docs for their installed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(1 min). 90 minutes: about 50 lecture, 40 lab. The lab runs fully in Colab, including a local Chroma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Mental model (5 min). A client connects to storage; a collection is like a table with one embedding function and one distance; a record is an id plus an embedding, a document and metadata.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program (4 min). With no embedding function specified, Chroma embeds with its default model (all-MiniLM-L6-v2, run through ONNX), downloading it on first use. res['documents'][0] is the list for the first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(5 min). Persistent is the right default for notebooks and single-process apps. Server mode is started with the chroma run command and lets several processes share data. Chroma Cloud removes servers; check its current plans and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(5 min). The surprise is add: for an existing id it keeps the old record and ignores the new one, so changed documents silently stay stale. Use upsert for idempotent ingestion (Lecture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Ingestion (5 min). Batch size is limited; ask the client with get_max_batch_size. Deterministic ids from Lecture 6 make this idempotent: running the script twice leaves the same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 path (6 min). Results are dictionaries of lists of lists because you can send several queries at once. Use include to choose what comes back; ids always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Distances (5 min). Worked example with a = (1, 0) and b = (0.6, 0.8), both unit vectors, so cosine = 0.6. The L2 value shows the Lecture 3 identity: squared L2 = 2 - 2 cos = 0.8. Chroma returns distances, so convert to similarity before showing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 filters (5 min). Operators: $eq, $ne, $gt, $gte, $lt, $lte for comparisons; $in and $nin for lists; $and and $or to combine. A bare {"key": value} means equals. Filters are applied during the search, not after, so you still get k results when enough records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metadata (4 min). where_document filters on the stored text; $contains is a substring test, which gives you cheap keyword filtering next to vector search. get uses the same filters without any ranking, and pages with limit and offset.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Collection configuration (5 min). Set the space at creation. In current versions the setting lives in configuration; older code uses metadata with the hnsw:space key, which still works but may be deprecated. Chroma's HNSW names map to Lecture 4: max_neighbors is M, ef_construction is efConstruction, ef_search is efSearch.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 functions (5 min). The function is part of the collection's contract: documents and queries must be embedded by the same one. Note the built-in SentenceTransformer wrapper does not normalize by default, which is harmless for cosine but matters for ip and l2.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Lifecycle (5 min). A PersistentClient keeps data in a directory, ideal for a single process. For several services, run the server and connect with HttpClient. Back up by copying the directory while nothing is writing; check the current docs for backup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to end (4 min). The lab loads chunks.jsonl from Lab 6. Re-ingesting a changed document means deleting its old chunks by metadata, then upserting the new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Patterns (4 min). The dimension error is a real protection: vectors from different models must never share a collection. Name the collection after the model and keep an old one until the new one is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limits (4 min). Chroma is excellent for development and moderate production use. The decision to move is about scale, availability and operations, as in Lecture 5. Verify current capabilities in the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Pitfalls (4 min). Most of these were reproduced in the tests behind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discussion (5 min). Answers: 1) add keeps the old record, so use upsert; 2) cosine distance 0.4; 3) queries must be embedded by the same function, and the dimension must match; 4) where is applied during the search; 5) PersistentClient, or HttpClient for several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(3 min), then hand out Lab 7. Next lecture: build a complete RAG application on Chroma.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Shape 0"/>
          <p:cNvSpPr/>
          <p:nvPr/>
        </p:nvSpPr>
        <p:spPr>
          <a:xfrm>
            <a:off x="457200" y="4754880"/>
            <a:ext cx="8229600" cy="0"/>
          </a:xfrm>
          <a:prstGeom prst="line">
            <a:avLst/>
          </a:prstGeom>
          <a:noFill/>
          <a:ln w="12700">
            <a:solidFill>
              <a:srgbClr val="D1D5DB"/>
            </a:solidFill>
            <a:prstDash val="solid"/>
          </a:ln>
        </p:spPr>
      </p:sp>
      <p:sp>
        <p:nvSpPr>
          <p:cNvPr id="4" name="Text 1"/>
          <p:cNvSpPr/>
          <p:nvPr/>
        </p:nvSpPr>
        <p:spPr>
          <a:xfrm>
            <a:off x="457200" y="4818888"/>
            <a:ext cx="4572000" cy="228600"/>
          </a:xfrm>
          <a:prstGeom prst="rect">
            <a:avLst/>
          </a:prstGeom>
          <a:noFill/>
          <a:ln/>
        </p:spPr>
        <p:txBody>
          <a:bodyPr wrap="square" lIns="0" tIns="0" rIns="0" bIns="0" rtlCol="0" anchor="ctr"/>
          <a:lstStyle/>
          <a:p>
            <a:pPr indent="0" marL="0">
              <a:buNone/>
            </a:pPr>
            <a:r>
              <a:rPr lang="en-US" sz="1000" i="1" dirty="0">
                <a:solidFill>
                  <a:schemeClr val="accent5"/>
                </a:solidFill>
                <a:latin typeface="Cambria" pitchFamily="34" charset="0"/>
                <a:ea typeface="Cambria" pitchFamily="34" charset="-122"/>
                <a:cs typeface="Cambria" pitchFamily="34" charset="-120"/>
              </a:rPr>
              <a:t>Vector Databases  —  Lecture 7</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PEN">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457200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14400"/>
            <a:ext cx="3657600" cy="274320"/>
          </a:xfrm>
          <a:prstGeom prst="rect">
            <a:avLst/>
          </a:prstGeom>
          <a:noFill/>
          <a:ln/>
        </p:spPr>
        <p:txBody>
          <a:bodyPr wrap="square" lIns="0" tIns="0" rIns="0" bIns="0" rtlCol="0" anchor="t"/>
          <a:lstStyle/>
          <a:p>
            <a:pPr indent="0" marL="0">
              <a:buNone/>
            </a:pPr>
            <a:r>
              <a:rPr lang="en-US" sz="1200" b="1" spc="400" kern="0" dirty="0">
                <a:solidFill>
                  <a:schemeClr val="accent6"/>
                </a:solidFill>
              </a:rPr>
              <a:t>LECTURE 7 OF 9</a:t>
            </a:r>
            <a:endParaRPr lang="en-US" sz="1200" dirty="0"/>
          </a:p>
        </p:txBody>
      </p:sp>
      <p:sp>
        <p:nvSpPr>
          <p:cNvPr id="3" name="Text 0"/>
          <p:cNvSpPr/>
          <p:nvPr>
            <p:ph idx="100" type="title" hasCustomPrompt="1"/>
          </p:nvPr>
        </p:nvSpPr>
        <p:spPr>
          <a:xfrm>
            <a:off x="548640" y="1325880"/>
            <a:ext cx="4572000" cy="1554480"/>
          </a:xfrm>
          <a:prstGeom prst="rect">
            <a:avLst/>
          </a:prstGeom>
          <a:noFill/>
          <a:ln/>
        </p:spPr>
        <p:txBody>
          <a:bodyPr wrap="square" lIns="0" tIns="0" rIns="0" bIns="0" rtlCol="0" anchor="t"/>
          <a:lstStyle/>
          <a:p>
            <a:pPr algn="l" indent="0" marL="0">
              <a:buNone/>
            </a:pPr>
            <a:r>
              <a:rPr lang="en-US" sz="4400" b="1" dirty="0">
                <a:solidFill>
                  <a:schemeClr val="bg1"/>
                </a:solidFill>
              </a:rPr>
              <a:t>ChromaDB Fundamentals</a:t>
            </a:r>
            <a:endParaRPr lang="en-US" sz="4400" dirty="0"/>
          </a:p>
        </p:txBody>
      </p:sp>
      <p:sp>
        <p:nvSpPr>
          <p:cNvPr id="4" name="Text 2"/>
          <p:cNvSpPr txBox="1"/>
          <p:nvPr/>
        </p:nvSpPr>
        <p:spPr>
          <a:xfrm>
            <a:off x="548640" y="3611880"/>
            <a:ext cx="4572000" cy="365760"/>
          </a:xfrm>
          <a:prstGeom prst="rect">
            <a:avLst/>
          </a:prstGeom>
          <a:noFill/>
          <a:ln/>
        </p:spPr>
        <p:txBody>
          <a:bodyPr wrap="square" lIns="0" tIns="0" rIns="0" bIns="0" rtlCol="0" anchor="t"/>
          <a:lstStyle/>
          <a:p>
            <a:pPr indent="0" marL="0">
              <a:buNone/>
            </a:pPr>
            <a:r>
              <a:rPr lang="en-US" sz="1800" i="1" dirty="0">
                <a:solidFill>
                  <a:schemeClr val="bg2"/>
                </a:solidFill>
                <a:latin typeface="Cambria" pitchFamily="34" charset="0"/>
                <a:ea typeface="Cambria" pitchFamily="34" charset="-122"/>
                <a:cs typeface="Cambria" pitchFamily="34" charset="-120"/>
              </a:rPr>
              <a:t>Collections, queries and filters</a:t>
            </a:r>
            <a:endParaRPr lang="en-US" sz="1800" dirty="0"/>
          </a:p>
        </p:txBody>
      </p:sp>
      <p:sp>
        <p:nvSpPr>
          <p:cNvPr id="5" name="Text 3"/>
          <p:cNvSpPr txBox="1"/>
          <p:nvPr/>
        </p:nvSpPr>
        <p:spPr>
          <a:xfrm>
            <a:off x="548640" y="4206240"/>
            <a:ext cx="4572000" cy="274320"/>
          </a:xfrm>
          <a:prstGeom prst="rect">
            <a:avLst/>
          </a:prstGeom>
          <a:noFill/>
          <a:ln/>
        </p:spPr>
        <p:txBody>
          <a:bodyPr wrap="square" lIns="0" tIns="0" rIns="0" bIns="0" rtlCol="0" anchor="t"/>
          <a:lstStyle/>
          <a:p>
            <a:pPr indent="0" marL="0">
              <a:buNone/>
            </a:pPr>
            <a:r>
              <a:rPr lang="en-US" sz="1200" dirty="0">
                <a:solidFill>
                  <a:schemeClr val="accent6"/>
                </a:solidFill>
              </a:rPr>
              <a:t>Vector Databases: from zero to ChromaDB</a:t>
            </a:r>
            <a:endParaRPr lang="en-US" sz="1200" dirty="0"/>
          </a:p>
        </p:txBody>
      </p:sp>
      <p:sp>
        <p:nvSpPr>
          <p:cNvPr id="6" name="Text 4"/>
          <p:cNvSpPr txBox="1"/>
          <p:nvPr/>
        </p:nvSpPr>
        <p:spPr>
          <a:xfrm>
            <a:off x="5577840" y="1280160"/>
            <a:ext cx="2743200" cy="2743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client</a:t>
            </a:r>
            <a:endParaRPr lang="en-US" sz="1600" dirty="0"/>
          </a:p>
        </p:txBody>
      </p:sp>
      <p:sp>
        <p:nvSpPr>
          <p:cNvPr id="7" name="Text 5"/>
          <p:cNvSpPr txBox="1"/>
          <p:nvPr/>
        </p:nvSpPr>
        <p:spPr>
          <a:xfrm>
            <a:off x="5577840" y="1600200"/>
            <a:ext cx="3108960" cy="274320"/>
          </a:xfrm>
          <a:prstGeom prst="rect">
            <a:avLst/>
          </a:prstGeom>
          <a:noFill/>
          <a:ln/>
        </p:spPr>
        <p:txBody>
          <a:bodyPr wrap="square" lIns="0" tIns="0" rIns="0" bIns="0" rtlCol="0" anchor="t"/>
          <a:lstStyle/>
          <a:p>
            <a:pPr indent="0" marL="0">
              <a:buNone/>
            </a:pPr>
            <a:r>
              <a:rPr lang="en-US" sz="1200" dirty="0">
                <a:solidFill>
                  <a:srgbClr val="D1D5DB"/>
                </a:solidFill>
                <a:latin typeface="Courier New" pitchFamily="34" charset="0"/>
                <a:ea typeface="Courier New" pitchFamily="34" charset="-122"/>
                <a:cs typeface="Courier New" pitchFamily="34" charset="-120"/>
              </a:rPr>
              <a:t>chromadb.PersistentClient(path)</a:t>
            </a:r>
            <a:endParaRPr lang="en-US" sz="1200" dirty="0"/>
          </a:p>
        </p:txBody>
      </p:sp>
      <p:sp>
        <p:nvSpPr>
          <p:cNvPr id="8" name="Text 6"/>
          <p:cNvSpPr txBox="1"/>
          <p:nvPr/>
        </p:nvSpPr>
        <p:spPr>
          <a:xfrm>
            <a:off x="5577840" y="2057400"/>
            <a:ext cx="2743200" cy="2743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collection</a:t>
            </a:r>
            <a:endParaRPr lang="en-US" sz="1600" dirty="0"/>
          </a:p>
        </p:txBody>
      </p:sp>
      <p:sp>
        <p:nvSpPr>
          <p:cNvPr id="9" name="Text 7"/>
          <p:cNvSpPr txBox="1"/>
          <p:nvPr/>
        </p:nvSpPr>
        <p:spPr>
          <a:xfrm>
            <a:off x="5577840" y="2377440"/>
            <a:ext cx="3108960" cy="274320"/>
          </a:xfrm>
          <a:prstGeom prst="rect">
            <a:avLst/>
          </a:prstGeom>
          <a:noFill/>
          <a:ln/>
        </p:spPr>
        <p:txBody>
          <a:bodyPr wrap="square" lIns="0" tIns="0" rIns="0" bIns="0" rtlCol="0" anchor="t"/>
          <a:lstStyle/>
          <a:p>
            <a:pPr indent="0" marL="0">
              <a:buNone/>
            </a:pPr>
            <a:r>
              <a:rPr lang="en-US" sz="1200" dirty="0">
                <a:solidFill>
                  <a:srgbClr val="D1D5DB"/>
                </a:solidFill>
                <a:latin typeface="Courier New" pitchFamily="34" charset="0"/>
                <a:ea typeface="Courier New" pitchFamily="34" charset="-122"/>
                <a:cs typeface="Courier New" pitchFamily="34" charset="-120"/>
              </a:rPr>
              <a:t>create_collection(name)</a:t>
            </a:r>
            <a:endParaRPr lang="en-US" sz="1200" dirty="0"/>
          </a:p>
        </p:txBody>
      </p:sp>
      <p:sp>
        <p:nvSpPr>
          <p:cNvPr id="10" name="Text 8"/>
          <p:cNvSpPr txBox="1"/>
          <p:nvPr/>
        </p:nvSpPr>
        <p:spPr>
          <a:xfrm>
            <a:off x="5577840" y="2834640"/>
            <a:ext cx="2743200" cy="274320"/>
          </a:xfrm>
          <a:prstGeom prst="rect">
            <a:avLst/>
          </a:prstGeom>
          <a:noFill/>
          <a:ln/>
        </p:spPr>
        <p:txBody>
          <a:bodyPr wrap="square" lIns="0" tIns="0" rIns="0" bIns="0" rtlCol="0" anchor="t"/>
          <a:lstStyle/>
          <a:p>
            <a:pPr indent="0" marL="0">
              <a:buNone/>
            </a:pPr>
            <a:r>
              <a:rPr lang="en-US" sz="1600" b="1" i="1" dirty="0">
                <a:solidFill>
                  <a:srgbClr val="B5432A"/>
                </a:solidFill>
                <a:latin typeface="Cambria" pitchFamily="34" charset="0"/>
                <a:ea typeface="Cambria" pitchFamily="34" charset="-122"/>
                <a:cs typeface="Cambria" pitchFamily="34" charset="-120"/>
              </a:rPr>
              <a:t>add / query</a:t>
            </a:r>
            <a:endParaRPr lang="en-US" sz="1600" dirty="0"/>
          </a:p>
        </p:txBody>
      </p:sp>
      <p:sp>
        <p:nvSpPr>
          <p:cNvPr id="11" name="Text 9"/>
          <p:cNvSpPr txBox="1"/>
          <p:nvPr/>
        </p:nvSpPr>
        <p:spPr>
          <a:xfrm>
            <a:off x="5577840" y="3154680"/>
            <a:ext cx="3108960" cy="274320"/>
          </a:xfrm>
          <a:prstGeom prst="rect">
            <a:avLst/>
          </a:prstGeom>
          <a:noFill/>
          <a:ln/>
        </p:spPr>
        <p:txBody>
          <a:bodyPr wrap="square" lIns="0" tIns="0" rIns="0" bIns="0" rtlCol="0" anchor="t"/>
          <a:lstStyle/>
          <a:p>
            <a:pPr indent="0" marL="0">
              <a:buNone/>
            </a:pPr>
            <a:r>
              <a:rPr lang="en-US" sz="1200" dirty="0">
                <a:solidFill>
                  <a:srgbClr val="D1D5DB"/>
                </a:solidFill>
                <a:latin typeface="Courier New" pitchFamily="34" charset="0"/>
                <a:ea typeface="Courier New" pitchFamily="34" charset="-122"/>
                <a:cs typeface="Courier New" pitchFamily="34" charset="-120"/>
              </a:rPr>
              <a:t>upsert(...)  query(...)</a:t>
            </a:r>
            <a:endParaRPr lang="en-US" sz="1200" dirty="0"/>
          </a:p>
        </p:txBody>
      </p:sp>
      <p:sp>
        <p:nvSpPr>
          <p:cNvPr id="12" name="Text 10"/>
          <p:cNvSpPr txBox="1"/>
          <p:nvPr/>
        </p:nvSpPr>
        <p:spPr>
          <a:xfrm>
            <a:off x="5577840" y="3611880"/>
            <a:ext cx="2743200" cy="2743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filters</a:t>
            </a:r>
            <a:endParaRPr lang="en-US" sz="1600" dirty="0"/>
          </a:p>
        </p:txBody>
      </p:sp>
      <p:sp>
        <p:nvSpPr>
          <p:cNvPr id="13" name="Text 11"/>
          <p:cNvSpPr txBox="1"/>
          <p:nvPr/>
        </p:nvSpPr>
        <p:spPr>
          <a:xfrm>
            <a:off x="5577840" y="3931920"/>
            <a:ext cx="3108960" cy="274320"/>
          </a:xfrm>
          <a:prstGeom prst="rect">
            <a:avLst/>
          </a:prstGeom>
          <a:noFill/>
          <a:ln/>
        </p:spPr>
        <p:txBody>
          <a:bodyPr wrap="square" lIns="0" tIns="0" rIns="0" bIns="0" rtlCol="0" anchor="t"/>
          <a:lstStyle/>
          <a:p>
            <a:pPr indent="0" marL="0">
              <a:buNone/>
            </a:pPr>
            <a:r>
              <a:rPr lang="en-US" sz="1200" dirty="0">
                <a:solidFill>
                  <a:srgbClr val="D1D5DB"/>
                </a:solidFill>
                <a:latin typeface="Courier New" pitchFamily="34" charset="0"/>
                <a:ea typeface="Courier New" pitchFamily="34" charset="-122"/>
                <a:cs typeface="Courier New" pitchFamily="34" charset="-120"/>
              </a:rPr>
              <a:t>where={'topic': 'billing'}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Today's lecture in five questions</a:t>
            </a:r>
            <a:endParaRPr lang="en-US" sz="3000" dirty="0"/>
          </a:p>
        </p:txBody>
      </p:sp>
      <p:sp>
        <p:nvSpPr>
          <p:cNvPr id="4" name="Text 1"/>
          <p:cNvSpPr txBox="1"/>
          <p:nvPr/>
        </p:nvSpPr>
        <p:spPr>
          <a:xfrm>
            <a:off x="457200" y="125272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a:t>
            </a:r>
            <a:endParaRPr lang="en-US" sz="3200" dirty="0"/>
          </a:p>
        </p:txBody>
      </p:sp>
      <p:sp>
        <p:nvSpPr>
          <p:cNvPr id="5" name="Text 2"/>
          <p:cNvSpPr txBox="1"/>
          <p:nvPr/>
        </p:nvSpPr>
        <p:spPr>
          <a:xfrm>
            <a:off x="1097280" y="132588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What is Chroma, and how do I install it?</a:t>
            </a:r>
            <a:endParaRPr lang="en-US" sz="1800" dirty="0"/>
          </a:p>
        </p:txBody>
      </p:sp>
      <p:sp>
        <p:nvSpPr>
          <p:cNvPr id="6" name="Shape 3"/>
          <p:cNvSpPr/>
          <p:nvPr/>
        </p:nvSpPr>
        <p:spPr>
          <a:xfrm>
            <a:off x="1097280" y="1856232"/>
            <a:ext cx="5120640" cy="0"/>
          </a:xfrm>
          <a:prstGeom prst="line">
            <a:avLst/>
          </a:prstGeom>
          <a:noFill/>
          <a:ln w="6350">
            <a:solidFill>
              <a:schemeClr val="accent6"/>
            </a:solidFill>
            <a:prstDash val="solid"/>
          </a:ln>
        </p:spPr>
      </p:sp>
      <p:sp>
        <p:nvSpPr>
          <p:cNvPr id="7" name="Text 4"/>
          <p:cNvSpPr txBox="1"/>
          <p:nvPr/>
        </p:nvSpPr>
        <p:spPr>
          <a:xfrm>
            <a:off x="457200" y="189280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2</a:t>
            </a:r>
            <a:endParaRPr lang="en-US" sz="3200" dirty="0"/>
          </a:p>
        </p:txBody>
      </p:sp>
      <p:sp>
        <p:nvSpPr>
          <p:cNvPr id="8" name="Text 5"/>
          <p:cNvSpPr txBox="1"/>
          <p:nvPr/>
        </p:nvSpPr>
        <p:spPr>
          <a:xfrm>
            <a:off x="1097280" y="196596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Which client should I use?</a:t>
            </a:r>
            <a:endParaRPr lang="en-US" sz="1800" dirty="0"/>
          </a:p>
        </p:txBody>
      </p:sp>
      <p:sp>
        <p:nvSpPr>
          <p:cNvPr id="9" name="Shape 6"/>
          <p:cNvSpPr/>
          <p:nvPr/>
        </p:nvSpPr>
        <p:spPr>
          <a:xfrm>
            <a:off x="1097280" y="2496312"/>
            <a:ext cx="5120640" cy="0"/>
          </a:xfrm>
          <a:prstGeom prst="line">
            <a:avLst/>
          </a:prstGeom>
          <a:noFill/>
          <a:ln w="6350">
            <a:solidFill>
              <a:schemeClr val="accent6"/>
            </a:solidFill>
            <a:prstDash val="solid"/>
          </a:ln>
        </p:spPr>
      </p:sp>
      <p:sp>
        <p:nvSpPr>
          <p:cNvPr id="10" name="Text 7"/>
          <p:cNvSpPr txBox="1"/>
          <p:nvPr/>
        </p:nvSpPr>
        <p:spPr>
          <a:xfrm>
            <a:off x="457200" y="253288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3</a:t>
            </a:r>
            <a:endParaRPr lang="en-US" sz="3200" dirty="0"/>
          </a:p>
        </p:txBody>
      </p:sp>
      <p:sp>
        <p:nvSpPr>
          <p:cNvPr id="11" name="Text 8"/>
          <p:cNvSpPr txBox="1"/>
          <p:nvPr/>
        </p:nvSpPr>
        <p:spPr>
          <a:xfrm>
            <a:off x="1097280" y="260604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How do collections and records work?</a:t>
            </a:r>
            <a:endParaRPr lang="en-US" sz="1800" dirty="0"/>
          </a:p>
        </p:txBody>
      </p:sp>
      <p:sp>
        <p:nvSpPr>
          <p:cNvPr id="12" name="Shape 9"/>
          <p:cNvSpPr/>
          <p:nvPr/>
        </p:nvSpPr>
        <p:spPr>
          <a:xfrm>
            <a:off x="1097280" y="3136392"/>
            <a:ext cx="5120640" cy="0"/>
          </a:xfrm>
          <a:prstGeom prst="line">
            <a:avLst/>
          </a:prstGeom>
          <a:noFill/>
          <a:ln w="6350">
            <a:solidFill>
              <a:schemeClr val="accent6"/>
            </a:solidFill>
            <a:prstDash val="solid"/>
          </a:ln>
        </p:spPr>
      </p:sp>
      <p:sp>
        <p:nvSpPr>
          <p:cNvPr id="13" name="Text 10"/>
          <p:cNvSpPr txBox="1"/>
          <p:nvPr/>
        </p:nvSpPr>
        <p:spPr>
          <a:xfrm>
            <a:off x="457200" y="317296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4</a:t>
            </a:r>
            <a:endParaRPr lang="en-US" sz="3200" dirty="0"/>
          </a:p>
        </p:txBody>
      </p:sp>
      <p:sp>
        <p:nvSpPr>
          <p:cNvPr id="14" name="Text 11"/>
          <p:cNvSpPr txBox="1"/>
          <p:nvPr/>
        </p:nvSpPr>
        <p:spPr>
          <a:xfrm>
            <a:off x="1097280" y="324612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How do I query, and filter by metadata?</a:t>
            </a:r>
            <a:endParaRPr lang="en-US" sz="1800" dirty="0"/>
          </a:p>
        </p:txBody>
      </p:sp>
      <p:sp>
        <p:nvSpPr>
          <p:cNvPr id="15" name="Shape 12"/>
          <p:cNvSpPr/>
          <p:nvPr/>
        </p:nvSpPr>
        <p:spPr>
          <a:xfrm>
            <a:off x="1097280" y="3776472"/>
            <a:ext cx="5120640" cy="0"/>
          </a:xfrm>
          <a:prstGeom prst="line">
            <a:avLst/>
          </a:prstGeom>
          <a:noFill/>
          <a:ln w="6350">
            <a:solidFill>
              <a:schemeClr val="accent6"/>
            </a:solidFill>
            <a:prstDash val="solid"/>
          </a:ln>
        </p:spPr>
      </p:sp>
      <p:sp>
        <p:nvSpPr>
          <p:cNvPr id="16" name="Text 13"/>
          <p:cNvSpPr txBox="1"/>
          <p:nvPr/>
        </p:nvSpPr>
        <p:spPr>
          <a:xfrm>
            <a:off x="457200" y="381304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5</a:t>
            </a:r>
            <a:endParaRPr lang="en-US" sz="3200" dirty="0"/>
          </a:p>
        </p:txBody>
      </p:sp>
      <p:sp>
        <p:nvSpPr>
          <p:cNvPr id="17" name="Text 14"/>
          <p:cNvSpPr txBox="1"/>
          <p:nvPr/>
        </p:nvSpPr>
        <p:spPr>
          <a:xfrm>
            <a:off x="1097280" y="388620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How do distance and embedding functions interact?</a:t>
            </a:r>
            <a:endParaRPr lang="en-US" sz="1800" dirty="0"/>
          </a:p>
        </p:txBody>
      </p:sp>
      <p:sp>
        <p:nvSpPr>
          <p:cNvPr id="18" name="Text 15"/>
          <p:cNvSpPr txBox="1"/>
          <p:nvPr/>
        </p:nvSpPr>
        <p:spPr>
          <a:xfrm>
            <a:off x="6675120" y="1325880"/>
            <a:ext cx="201168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Prerequisites</a:t>
            </a:r>
            <a:endParaRPr lang="en-US" sz="1200" dirty="0"/>
          </a:p>
        </p:txBody>
      </p:sp>
      <p:sp>
        <p:nvSpPr>
          <p:cNvPr id="19" name="Text 16"/>
          <p:cNvSpPr txBox="1"/>
          <p:nvPr/>
        </p:nvSpPr>
        <p:spPr>
          <a:xfrm>
            <a:off x="6675120" y="1645920"/>
            <a:ext cx="2011680" cy="822960"/>
          </a:xfrm>
          <a:prstGeom prst="rect">
            <a:avLst/>
          </a:prstGeom>
          <a:noFill/>
          <a:ln/>
        </p:spPr>
        <p:txBody>
          <a:bodyPr wrap="square" lIns="0" tIns="0" rIns="0" bIns="0" rtlCol="0" anchor="t"/>
          <a:lstStyle/>
          <a:p>
            <a:pPr indent="0" marL="0">
              <a:buNone/>
            </a:pPr>
            <a:r>
              <a:rPr lang="en-US" sz="1400" dirty="0">
                <a:solidFill>
                  <a:schemeClr val="tx1"/>
                </a:solidFill>
              </a:rPr>
              <a:t>Lectures 1 to 6.</a:t>
            </a:r>
            <a:endParaRPr lang="en-US" sz="1400" dirty="0"/>
          </a:p>
        </p:txBody>
      </p:sp>
      <p:sp>
        <p:nvSpPr>
          <p:cNvPr id="20" name="Text 17"/>
          <p:cNvSpPr txBox="1"/>
          <p:nvPr/>
        </p:nvSpPr>
        <p:spPr>
          <a:xfrm>
            <a:off x="6675120" y="2651760"/>
            <a:ext cx="201168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Lab 7</a:t>
            </a:r>
            <a:endParaRPr lang="en-US" sz="1200" dirty="0"/>
          </a:p>
        </p:txBody>
      </p:sp>
      <p:sp>
        <p:nvSpPr>
          <p:cNvPr id="21" name="Text 18"/>
          <p:cNvSpPr txBox="1"/>
          <p:nvPr/>
        </p:nvSpPr>
        <p:spPr>
          <a:xfrm>
            <a:off x="6675120" y="2971800"/>
            <a:ext cx="2011680" cy="1463040"/>
          </a:xfrm>
          <a:prstGeom prst="rect">
            <a:avLst/>
          </a:prstGeom>
          <a:noFill/>
          <a:ln/>
        </p:spPr>
        <p:txBody>
          <a:bodyPr wrap="square" lIns="0" tIns="0" rIns="0" bIns="0" rtlCol="0" anchor="t"/>
          <a:lstStyle/>
          <a:p>
            <a:pPr indent="0" marL="0">
              <a:buNone/>
            </a:pPr>
            <a:r>
              <a:rPr lang="en-US" sz="1400" dirty="0">
                <a:solidFill>
                  <a:schemeClr val="tx1"/>
                </a:solidFill>
              </a:rPr>
              <a:t>Build a complete collection, run filtered queries, compare distances, persist, and use server mode.</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Client, collection, record</a:t>
            </a:r>
            <a:endParaRPr lang="en-US" sz="3000" dirty="0"/>
          </a:p>
        </p:txBody>
      </p:sp>
      <p:sp>
        <p:nvSpPr>
          <p:cNvPr id="4" name="Shape 1"/>
          <p:cNvSpPr/>
          <p:nvPr/>
        </p:nvSpPr>
        <p:spPr>
          <a:xfrm>
            <a:off x="457200" y="1280160"/>
            <a:ext cx="5303520" cy="3108960"/>
          </a:xfrm>
          <a:prstGeom prst="rect">
            <a:avLst/>
          </a:prstGeom>
          <a:solidFill>
            <a:schemeClr val="bg1"/>
          </a:solidFill>
          <a:ln w="12700">
            <a:solidFill>
              <a:schemeClr val="accent6"/>
            </a:solidFill>
            <a:prstDash val="solid"/>
          </a:ln>
        </p:spPr>
      </p:sp>
      <p:sp>
        <p:nvSpPr>
          <p:cNvPr id="5" name="Text 2"/>
          <p:cNvSpPr txBox="1"/>
          <p:nvPr/>
        </p:nvSpPr>
        <p:spPr>
          <a:xfrm>
            <a:off x="594360" y="1325880"/>
            <a:ext cx="1828800" cy="274320"/>
          </a:xfrm>
          <a:prstGeom prst="rect">
            <a:avLst/>
          </a:prstGeom>
          <a:noFill/>
          <a:ln/>
        </p:spPr>
        <p:txBody>
          <a:bodyPr wrap="square" lIns="0" tIns="0" rIns="0" bIns="0" rtlCol="0" anchor="t"/>
          <a:lstStyle/>
          <a:p>
            <a:pPr indent="0" marL="0">
              <a:buNone/>
            </a:pPr>
            <a:r>
              <a:rPr lang="en-US" sz="1300" b="1" dirty="0">
                <a:solidFill>
                  <a:schemeClr val="accent5"/>
                </a:solidFill>
                <a:latin typeface="Cambria" pitchFamily="34" charset="0"/>
                <a:ea typeface="Cambria" pitchFamily="34" charset="-122"/>
                <a:cs typeface="Cambria" pitchFamily="34" charset="-120"/>
              </a:rPr>
              <a:t>Client</a:t>
            </a:r>
            <a:endParaRPr lang="en-US" sz="1300" dirty="0"/>
          </a:p>
        </p:txBody>
      </p:sp>
      <p:sp>
        <p:nvSpPr>
          <p:cNvPr id="6" name="Shape 3"/>
          <p:cNvSpPr/>
          <p:nvPr/>
        </p:nvSpPr>
        <p:spPr>
          <a:xfrm>
            <a:off x="731520" y="1691640"/>
            <a:ext cx="4754880" cy="2560320"/>
          </a:xfrm>
          <a:prstGeom prst="rect">
            <a:avLst/>
          </a:prstGeom>
          <a:solidFill>
            <a:schemeClr val="bg1"/>
          </a:solidFill>
          <a:ln w="19050">
            <a:solidFill>
              <a:srgbClr val="B5432A"/>
            </a:solidFill>
            <a:prstDash val="solid"/>
          </a:ln>
        </p:spPr>
      </p:sp>
      <p:sp>
        <p:nvSpPr>
          <p:cNvPr id="7" name="Text 4"/>
          <p:cNvSpPr txBox="1"/>
          <p:nvPr/>
        </p:nvSpPr>
        <p:spPr>
          <a:xfrm>
            <a:off x="868680" y="1737360"/>
            <a:ext cx="2743200" cy="274320"/>
          </a:xfrm>
          <a:prstGeom prst="rect">
            <a:avLst/>
          </a:prstGeom>
          <a:noFill/>
          <a:ln/>
        </p:spPr>
        <p:txBody>
          <a:bodyPr wrap="square" lIns="0" tIns="0" rIns="0" bIns="0" rtlCol="0" anchor="t"/>
          <a:lstStyle/>
          <a:p>
            <a:pPr indent="0" marL="0">
              <a:buNone/>
            </a:pPr>
            <a:r>
              <a:rPr lang="en-US" sz="1300" b="1" dirty="0">
                <a:solidFill>
                  <a:schemeClr val="accent1"/>
                </a:solidFill>
                <a:latin typeface="Cambria" pitchFamily="34" charset="0"/>
                <a:ea typeface="Cambria" pitchFamily="34" charset="-122"/>
                <a:cs typeface="Cambria" pitchFamily="34" charset="-120"/>
              </a:rPr>
              <a:t>Collection: "help"</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14400" y="2103120"/>
          <a:ext cx="4389120" cy="914400"/>
        </p:xfrm>
        <a:graphic>
          <a:graphicData uri="http://schemas.openxmlformats.org/drawingml/2006/table">
            <a:tbl>
              <a:tblPr/>
              <a:tblGrid>
                <a:gridCol w="457200"/>
                <a:gridCol w="1097280"/>
                <a:gridCol w="1554480"/>
                <a:gridCol w="128016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embedding</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document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metadata</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457200">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d1</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[0.12, ...]</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Reset your password</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{topic: account}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d2</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[0.40, ...]</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Track my order</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{topic: shipping}</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9" name="Text 5"/>
          <p:cNvSpPr txBox="1"/>
          <p:nvPr/>
        </p:nvSpPr>
        <p:spPr>
          <a:xfrm>
            <a:off x="457200" y="4434840"/>
            <a:ext cx="530352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7.1  Client contains collections, collections contain records</a:t>
            </a:r>
            <a:endParaRPr lang="en-US" sz="1100" dirty="0"/>
          </a:p>
        </p:txBody>
      </p:sp>
      <p:sp>
        <p:nvSpPr>
          <p:cNvPr id="10" name="Text 6"/>
          <p:cNvSpPr txBox="1"/>
          <p:nvPr/>
        </p:nvSpPr>
        <p:spPr>
          <a:xfrm>
            <a:off x="6035040" y="1280160"/>
            <a:ext cx="2651760" cy="32918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Client: memory, disk, server or cloud</a:t>
            </a:r>
            <a:endParaRPr lang="en-US" sz="1300" dirty="0"/>
          </a:p>
          <a:p>
            <a:pPr marL="342900" indent="-342900">
              <a:spcAft>
                <a:spcPts val="800"/>
              </a:spcAft>
              <a:buSzPct val="100000"/>
              <a:buChar char="•"/>
            </a:pPr>
            <a:r>
              <a:rPr lang="en-US" sz="1300" dirty="0">
                <a:solidFill>
                  <a:schemeClr val="tx1"/>
                </a:solidFill>
              </a:rPr>
              <a:t>Collection: one embedding function and one distance</a:t>
            </a:r>
            <a:endParaRPr lang="en-US" sz="1300" dirty="0"/>
          </a:p>
          <a:p>
            <a:pPr marL="342900" indent="-342900">
              <a:spcAft>
                <a:spcPts val="800"/>
              </a:spcAft>
              <a:buSzPct val="100000"/>
              <a:buChar char="•"/>
            </a:pPr>
            <a:r>
              <a:rPr lang="en-US" sz="1300" dirty="0">
                <a:solidFill>
                  <a:schemeClr val="tx1"/>
                </a:solidFill>
              </a:rPr>
              <a:t>Record: unique string id, embedding, optional document, optional metadata</a:t>
            </a:r>
            <a:endParaRPr lang="en-US" sz="1300" dirty="0"/>
          </a:p>
          <a:p>
            <a:pPr marL="342900" indent="-342900">
              <a:spcAft>
                <a:spcPts val="800"/>
              </a:spcAft>
              <a:buSzPct val="100000"/>
              <a:buChar char="•"/>
            </a:pPr>
            <a:r>
              <a:rPr lang="en-US" sz="1300" dirty="0">
                <a:solidFill>
                  <a:schemeClr val="tx1"/>
                </a:solidFill>
              </a:rPr>
              <a:t>Names: 3 to 512 characters from letters, digits, . _ -</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Hello, Chroma</a:t>
            </a:r>
            <a:endParaRPr lang="en-US" sz="3000" dirty="0"/>
          </a:p>
        </p:txBody>
      </p:sp>
      <p:sp>
        <p:nvSpPr>
          <p:cNvPr id="4" name="Shape 1"/>
          <p:cNvSpPr/>
          <p:nvPr/>
        </p:nvSpPr>
        <p:spPr>
          <a:xfrm>
            <a:off x="457200" y="1280160"/>
            <a:ext cx="5212080" cy="3200400"/>
          </a:xfrm>
          <a:prstGeom prst="rect">
            <a:avLst/>
          </a:prstGeom>
          <a:solidFill>
            <a:srgbClr val="F3F4F6"/>
          </a:solidFill>
          <a:ln w="12700">
            <a:solidFill>
              <a:srgbClr val="D1D5DB"/>
            </a:solidFill>
            <a:prstDash val="solid"/>
          </a:ln>
        </p:spPr>
      </p:sp>
      <p:sp>
        <p:nvSpPr>
          <p:cNvPr id="5" name="Text 2"/>
          <p:cNvSpPr txBox="1"/>
          <p:nvPr/>
        </p:nvSpPr>
        <p:spPr>
          <a:xfrm>
            <a:off x="594360" y="1389888"/>
            <a:ext cx="4937760" cy="2980944"/>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import chromadb</a:t>
            </a:r>
            <a:endParaRPr lang="en-US" sz="1100" dirty="0"/>
          </a:p>
          <a:p>
            <a:pPr indent="0" marL="0">
              <a:buNone/>
            </a:pP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client = chromadb.EphemeralClient()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col = client.create_collection("notes")</a:t>
            </a:r>
            <a:endParaRPr lang="en-US" sz="1100" dirty="0"/>
          </a:p>
          <a:p>
            <a:pPr indent="0" marL="0">
              <a:buNone/>
            </a:pP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col.add(</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ids=["n1", "n2"],</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documents=["Reset your password",</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"Track my order"],</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res = col.query(</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query_texts=["I forgot my login"],</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n_results=1,</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print(res["documents"])</a:t>
            </a:r>
            <a:endParaRPr lang="en-US" sz="1100" dirty="0"/>
          </a:p>
        </p:txBody>
      </p:sp>
      <p:sp>
        <p:nvSpPr>
          <p:cNvPr id="6" name="Text 3"/>
          <p:cNvSpPr txBox="1"/>
          <p:nvPr/>
        </p:nvSpPr>
        <p:spPr>
          <a:xfrm>
            <a:off x="5943600" y="1280160"/>
            <a:ext cx="2743200" cy="32004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pip install chromadb</a:t>
            </a:r>
            <a:endParaRPr lang="en-US" sz="1300" dirty="0"/>
          </a:p>
        </p:txBody>
      </p:sp>
      <p:sp>
        <p:nvSpPr>
          <p:cNvPr id="7" name="Text 4"/>
          <p:cNvSpPr txBox="1"/>
          <p:nvPr/>
        </p:nvSpPr>
        <p:spPr>
          <a:xfrm>
            <a:off x="5943600" y="1737360"/>
            <a:ext cx="274320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Chroma embeds documents and queries for you</a:t>
            </a:r>
            <a:endParaRPr lang="en-US" sz="1300" dirty="0"/>
          </a:p>
          <a:p>
            <a:pPr marL="342900" indent="-342900">
              <a:spcAft>
                <a:spcPts val="800"/>
              </a:spcAft>
              <a:buSzPct val="100000"/>
              <a:buChar char="•"/>
            </a:pPr>
            <a:r>
              <a:rPr lang="en-US" sz="1300" dirty="0">
                <a:solidFill>
                  <a:schemeClr val="tx1"/>
                </a:solidFill>
              </a:rPr>
              <a:t>The default function downloads a small model on first use</a:t>
            </a:r>
            <a:endParaRPr lang="en-US" sz="1300" dirty="0"/>
          </a:p>
          <a:p>
            <a:pPr marL="342900" indent="-342900">
              <a:spcAft>
                <a:spcPts val="800"/>
              </a:spcAft>
              <a:buSzPct val="100000"/>
              <a:buChar char="•"/>
            </a:pPr>
            <a:r>
              <a:rPr lang="en-US" sz="1300" dirty="0">
                <a:solidFill>
                  <a:schemeClr val="tx1"/>
                </a:solidFill>
              </a:rPr>
              <a:t>Results are lists of lists: one inner list per query</a:t>
            </a:r>
            <a:endParaRPr lang="en-US" sz="1300" dirty="0"/>
          </a:p>
          <a:p>
            <a:pPr marL="342900" indent="-342900">
              <a:spcAft>
                <a:spcPts val="800"/>
              </a:spcAft>
              <a:buSzPct val="100000"/>
              <a:buChar char="•"/>
            </a:pPr>
            <a:r>
              <a:rPr lang="en-US" sz="1300" dirty="0">
                <a:solidFill>
                  <a:schemeClr val="tx1"/>
                </a:solidFill>
              </a:rPr>
              <a:t>Ephemeral means: gone when the process ends</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Choosing a client</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097280"/>
                <a:gridCol w="3474720"/>
                <a:gridCol w="1828800"/>
                <a:gridCol w="182880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Client</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Code</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 lives in</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 for</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502920">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Ephemeral</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chromadb.EphemeralClient()</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memory; lost at exit</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tests, demos</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Persistent</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chromadb.PersistentClient(path="./db")</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a local directory</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notebooks, one-process apps</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Http</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chromadb.HttpClient(host="localhost", port=8000)</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a Chroma server</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several services sharing data</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Cloud</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chromadb.CloudClient(...)</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Chroma Cloud</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managed, no servers</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5" name="Shape 1"/>
          <p:cNvSpPr/>
          <p:nvPr/>
        </p:nvSpPr>
        <p:spPr>
          <a:xfrm>
            <a:off x="457200" y="3931920"/>
            <a:ext cx="8229600" cy="548640"/>
          </a:xfrm>
          <a:prstGeom prst="rect">
            <a:avLst/>
          </a:prstGeom>
          <a:solidFill>
            <a:srgbClr val="F3F4F6"/>
          </a:solidFill>
          <a:ln w="12700">
            <a:solidFill>
              <a:srgbClr val="D1D5DB"/>
            </a:solidFill>
            <a:prstDash val="solid"/>
          </a:ln>
        </p:spPr>
      </p:sp>
      <p:sp>
        <p:nvSpPr>
          <p:cNvPr id="6" name="Text 2"/>
          <p:cNvSpPr txBox="1"/>
          <p:nvPr/>
        </p:nvSpPr>
        <p:spPr>
          <a:xfrm>
            <a:off x="594360" y="4041648"/>
            <a:ext cx="7955280" cy="329184"/>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chroma run --path ./chroma_data --port 8000</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collection API</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371600"/>
                <a:gridCol w="3474720"/>
                <a:gridCol w="338328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does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Note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41148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add</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Insert new records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Existing ids are ignored, not overwritten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upsert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Insert or replace by id</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Use this for ingestion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update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Change existing records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Fields you omit are kept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get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Fetch by ids or filters, no vector search</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limit and offset for paging</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query</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Nearest neighbors for query texts or vectors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where and where_document filters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delete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Remove by ids or filter</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delete(where=...) removes by metadata</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count / peek</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Size and a small sample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Quick sanity checks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Adding data well</a:t>
            </a:r>
            <a:endParaRPr lang="en-US" sz="3000" dirty="0"/>
          </a:p>
        </p:txBody>
      </p:sp>
      <p:sp>
        <p:nvSpPr>
          <p:cNvPr id="4" name="Shape 1"/>
          <p:cNvSpPr/>
          <p:nvPr/>
        </p:nvSpPr>
        <p:spPr>
          <a:xfrm>
            <a:off x="457200" y="1280160"/>
            <a:ext cx="5212080" cy="3200400"/>
          </a:xfrm>
          <a:prstGeom prst="rect">
            <a:avLst/>
          </a:prstGeom>
          <a:solidFill>
            <a:srgbClr val="F3F4F6"/>
          </a:solidFill>
          <a:ln w="12700">
            <a:solidFill>
              <a:srgbClr val="D1D5DB"/>
            </a:solidFill>
            <a:prstDash val="solid"/>
          </a:ln>
        </p:spPr>
      </p:sp>
      <p:sp>
        <p:nvSpPr>
          <p:cNvPr id="5" name="Text 2"/>
          <p:cNvSpPr txBox="1"/>
          <p:nvPr/>
        </p:nvSpPr>
        <p:spPr>
          <a:xfrm>
            <a:off x="594360" y="1389888"/>
            <a:ext cx="4937760" cy="2980944"/>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ids   = [r["id"] for r in records]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docs  = [r["text"] for r in records]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metas = [r["metadata"] for r in records]</a:t>
            </a:r>
            <a:endParaRPr lang="en-US" sz="1100" dirty="0"/>
          </a:p>
          <a:p>
            <a:pPr indent="0" marL="0">
              <a:buNone/>
            </a:pP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batch = 500</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for i in range(0, len(ids), batch):</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col.upsert(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ids=ids[i:i + batch],</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documents=docs[i:i + batch],</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metadatas=metas[i:i + batch],</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print(col.count())</a:t>
            </a:r>
            <a:endParaRPr lang="en-US" sz="1100" dirty="0"/>
          </a:p>
        </p:txBody>
      </p:sp>
      <p:sp>
        <p:nvSpPr>
          <p:cNvPr id="6" name="Text 3"/>
          <p:cNvSpPr txBox="1"/>
          <p:nvPr/>
        </p:nvSpPr>
        <p:spPr>
          <a:xfrm>
            <a:off x="5943600" y="1280160"/>
            <a:ext cx="274320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Batch the calls; check client.get_max_batch_size()</a:t>
            </a:r>
            <a:endParaRPr lang="en-US" sz="1300" dirty="0"/>
          </a:p>
          <a:p>
            <a:pPr marL="342900" indent="-342900">
              <a:spcAft>
                <a:spcPts val="800"/>
              </a:spcAft>
              <a:buSzPct val="100000"/>
              <a:buChar char="•"/>
            </a:pPr>
            <a:r>
              <a:rPr lang="en-US" sz="1300" dirty="0">
                <a:solidFill>
                  <a:schemeClr val="tx1"/>
                </a:solidFill>
              </a:rPr>
              <a:t>Metadata values: strings, numbers, booleans, lists or None; no nested dictionaries</a:t>
            </a:r>
            <a:endParaRPr lang="en-US" sz="1300" dirty="0"/>
          </a:p>
          <a:p>
            <a:pPr marL="342900" indent="-342900">
              <a:spcAft>
                <a:spcPts val="800"/>
              </a:spcAft>
              <a:buSzPct val="100000"/>
              <a:buChar char="•"/>
            </a:pPr>
            <a:r>
              <a:rPr lang="en-US" sz="1300" dirty="0">
                <a:solidFill>
                  <a:schemeClr val="tx1"/>
                </a:solidFill>
              </a:rPr>
              <a:t>Or supply your own embeddings and skip Chroma's embedding step</a:t>
            </a:r>
            <a:endParaRPr lang="en-US" sz="1300" dirty="0"/>
          </a:p>
          <a:p>
            <a:pPr marL="342900" indent="-342900">
              <a:spcAft>
                <a:spcPts val="800"/>
              </a:spcAft>
              <a:buSzPct val="100000"/>
              <a:buChar char="•"/>
            </a:pPr>
            <a:r>
              <a:rPr lang="en-US" sz="1300" dirty="0">
                <a:solidFill>
                  <a:schemeClr val="tx1"/>
                </a:solidFill>
              </a:rPr>
              <a:t>Re-running is safe because of upsert</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What happens in a query</a:t>
            </a:r>
            <a:endParaRPr lang="en-US" sz="3000" dirty="0"/>
          </a:p>
        </p:txBody>
      </p:sp>
      <p:sp>
        <p:nvSpPr>
          <p:cNvPr id="4" name="Shape 1"/>
          <p:cNvSpPr/>
          <p:nvPr/>
        </p:nvSpPr>
        <p:spPr>
          <a:xfrm>
            <a:off x="457200" y="1371600"/>
            <a:ext cx="1371600" cy="731520"/>
          </a:xfrm>
          <a:prstGeom prst="rect">
            <a:avLst/>
          </a:prstGeom>
          <a:solidFill>
            <a:schemeClr val="bg1"/>
          </a:solidFill>
          <a:ln w="12700">
            <a:solidFill>
              <a:srgbClr val="1B2A41"/>
            </a:solidFill>
            <a:prstDash val="solid"/>
          </a:ln>
        </p:spPr>
      </p:sp>
      <p:sp>
        <p:nvSpPr>
          <p:cNvPr id="5" name="Text 2"/>
          <p:cNvSpPr txBox="1"/>
          <p:nvPr/>
        </p:nvSpPr>
        <p:spPr>
          <a:xfrm>
            <a:off x="457200" y="1371600"/>
            <a:ext cx="1371600" cy="731520"/>
          </a:xfrm>
          <a:prstGeom prst="rect">
            <a:avLst/>
          </a:prstGeom>
          <a:noFill/>
          <a:ln/>
        </p:spPr>
        <p:txBody>
          <a:bodyPr wrap="square" lIns="0" tIns="0" rIns="0" bIns="0" rtlCol="0" anchor="ctr"/>
          <a:lstStyle/>
          <a:p>
            <a:pPr algn="ctr" indent="0" marL="0">
              <a:buNone/>
            </a:pPr>
            <a:r>
              <a:rPr lang="en-US" sz="1200" b="1" dirty="0">
                <a:solidFill>
                  <a:schemeClr val="tx1"/>
                </a:solidFill>
              </a:rPr>
              <a:t>query_texts</a:t>
            </a:r>
            <a:endParaRPr lang="en-US" sz="1200" dirty="0"/>
          </a:p>
        </p:txBody>
      </p:sp>
      <p:sp>
        <p:nvSpPr>
          <p:cNvPr id="6" name="Shape 3"/>
          <p:cNvSpPr/>
          <p:nvPr/>
        </p:nvSpPr>
        <p:spPr>
          <a:xfrm>
            <a:off x="1828800" y="1737360"/>
            <a:ext cx="342900" cy="0"/>
          </a:xfrm>
          <a:prstGeom prst="line">
            <a:avLst/>
          </a:prstGeom>
          <a:noFill/>
          <a:ln w="15875">
            <a:solidFill>
              <a:srgbClr val="1B2A41"/>
            </a:solidFill>
            <a:prstDash val="solid"/>
            <a:tailEnd type="triangle"/>
          </a:ln>
        </p:spPr>
      </p:sp>
      <p:sp>
        <p:nvSpPr>
          <p:cNvPr id="7" name="Shape 4"/>
          <p:cNvSpPr/>
          <p:nvPr/>
        </p:nvSpPr>
        <p:spPr>
          <a:xfrm>
            <a:off x="2171700" y="1371600"/>
            <a:ext cx="1371600" cy="731520"/>
          </a:xfrm>
          <a:prstGeom prst="rect">
            <a:avLst/>
          </a:prstGeom>
          <a:solidFill>
            <a:schemeClr val="bg1"/>
          </a:solidFill>
          <a:ln w="12700">
            <a:solidFill>
              <a:srgbClr val="1B2A41"/>
            </a:solidFill>
            <a:prstDash val="solid"/>
          </a:ln>
        </p:spPr>
      </p:sp>
      <p:sp>
        <p:nvSpPr>
          <p:cNvPr id="8" name="Text 5"/>
          <p:cNvSpPr txBox="1"/>
          <p:nvPr/>
        </p:nvSpPr>
        <p:spPr>
          <a:xfrm>
            <a:off x="2171700" y="1371600"/>
            <a:ext cx="1371600" cy="731520"/>
          </a:xfrm>
          <a:prstGeom prst="rect">
            <a:avLst/>
          </a:prstGeom>
          <a:noFill/>
          <a:ln/>
        </p:spPr>
        <p:txBody>
          <a:bodyPr wrap="square" lIns="0" tIns="0" rIns="0" bIns="0" rtlCol="0" anchor="ctr"/>
          <a:lstStyle/>
          <a:p>
            <a:pPr algn="ctr" indent="0" marL="0">
              <a:buNone/>
            </a:pPr>
            <a:r>
              <a:rPr lang="en-US" sz="1200" b="1" dirty="0">
                <a:solidFill>
                  <a:schemeClr val="tx1"/>
                </a:solidFill>
              </a:rPr>
              <a:t>Embedding function</a:t>
            </a:r>
            <a:endParaRPr lang="en-US" sz="1200" dirty="0"/>
          </a:p>
        </p:txBody>
      </p:sp>
      <p:sp>
        <p:nvSpPr>
          <p:cNvPr id="9" name="Shape 6"/>
          <p:cNvSpPr/>
          <p:nvPr/>
        </p:nvSpPr>
        <p:spPr>
          <a:xfrm>
            <a:off x="3543300" y="1737360"/>
            <a:ext cx="342900" cy="0"/>
          </a:xfrm>
          <a:prstGeom prst="line">
            <a:avLst/>
          </a:prstGeom>
          <a:noFill/>
          <a:ln w="15875">
            <a:solidFill>
              <a:srgbClr val="1B2A41"/>
            </a:solidFill>
            <a:prstDash val="solid"/>
            <a:tailEnd type="triangle"/>
          </a:ln>
        </p:spPr>
      </p:sp>
      <p:sp>
        <p:nvSpPr>
          <p:cNvPr id="10" name="Shape 7"/>
          <p:cNvSpPr/>
          <p:nvPr/>
        </p:nvSpPr>
        <p:spPr>
          <a:xfrm>
            <a:off x="3886200" y="1371600"/>
            <a:ext cx="1371600" cy="731520"/>
          </a:xfrm>
          <a:prstGeom prst="rect">
            <a:avLst/>
          </a:prstGeom>
          <a:solidFill>
            <a:schemeClr val="bg1"/>
          </a:solidFill>
          <a:ln w="28575">
            <a:solidFill>
              <a:srgbClr val="B5432A"/>
            </a:solidFill>
            <a:prstDash val="solid"/>
          </a:ln>
        </p:spPr>
      </p:sp>
      <p:sp>
        <p:nvSpPr>
          <p:cNvPr id="11" name="Text 8"/>
          <p:cNvSpPr txBox="1"/>
          <p:nvPr/>
        </p:nvSpPr>
        <p:spPr>
          <a:xfrm>
            <a:off x="3886200" y="1371600"/>
            <a:ext cx="1371600" cy="731520"/>
          </a:xfrm>
          <a:prstGeom prst="rect">
            <a:avLst/>
          </a:prstGeom>
          <a:noFill/>
          <a:ln/>
        </p:spPr>
        <p:txBody>
          <a:bodyPr wrap="square" lIns="0" tIns="0" rIns="0" bIns="0" rtlCol="0" anchor="ctr"/>
          <a:lstStyle/>
          <a:p>
            <a:pPr algn="ctr" indent="0" marL="0">
              <a:buNone/>
            </a:pPr>
            <a:r>
              <a:rPr lang="en-US" sz="1200" b="1" dirty="0">
                <a:solidFill>
                  <a:schemeClr val="tx1"/>
                </a:solidFill>
              </a:rPr>
              <a:t>HNSW search + where</a:t>
            </a:r>
            <a:endParaRPr lang="en-US" sz="1200" dirty="0"/>
          </a:p>
        </p:txBody>
      </p:sp>
      <p:sp>
        <p:nvSpPr>
          <p:cNvPr id="12" name="Shape 9"/>
          <p:cNvSpPr/>
          <p:nvPr/>
        </p:nvSpPr>
        <p:spPr>
          <a:xfrm>
            <a:off x="5257800" y="1737360"/>
            <a:ext cx="342900" cy="0"/>
          </a:xfrm>
          <a:prstGeom prst="line">
            <a:avLst/>
          </a:prstGeom>
          <a:noFill/>
          <a:ln w="15875">
            <a:solidFill>
              <a:srgbClr val="1B2A41"/>
            </a:solidFill>
            <a:prstDash val="solid"/>
            <a:tailEnd type="triangle"/>
          </a:ln>
        </p:spPr>
      </p:sp>
      <p:sp>
        <p:nvSpPr>
          <p:cNvPr id="13" name="Shape 10"/>
          <p:cNvSpPr/>
          <p:nvPr/>
        </p:nvSpPr>
        <p:spPr>
          <a:xfrm>
            <a:off x="5600700" y="1371600"/>
            <a:ext cx="1371600" cy="731520"/>
          </a:xfrm>
          <a:prstGeom prst="rect">
            <a:avLst/>
          </a:prstGeom>
          <a:solidFill>
            <a:schemeClr val="bg1"/>
          </a:solidFill>
          <a:ln w="12700">
            <a:solidFill>
              <a:srgbClr val="1B2A41"/>
            </a:solidFill>
            <a:prstDash val="solid"/>
          </a:ln>
        </p:spPr>
      </p:sp>
      <p:sp>
        <p:nvSpPr>
          <p:cNvPr id="14" name="Text 11"/>
          <p:cNvSpPr txBox="1"/>
          <p:nvPr/>
        </p:nvSpPr>
        <p:spPr>
          <a:xfrm>
            <a:off x="5600700" y="1371600"/>
            <a:ext cx="1371600" cy="731520"/>
          </a:xfrm>
          <a:prstGeom prst="rect">
            <a:avLst/>
          </a:prstGeom>
          <a:noFill/>
          <a:ln/>
        </p:spPr>
        <p:txBody>
          <a:bodyPr wrap="square" lIns="0" tIns="0" rIns="0" bIns="0" rtlCol="0" anchor="ctr"/>
          <a:lstStyle/>
          <a:p>
            <a:pPr algn="ctr" indent="0" marL="0">
              <a:buNone/>
            </a:pPr>
            <a:r>
              <a:rPr lang="en-US" sz="1200" b="1" dirty="0">
                <a:solidFill>
                  <a:schemeClr val="tx1"/>
                </a:solidFill>
              </a:rPr>
              <a:t>Top n_results</a:t>
            </a:r>
            <a:endParaRPr lang="en-US" sz="1200" dirty="0"/>
          </a:p>
        </p:txBody>
      </p:sp>
      <p:sp>
        <p:nvSpPr>
          <p:cNvPr id="15" name="Shape 12"/>
          <p:cNvSpPr/>
          <p:nvPr/>
        </p:nvSpPr>
        <p:spPr>
          <a:xfrm>
            <a:off x="6972300" y="1737360"/>
            <a:ext cx="342900" cy="0"/>
          </a:xfrm>
          <a:prstGeom prst="line">
            <a:avLst/>
          </a:prstGeom>
          <a:noFill/>
          <a:ln w="15875">
            <a:solidFill>
              <a:srgbClr val="1B2A41"/>
            </a:solidFill>
            <a:prstDash val="solid"/>
            <a:tailEnd type="triangle"/>
          </a:ln>
        </p:spPr>
      </p:sp>
      <p:sp>
        <p:nvSpPr>
          <p:cNvPr id="16" name="Shape 13"/>
          <p:cNvSpPr/>
          <p:nvPr/>
        </p:nvSpPr>
        <p:spPr>
          <a:xfrm>
            <a:off x="7315200" y="1371600"/>
            <a:ext cx="1371600" cy="731520"/>
          </a:xfrm>
          <a:prstGeom prst="rect">
            <a:avLst/>
          </a:prstGeom>
          <a:solidFill>
            <a:schemeClr val="bg1"/>
          </a:solidFill>
          <a:ln w="12700">
            <a:solidFill>
              <a:srgbClr val="1B2A41"/>
            </a:solidFill>
            <a:prstDash val="solid"/>
          </a:ln>
        </p:spPr>
      </p:sp>
      <p:sp>
        <p:nvSpPr>
          <p:cNvPr id="17" name="Text 14"/>
          <p:cNvSpPr txBox="1"/>
          <p:nvPr/>
        </p:nvSpPr>
        <p:spPr>
          <a:xfrm>
            <a:off x="7315200" y="1371600"/>
            <a:ext cx="1371600" cy="731520"/>
          </a:xfrm>
          <a:prstGeom prst="rect">
            <a:avLst/>
          </a:prstGeom>
          <a:noFill/>
          <a:ln/>
        </p:spPr>
        <p:txBody>
          <a:bodyPr wrap="square" lIns="0" tIns="0" rIns="0" bIns="0" rtlCol="0" anchor="ctr"/>
          <a:lstStyle/>
          <a:p>
            <a:pPr algn="ctr" indent="0" marL="0">
              <a:buNone/>
            </a:pPr>
            <a:r>
              <a:rPr lang="en-US" sz="1200" b="1" dirty="0">
                <a:solidFill>
                  <a:schemeClr val="tx1"/>
                </a:solidFill>
              </a:rPr>
              <a:t>Results dict</a:t>
            </a:r>
            <a:endParaRPr lang="en-US" sz="1200" dirty="0"/>
          </a:p>
        </p:txBody>
      </p:sp>
      <p:sp>
        <p:nvSpPr>
          <p:cNvPr id="18" name="Shape 15"/>
          <p:cNvSpPr/>
          <p:nvPr/>
        </p:nvSpPr>
        <p:spPr>
          <a:xfrm>
            <a:off x="457200" y="2377440"/>
            <a:ext cx="5852160" cy="2103120"/>
          </a:xfrm>
          <a:prstGeom prst="rect">
            <a:avLst/>
          </a:prstGeom>
          <a:solidFill>
            <a:srgbClr val="F3F4F6"/>
          </a:solidFill>
          <a:ln w="12700">
            <a:solidFill>
              <a:srgbClr val="D1D5DB"/>
            </a:solidFill>
            <a:prstDash val="solid"/>
          </a:ln>
        </p:spPr>
      </p:sp>
      <p:sp>
        <p:nvSpPr>
          <p:cNvPr id="19" name="Text 16"/>
          <p:cNvSpPr txBox="1"/>
          <p:nvPr/>
        </p:nvSpPr>
        <p:spPr>
          <a:xfrm>
            <a:off x="594360" y="2487168"/>
            <a:ext cx="5577840" cy="1883664"/>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"ids":       [[ "d3", "d6", "d9"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"documents": [[ "...", "...", "..."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"metadatas": [[ {...}, {...}, {...}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"distances": [[ 0.31, 0.42, 0.55 ]]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p:txBody>
      </p:sp>
      <p:sp>
        <p:nvSpPr>
          <p:cNvPr id="20" name="Text 17"/>
          <p:cNvSpPr txBox="1"/>
          <p:nvPr/>
        </p:nvSpPr>
        <p:spPr>
          <a:xfrm>
            <a:off x="6583680" y="2377440"/>
            <a:ext cx="2103120" cy="21945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chemeClr val="tx1"/>
                </a:solidFill>
              </a:rPr>
              <a:t>Outer list: one entry per query</a:t>
            </a:r>
            <a:endParaRPr lang="en-US" sz="1200" dirty="0"/>
          </a:p>
          <a:p>
            <a:pPr marL="342900" indent="-342900">
              <a:spcAft>
                <a:spcPts val="800"/>
              </a:spcAft>
              <a:buSzPct val="100000"/>
              <a:buChar char="•"/>
            </a:pPr>
            <a:r>
              <a:rPr lang="en-US" sz="1200" dirty="0">
                <a:solidFill>
                  <a:schemeClr val="tx1"/>
                </a:solidFill>
              </a:rPr>
              <a:t>Inner list: neighbors, nearest first</a:t>
            </a:r>
            <a:endParaRPr lang="en-US" sz="1200" dirty="0"/>
          </a:p>
          <a:p>
            <a:pPr marL="342900" indent="-342900">
              <a:spcAft>
                <a:spcPts val="800"/>
              </a:spcAft>
              <a:buSzPct val="100000"/>
              <a:buChar char="•"/>
            </a:pPr>
            <a:r>
              <a:rPr lang="en-US" sz="1200" dirty="0">
                <a:solidFill>
                  <a:schemeClr val="tx1"/>
                </a:solidFill>
              </a:rPr>
              <a:t>distances: smaller is closer</a:t>
            </a:r>
            <a:endParaRPr lang="en-US" sz="1200" dirty="0"/>
          </a:p>
          <a:p>
            <a:pPr marL="342900" indent="-342900">
              <a:spcAft>
                <a:spcPts val="800"/>
              </a:spcAft>
              <a:buSzPct val="100000"/>
              <a:buChar char="•"/>
            </a:pPr>
            <a:r>
              <a:rPr lang="en-US" sz="1200" dirty="0">
                <a:solidFill>
                  <a:schemeClr val="tx1"/>
                </a:solidFill>
              </a:rPr>
              <a:t>Fewer than n_results come back when fewer match</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Reading distances correctly</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371600"/>
                <a:gridCol w="3474720"/>
                <a:gridCol w="1097280"/>
                <a:gridCol w="228600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Space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Formula</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 vs b</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Smaller means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l2 (default)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squared Euclidean: sum (a_i - b_i)^2</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0.80</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closer</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cosine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1 - cosine similarity</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0.40</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closer</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ip</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1 - dot product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0.40</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closer (for unit vectors)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5" name="Text 1"/>
          <p:cNvSpPr txBox="1"/>
          <p:nvPr/>
        </p:nvSpPr>
        <p:spPr>
          <a:xfrm>
            <a:off x="457200" y="3474720"/>
            <a:ext cx="8229600" cy="1097280"/>
          </a:xfrm>
          <a:prstGeom prst="rect">
            <a:avLst/>
          </a:prstGeom>
          <a:noFill/>
          <a:ln/>
        </p:spPr>
        <p:txBody>
          <a:bodyPr wrap="square" lIns="0" tIns="0" rIns="0" bIns="0" rtlCol="0" anchor="t"/>
          <a:lstStyle/>
          <a:p>
            <a:pPr indent="0" marL="0">
              <a:buNone/>
            </a:pPr>
            <a:r>
              <a:rPr lang="en-US" sz="1500" b="1" dirty="0">
                <a:solidFill>
                  <a:schemeClr val="tx1"/>
                </a:solidFill>
              </a:rPr>
              <a:t>Similarity for display: </a:t>
            </a:r>
            <a:pPr indent="0" marL="0">
              <a:spcAft>
                <a:spcPts val="1000"/>
              </a:spcAft>
              <a:buNone/>
            </a:pPr>
            <a:r>
              <a:rPr lang="en-US" sz="1500" dirty="0">
                <a:solidFill>
                  <a:schemeClr val="tx1"/>
                </a:solidFill>
              </a:rPr>
              <a:t>for the cosine space, similarity = 1 - distance.</a:t>
            </a:r>
            <a:endParaRPr lang="en-US" sz="1500" dirty="0"/>
          </a:p>
          <a:p>
            <a:pPr indent="0" marL="0">
              <a:buNone/>
            </a:pPr>
            <a:r>
              <a:rPr lang="en-US" sz="1500" b="1" dirty="0">
                <a:solidFill>
                  <a:schemeClr val="tx1"/>
                </a:solidFill>
              </a:rPr>
              <a:t>Rule: </a:t>
            </a:r>
            <a:pPr indent="0" marL="0">
              <a:buNone/>
            </a:pPr>
            <a:r>
              <a:rPr lang="en-US" sz="1500" dirty="0">
                <a:solidFill>
                  <a:schemeClr val="tx1"/>
                </a:solidFill>
              </a:rPr>
              <a:t>set the space when you create the collection; for most text models use cosine.</a:t>
            </a:r>
            <a:endParaRPr lang="en-US" sz="15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Filtering with where</a:t>
            </a:r>
            <a:endParaRPr lang="en-US" sz="3000" dirty="0"/>
          </a:p>
        </p:txBody>
      </p:sp>
      <p:sp>
        <p:nvSpPr>
          <p:cNvPr id="4" name="Shape 1"/>
          <p:cNvSpPr/>
          <p:nvPr/>
        </p:nvSpPr>
        <p:spPr>
          <a:xfrm>
            <a:off x="457200" y="1280160"/>
            <a:ext cx="4023360" cy="640080"/>
          </a:xfrm>
          <a:prstGeom prst="rect">
            <a:avLst/>
          </a:prstGeom>
          <a:solidFill>
            <a:srgbClr val="F3F4F6"/>
          </a:solidFill>
          <a:ln w="12700">
            <a:solidFill>
              <a:srgbClr val="D1D5DB"/>
            </a:solidFill>
            <a:prstDash val="solid"/>
          </a:ln>
        </p:spPr>
      </p:sp>
      <p:sp>
        <p:nvSpPr>
          <p:cNvPr id="5" name="Text 2"/>
          <p:cNvSpPr txBox="1"/>
          <p:nvPr/>
        </p:nvSpPr>
        <p:spPr>
          <a:xfrm>
            <a:off x="594360" y="1389888"/>
            <a:ext cx="3749040" cy="420624"/>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where={"topic": "billing"}</a:t>
            </a:r>
            <a:endParaRPr lang="en-US" sz="1200" dirty="0"/>
          </a:p>
        </p:txBody>
      </p:sp>
      <p:sp>
        <p:nvSpPr>
          <p:cNvPr id="6" name="Text 3"/>
          <p:cNvSpPr txBox="1"/>
          <p:nvPr/>
        </p:nvSpPr>
        <p:spPr>
          <a:xfrm>
            <a:off x="457200" y="1965960"/>
            <a:ext cx="4023360" cy="274320"/>
          </a:xfrm>
          <a:prstGeom prst="rect">
            <a:avLst/>
          </a:prstGeom>
          <a:noFill/>
          <a:ln/>
        </p:spPr>
        <p:txBody>
          <a:bodyPr wrap="square" lIns="0" tIns="0" rIns="0" bIns="0" rtlCol="0" anchor="t"/>
          <a:lstStyle/>
          <a:p>
            <a:pPr indent="0" marL="0">
              <a:buNone/>
            </a:pPr>
            <a:r>
              <a:rPr lang="en-US" sz="1200" i="1" dirty="0">
                <a:solidFill>
                  <a:schemeClr val="accent5"/>
                </a:solidFill>
                <a:latin typeface="Cambria" pitchFamily="34" charset="0"/>
                <a:ea typeface="Cambria" pitchFamily="34" charset="-122"/>
                <a:cs typeface="Cambria" pitchFamily="34" charset="-120"/>
              </a:rPr>
              <a:t>equals</a:t>
            </a:r>
            <a:endParaRPr lang="en-US" sz="1200" dirty="0"/>
          </a:p>
        </p:txBody>
      </p:sp>
      <p:sp>
        <p:nvSpPr>
          <p:cNvPr id="7" name="Shape 4"/>
          <p:cNvSpPr/>
          <p:nvPr/>
        </p:nvSpPr>
        <p:spPr>
          <a:xfrm>
            <a:off x="457200" y="2423160"/>
            <a:ext cx="4023360" cy="1737360"/>
          </a:xfrm>
          <a:prstGeom prst="rect">
            <a:avLst/>
          </a:prstGeom>
          <a:solidFill>
            <a:srgbClr val="F3F4F6"/>
          </a:solidFill>
          <a:ln w="12700">
            <a:solidFill>
              <a:srgbClr val="D1D5DB"/>
            </a:solidFill>
            <a:prstDash val="solid"/>
          </a:ln>
        </p:spPr>
      </p:sp>
      <p:sp>
        <p:nvSpPr>
          <p:cNvPr id="8" name="Text 5"/>
          <p:cNvSpPr txBox="1"/>
          <p:nvPr/>
        </p:nvSpPr>
        <p:spPr>
          <a:xfrm>
            <a:off x="594360" y="2532888"/>
            <a:ext cx="3749040" cy="1517904"/>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where={"$and": [</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  {"topic": {"$in": ["billing", "returns"]}},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  {"year": {"$gte": 2024}},</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a:t>
            </a:r>
            <a:endParaRPr lang="en-US" sz="1000" dirty="0"/>
          </a:p>
        </p:txBody>
      </p:sp>
      <p:sp>
        <p:nvSpPr>
          <p:cNvPr id="9" name="Text 6"/>
          <p:cNvSpPr txBox="1"/>
          <p:nvPr/>
        </p:nvSpPr>
        <p:spPr>
          <a:xfrm>
            <a:off x="4754880" y="1280160"/>
            <a:ext cx="393192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Comparison and logic</a:t>
            </a:r>
            <a:endParaRPr lang="en-US" sz="1800" dirty="0"/>
          </a:p>
        </p:txBody>
      </p:sp>
      <p:sp>
        <p:nvSpPr>
          <p:cNvPr id="10" name="Text 7"/>
          <p:cNvSpPr txBox="1"/>
          <p:nvPr/>
        </p:nvSpPr>
        <p:spPr>
          <a:xfrm>
            <a:off x="4754880" y="1737360"/>
            <a:ext cx="39319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$eq, $ne: equal, not equal</a:t>
            </a:r>
            <a:endParaRPr lang="en-US" sz="1400" dirty="0"/>
          </a:p>
          <a:p>
            <a:pPr marL="342900" indent="-342900">
              <a:spcAft>
                <a:spcPts val="800"/>
              </a:spcAft>
              <a:buSzPct val="100000"/>
              <a:buChar char="•"/>
            </a:pPr>
            <a:r>
              <a:rPr lang="en-US" sz="1400" dirty="0">
                <a:solidFill>
                  <a:schemeClr val="tx1"/>
                </a:solidFill>
              </a:rPr>
              <a:t>$gt, $gte, $lt, $lte: ranges on numbers</a:t>
            </a:r>
            <a:endParaRPr lang="en-US" sz="1400" dirty="0"/>
          </a:p>
          <a:p>
            <a:pPr marL="342900" indent="-342900">
              <a:spcAft>
                <a:spcPts val="800"/>
              </a:spcAft>
              <a:buSzPct val="100000"/>
              <a:buChar char="•"/>
            </a:pPr>
            <a:r>
              <a:rPr lang="en-US" sz="1400" dirty="0">
                <a:solidFill>
                  <a:schemeClr val="tx1"/>
                </a:solidFill>
              </a:rPr>
              <a:t>$in, $nin: membership in a list</a:t>
            </a:r>
            <a:endParaRPr lang="en-US" sz="1400" dirty="0"/>
          </a:p>
          <a:p>
            <a:pPr marL="342900" indent="-342900">
              <a:spcAft>
                <a:spcPts val="800"/>
              </a:spcAft>
              <a:buSzPct val="100000"/>
              <a:buChar char="•"/>
            </a:pPr>
            <a:r>
              <a:rPr lang="en-US" sz="1400" dirty="0">
                <a:solidFill>
                  <a:schemeClr val="tx1"/>
                </a:solidFill>
              </a:rPr>
              <a:t>$and, $or: combine conditions</a:t>
            </a:r>
            <a:endParaRPr lang="en-US" sz="1400" dirty="0"/>
          </a:p>
          <a:p>
            <a:pPr marL="342900" indent="-342900">
              <a:spcAft>
                <a:spcPts val="800"/>
              </a:spcAft>
              <a:buSzPct val="100000"/>
              <a:buChar char="•"/>
            </a:pPr>
            <a:r>
              <a:rPr lang="en-US" sz="1400" dirty="0">
                <a:solidFill>
                  <a:schemeClr val="tx1"/>
                </a:solidFill>
              </a:rPr>
              <a:t>Filter on tenant first, in every query</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Text filters and get</a:t>
            </a:r>
            <a:endParaRPr lang="en-US" sz="3000" dirty="0"/>
          </a:p>
        </p:txBody>
      </p:sp>
      <p:sp>
        <p:nvSpPr>
          <p:cNvPr id="4" name="Shape 1"/>
          <p:cNvSpPr/>
          <p:nvPr/>
        </p:nvSpPr>
        <p:spPr>
          <a:xfrm>
            <a:off x="457200" y="1280160"/>
            <a:ext cx="4754880" cy="1463040"/>
          </a:xfrm>
          <a:prstGeom prst="rect">
            <a:avLst/>
          </a:prstGeom>
          <a:solidFill>
            <a:srgbClr val="F3F4F6"/>
          </a:solidFill>
          <a:ln w="12700">
            <a:solidFill>
              <a:srgbClr val="D1D5DB"/>
            </a:solidFill>
            <a:prstDash val="solid"/>
          </a:ln>
        </p:spPr>
      </p:sp>
      <p:sp>
        <p:nvSpPr>
          <p:cNvPr id="5" name="Text 2"/>
          <p:cNvSpPr txBox="1"/>
          <p:nvPr/>
        </p:nvSpPr>
        <p:spPr>
          <a:xfrm>
            <a:off x="594360" y="1389888"/>
            <a:ext cx="4480560" cy="1243584"/>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col.query(query_texts=["cats"],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n_results=3,</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where={"topic": "a"},</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where_document={"$contains": "cats"})</a:t>
            </a:r>
            <a:endParaRPr lang="en-US" sz="1100" dirty="0"/>
          </a:p>
        </p:txBody>
      </p:sp>
      <p:sp>
        <p:nvSpPr>
          <p:cNvPr id="6" name="Shape 3"/>
          <p:cNvSpPr/>
          <p:nvPr/>
        </p:nvSpPr>
        <p:spPr>
          <a:xfrm>
            <a:off x="457200" y="2926080"/>
            <a:ext cx="4754880" cy="1554480"/>
          </a:xfrm>
          <a:prstGeom prst="rect">
            <a:avLst/>
          </a:prstGeom>
          <a:solidFill>
            <a:srgbClr val="F3F4F6"/>
          </a:solidFill>
          <a:ln w="12700">
            <a:solidFill>
              <a:srgbClr val="D1D5DB"/>
            </a:solidFill>
            <a:prstDash val="solid"/>
          </a:ln>
        </p:spPr>
      </p:sp>
      <p:sp>
        <p:nvSpPr>
          <p:cNvPr id="7" name="Text 4"/>
          <p:cNvSpPr txBox="1"/>
          <p:nvPr/>
        </p:nvSpPr>
        <p:spPr>
          <a:xfrm>
            <a:off x="594360" y="3035808"/>
            <a:ext cx="4480560" cy="1335024"/>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page = col.get(where={"year": 2024},</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limit=20, offset=40,</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include=["documents", "metadatas"])</a:t>
            </a:r>
            <a:endParaRPr lang="en-US" sz="1100" dirty="0"/>
          </a:p>
        </p:txBody>
      </p:sp>
      <p:sp>
        <p:nvSpPr>
          <p:cNvPr id="8" name="Text 5"/>
          <p:cNvSpPr txBox="1"/>
          <p:nvPr/>
        </p:nvSpPr>
        <p:spPr>
          <a:xfrm>
            <a:off x="5486400" y="1280160"/>
            <a:ext cx="320040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where_document: $contains, $not_contains</a:t>
            </a:r>
            <a:endParaRPr lang="en-US" sz="1400" dirty="0"/>
          </a:p>
          <a:p>
            <a:pPr marL="342900" indent="-342900">
              <a:spcAft>
                <a:spcPts val="800"/>
              </a:spcAft>
              <a:buSzPct val="100000"/>
              <a:buChar char="•"/>
            </a:pPr>
            <a:r>
              <a:rPr lang="en-US" sz="1400" dirty="0">
                <a:solidFill>
                  <a:schemeClr val="tx1"/>
                </a:solidFill>
              </a:rPr>
              <a:t>Combine with where in one query</a:t>
            </a:r>
            <a:endParaRPr lang="en-US" sz="1400" dirty="0"/>
          </a:p>
          <a:p>
            <a:pPr marL="342900" indent="-342900">
              <a:spcAft>
                <a:spcPts val="800"/>
              </a:spcAft>
              <a:buSzPct val="100000"/>
              <a:buChar char="•"/>
            </a:pPr>
            <a:r>
              <a:rPr lang="en-US" sz="1400" dirty="0">
                <a:solidFill>
                  <a:schemeClr val="tx1"/>
                </a:solidFill>
              </a:rPr>
              <a:t>get returns records, not neighbors</a:t>
            </a:r>
            <a:endParaRPr lang="en-US" sz="1400" dirty="0"/>
          </a:p>
          <a:p>
            <a:pPr marL="342900" indent="-342900">
              <a:spcAft>
                <a:spcPts val="800"/>
              </a:spcAft>
              <a:buSzPct val="100000"/>
              <a:buChar char="•"/>
            </a:pPr>
            <a:r>
              <a:rPr lang="en-US" sz="1400" dirty="0">
                <a:solidFill>
                  <a:schemeClr val="tx1"/>
                </a:solidFill>
              </a:rPr>
              <a:t>Page through large sets with limit and offset</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Distance and index settings</a:t>
            </a:r>
            <a:endParaRPr lang="en-US" sz="3000" dirty="0"/>
          </a:p>
        </p:txBody>
      </p:sp>
      <p:sp>
        <p:nvSpPr>
          <p:cNvPr id="4" name="Shape 1"/>
          <p:cNvSpPr/>
          <p:nvPr/>
        </p:nvSpPr>
        <p:spPr>
          <a:xfrm>
            <a:off x="457200" y="1280160"/>
            <a:ext cx="4754880" cy="1828800"/>
          </a:xfrm>
          <a:prstGeom prst="rect">
            <a:avLst/>
          </a:prstGeom>
          <a:solidFill>
            <a:srgbClr val="F3F4F6"/>
          </a:solidFill>
          <a:ln w="12700">
            <a:solidFill>
              <a:srgbClr val="D1D5DB"/>
            </a:solidFill>
            <a:prstDash val="solid"/>
          </a:ln>
        </p:spPr>
      </p:sp>
      <p:sp>
        <p:nvSpPr>
          <p:cNvPr id="5" name="Text 2"/>
          <p:cNvSpPr txBox="1"/>
          <p:nvPr/>
        </p:nvSpPr>
        <p:spPr>
          <a:xfrm>
            <a:off x="594360" y="1389888"/>
            <a:ext cx="4480560" cy="1609344"/>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col = client.create_collection(</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"help",</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configuration={"hnsw":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"space": "cosine",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"ef_search": 100,</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0" y="1280160"/>
          <a:ext cx="3200400" cy="914400"/>
        </p:xfrm>
        <a:graphic>
          <a:graphicData uri="http://schemas.openxmlformats.org/drawingml/2006/table">
            <a:tbl>
              <a:tblPr/>
              <a:tblGrid>
                <a:gridCol w="1371600"/>
                <a:gridCol w="182880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Lecture 4 name</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Chroma setting</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384048">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M</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max_neighbors</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84048">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efConstruction</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ef_construction</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84048">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efSearch</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ef_search</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84048">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distance</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space: l2, cosine or ip</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7" name="Text 3"/>
          <p:cNvSpPr txBox="1"/>
          <p:nvPr/>
        </p:nvSpPr>
        <p:spPr>
          <a:xfrm>
            <a:off x="457200" y="3383280"/>
            <a:ext cx="8229600" cy="365760"/>
          </a:xfrm>
          <a:prstGeom prst="rect">
            <a:avLst/>
          </a:prstGeom>
          <a:noFill/>
          <a:ln/>
        </p:spPr>
        <p:txBody>
          <a:bodyPr wrap="square" lIns="0" tIns="0" rIns="0" bIns="0" rtlCol="0" anchor="t"/>
          <a:lstStyle/>
          <a:p>
            <a:pPr indent="0" marL="0">
              <a:buNone/>
            </a:pPr>
            <a:r>
              <a:rPr lang="en-US" sz="1400" dirty="0">
                <a:solidFill>
                  <a:schemeClr val="accent1"/>
                </a:solidFill>
                <a:latin typeface="Cambria" pitchFamily="34" charset="0"/>
                <a:ea typeface="Cambria" pitchFamily="34" charset="-122"/>
                <a:cs typeface="Cambria" pitchFamily="34" charset="-120"/>
              </a:rPr>
              <a:t>Defaults in 1.5.x: l2, ef_construction 100, ef_search 100, max_neighbors 16.</a:t>
            </a:r>
            <a:endParaRPr lang="en-US" sz="1400" dirty="0"/>
          </a:p>
        </p:txBody>
      </p:sp>
      <p:sp>
        <p:nvSpPr>
          <p:cNvPr id="8" name="Text 4"/>
          <p:cNvSpPr txBox="1"/>
          <p:nvPr/>
        </p:nvSpPr>
        <p:spPr>
          <a:xfrm>
            <a:off x="457200" y="3840480"/>
            <a:ext cx="8229600" cy="365760"/>
          </a:xfrm>
          <a:prstGeom prst="rect">
            <a:avLst/>
          </a:prstGeom>
          <a:noFill/>
          <a:ln/>
        </p:spPr>
        <p:txBody>
          <a:bodyPr wrap="square" lIns="0" tIns="0" rIns="0" bIns="0" rtlCol="0" anchor="t"/>
          <a:lstStyle/>
          <a:p>
            <a:pPr indent="0" marL="0">
              <a:buNone/>
            </a:pPr>
            <a:r>
              <a:rPr lang="en-US" sz="1400" dirty="0">
                <a:solidFill>
                  <a:schemeClr val="tx1"/>
                </a:solidFill>
              </a:rPr>
              <a:t>Raise ef_search for more recall at higher latency; measure recall as in Lecture 4.</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Embedding functions</a:t>
            </a:r>
            <a:endParaRPr lang="en-US" sz="3000" dirty="0"/>
          </a:p>
        </p:txBody>
      </p:sp>
      <p:sp>
        <p:nvSpPr>
          <p:cNvPr id="4" name="Shape 1"/>
          <p:cNvSpPr/>
          <p:nvPr/>
        </p:nvSpPr>
        <p:spPr>
          <a:xfrm>
            <a:off x="457200" y="1280160"/>
            <a:ext cx="5029200" cy="2103120"/>
          </a:xfrm>
          <a:prstGeom prst="rect">
            <a:avLst/>
          </a:prstGeom>
          <a:solidFill>
            <a:srgbClr val="F3F4F6"/>
          </a:solidFill>
          <a:ln w="12700">
            <a:solidFill>
              <a:srgbClr val="D1D5DB"/>
            </a:solidFill>
            <a:prstDash val="solid"/>
          </a:ln>
        </p:spPr>
      </p:sp>
      <p:sp>
        <p:nvSpPr>
          <p:cNvPr id="5" name="Text 2"/>
          <p:cNvSpPr txBox="1"/>
          <p:nvPr/>
        </p:nvSpPr>
        <p:spPr>
          <a:xfrm>
            <a:off x="594360" y="1389888"/>
            <a:ext cx="4754880" cy="1883664"/>
          </a:xfrm>
          <a:prstGeom prst="rect">
            <a:avLst/>
          </a:prstGeom>
          <a:noFill/>
          <a:ln/>
        </p:spPr>
        <p:txBody>
          <a:bodyPr wrap="square" lIns="0" tIns="0" rIns="0" bIns="0" rtlCol="0" anchor="t"/>
          <a:lstStyle/>
          <a:p>
            <a:pPr indent="0" marL="0">
              <a:buNone/>
            </a:pPr>
            <a:r>
              <a:rPr lang="en-US" sz="1050" dirty="0">
                <a:solidFill>
                  <a:schemeClr val="tx1"/>
                </a:solidFill>
                <a:latin typeface="Courier New" pitchFamily="34" charset="0"/>
                <a:ea typeface="Courier New" pitchFamily="34" charset="-122"/>
                <a:cs typeface="Courier New" pitchFamily="34" charset="-120"/>
              </a:rPr>
              <a:t>from chromadb.utils import embedding_functions as ef</a:t>
            </a:r>
            <a:endParaRPr lang="en-US" sz="1050" dirty="0"/>
          </a:p>
          <a:p>
            <a:pPr indent="0" marL="0">
              <a:buNone/>
            </a:pP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minilm = ef.SentenceTransformerEmbeddingFunction(</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model_name="all-MiniLM-L6-v2")</a:t>
            </a:r>
            <a:endParaRPr lang="en-US" sz="1050" dirty="0"/>
          </a:p>
          <a:p>
            <a:pPr indent="0" marL="0">
              <a:buNone/>
            </a:pP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col = client.get_or_create_collection(</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"help", embedding_function=minilm)</a:t>
            </a:r>
            <a:endParaRPr lang="en-US" sz="1050" dirty="0"/>
          </a:p>
        </p:txBody>
      </p:sp>
      <p:sp>
        <p:nvSpPr>
          <p:cNvPr id="6" name="Text 3"/>
          <p:cNvSpPr txBox="1"/>
          <p:nvPr/>
        </p:nvSpPr>
        <p:spPr>
          <a:xfrm>
            <a:off x="5760720" y="1280160"/>
            <a:ext cx="292608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Choices</a:t>
            </a:r>
            <a:endParaRPr lang="en-US" sz="1800" dirty="0"/>
          </a:p>
        </p:txBody>
      </p:sp>
      <p:sp>
        <p:nvSpPr>
          <p:cNvPr id="7" name="Text 4"/>
          <p:cNvSpPr txBox="1"/>
          <p:nvPr/>
        </p:nvSpPr>
        <p:spPr>
          <a:xfrm>
            <a:off x="5760720" y="1691640"/>
            <a:ext cx="292608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Default: all-MiniLM-L6-v2 via ONNX</a:t>
            </a:r>
            <a:endParaRPr lang="en-US" sz="1300" dirty="0"/>
          </a:p>
          <a:p>
            <a:pPr marL="342900" indent="-342900">
              <a:spcAft>
                <a:spcPts val="600"/>
              </a:spcAft>
              <a:buSzPct val="100000"/>
              <a:buChar char="•"/>
            </a:pPr>
            <a:r>
              <a:rPr lang="en-US" sz="1300" dirty="0">
                <a:solidFill>
                  <a:schemeClr val="tx1"/>
                </a:solidFill>
              </a:rPr>
              <a:t>SentenceTransformer: any local model</a:t>
            </a:r>
            <a:endParaRPr lang="en-US" sz="1300" dirty="0"/>
          </a:p>
          <a:p>
            <a:pPr marL="342900" indent="-342900">
              <a:spcAft>
                <a:spcPts val="600"/>
              </a:spcAft>
              <a:buSzPct val="100000"/>
              <a:buChar char="•"/>
            </a:pPr>
            <a:r>
              <a:rPr lang="en-US" sz="1300" dirty="0">
                <a:solidFill>
                  <a:schemeClr val="tx1"/>
                </a:solidFill>
              </a:rPr>
              <a:t>Hosted providers: OpenAI, Cohere, Google and others</a:t>
            </a:r>
            <a:endParaRPr lang="en-US" sz="1300" dirty="0"/>
          </a:p>
          <a:p>
            <a:pPr marL="342900" indent="-342900">
              <a:spcAft>
                <a:spcPts val="600"/>
              </a:spcAft>
              <a:buSzPct val="100000"/>
              <a:buChar char="•"/>
            </a:pPr>
            <a:r>
              <a:rPr lang="en-US" sz="1300" dirty="0">
                <a:solidFill>
                  <a:schemeClr val="tx1"/>
                </a:solidFill>
              </a:rPr>
              <a:t>Custom class: wrap your own model</a:t>
            </a:r>
            <a:endParaRPr lang="en-US" sz="1300" dirty="0"/>
          </a:p>
          <a:p>
            <a:pPr marL="342900" indent="-342900">
              <a:spcAft>
                <a:spcPts val="600"/>
              </a:spcAft>
              <a:buSzPct val="100000"/>
              <a:buChar char="•"/>
            </a:pPr>
            <a:r>
              <a:rPr lang="en-US" sz="1300" dirty="0">
                <a:solidFill>
                  <a:schemeClr val="tx1"/>
                </a:solidFill>
              </a:rPr>
              <a:t>Or pass embeddings directly</a:t>
            </a:r>
            <a:endParaRPr lang="en-US" sz="1300" dirty="0"/>
          </a:p>
        </p:txBody>
      </p:sp>
      <p:sp>
        <p:nvSpPr>
          <p:cNvPr id="8" name="Text 5"/>
          <p:cNvSpPr txBox="1"/>
          <p:nvPr/>
        </p:nvSpPr>
        <p:spPr>
          <a:xfrm>
            <a:off x="457200" y="3611880"/>
            <a:ext cx="5029200" cy="822960"/>
          </a:xfrm>
          <a:prstGeom prst="rect">
            <a:avLst/>
          </a:prstGeom>
          <a:noFill/>
          <a:ln/>
        </p:spPr>
        <p:txBody>
          <a:bodyPr wrap="square" lIns="0" tIns="0" rIns="0" bIns="0" rtlCol="0" anchor="t"/>
          <a:lstStyle/>
          <a:p>
            <a:pPr indent="0" marL="0">
              <a:buNone/>
            </a:pPr>
            <a:r>
              <a:rPr lang="en-US" sz="1400" i="1" dirty="0">
                <a:solidFill>
                  <a:schemeClr val="accent1"/>
                </a:solidFill>
                <a:latin typeface="Cambria" pitchFamily="34" charset="0"/>
                <a:ea typeface="Cambria" pitchFamily="34" charset="-122"/>
                <a:cs typeface="Cambria" pitchFamily="34" charset="-120"/>
              </a:rPr>
              <a:t>Always pass the same embedding function when you reopen a collection that uses a custom one.</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Persistence and server mode</a:t>
            </a:r>
            <a:endParaRPr lang="en-US" sz="3000" dirty="0"/>
          </a:p>
        </p:txBody>
      </p:sp>
      <p:sp>
        <p:nvSpPr>
          <p:cNvPr id="4" name="Shape 1"/>
          <p:cNvSpPr/>
          <p:nvPr/>
        </p:nvSpPr>
        <p:spPr>
          <a:xfrm>
            <a:off x="457200" y="1280160"/>
            <a:ext cx="4023360" cy="1737360"/>
          </a:xfrm>
          <a:prstGeom prst="rect">
            <a:avLst/>
          </a:prstGeom>
          <a:solidFill>
            <a:srgbClr val="F3F4F6"/>
          </a:solidFill>
          <a:ln w="12700">
            <a:solidFill>
              <a:srgbClr val="D1D5DB"/>
            </a:solidFill>
            <a:prstDash val="solid"/>
          </a:ln>
        </p:spPr>
      </p:sp>
      <p:sp>
        <p:nvSpPr>
          <p:cNvPr id="5" name="Text 2"/>
          <p:cNvSpPr txBox="1"/>
          <p:nvPr/>
        </p:nvSpPr>
        <p:spPr>
          <a:xfrm>
            <a:off x="594360" y="1389888"/>
            <a:ext cx="3749040" cy="1517904"/>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client = chromadb.PersistentClient(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path="./chroma_data")</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col = client.get_or_create_collection(</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"help")</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print(col.count())</a:t>
            </a:r>
            <a:endParaRPr lang="en-US" sz="1100" dirty="0"/>
          </a:p>
        </p:txBody>
      </p:sp>
      <p:sp>
        <p:nvSpPr>
          <p:cNvPr id="6" name="Text 3"/>
          <p:cNvSpPr txBox="1"/>
          <p:nvPr/>
        </p:nvSpPr>
        <p:spPr>
          <a:xfrm>
            <a:off x="457200" y="3063240"/>
            <a:ext cx="4023360" cy="274320"/>
          </a:xfrm>
          <a:prstGeom prst="rect">
            <a:avLst/>
          </a:prstGeom>
          <a:noFill/>
          <a:ln/>
        </p:spPr>
        <p:txBody>
          <a:bodyPr wrap="square" lIns="0" tIns="0" rIns="0" bIns="0" rtlCol="0" anchor="t"/>
          <a:lstStyle/>
          <a:p>
            <a:pPr indent="0" marL="0">
              <a:buNone/>
            </a:pPr>
            <a:r>
              <a:rPr lang="en-US" sz="1200" i="1" dirty="0">
                <a:solidFill>
                  <a:schemeClr val="accent5"/>
                </a:solidFill>
                <a:latin typeface="Cambria" pitchFamily="34" charset="0"/>
                <a:ea typeface="Cambria" pitchFamily="34" charset="-122"/>
                <a:cs typeface="Cambria" pitchFamily="34" charset="-120"/>
              </a:rPr>
              <a:t>One process, data on disk</a:t>
            </a:r>
            <a:endParaRPr lang="en-US" sz="1200" dirty="0"/>
          </a:p>
        </p:txBody>
      </p:sp>
      <p:sp>
        <p:nvSpPr>
          <p:cNvPr id="7" name="Shape 4"/>
          <p:cNvSpPr/>
          <p:nvPr/>
        </p:nvSpPr>
        <p:spPr>
          <a:xfrm>
            <a:off x="4663440" y="1280160"/>
            <a:ext cx="4023360" cy="1737360"/>
          </a:xfrm>
          <a:prstGeom prst="rect">
            <a:avLst/>
          </a:prstGeom>
          <a:solidFill>
            <a:srgbClr val="F3F4F6"/>
          </a:solidFill>
          <a:ln w="12700">
            <a:solidFill>
              <a:srgbClr val="D1D5DB"/>
            </a:solidFill>
            <a:prstDash val="solid"/>
          </a:ln>
        </p:spPr>
      </p:sp>
      <p:sp>
        <p:nvSpPr>
          <p:cNvPr id="8" name="Text 5"/>
          <p:cNvSpPr txBox="1"/>
          <p:nvPr/>
        </p:nvSpPr>
        <p:spPr>
          <a:xfrm>
            <a:off x="4800600" y="1389888"/>
            <a:ext cx="3749040" cy="1517904"/>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 chroma run --path ./chroma_data</a:t>
            </a:r>
            <a:endParaRPr lang="en-US" sz="1100" dirty="0"/>
          </a:p>
          <a:p>
            <a:pPr indent="0" marL="0">
              <a:buNone/>
            </a:pP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client = chromadb.HttpClient(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host="localhost", port=8000)</a:t>
            </a:r>
            <a:endParaRPr lang="en-US" sz="1100" dirty="0"/>
          </a:p>
        </p:txBody>
      </p:sp>
      <p:sp>
        <p:nvSpPr>
          <p:cNvPr id="9" name="Text 6"/>
          <p:cNvSpPr txBox="1"/>
          <p:nvPr/>
        </p:nvSpPr>
        <p:spPr>
          <a:xfrm>
            <a:off x="4663440" y="3063240"/>
            <a:ext cx="4023360" cy="274320"/>
          </a:xfrm>
          <a:prstGeom prst="rect">
            <a:avLst/>
          </a:prstGeom>
          <a:noFill/>
          <a:ln/>
        </p:spPr>
        <p:txBody>
          <a:bodyPr wrap="square" lIns="0" tIns="0" rIns="0" bIns="0" rtlCol="0" anchor="t"/>
          <a:lstStyle/>
          <a:p>
            <a:pPr indent="0" marL="0">
              <a:buNone/>
            </a:pPr>
            <a:r>
              <a:rPr lang="en-US" sz="1200" i="1" dirty="0">
                <a:solidFill>
                  <a:schemeClr val="accent5"/>
                </a:solidFill>
                <a:latin typeface="Cambria" pitchFamily="34" charset="0"/>
                <a:ea typeface="Cambria" pitchFamily="34" charset="-122"/>
                <a:cs typeface="Cambria" pitchFamily="34" charset="-120"/>
              </a:rPr>
              <a:t>Many clients, one server</a:t>
            </a:r>
            <a:endParaRPr lang="en-US" sz="1200" dirty="0"/>
          </a:p>
        </p:txBody>
      </p:sp>
      <p:sp>
        <p:nvSpPr>
          <p:cNvPr id="10" name="Text 7"/>
          <p:cNvSpPr txBox="1"/>
          <p:nvPr/>
        </p:nvSpPr>
        <p:spPr>
          <a:xfrm>
            <a:off x="457200" y="3520440"/>
            <a:ext cx="8229600" cy="1097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Collections persist; the client object does not hold state</a:t>
            </a:r>
            <a:endParaRPr lang="en-US" sz="1400" dirty="0"/>
          </a:p>
          <a:p>
            <a:pPr marL="342900" indent="-342900">
              <a:spcAft>
                <a:spcPts val="800"/>
              </a:spcAft>
              <a:buSzPct val="100000"/>
              <a:buChar char="•"/>
            </a:pPr>
            <a:r>
              <a:rPr lang="en-US" sz="1400" dirty="0">
                <a:solidFill>
                  <a:schemeClr val="tx1"/>
                </a:solidFill>
              </a:rPr>
              <a:t>Delete with client.delete_collection(name); rename with col.modify(name=...)</a:t>
            </a:r>
            <a:endParaRPr lang="en-US" sz="1400" dirty="0"/>
          </a:p>
          <a:p>
            <a:pPr marL="342900" indent="-342900">
              <a:spcAft>
                <a:spcPts val="800"/>
              </a:spcAft>
              <a:buSzPct val="100000"/>
              <a:buChar char="•"/>
            </a:pPr>
            <a:r>
              <a:rPr lang="en-US" sz="1400" dirty="0">
                <a:solidFill>
                  <a:schemeClr val="tx1"/>
                </a:solidFill>
              </a:rPr>
              <a:t>Version your collections, for example help_minilm_v1</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From Lecture 6 chunks to Chroma</a:t>
            </a:r>
            <a:endParaRPr lang="en-US" sz="3000" dirty="0"/>
          </a:p>
        </p:txBody>
      </p:sp>
      <p:sp>
        <p:nvSpPr>
          <p:cNvPr id="4" name="Shape 1"/>
          <p:cNvSpPr/>
          <p:nvPr/>
        </p:nvSpPr>
        <p:spPr>
          <a:xfrm>
            <a:off x="457200" y="1280160"/>
            <a:ext cx="5212080" cy="3200400"/>
          </a:xfrm>
          <a:prstGeom prst="rect">
            <a:avLst/>
          </a:prstGeom>
          <a:solidFill>
            <a:srgbClr val="F3F4F6"/>
          </a:solidFill>
          <a:ln w="12700">
            <a:solidFill>
              <a:srgbClr val="D1D5DB"/>
            </a:solidFill>
            <a:prstDash val="solid"/>
          </a:ln>
        </p:spPr>
      </p:sp>
      <p:sp>
        <p:nvSpPr>
          <p:cNvPr id="5" name="Text 2"/>
          <p:cNvSpPr txBox="1"/>
          <p:nvPr/>
        </p:nvSpPr>
        <p:spPr>
          <a:xfrm>
            <a:off x="594360" y="1389888"/>
            <a:ext cx="4937760" cy="2980944"/>
          </a:xfrm>
          <a:prstGeom prst="rect">
            <a:avLst/>
          </a:prstGeom>
          <a:noFill/>
          <a:ln/>
        </p:spPr>
        <p:txBody>
          <a:bodyPr wrap="square" lIns="0" tIns="0" rIns="0" bIns="0" rtlCol="0" anchor="t"/>
          <a:lstStyle/>
          <a:p>
            <a:pPr indent="0" marL="0">
              <a:buNone/>
            </a:pPr>
            <a:r>
              <a:rPr lang="en-US" sz="1050" dirty="0">
                <a:solidFill>
                  <a:schemeClr val="tx1"/>
                </a:solidFill>
                <a:latin typeface="Courier New" pitchFamily="34" charset="0"/>
                <a:ea typeface="Courier New" pitchFamily="34" charset="-122"/>
                <a:cs typeface="Courier New" pitchFamily="34" charset="-120"/>
              </a:rPr>
              <a:t>records = [json.loads(l)</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for l in open("chunks.jsonl")]</a:t>
            </a:r>
            <a:endParaRPr lang="en-US" sz="1050" dirty="0"/>
          </a:p>
          <a:p>
            <a:pPr indent="0" marL="0">
              <a:buNone/>
            </a:pP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col.upsert(</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ids=[r["id"] for r in records],</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documents=[r["text"] for r in records],</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metadatas=[r["metadata"] for r in records],</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a:t>
            </a:r>
            <a:endParaRPr lang="en-US" sz="1050" dirty="0"/>
          </a:p>
          <a:p>
            <a:pPr indent="0" marL="0">
              <a:buNone/>
            </a:pP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document changed? remove its old chunks</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col.delete(where={"source": "paper.pdf"})</a:t>
            </a:r>
            <a:endParaRPr lang="en-US" sz="1050" dirty="0"/>
          </a:p>
        </p:txBody>
      </p:sp>
      <p:sp>
        <p:nvSpPr>
          <p:cNvPr id="6" name="Text 3"/>
          <p:cNvSpPr txBox="1"/>
          <p:nvPr/>
        </p:nvSpPr>
        <p:spPr>
          <a:xfrm>
            <a:off x="5943600" y="1280160"/>
            <a:ext cx="274320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IDs and hashes from Lecture 6 do the work</a:t>
            </a:r>
            <a:endParaRPr lang="en-US" sz="1300" dirty="0"/>
          </a:p>
          <a:p>
            <a:pPr marL="342900" indent="-342900">
              <a:spcAft>
                <a:spcPts val="800"/>
              </a:spcAft>
              <a:buSzPct val="100000"/>
              <a:buChar char="•"/>
            </a:pPr>
            <a:r>
              <a:rPr lang="en-US" sz="1300" dirty="0">
                <a:solidFill>
                  <a:schemeClr val="tx1"/>
                </a:solidFill>
              </a:rPr>
              <a:t>Metadata (source, page) enables filters and citations</a:t>
            </a:r>
            <a:endParaRPr lang="en-US" sz="1300" dirty="0"/>
          </a:p>
          <a:p>
            <a:pPr marL="342900" indent="-342900">
              <a:spcAft>
                <a:spcPts val="800"/>
              </a:spcAft>
              <a:buSzPct val="100000"/>
              <a:buChar char="•"/>
            </a:pPr>
            <a:r>
              <a:rPr lang="en-US" sz="1300" dirty="0">
                <a:solidFill>
                  <a:schemeClr val="tx1"/>
                </a:solidFill>
              </a:rPr>
              <a:t>Delete by where, then upsert: no stale chunks</a:t>
            </a:r>
            <a:endParaRPr lang="en-US" sz="1300" dirty="0"/>
          </a:p>
          <a:p>
            <a:pPr marL="342900" indent="-342900">
              <a:spcAft>
                <a:spcPts val="800"/>
              </a:spcAft>
              <a:buSzPct val="100000"/>
              <a:buChar char="•"/>
            </a:pPr>
            <a:r>
              <a:rPr lang="en-US" sz="1300" dirty="0">
                <a:solidFill>
                  <a:schemeClr val="tx1"/>
                </a:solidFill>
              </a:rPr>
              <a:t>Store the embedding model name in metadata</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Design patterns</a:t>
            </a:r>
            <a:endParaRPr lang="en-US" sz="3000" dirty="0"/>
          </a:p>
        </p:txBody>
      </p:sp>
      <p:sp>
        <p:nvSpPr>
          <p:cNvPr id="4" name="Text 1"/>
          <p:cNvSpPr txBox="1"/>
          <p:nvPr/>
        </p:nvSpPr>
        <p:spPr>
          <a:xfrm>
            <a:off x="457200" y="1280160"/>
            <a:ext cx="2560320" cy="5486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One model per collection</a:t>
            </a:r>
            <a:endParaRPr lang="en-US" sz="1600" dirty="0"/>
          </a:p>
        </p:txBody>
      </p:sp>
      <p:sp>
        <p:nvSpPr>
          <p:cNvPr id="5" name="Text 2"/>
          <p:cNvSpPr txBox="1"/>
          <p:nvPr/>
        </p:nvSpPr>
        <p:spPr>
          <a:xfrm>
            <a:off x="3108960" y="1280160"/>
            <a:ext cx="5577840" cy="731520"/>
          </a:xfrm>
          <a:prstGeom prst="rect">
            <a:avLst/>
          </a:prstGeom>
          <a:noFill/>
          <a:ln/>
        </p:spPr>
        <p:txBody>
          <a:bodyPr wrap="square" lIns="0" tIns="0" rIns="0" bIns="0" rtlCol="0" anchor="ctr"/>
          <a:lstStyle/>
          <a:p>
            <a:pPr indent="0" marL="0">
              <a:buNone/>
            </a:pPr>
            <a:r>
              <a:rPr lang="en-US" sz="1300" dirty="0">
                <a:solidFill>
                  <a:schemeClr val="tx1"/>
                </a:solidFill>
              </a:rPr>
              <a:t>A collection fixes the dimension. Adding 5-d vectors to a 16-d collection raises an error (InvalidArgumentError in our tests).</a:t>
            </a:r>
            <a:endParaRPr lang="en-US" sz="1300" dirty="0"/>
          </a:p>
        </p:txBody>
      </p:sp>
      <p:sp>
        <p:nvSpPr>
          <p:cNvPr id="6" name="Shape 3"/>
          <p:cNvSpPr/>
          <p:nvPr/>
        </p:nvSpPr>
        <p:spPr>
          <a:xfrm>
            <a:off x="457200" y="2029968"/>
            <a:ext cx="8229600" cy="0"/>
          </a:xfrm>
          <a:prstGeom prst="line">
            <a:avLst/>
          </a:prstGeom>
          <a:noFill/>
          <a:ln w="6350">
            <a:solidFill>
              <a:schemeClr val="accent6"/>
            </a:solidFill>
            <a:prstDash val="solid"/>
          </a:ln>
        </p:spPr>
      </p:sp>
      <p:sp>
        <p:nvSpPr>
          <p:cNvPr id="7" name="Text 4"/>
          <p:cNvSpPr txBox="1"/>
          <p:nvPr/>
        </p:nvSpPr>
        <p:spPr>
          <a:xfrm>
            <a:off x="457200" y="2103120"/>
            <a:ext cx="2560320" cy="5486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Multi-tenancy</a:t>
            </a:r>
            <a:endParaRPr lang="en-US" sz="1600" dirty="0"/>
          </a:p>
        </p:txBody>
      </p:sp>
      <p:sp>
        <p:nvSpPr>
          <p:cNvPr id="8" name="Text 5"/>
          <p:cNvSpPr txBox="1"/>
          <p:nvPr/>
        </p:nvSpPr>
        <p:spPr>
          <a:xfrm>
            <a:off x="3108960" y="2103120"/>
            <a:ext cx="5577840" cy="731520"/>
          </a:xfrm>
          <a:prstGeom prst="rect">
            <a:avLst/>
          </a:prstGeom>
          <a:noFill/>
          <a:ln/>
        </p:spPr>
        <p:txBody>
          <a:bodyPr wrap="square" lIns="0" tIns="0" rIns="0" bIns="0" rtlCol="0" anchor="ctr"/>
          <a:lstStyle/>
          <a:p>
            <a:pPr indent="0" marL="0">
              <a:buNone/>
            </a:pPr>
            <a:r>
              <a:rPr lang="en-US" sz="1300" dirty="0">
                <a:solidFill>
                  <a:schemeClr val="tx1"/>
                </a:solidFill>
              </a:rPr>
              <a:t>Separate collections per tenant, or one collection with a tenant metadata key that every query filters on.</a:t>
            </a:r>
            <a:endParaRPr lang="en-US" sz="1300" dirty="0"/>
          </a:p>
        </p:txBody>
      </p:sp>
      <p:sp>
        <p:nvSpPr>
          <p:cNvPr id="9" name="Shape 6"/>
          <p:cNvSpPr/>
          <p:nvPr/>
        </p:nvSpPr>
        <p:spPr>
          <a:xfrm>
            <a:off x="457200" y="2852928"/>
            <a:ext cx="8229600" cy="0"/>
          </a:xfrm>
          <a:prstGeom prst="line">
            <a:avLst/>
          </a:prstGeom>
          <a:noFill/>
          <a:ln w="6350">
            <a:solidFill>
              <a:schemeClr val="accent6"/>
            </a:solidFill>
            <a:prstDash val="solid"/>
          </a:ln>
        </p:spPr>
      </p:sp>
      <p:sp>
        <p:nvSpPr>
          <p:cNvPr id="10" name="Text 7"/>
          <p:cNvSpPr txBox="1"/>
          <p:nvPr/>
        </p:nvSpPr>
        <p:spPr>
          <a:xfrm>
            <a:off x="457200" y="2926080"/>
            <a:ext cx="2560320" cy="5486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Re-embedding</a:t>
            </a:r>
            <a:endParaRPr lang="en-US" sz="1600" dirty="0"/>
          </a:p>
        </p:txBody>
      </p:sp>
      <p:sp>
        <p:nvSpPr>
          <p:cNvPr id="11" name="Text 8"/>
          <p:cNvSpPr txBox="1"/>
          <p:nvPr/>
        </p:nvSpPr>
        <p:spPr>
          <a:xfrm>
            <a:off x="3108960" y="2926080"/>
            <a:ext cx="5577840" cy="731520"/>
          </a:xfrm>
          <a:prstGeom prst="rect">
            <a:avLst/>
          </a:prstGeom>
          <a:noFill/>
          <a:ln/>
        </p:spPr>
        <p:txBody>
          <a:bodyPr wrap="square" lIns="0" tIns="0" rIns="0" bIns="0" rtlCol="0" anchor="ctr"/>
          <a:lstStyle/>
          <a:p>
            <a:pPr indent="0" marL="0">
              <a:buNone/>
            </a:pPr>
            <a:r>
              <a:rPr lang="en-US" sz="1300" dirty="0">
                <a:solidFill>
                  <a:schemeClr val="tx1"/>
                </a:solidFill>
              </a:rPr>
              <a:t>Create help_newmodel_v2, ingest, test, then switch the application and delete the old one.</a:t>
            </a:r>
            <a:endParaRPr lang="en-US" sz="1300" dirty="0"/>
          </a:p>
        </p:txBody>
      </p:sp>
      <p:sp>
        <p:nvSpPr>
          <p:cNvPr id="12" name="Shape 9"/>
          <p:cNvSpPr/>
          <p:nvPr/>
        </p:nvSpPr>
        <p:spPr>
          <a:xfrm>
            <a:off x="457200" y="3675888"/>
            <a:ext cx="8229600" cy="0"/>
          </a:xfrm>
          <a:prstGeom prst="line">
            <a:avLst/>
          </a:prstGeom>
          <a:noFill/>
          <a:ln w="6350">
            <a:solidFill>
              <a:schemeClr val="accent6"/>
            </a:solidFill>
            <a:prstDash val="solid"/>
          </a:ln>
        </p:spPr>
      </p:sp>
      <p:sp>
        <p:nvSpPr>
          <p:cNvPr id="13" name="Text 10"/>
          <p:cNvSpPr txBox="1"/>
          <p:nvPr/>
        </p:nvSpPr>
        <p:spPr>
          <a:xfrm>
            <a:off x="457200" y="3749040"/>
            <a:ext cx="2560320" cy="5486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Collection per source type</a:t>
            </a:r>
            <a:endParaRPr lang="en-US" sz="1600" dirty="0"/>
          </a:p>
        </p:txBody>
      </p:sp>
      <p:sp>
        <p:nvSpPr>
          <p:cNvPr id="14" name="Text 11"/>
          <p:cNvSpPr txBox="1"/>
          <p:nvPr/>
        </p:nvSpPr>
        <p:spPr>
          <a:xfrm>
            <a:off x="3108960" y="3749040"/>
            <a:ext cx="5577840" cy="731520"/>
          </a:xfrm>
          <a:prstGeom prst="rect">
            <a:avLst/>
          </a:prstGeom>
          <a:noFill/>
          <a:ln/>
        </p:spPr>
        <p:txBody>
          <a:bodyPr wrap="square" lIns="0" tIns="0" rIns="0" bIns="0" rtlCol="0" anchor="ctr"/>
          <a:lstStyle/>
          <a:p>
            <a:pPr indent="0" marL="0">
              <a:buNone/>
            </a:pPr>
            <a:r>
              <a:rPr lang="en-US" sz="1300" dirty="0">
                <a:solidFill>
                  <a:schemeClr val="tx1"/>
                </a:solidFill>
              </a:rPr>
              <a:t>FAQs, manuals and tickets often deserve separate collections and settings.</a:t>
            </a:r>
            <a:endParaRPr lang="en-US" sz="1300" dirty="0"/>
          </a:p>
        </p:txBody>
      </p:sp>
      <p:sp>
        <p:nvSpPr>
          <p:cNvPr id="15" name="Shape 12"/>
          <p:cNvSpPr/>
          <p:nvPr/>
        </p:nvSpPr>
        <p:spPr>
          <a:xfrm>
            <a:off x="457200" y="4498848"/>
            <a:ext cx="8229600" cy="0"/>
          </a:xfrm>
          <a:prstGeom prst="line">
            <a:avLst/>
          </a:prstGeom>
          <a:noFill/>
          <a:ln w="6350">
            <a:solidFill>
              <a:schemeClr val="accent6"/>
            </a:solidFill>
            <a:prstDash val="solid"/>
          </a:ln>
        </p:spPr>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Know the limits</a:t>
            </a:r>
            <a:endParaRPr lang="en-US" sz="3000" dirty="0"/>
          </a:p>
        </p:txBody>
      </p:sp>
      <p:sp>
        <p:nvSpPr>
          <p:cNvPr id="4" name="Shape 1"/>
          <p:cNvSpPr/>
          <p:nvPr/>
        </p:nvSpPr>
        <p:spPr>
          <a:xfrm>
            <a:off x="4572000" y="1280160"/>
            <a:ext cx="0" cy="3200400"/>
          </a:xfrm>
          <a:prstGeom prst="line">
            <a:avLst/>
          </a:prstGeom>
          <a:noFill/>
          <a:ln w="9525">
            <a:solidFill>
              <a:schemeClr val="accent6"/>
            </a:solidFill>
            <a:prstDash val="solid"/>
          </a:ln>
        </p:spPr>
      </p:sp>
      <p:sp>
        <p:nvSpPr>
          <p:cNvPr id="5" name="Text 2"/>
          <p:cNvSpPr txBox="1"/>
          <p:nvPr/>
        </p:nvSpPr>
        <p:spPr>
          <a:xfrm>
            <a:off x="457200" y="1280160"/>
            <a:ext cx="3931920" cy="365760"/>
          </a:xfrm>
          <a:prstGeom prst="rect">
            <a:avLst/>
          </a:prstGeom>
          <a:noFill/>
          <a:ln/>
        </p:spPr>
        <p:txBody>
          <a:bodyPr wrap="square" lIns="0" tIns="0" rIns="0" bIns="0" rtlCol="0" anchor="t"/>
          <a:lstStyle/>
          <a:p>
            <a:pPr indent="0" marL="0">
              <a:buNone/>
            </a:pPr>
            <a:r>
              <a:rPr lang="en-US" sz="1800" b="1" dirty="0">
                <a:solidFill>
                  <a:schemeClr val="accent3"/>
                </a:solidFill>
                <a:latin typeface="Cambria" pitchFamily="34" charset="0"/>
                <a:ea typeface="Cambria" pitchFamily="34" charset="-122"/>
                <a:cs typeface="Cambria" pitchFamily="34" charset="-120"/>
              </a:rPr>
              <a:t>Good fit</a:t>
            </a:r>
            <a:endParaRPr lang="en-US" sz="1800" dirty="0"/>
          </a:p>
        </p:txBody>
      </p:sp>
      <p:sp>
        <p:nvSpPr>
          <p:cNvPr id="6" name="Text 3"/>
          <p:cNvSpPr txBox="1"/>
          <p:nvPr/>
        </p:nvSpPr>
        <p:spPr>
          <a:xfrm>
            <a:off x="457200" y="1783080"/>
            <a:ext cx="39319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Prototypes, notebooks, demos</a:t>
            </a:r>
            <a:endParaRPr lang="en-US" sz="1400" dirty="0"/>
          </a:p>
          <a:p>
            <a:pPr marL="342900" indent="-342900">
              <a:spcAft>
                <a:spcPts val="800"/>
              </a:spcAft>
              <a:buSzPct val="100000"/>
              <a:buChar char="•"/>
            </a:pPr>
            <a:r>
              <a:rPr lang="en-US" sz="1400" dirty="0">
                <a:solidFill>
                  <a:schemeClr val="tx1"/>
                </a:solidFill>
              </a:rPr>
              <a:t>RAG over thousands to millions of chunks on one node</a:t>
            </a:r>
            <a:endParaRPr lang="en-US" sz="1400" dirty="0"/>
          </a:p>
          <a:p>
            <a:pPr marL="342900" indent="-342900">
              <a:spcAft>
                <a:spcPts val="800"/>
              </a:spcAft>
              <a:buSzPct val="100000"/>
              <a:buChar char="•"/>
            </a:pPr>
            <a:r>
              <a:rPr lang="en-US" sz="1400" dirty="0">
                <a:solidFill>
                  <a:schemeClr val="tx1"/>
                </a:solidFill>
              </a:rPr>
              <a:t>Teams that want a simple Python API</a:t>
            </a:r>
            <a:endParaRPr lang="en-US" sz="1400" dirty="0"/>
          </a:p>
        </p:txBody>
      </p:sp>
      <p:sp>
        <p:nvSpPr>
          <p:cNvPr id="7" name="Text 4"/>
          <p:cNvSpPr txBox="1"/>
          <p:nvPr/>
        </p:nvSpPr>
        <p:spPr>
          <a:xfrm>
            <a:off x="4846320" y="1280160"/>
            <a:ext cx="384048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Consider alternatives when</a:t>
            </a:r>
            <a:endParaRPr lang="en-US" sz="1800" dirty="0"/>
          </a:p>
        </p:txBody>
      </p:sp>
      <p:sp>
        <p:nvSpPr>
          <p:cNvPr id="8" name="Text 5"/>
          <p:cNvSpPr txBox="1"/>
          <p:nvPr/>
        </p:nvSpPr>
        <p:spPr>
          <a:xfrm>
            <a:off x="4846320" y="1783080"/>
            <a:ext cx="384048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You need replication and high availability</a:t>
            </a:r>
            <a:endParaRPr lang="en-US" sz="1400" dirty="0"/>
          </a:p>
          <a:p>
            <a:pPr marL="342900" indent="-342900">
              <a:spcAft>
                <a:spcPts val="800"/>
              </a:spcAft>
              <a:buSzPct val="100000"/>
              <a:buChar char="•"/>
            </a:pPr>
            <a:r>
              <a:rPr lang="en-US" sz="1400" dirty="0">
                <a:solidFill>
                  <a:schemeClr val="tx1"/>
                </a:solidFill>
              </a:rPr>
              <a:t>Data outgrows one node's memory</a:t>
            </a:r>
            <a:endParaRPr lang="en-US" sz="1400" dirty="0"/>
          </a:p>
          <a:p>
            <a:pPr marL="342900" indent="-342900">
              <a:spcAft>
                <a:spcPts val="800"/>
              </a:spcAft>
              <a:buSzPct val="100000"/>
              <a:buChar char="•"/>
            </a:pPr>
            <a:r>
              <a:rPr lang="en-US" sz="1400" dirty="0">
                <a:solidFill>
                  <a:schemeClr val="tx1"/>
                </a:solidFill>
              </a:rPr>
              <a:t>You need rich transactions with relational data (pgvector)</a:t>
            </a:r>
            <a:endParaRPr lang="en-US" sz="1400" dirty="0"/>
          </a:p>
          <a:p>
            <a:pPr marL="342900" indent="-342900">
              <a:spcAft>
                <a:spcPts val="800"/>
              </a:spcAft>
              <a:buSzPct val="100000"/>
              <a:buChar char="•"/>
            </a:pPr>
            <a:r>
              <a:rPr lang="en-US" sz="1400" dirty="0">
                <a:solidFill>
                  <a:schemeClr val="tx1"/>
                </a:solidFill>
              </a:rPr>
              <a:t>Strict compliance requires specific hosting</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Common mistakes</a:t>
            </a:r>
            <a:endParaRPr lang="en-US" sz="3000" dirty="0"/>
          </a:p>
        </p:txBody>
      </p:sp>
      <p:sp>
        <p:nvSpPr>
          <p:cNvPr id="4" name="Shape 1"/>
          <p:cNvSpPr/>
          <p:nvPr/>
        </p:nvSpPr>
        <p:spPr>
          <a:xfrm>
            <a:off x="4572000" y="1280160"/>
            <a:ext cx="0" cy="3200400"/>
          </a:xfrm>
          <a:prstGeom prst="line">
            <a:avLst/>
          </a:prstGeom>
          <a:noFill/>
          <a:ln w="9525">
            <a:solidFill>
              <a:schemeClr val="accent6"/>
            </a:solidFill>
            <a:prstDash val="solid"/>
          </a:ln>
        </p:spPr>
      </p:sp>
      <p:sp>
        <p:nvSpPr>
          <p:cNvPr id="5" name="Text 2"/>
          <p:cNvSpPr txBox="1"/>
          <p:nvPr/>
        </p:nvSpPr>
        <p:spPr>
          <a:xfrm>
            <a:off x="457200" y="1280160"/>
            <a:ext cx="393192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Mistakes</a:t>
            </a:r>
            <a:endParaRPr lang="en-US" sz="1800" dirty="0"/>
          </a:p>
        </p:txBody>
      </p:sp>
      <p:sp>
        <p:nvSpPr>
          <p:cNvPr id="6" name="Text 3"/>
          <p:cNvSpPr txBox="1"/>
          <p:nvPr/>
        </p:nvSpPr>
        <p:spPr>
          <a:xfrm>
            <a:off x="457200" y="1783080"/>
            <a:ext cx="39319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Using add and expecting an overwrite</a:t>
            </a:r>
            <a:endParaRPr lang="en-US" sz="1400" dirty="0"/>
          </a:p>
          <a:p>
            <a:pPr marL="342900" indent="-342900">
              <a:spcAft>
                <a:spcPts val="800"/>
              </a:spcAft>
              <a:buSzPct val="100000"/>
              <a:buChar char="•"/>
            </a:pPr>
            <a:r>
              <a:rPr lang="en-US" sz="1400" dirty="0">
                <a:solidFill>
                  <a:schemeClr val="tx1"/>
                </a:solidFill>
              </a:rPr>
              <a:t>Leaving the default l2 space for text</a:t>
            </a:r>
            <a:endParaRPr lang="en-US" sz="1400" dirty="0"/>
          </a:p>
          <a:p>
            <a:pPr marL="342900" indent="-342900">
              <a:spcAft>
                <a:spcPts val="800"/>
              </a:spcAft>
              <a:buSzPct val="100000"/>
              <a:buChar char="•"/>
            </a:pPr>
            <a:r>
              <a:rPr lang="en-US" sz="1400" dirty="0">
                <a:solidFill>
                  <a:schemeClr val="tx1"/>
                </a:solidFill>
              </a:rPr>
              <a:t>Different embedding functions for documents and queries</a:t>
            </a:r>
            <a:endParaRPr lang="en-US" sz="1400" dirty="0"/>
          </a:p>
          <a:p>
            <a:pPr marL="342900" indent="-342900">
              <a:spcAft>
                <a:spcPts val="800"/>
              </a:spcAft>
              <a:buSzPct val="100000"/>
              <a:buChar char="•"/>
            </a:pPr>
            <a:r>
              <a:rPr lang="en-US" sz="1400" dirty="0">
                <a:solidFill>
                  <a:schemeClr val="tx1"/>
                </a:solidFill>
              </a:rPr>
              <a:t>EphemeralClient in an app, then losing data</a:t>
            </a:r>
            <a:endParaRPr lang="en-US" sz="1400" dirty="0"/>
          </a:p>
          <a:p>
            <a:pPr marL="342900" indent="-342900">
              <a:spcAft>
                <a:spcPts val="800"/>
              </a:spcAft>
              <a:buSzPct val="100000"/>
              <a:buChar char="•"/>
            </a:pPr>
            <a:r>
              <a:rPr lang="en-US" sz="1400" dirty="0">
                <a:solidFill>
                  <a:schemeClr val="tx1"/>
                </a:solidFill>
              </a:rPr>
              <a:t>Treating distances as similarities</a:t>
            </a:r>
            <a:endParaRPr lang="en-US" sz="1400" dirty="0"/>
          </a:p>
        </p:txBody>
      </p:sp>
      <p:sp>
        <p:nvSpPr>
          <p:cNvPr id="7" name="Text 4"/>
          <p:cNvSpPr txBox="1"/>
          <p:nvPr/>
        </p:nvSpPr>
        <p:spPr>
          <a:xfrm>
            <a:off x="4846320" y="1280160"/>
            <a:ext cx="3840480" cy="36576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Habits that help</a:t>
            </a:r>
            <a:endParaRPr lang="en-US" sz="1800" dirty="0"/>
          </a:p>
        </p:txBody>
      </p:sp>
      <p:sp>
        <p:nvSpPr>
          <p:cNvPr id="8" name="Text 5"/>
          <p:cNvSpPr txBox="1"/>
          <p:nvPr/>
        </p:nvSpPr>
        <p:spPr>
          <a:xfrm>
            <a:off x="4846320" y="1783080"/>
            <a:ext cx="384048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upsert with deterministic ids</a:t>
            </a:r>
            <a:endParaRPr lang="en-US" sz="1400" dirty="0"/>
          </a:p>
          <a:p>
            <a:pPr marL="342900" indent="-342900">
              <a:spcAft>
                <a:spcPts val="800"/>
              </a:spcAft>
              <a:buSzPct val="100000"/>
              <a:buChar char="•"/>
            </a:pPr>
            <a:r>
              <a:rPr lang="en-US" sz="1400" dirty="0">
                <a:solidFill>
                  <a:schemeClr val="tx1"/>
                </a:solidFill>
              </a:rPr>
              <a:t>Set space and function at creation</a:t>
            </a:r>
            <a:endParaRPr lang="en-US" sz="1400" dirty="0"/>
          </a:p>
          <a:p>
            <a:pPr marL="342900" indent="-342900">
              <a:spcAft>
                <a:spcPts val="800"/>
              </a:spcAft>
              <a:buSzPct val="100000"/>
              <a:buChar char="•"/>
            </a:pPr>
            <a:r>
              <a:rPr lang="en-US" sz="1400" dirty="0">
                <a:solidFill>
                  <a:schemeClr val="tx1"/>
                </a:solidFill>
              </a:rPr>
              <a:t>One collection per model and version</a:t>
            </a:r>
            <a:endParaRPr lang="en-US" sz="1400" dirty="0"/>
          </a:p>
          <a:p>
            <a:pPr marL="342900" indent="-342900">
              <a:spcAft>
                <a:spcPts val="800"/>
              </a:spcAft>
              <a:buSzPct val="100000"/>
              <a:buChar char="•"/>
            </a:pPr>
            <a:r>
              <a:rPr lang="en-US" sz="1400" dirty="0">
                <a:solidFill>
                  <a:schemeClr val="tx1"/>
                </a:solidFill>
              </a:rPr>
              <a:t>PersistentClient or server for real data</a:t>
            </a:r>
            <a:endParaRPr lang="en-US" sz="1400" dirty="0"/>
          </a:p>
          <a:p>
            <a:pPr marL="342900" indent="-342900">
              <a:spcAft>
                <a:spcPts val="800"/>
              </a:spcAft>
              <a:buSzPct val="100000"/>
              <a:buChar char="•"/>
            </a:pPr>
            <a:r>
              <a:rPr lang="en-US" sz="1400" dirty="0">
                <a:solidFill>
                  <a:schemeClr val="tx1"/>
                </a:solidFill>
              </a:rPr>
              <a:t>Convert distance to similarity for display</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Check your understanding</a:t>
            </a:r>
            <a:endParaRPr lang="en-US" sz="3000" dirty="0"/>
          </a:p>
        </p:txBody>
      </p:sp>
      <p:sp>
        <p:nvSpPr>
          <p:cNvPr id="4" name="Text 1"/>
          <p:cNvSpPr txBox="1"/>
          <p:nvPr/>
        </p:nvSpPr>
        <p:spPr>
          <a:xfrm>
            <a:off x="457200" y="12801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Q1</a:t>
            </a:r>
            <a:endParaRPr lang="en-US" sz="2200" dirty="0"/>
          </a:p>
        </p:txBody>
      </p:sp>
      <p:sp>
        <p:nvSpPr>
          <p:cNvPr id="5" name="Text 2"/>
          <p:cNvSpPr txBox="1"/>
          <p:nvPr/>
        </p:nvSpPr>
        <p:spPr>
          <a:xfrm>
            <a:off x="1280160" y="12801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What happens if you add a record whose id already exists?</a:t>
            </a:r>
            <a:endParaRPr lang="en-US" sz="1600" dirty="0"/>
          </a:p>
        </p:txBody>
      </p:sp>
      <p:sp>
        <p:nvSpPr>
          <p:cNvPr id="6" name="Text 3"/>
          <p:cNvSpPr txBox="1"/>
          <p:nvPr/>
        </p:nvSpPr>
        <p:spPr>
          <a:xfrm>
            <a:off x="457200" y="19659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Q2</a:t>
            </a:r>
            <a:endParaRPr lang="en-US" sz="2200" dirty="0"/>
          </a:p>
        </p:txBody>
      </p:sp>
      <p:sp>
        <p:nvSpPr>
          <p:cNvPr id="7" name="Text 4"/>
          <p:cNvSpPr txBox="1"/>
          <p:nvPr/>
        </p:nvSpPr>
        <p:spPr>
          <a:xfrm>
            <a:off x="1280160" y="19659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A cosine collection returns distance 0.4. What is the similarity?</a:t>
            </a:r>
            <a:endParaRPr lang="en-US" sz="1600" dirty="0"/>
          </a:p>
        </p:txBody>
      </p:sp>
      <p:sp>
        <p:nvSpPr>
          <p:cNvPr id="8" name="Text 5"/>
          <p:cNvSpPr txBox="1"/>
          <p:nvPr/>
        </p:nvSpPr>
        <p:spPr>
          <a:xfrm>
            <a:off x="457200" y="26517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Q3</a:t>
            </a:r>
            <a:endParaRPr lang="en-US" sz="2200" dirty="0"/>
          </a:p>
        </p:txBody>
      </p:sp>
      <p:sp>
        <p:nvSpPr>
          <p:cNvPr id="9" name="Text 6"/>
          <p:cNvSpPr txBox="1"/>
          <p:nvPr/>
        </p:nvSpPr>
        <p:spPr>
          <a:xfrm>
            <a:off x="1280160" y="26517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Why must documents and queries use the same embedding function?</a:t>
            </a:r>
            <a:endParaRPr lang="en-US" sz="1600" dirty="0"/>
          </a:p>
        </p:txBody>
      </p:sp>
      <p:sp>
        <p:nvSpPr>
          <p:cNvPr id="10" name="Text 7"/>
          <p:cNvSpPr txBox="1"/>
          <p:nvPr/>
        </p:nvSpPr>
        <p:spPr>
          <a:xfrm>
            <a:off x="457200" y="33375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Q4</a:t>
            </a:r>
            <a:endParaRPr lang="en-US" sz="2200" dirty="0"/>
          </a:p>
        </p:txBody>
      </p:sp>
      <p:sp>
        <p:nvSpPr>
          <p:cNvPr id="11" name="Text 8"/>
          <p:cNvSpPr txBox="1"/>
          <p:nvPr/>
        </p:nvSpPr>
        <p:spPr>
          <a:xfrm>
            <a:off x="1280160" y="33375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Why can where filtering still return n_results records?</a:t>
            </a:r>
            <a:endParaRPr lang="en-US" sz="1600" dirty="0"/>
          </a:p>
        </p:txBody>
      </p:sp>
      <p:sp>
        <p:nvSpPr>
          <p:cNvPr id="12" name="Text 9"/>
          <p:cNvSpPr txBox="1"/>
          <p:nvPr/>
        </p:nvSpPr>
        <p:spPr>
          <a:xfrm>
            <a:off x="457200" y="40233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Q5</a:t>
            </a:r>
            <a:endParaRPr lang="en-US" sz="2200" dirty="0"/>
          </a:p>
        </p:txBody>
      </p:sp>
      <p:sp>
        <p:nvSpPr>
          <p:cNvPr id="13" name="Text 10"/>
          <p:cNvSpPr txBox="1"/>
          <p:nvPr/>
        </p:nvSpPr>
        <p:spPr>
          <a:xfrm>
            <a:off x="1280160" y="40233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Which client would you use for a notebook, and which for three services?</a:t>
            </a:r>
            <a:endParaRPr lang="en-US" sz="16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Summary and next steps</a:t>
            </a:r>
            <a:endParaRPr lang="en-US" sz="3000" dirty="0"/>
          </a:p>
        </p:txBody>
      </p:sp>
      <p:sp>
        <p:nvSpPr>
          <p:cNvPr id="4" name="Text 1"/>
          <p:cNvSpPr txBox="1"/>
          <p:nvPr/>
        </p:nvSpPr>
        <p:spPr>
          <a:xfrm>
            <a:off x="457200" y="1280160"/>
            <a:ext cx="4846320" cy="32918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Client, collection, record: the three building blocks</a:t>
            </a:r>
            <a:endParaRPr lang="en-US" sz="1500" dirty="0"/>
          </a:p>
          <a:p>
            <a:pPr marL="342900" indent="-342900">
              <a:spcAft>
                <a:spcPts val="1200"/>
              </a:spcAft>
              <a:buSzPct val="100000"/>
              <a:buChar char="•"/>
            </a:pPr>
            <a:r>
              <a:rPr lang="en-US" sz="1500" dirty="0">
                <a:solidFill>
                  <a:schemeClr val="tx1"/>
                </a:solidFill>
              </a:rPr>
              <a:t>upsert for ingestion; query for search; get and delete for management</a:t>
            </a:r>
            <a:endParaRPr lang="en-US" sz="1500" dirty="0"/>
          </a:p>
          <a:p>
            <a:pPr marL="342900" indent="-342900">
              <a:spcAft>
                <a:spcPts val="1200"/>
              </a:spcAft>
              <a:buSzPct val="100000"/>
              <a:buChar char="•"/>
            </a:pPr>
            <a:r>
              <a:rPr lang="en-US" sz="1500" dirty="0">
                <a:solidFill>
                  <a:schemeClr val="tx1"/>
                </a:solidFill>
              </a:rPr>
              <a:t>where and where_document filter during the search</a:t>
            </a:r>
            <a:endParaRPr lang="en-US" sz="1500" dirty="0"/>
          </a:p>
          <a:p>
            <a:pPr marL="342900" indent="-342900">
              <a:spcAft>
                <a:spcPts val="1200"/>
              </a:spcAft>
              <a:buSzPct val="100000"/>
              <a:buChar char="•"/>
            </a:pPr>
            <a:r>
              <a:rPr lang="en-US" sz="1500" dirty="0">
                <a:solidFill>
                  <a:schemeClr val="tx1"/>
                </a:solidFill>
              </a:rPr>
              <a:t>Set space and embedding function at creation; distances are not similarities</a:t>
            </a:r>
            <a:endParaRPr lang="en-US" sz="1500" dirty="0"/>
          </a:p>
          <a:p>
            <a:pPr marL="342900" indent="-342900">
              <a:spcAft>
                <a:spcPts val="1200"/>
              </a:spcAft>
              <a:buSzPct val="100000"/>
              <a:buChar char="•"/>
            </a:pPr>
            <a:r>
              <a:rPr lang="en-US" sz="1500" dirty="0">
                <a:solidFill>
                  <a:schemeClr val="tx1"/>
                </a:solidFill>
              </a:rPr>
              <a:t>Persistent or server mode for real data</a:t>
            </a:r>
            <a:endParaRPr lang="en-US" sz="1500" dirty="0"/>
          </a:p>
        </p:txBody>
      </p:sp>
      <p:sp>
        <p:nvSpPr>
          <p:cNvPr id="5" name="Shape 2"/>
          <p:cNvSpPr/>
          <p:nvPr/>
        </p:nvSpPr>
        <p:spPr>
          <a:xfrm>
            <a:off x="5577840" y="1280160"/>
            <a:ext cx="0" cy="3200400"/>
          </a:xfrm>
          <a:prstGeom prst="line">
            <a:avLst/>
          </a:prstGeom>
          <a:noFill/>
          <a:ln w="9525">
            <a:solidFill>
              <a:schemeClr val="accent6"/>
            </a:solidFill>
            <a:prstDash val="solid"/>
          </a:ln>
        </p:spPr>
      </p:sp>
      <p:sp>
        <p:nvSpPr>
          <p:cNvPr id="6" name="Text 3"/>
          <p:cNvSpPr txBox="1"/>
          <p:nvPr/>
        </p:nvSpPr>
        <p:spPr>
          <a:xfrm>
            <a:off x="5852160" y="1280160"/>
            <a:ext cx="283464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Lab 7</a:t>
            </a:r>
            <a:endParaRPr lang="en-US" sz="1200" dirty="0"/>
          </a:p>
        </p:txBody>
      </p:sp>
      <p:sp>
        <p:nvSpPr>
          <p:cNvPr id="7" name="Text 4"/>
          <p:cNvSpPr txBox="1"/>
          <p:nvPr/>
        </p:nvSpPr>
        <p:spPr>
          <a:xfrm>
            <a:off x="5852160" y="1600200"/>
            <a:ext cx="2834640" cy="731520"/>
          </a:xfrm>
          <a:prstGeom prst="rect">
            <a:avLst/>
          </a:prstGeom>
          <a:noFill/>
          <a:ln/>
        </p:spPr>
        <p:txBody>
          <a:bodyPr wrap="square" lIns="0" tIns="0" rIns="0" bIns="0" rtlCol="0" anchor="t"/>
          <a:lstStyle/>
          <a:p>
            <a:pPr indent="0" marL="0">
              <a:buNone/>
            </a:pPr>
            <a:r>
              <a:rPr lang="en-US" sz="1400" dirty="0">
                <a:solidFill>
                  <a:schemeClr val="tx1"/>
                </a:solidFill>
              </a:rPr>
              <a:t>Collections, filters, distances and server mode (75 minutes).</a:t>
            </a:r>
            <a:endParaRPr lang="en-US" sz="1400" dirty="0"/>
          </a:p>
        </p:txBody>
      </p:sp>
      <p:sp>
        <p:nvSpPr>
          <p:cNvPr id="8" name="Text 5"/>
          <p:cNvSpPr txBox="1"/>
          <p:nvPr/>
        </p:nvSpPr>
        <p:spPr>
          <a:xfrm>
            <a:off x="5852160" y="2514600"/>
            <a:ext cx="283464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Further reading</a:t>
            </a:r>
            <a:endParaRPr lang="en-US" sz="1200" dirty="0"/>
          </a:p>
        </p:txBody>
      </p:sp>
      <p:sp>
        <p:nvSpPr>
          <p:cNvPr id="9" name="Text 6"/>
          <p:cNvSpPr txBox="1"/>
          <p:nvPr/>
        </p:nvSpPr>
        <p:spPr>
          <a:xfrm>
            <a:off x="5852160" y="2834640"/>
            <a:ext cx="2834640" cy="1737360"/>
          </a:xfrm>
          <a:prstGeom prst="rect">
            <a:avLst/>
          </a:prstGeom>
          <a:noFill/>
          <a:ln/>
        </p:spPr>
        <p:txBody>
          <a:bodyPr wrap="square" lIns="0" tIns="0" rIns="0" bIns="0" rtlCol="0" anchor="t"/>
          <a:lstStyle/>
          <a:p>
            <a:pPr indent="0" marL="0">
              <a:spcAft>
                <a:spcPts val="500"/>
              </a:spcAft>
              <a:buNone/>
            </a:pPr>
            <a:r>
              <a:rPr lang="en-US" sz="1200" i="1" dirty="0">
                <a:solidFill>
                  <a:schemeClr val="tx1"/>
                </a:solidFill>
                <a:latin typeface="Cambria" pitchFamily="34" charset="0"/>
                <a:ea typeface="Cambria" pitchFamily="34" charset="-122"/>
                <a:cs typeface="Cambria" pitchFamily="34" charset="-120"/>
              </a:rPr>
              <a:t>Chroma documentation (docs.trychroma.com).</a:t>
            </a:r>
            <a:endParaRPr lang="en-US" sz="1200" dirty="0"/>
          </a:p>
          <a:p>
            <a:pPr indent="0" marL="0">
              <a:spcAft>
                <a:spcPts val="500"/>
              </a:spcAft>
              <a:buNone/>
            </a:pPr>
            <a:r>
              <a:rPr lang="en-US" sz="1200" i="1" dirty="0">
                <a:solidFill>
                  <a:schemeClr val="tx1"/>
                </a:solidFill>
                <a:latin typeface="Cambria" pitchFamily="34" charset="0"/>
                <a:ea typeface="Cambria" pitchFamily="34" charset="-122"/>
                <a:cs typeface="Cambria" pitchFamily="34" charset="-120"/>
              </a:rPr>
              <a:t>Malkov and Yashunin (2018). Efficient and Robust ANN Search Using HNSW Graphs.</a:t>
            </a:r>
            <a:endParaRPr lang="en-US" sz="1200" dirty="0"/>
          </a:p>
          <a:p>
            <a:pPr indent="0" marL="0">
              <a:buNone/>
            </a:pPr>
            <a:r>
              <a:rPr lang="en-US" sz="1200" i="1" dirty="0">
                <a:solidFill>
                  <a:schemeClr val="tx1"/>
                </a:solidFill>
                <a:latin typeface="Cambria" pitchFamily="34" charset="0"/>
                <a:ea typeface="Cambria" pitchFamily="34" charset="-122"/>
                <a:cs typeface="Cambria" pitchFamily="34" charset="-120"/>
              </a:rPr>
              <a:t>hnswlib repository, the index library Chroma builds on.</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Editorial7">
  <a:themeElements>
    <a:clrScheme name="Editorial7">
      <a:dk1>
        <a:srgbClr val="1B2A41"/>
      </a:dk1>
      <a:lt1>
        <a:srgbClr val="FFFFFF"/>
      </a:lt1>
      <a:dk2>
        <a:srgbClr val="0F1B2D"/>
      </a:dk2>
      <a:lt2>
        <a:srgbClr val="F3F4F6"/>
      </a:lt2>
      <a:accent1>
        <a:srgbClr val="B5432A"/>
      </a:accent1>
      <a:accent2>
        <a:srgbClr val="2F5D8A"/>
      </a:accent2>
      <a:accent3>
        <a:srgbClr val="3B7A57"/>
      </a:accent3>
      <a:accent4>
        <a:srgbClr val="8A6D1F"/>
      </a:accent4>
      <a:accent5>
        <a:srgbClr val="6B7280"/>
      </a:accent5>
      <a:accent6>
        <a:srgbClr val="D1D5DB"/>
      </a:accent6>
      <a:hlink>
        <a:srgbClr val="2F5D8A"/>
      </a:hlink>
      <a:folHlink>
        <a:srgbClr val="6B7280"/>
      </a:folHlink>
    </a:clrScheme>
    <a:fontScheme name="Editorial7">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7: ChromaDB Fundamentals</dc:title>
  <dc:subject>PptxGenJS Presentation</dc:subject>
  <dc:creator>PptxGenJS</dc:creator>
  <cp:lastModifiedBy>PptxGenJS</cp:lastModifiedBy>
  <cp:revision>1</cp:revision>
  <dcterms:created xsi:type="dcterms:W3CDTF">2026-10-27T10:37:34Z</dcterms:created>
  <dcterms:modified xsi:type="dcterms:W3CDTF">2026-10-27T10:37:34Z</dcterms:modified>
</cp:coreProperties>
</file>