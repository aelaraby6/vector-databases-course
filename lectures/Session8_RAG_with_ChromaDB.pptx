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cture 8" id="{0c95b780-67f8-a782-c632-7ac26c05aa80}">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(2 min). Everything in this lecture and the lab is free: open-source libraries and an open-weight model (Qwen2.5-1.5B-Instruct, Apache-2.0) that runs in free Google Colab. No API keys, no billing. Quality will be modest compared with large hosted models, and that is a useful lesson in itself: retrieval quality matters more than model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(1 min). 90 minutes: about 50 lecture, 40 lab. The lab builds the app step by step and ends with a Gradio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(5 min). Three gaps: the model's knowledge stops at its training date, it has never seen your private documents, and it may produce fluent but wrong answers. Retrieval gives it evidence to 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(5 min). Reuse the two-lane picture from Lecture 1: ingestion happens once (Lectures 6 and 7), the query path runs on every question. The new pieces are the prompt and the 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verbs (5 min). Each step is a place to improve quality: retrieval (chunking, filters, k), augmentation (prompt wording, ordering), generation (model choice, decoding).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design (6 min). Three instructions carry most of the weight: use only the context, cite by number, and say you do not know when the context lacks the answer. Small models need this to be very explicit. Put the question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options (5 min). Everything here costs nothing: open weights, open-source runtimes, free Colab. A free Colab GPU is not guaranteed, so the lab also works on CPU, just slower. Model licenses differ: always read the model card. Paid hosted APIs exist but are outside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(4 min). About four characters per token. More chunks help recall but cost tokens, latency (especially on CPU) and can bury the answer. Start with k = 3 to 5 and measure. The 32k window of the lab model is far larger than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Refusal rule (5 min). Retrieval always returns k results, even for unrelated questions. A distance threshold on the best hit lets the app refuse before calling the model. The numbers on the slide are illustrative; the lab measures real distances and students choose the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Citations (4 min). Because chunks carry source and page (Lecture 6), the app can show where each claim came from. The check is simple: every [n] in the answer must refer to a chunk that was actually in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Multi-turn chat (4 min). A retrieval query must stand alone. Rewrite the follow-up with the chat history before searching. The rewrite itself can use the same free model, with a short prompt. Keep history short on small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Diagnosis (6 min). Teach students to ask first: was the right chunk retrieved? If not, it is a retrieval problem; fix chunking, metadata or k. If yes, it is a prompt or model problem. Lecture 9 measures this systematically.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Components (4 min). Each box is one function in the lab, so students can test and replace them independently. Gradio gives a free web interface; in Colab it can create a temporary public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walkthrough (5 min). deterministic decoding (do_sample=False) makes tests repeatable. The distance threshold is applied before the model call, which also saves time on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Smoke test (4 min). Three question sets catch most early bugs. This is not a full evaluation; Lecture 9 builds the proper one with retrieval and generation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(4 min). Generation dominates latency on small hardware, so retrieval tuning is cheap by comparison. Measure each stage separately in the lab. Streaming the answer makes the wait feel shorter.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Pitfalls (4 min). The first two cause most of the disappointment in student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discussion (5 min). Answers: 1) outdated or private knowledge and no evidence; 2) retrieve, augment, generate; 3) retrieval returns k results regardless; 4) retrieval first; 5) standalone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(3 min), then hand out Lab 8. Next lecture: how to measure and improve this system, and how to ship it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Shape 0"/>
          <p:cNvSpPr/>
          <p:nvPr/>
        </p:nvSpPr>
        <p:spPr>
          <a:xfrm>
            <a:off x="457200" y="4754880"/>
            <a:ext cx="8229600" cy="0"/>
          </a:xfrm>
          <a:prstGeom prst="line">
            <a:avLst/>
          </a:prstGeom>
          <a:noFill/>
          <a:ln w="12700">
            <a:solidFill>
              <a:srgbClr val="D1D5DB"/>
            </a:solidFill>
            <a:prstDash val="solid"/>
          </a:ln>
        </p:spPr>
      </p:sp>
      <p:sp>
        <p:nvSpPr>
          <p:cNvPr id="4" name="Text 1"/>
          <p:cNvSpPr/>
          <p:nvPr/>
        </p:nvSpPr>
        <p:spPr>
          <a:xfrm>
            <a:off x="457200" y="4818888"/>
            <a:ext cx="4572000" cy="228600"/>
          </a:xfrm>
          <a:prstGeom prst="rect">
            <a:avLst/>
          </a:prstGeom>
          <a:noFill/>
          <a:ln/>
        </p:spPr>
        <p:txBody>
          <a:bodyPr wrap="square" lIns="0" tIns="0" rIns="0" bIns="0" rtlCol="0" anchor="ctr"/>
          <a:lstStyle/>
          <a:p>
            <a:pPr indent="0" marL="0">
              <a:buNone/>
            </a:pPr>
            <a:r>
              <a:rPr lang="en-US" sz="1000" i="1" dirty="0">
                <a:solidFill>
                  <a:schemeClr val="accent5"/>
                </a:solidFill>
                <a:latin typeface="Cambria" pitchFamily="34" charset="0"/>
                <a:ea typeface="Cambria" pitchFamily="34" charset="-122"/>
                <a:cs typeface="Cambria" pitchFamily="34" charset="-120"/>
              </a:rPr>
              <a:t>Vector Databases  —  Lecture 8</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PEN">
    <p:bg>
      <p:bgPr>
        <a:solidFill>
          <a:srgbClr val="0F1B2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457200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914400"/>
            <a:ext cx="3657600" cy="274320"/>
          </a:xfrm>
          <a:prstGeom prst="rect">
            <a:avLst/>
          </a:prstGeom>
          <a:noFill/>
          <a:ln/>
        </p:spPr>
        <p:txBody>
          <a:bodyPr wrap="square" lIns="0" tIns="0" rIns="0" bIns="0" rtlCol="0" anchor="t"/>
          <a:lstStyle/>
          <a:p>
            <a:pPr indent="0" marL="0">
              <a:buNone/>
            </a:pPr>
            <a:r>
              <a:rPr lang="en-US" sz="1200" b="1" spc="400" kern="0" dirty="0">
                <a:solidFill>
                  <a:schemeClr val="accent6"/>
                </a:solidFill>
              </a:rPr>
              <a:t>LECTURE 8 OF 9</a:t>
            </a:r>
            <a:endParaRPr lang="en-US" sz="1200" dirty="0"/>
          </a:p>
        </p:txBody>
      </p:sp>
      <p:sp>
        <p:nvSpPr>
          <p:cNvPr id="3" name="Text 0"/>
          <p:cNvSpPr/>
          <p:nvPr>
            <p:ph idx="100" type="title" hasCustomPrompt="1"/>
          </p:nvPr>
        </p:nvSpPr>
        <p:spPr>
          <a:xfrm>
            <a:off x="548640" y="1325880"/>
            <a:ext cx="4572000" cy="1554480"/>
          </a:xfrm>
          <a:prstGeom prst="rect">
            <a:avLst/>
          </a:prstGeom>
          <a:noFill/>
          <a:ln/>
        </p:spPr>
        <p:txBody>
          <a:bodyPr wrap="square" lIns="0" tIns="0" rIns="0" bIns="0" rtlCol="0" anchor="t"/>
          <a:lstStyle/>
          <a:p>
            <a:pPr algn="l" indent="0" marL="0">
              <a:buNone/>
            </a:pPr>
            <a:r>
              <a:rPr lang="en-US" sz="4400" b="1" dirty="0">
                <a:solidFill>
                  <a:schemeClr val="bg1"/>
                </a:solidFill>
              </a:rPr>
              <a:t>RAG with ChromaDB</a:t>
            </a:r>
            <a:endParaRPr lang="en-US" sz="4400" dirty="0"/>
          </a:p>
        </p:txBody>
      </p:sp>
      <p:sp>
        <p:nvSpPr>
          <p:cNvPr id="4" name="Text 2"/>
          <p:cNvSpPr txBox="1"/>
          <p:nvPr/>
        </p:nvSpPr>
        <p:spPr>
          <a:xfrm>
            <a:off x="548640" y="2834640"/>
            <a:ext cx="4572000" cy="365760"/>
          </a:xfrm>
          <a:prstGeom prst="rect">
            <a:avLst/>
          </a:prstGeom>
          <a:noFill/>
          <a:ln/>
        </p:spPr>
        <p:txBody>
          <a:bodyPr wrap="square" lIns="0" tIns="0" rIns="0" bIns="0" rtlCol="0" anchor="t"/>
          <a:lstStyle/>
          <a:p>
            <a:pPr indent="0" marL="0">
              <a:buNone/>
            </a:pPr>
            <a:r>
              <a:rPr lang="en-US" sz="1800" i="1" dirty="0">
                <a:solidFill>
                  <a:schemeClr val="bg2"/>
                </a:solidFill>
                <a:latin typeface="Cambria" pitchFamily="34" charset="0"/>
                <a:ea typeface="Cambria" pitchFamily="34" charset="-122"/>
                <a:cs typeface="Cambria" pitchFamily="34" charset="-120"/>
              </a:rPr>
              <a:t>An "Ask your files" app, entirely free</a:t>
            </a:r>
            <a:endParaRPr lang="en-US" sz="1800" dirty="0"/>
          </a:p>
        </p:txBody>
      </p:sp>
      <p:sp>
        <p:nvSpPr>
          <p:cNvPr id="5" name="Text 3"/>
          <p:cNvSpPr txBox="1"/>
          <p:nvPr/>
        </p:nvSpPr>
        <p:spPr>
          <a:xfrm>
            <a:off x="548640" y="4206240"/>
            <a:ext cx="4572000" cy="274320"/>
          </a:xfrm>
          <a:prstGeom prst="rect">
            <a:avLst/>
          </a:prstGeom>
          <a:noFill/>
          <a:ln/>
        </p:spPr>
        <p:txBody>
          <a:bodyPr wrap="square" lIns="0" tIns="0" rIns="0" bIns="0" rtlCol="0" anchor="t"/>
          <a:lstStyle/>
          <a:p>
            <a:pPr indent="0" marL="0">
              <a:buNone/>
            </a:pPr>
            <a:r>
              <a:rPr lang="en-US" sz="1200" dirty="0">
                <a:solidFill>
                  <a:schemeClr val="accent6"/>
                </a:solidFill>
              </a:rPr>
              <a:t>Vector Databases: from zero to ChromaDB</a:t>
            </a:r>
            <a:endParaRPr lang="en-US" sz="1200" dirty="0"/>
          </a:p>
        </p:txBody>
      </p:sp>
      <p:sp>
        <p:nvSpPr>
          <p:cNvPr id="6" name="Text 4"/>
          <p:cNvSpPr txBox="1"/>
          <p:nvPr/>
        </p:nvSpPr>
        <p:spPr>
          <a:xfrm>
            <a:off x="5577840" y="1280160"/>
            <a:ext cx="2743200" cy="274320"/>
          </a:xfrm>
          <a:prstGeom prst="rect">
            <a:avLst/>
          </a:prstGeom>
          <a:noFill/>
          <a:ln/>
        </p:spPr>
        <p:txBody>
          <a:bodyPr wrap="square" lIns="0" tIns="0" rIns="0" bIns="0" rtlCol="0" anchor="t"/>
          <a:lstStyle/>
          <a:p>
            <a:pPr indent="0" marL="0">
              <a:buNone/>
            </a:pPr>
            <a:r>
              <a:rPr lang="en-US" sz="1600" i="1" dirty="0">
                <a:solidFill>
                  <a:srgbClr val="FFFFFF"/>
                </a:solidFill>
                <a:latin typeface="Cambria" pitchFamily="34" charset="0"/>
                <a:ea typeface="Cambria" pitchFamily="34" charset="-122"/>
                <a:cs typeface="Cambria" pitchFamily="34" charset="-120"/>
              </a:rPr>
              <a:t>retrieve</a:t>
            </a:r>
            <a:endParaRPr lang="en-US" sz="1600" dirty="0"/>
          </a:p>
        </p:txBody>
      </p:sp>
      <p:sp>
        <p:nvSpPr>
          <p:cNvPr id="7" name="Text 5"/>
          <p:cNvSpPr txBox="1"/>
          <p:nvPr/>
        </p:nvSpPr>
        <p:spPr>
          <a:xfrm>
            <a:off x="5577840" y="1600200"/>
            <a:ext cx="3108960" cy="274320"/>
          </a:xfrm>
          <a:prstGeom prst="rect">
            <a:avLst/>
          </a:prstGeom>
          <a:noFill/>
          <a:ln/>
        </p:spPr>
        <p:txBody>
          <a:bodyPr wrap="square" lIns="0" tIns="0" rIns="0" bIns="0" rtlCol="0" anchor="t"/>
          <a:lstStyle/>
          <a:p>
            <a:pPr indent="0" marL="0">
              <a:buNone/>
            </a:pPr>
            <a:r>
              <a:rPr lang="en-US" sz="1200" dirty="0">
                <a:solidFill>
                  <a:srgbClr val="D1D5DB"/>
                </a:solidFill>
                <a:latin typeface="Courier New" pitchFamily="34" charset="0"/>
                <a:ea typeface="Courier New" pitchFamily="34" charset="-122"/>
                <a:cs typeface="Courier New" pitchFamily="34" charset="-120"/>
              </a:rPr>
              <a:t>top-k chunks from Chroma</a:t>
            </a:r>
            <a:endParaRPr lang="en-US" sz="1200" dirty="0"/>
          </a:p>
        </p:txBody>
      </p:sp>
      <p:sp>
        <p:nvSpPr>
          <p:cNvPr id="8" name="Text 6"/>
          <p:cNvSpPr txBox="1"/>
          <p:nvPr/>
        </p:nvSpPr>
        <p:spPr>
          <a:xfrm>
            <a:off x="5577840" y="2057400"/>
            <a:ext cx="2743200" cy="274320"/>
          </a:xfrm>
          <a:prstGeom prst="rect">
            <a:avLst/>
          </a:prstGeom>
          <a:noFill/>
          <a:ln/>
        </p:spPr>
        <p:txBody>
          <a:bodyPr wrap="square" lIns="0" tIns="0" rIns="0" bIns="0" rtlCol="0" anchor="t"/>
          <a:lstStyle/>
          <a:p>
            <a:pPr indent="0" marL="0">
              <a:buNone/>
            </a:pPr>
            <a:r>
              <a:rPr lang="en-US" sz="1600" i="1" dirty="0">
                <a:solidFill>
                  <a:srgbClr val="FFFFFF"/>
                </a:solidFill>
                <a:latin typeface="Cambria" pitchFamily="34" charset="0"/>
                <a:ea typeface="Cambria" pitchFamily="34" charset="-122"/>
                <a:cs typeface="Cambria" pitchFamily="34" charset="-120"/>
              </a:rPr>
              <a:t>augment</a:t>
            </a:r>
            <a:endParaRPr lang="en-US" sz="1600" dirty="0"/>
          </a:p>
        </p:txBody>
      </p:sp>
      <p:sp>
        <p:nvSpPr>
          <p:cNvPr id="9" name="Text 7"/>
          <p:cNvSpPr txBox="1"/>
          <p:nvPr/>
        </p:nvSpPr>
        <p:spPr>
          <a:xfrm>
            <a:off x="5577840" y="2377440"/>
            <a:ext cx="3108960" cy="274320"/>
          </a:xfrm>
          <a:prstGeom prst="rect">
            <a:avLst/>
          </a:prstGeom>
          <a:noFill/>
          <a:ln/>
        </p:spPr>
        <p:txBody>
          <a:bodyPr wrap="square" lIns="0" tIns="0" rIns="0" bIns="0" rtlCol="0" anchor="t"/>
          <a:lstStyle/>
          <a:p>
            <a:pPr indent="0" marL="0">
              <a:buNone/>
            </a:pPr>
            <a:r>
              <a:rPr lang="en-US" sz="1200" dirty="0">
                <a:solidFill>
                  <a:srgbClr val="D1D5DB"/>
                </a:solidFill>
                <a:latin typeface="Courier New" pitchFamily="34" charset="0"/>
                <a:ea typeface="Courier New" pitchFamily="34" charset="-122"/>
                <a:cs typeface="Courier New" pitchFamily="34" charset="-120"/>
              </a:rPr>
              <a:t>put them in the prompt</a:t>
            </a:r>
            <a:endParaRPr lang="en-US" sz="1200" dirty="0"/>
          </a:p>
        </p:txBody>
      </p:sp>
      <p:sp>
        <p:nvSpPr>
          <p:cNvPr id="10" name="Text 8"/>
          <p:cNvSpPr txBox="1"/>
          <p:nvPr/>
        </p:nvSpPr>
        <p:spPr>
          <a:xfrm>
            <a:off x="5577840" y="2834640"/>
            <a:ext cx="2743200" cy="274320"/>
          </a:xfrm>
          <a:prstGeom prst="rect">
            <a:avLst/>
          </a:prstGeom>
          <a:noFill/>
          <a:ln/>
        </p:spPr>
        <p:txBody>
          <a:bodyPr wrap="square" lIns="0" tIns="0" rIns="0" bIns="0" rtlCol="0" anchor="t"/>
          <a:lstStyle/>
          <a:p>
            <a:pPr indent="0" marL="0">
              <a:buNone/>
            </a:pPr>
            <a:r>
              <a:rPr lang="en-US" sz="1600" b="1" i="1" dirty="0">
                <a:solidFill>
                  <a:srgbClr val="B5432A"/>
                </a:solidFill>
                <a:latin typeface="Cambria" pitchFamily="34" charset="0"/>
                <a:ea typeface="Cambria" pitchFamily="34" charset="-122"/>
                <a:cs typeface="Cambria" pitchFamily="34" charset="-120"/>
              </a:rPr>
              <a:t>generate</a:t>
            </a:r>
            <a:endParaRPr lang="en-US" sz="1600" dirty="0"/>
          </a:p>
        </p:txBody>
      </p:sp>
      <p:sp>
        <p:nvSpPr>
          <p:cNvPr id="11" name="Text 9"/>
          <p:cNvSpPr txBox="1"/>
          <p:nvPr/>
        </p:nvSpPr>
        <p:spPr>
          <a:xfrm>
            <a:off x="5577840" y="3154680"/>
            <a:ext cx="3108960" cy="274320"/>
          </a:xfrm>
          <a:prstGeom prst="rect">
            <a:avLst/>
          </a:prstGeom>
          <a:noFill/>
          <a:ln/>
        </p:spPr>
        <p:txBody>
          <a:bodyPr wrap="square" lIns="0" tIns="0" rIns="0" bIns="0" rtlCol="0" anchor="t"/>
          <a:lstStyle/>
          <a:p>
            <a:pPr indent="0" marL="0">
              <a:buNone/>
            </a:pPr>
            <a:r>
              <a:rPr lang="en-US" sz="1200" dirty="0">
                <a:solidFill>
                  <a:srgbClr val="D1D5DB"/>
                </a:solidFill>
                <a:latin typeface="Courier New" pitchFamily="34" charset="0"/>
                <a:ea typeface="Courier New" pitchFamily="34" charset="-122"/>
                <a:cs typeface="Courier New" pitchFamily="34" charset="-120"/>
              </a:rPr>
              <a:t>an open model answers</a:t>
            </a:r>
            <a:endParaRPr lang="en-US" sz="1200" dirty="0"/>
          </a:p>
        </p:txBody>
      </p:sp>
      <p:sp>
        <p:nvSpPr>
          <p:cNvPr id="12" name="Text 10"/>
          <p:cNvSpPr txBox="1"/>
          <p:nvPr/>
        </p:nvSpPr>
        <p:spPr>
          <a:xfrm>
            <a:off x="5577840" y="3611880"/>
            <a:ext cx="2743200" cy="274320"/>
          </a:xfrm>
          <a:prstGeom prst="rect">
            <a:avLst/>
          </a:prstGeom>
          <a:noFill/>
          <a:ln/>
        </p:spPr>
        <p:txBody>
          <a:bodyPr wrap="square" lIns="0" tIns="0" rIns="0" bIns="0" rtlCol="0" anchor="t"/>
          <a:lstStyle/>
          <a:p>
            <a:pPr indent="0" marL="0">
              <a:buNone/>
            </a:pPr>
            <a:r>
              <a:rPr lang="en-US" sz="1600" i="1" dirty="0">
                <a:solidFill>
                  <a:srgbClr val="FFFFFF"/>
                </a:solidFill>
                <a:latin typeface="Cambria" pitchFamily="34" charset="0"/>
                <a:ea typeface="Cambria" pitchFamily="34" charset="-122"/>
                <a:cs typeface="Cambria" pitchFamily="34" charset="-120"/>
              </a:rPr>
              <a:t>cite</a:t>
            </a:r>
            <a:endParaRPr lang="en-US" sz="1600" dirty="0"/>
          </a:p>
        </p:txBody>
      </p:sp>
      <p:sp>
        <p:nvSpPr>
          <p:cNvPr id="13" name="Text 11"/>
          <p:cNvSpPr txBox="1"/>
          <p:nvPr/>
        </p:nvSpPr>
        <p:spPr>
          <a:xfrm>
            <a:off x="5577840" y="3931920"/>
            <a:ext cx="3108960" cy="274320"/>
          </a:xfrm>
          <a:prstGeom prst="rect">
            <a:avLst/>
          </a:prstGeom>
          <a:noFill/>
          <a:ln/>
        </p:spPr>
        <p:txBody>
          <a:bodyPr wrap="square" lIns="0" tIns="0" rIns="0" bIns="0" rtlCol="0" anchor="t"/>
          <a:lstStyle/>
          <a:p>
            <a:pPr indent="0" marL="0">
              <a:buNone/>
            </a:pPr>
            <a:r>
              <a:rPr lang="en-US" sz="1200" dirty="0">
                <a:solidFill>
                  <a:srgbClr val="D1D5DB"/>
                </a:solidFill>
                <a:latin typeface="Courier New" pitchFamily="34" charset="0"/>
                <a:ea typeface="Courier New" pitchFamily="34" charset="-122"/>
                <a:cs typeface="Courier New" pitchFamily="34" charset="-120"/>
              </a:rPr>
              <a:t>sources: file and page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Today's lecture in five questions</a:t>
            </a:r>
            <a:endParaRPr lang="en-US" sz="3000" dirty="0"/>
          </a:p>
        </p:txBody>
      </p:sp>
      <p:sp>
        <p:nvSpPr>
          <p:cNvPr id="4" name="Text 1"/>
          <p:cNvSpPr txBox="1"/>
          <p:nvPr/>
        </p:nvSpPr>
        <p:spPr>
          <a:xfrm>
            <a:off x="457200" y="125272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1</a:t>
            </a:r>
            <a:endParaRPr lang="en-US" sz="3200" dirty="0"/>
          </a:p>
        </p:txBody>
      </p:sp>
      <p:sp>
        <p:nvSpPr>
          <p:cNvPr id="5" name="Text 2"/>
          <p:cNvSpPr txBox="1"/>
          <p:nvPr/>
        </p:nvSpPr>
        <p:spPr>
          <a:xfrm>
            <a:off x="1097280" y="132588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Why do language models need retrieval?</a:t>
            </a:r>
            <a:endParaRPr lang="en-US" sz="1800" dirty="0"/>
          </a:p>
        </p:txBody>
      </p:sp>
      <p:sp>
        <p:nvSpPr>
          <p:cNvPr id="6" name="Shape 3"/>
          <p:cNvSpPr/>
          <p:nvPr/>
        </p:nvSpPr>
        <p:spPr>
          <a:xfrm>
            <a:off x="1097280" y="1856232"/>
            <a:ext cx="5120640" cy="0"/>
          </a:xfrm>
          <a:prstGeom prst="line">
            <a:avLst/>
          </a:prstGeom>
          <a:noFill/>
          <a:ln w="6350">
            <a:solidFill>
              <a:schemeClr val="accent6"/>
            </a:solidFill>
            <a:prstDash val="solid"/>
          </a:ln>
        </p:spPr>
      </p:sp>
      <p:sp>
        <p:nvSpPr>
          <p:cNvPr id="7" name="Text 4"/>
          <p:cNvSpPr txBox="1"/>
          <p:nvPr/>
        </p:nvSpPr>
        <p:spPr>
          <a:xfrm>
            <a:off x="457200" y="189280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2</a:t>
            </a:r>
            <a:endParaRPr lang="en-US" sz="3200" dirty="0"/>
          </a:p>
        </p:txBody>
      </p:sp>
      <p:sp>
        <p:nvSpPr>
          <p:cNvPr id="8" name="Text 5"/>
          <p:cNvSpPr txBox="1"/>
          <p:nvPr/>
        </p:nvSpPr>
        <p:spPr>
          <a:xfrm>
            <a:off x="1097280" y="196596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What are the retrieve, augment, generate steps?</a:t>
            </a:r>
            <a:endParaRPr lang="en-US" sz="1800" dirty="0"/>
          </a:p>
        </p:txBody>
      </p:sp>
      <p:sp>
        <p:nvSpPr>
          <p:cNvPr id="9" name="Shape 6"/>
          <p:cNvSpPr/>
          <p:nvPr/>
        </p:nvSpPr>
        <p:spPr>
          <a:xfrm>
            <a:off x="1097280" y="2496312"/>
            <a:ext cx="5120640" cy="0"/>
          </a:xfrm>
          <a:prstGeom prst="line">
            <a:avLst/>
          </a:prstGeom>
          <a:noFill/>
          <a:ln w="6350">
            <a:solidFill>
              <a:schemeClr val="accent6"/>
            </a:solidFill>
            <a:prstDash val="solid"/>
          </a:ln>
        </p:spPr>
      </p:sp>
      <p:sp>
        <p:nvSpPr>
          <p:cNvPr id="10" name="Text 7"/>
          <p:cNvSpPr txBox="1"/>
          <p:nvPr/>
        </p:nvSpPr>
        <p:spPr>
          <a:xfrm>
            <a:off x="457200" y="253288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3</a:t>
            </a:r>
            <a:endParaRPr lang="en-US" sz="3200" dirty="0"/>
          </a:p>
        </p:txBody>
      </p:sp>
      <p:sp>
        <p:nvSpPr>
          <p:cNvPr id="11" name="Text 8"/>
          <p:cNvSpPr txBox="1"/>
          <p:nvPr/>
        </p:nvSpPr>
        <p:spPr>
          <a:xfrm>
            <a:off x="1097280" y="260604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How do we write a prompt that stays grounded?</a:t>
            </a:r>
            <a:endParaRPr lang="en-US" sz="1800" dirty="0"/>
          </a:p>
        </p:txBody>
      </p:sp>
      <p:sp>
        <p:nvSpPr>
          <p:cNvPr id="12" name="Shape 9"/>
          <p:cNvSpPr/>
          <p:nvPr/>
        </p:nvSpPr>
        <p:spPr>
          <a:xfrm>
            <a:off x="1097280" y="3136392"/>
            <a:ext cx="5120640" cy="0"/>
          </a:xfrm>
          <a:prstGeom prst="line">
            <a:avLst/>
          </a:prstGeom>
          <a:noFill/>
          <a:ln w="6350">
            <a:solidFill>
              <a:schemeClr val="accent6"/>
            </a:solidFill>
            <a:prstDash val="solid"/>
          </a:ln>
        </p:spPr>
      </p:sp>
      <p:sp>
        <p:nvSpPr>
          <p:cNvPr id="13" name="Text 10"/>
          <p:cNvSpPr txBox="1"/>
          <p:nvPr/>
        </p:nvSpPr>
        <p:spPr>
          <a:xfrm>
            <a:off x="457200" y="317296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4</a:t>
            </a:r>
            <a:endParaRPr lang="en-US" sz="3200" dirty="0"/>
          </a:p>
        </p:txBody>
      </p:sp>
      <p:sp>
        <p:nvSpPr>
          <p:cNvPr id="14" name="Text 11"/>
          <p:cNvSpPr txBox="1"/>
          <p:nvPr/>
        </p:nvSpPr>
        <p:spPr>
          <a:xfrm>
            <a:off x="1097280" y="324612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What can go wrong, and how do we notice?</a:t>
            </a:r>
            <a:endParaRPr lang="en-US" sz="1800" dirty="0"/>
          </a:p>
        </p:txBody>
      </p:sp>
      <p:sp>
        <p:nvSpPr>
          <p:cNvPr id="15" name="Shape 12"/>
          <p:cNvSpPr/>
          <p:nvPr/>
        </p:nvSpPr>
        <p:spPr>
          <a:xfrm>
            <a:off x="1097280" y="3776472"/>
            <a:ext cx="5120640" cy="0"/>
          </a:xfrm>
          <a:prstGeom prst="line">
            <a:avLst/>
          </a:prstGeom>
          <a:noFill/>
          <a:ln w="6350">
            <a:solidFill>
              <a:schemeClr val="accent6"/>
            </a:solidFill>
            <a:prstDash val="solid"/>
          </a:ln>
        </p:spPr>
      </p:sp>
      <p:sp>
        <p:nvSpPr>
          <p:cNvPr id="16" name="Text 13"/>
          <p:cNvSpPr txBox="1"/>
          <p:nvPr/>
        </p:nvSpPr>
        <p:spPr>
          <a:xfrm>
            <a:off x="457200" y="381304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5</a:t>
            </a:r>
            <a:endParaRPr lang="en-US" sz="3200" dirty="0"/>
          </a:p>
        </p:txBody>
      </p:sp>
      <p:sp>
        <p:nvSpPr>
          <p:cNvPr id="17" name="Text 14"/>
          <p:cNvSpPr txBox="1"/>
          <p:nvPr/>
        </p:nvSpPr>
        <p:spPr>
          <a:xfrm>
            <a:off x="1097280" y="388620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How do we build the app with free tools?</a:t>
            </a:r>
            <a:endParaRPr lang="en-US" sz="1800" dirty="0"/>
          </a:p>
        </p:txBody>
      </p:sp>
      <p:sp>
        <p:nvSpPr>
          <p:cNvPr id="18" name="Text 15"/>
          <p:cNvSpPr txBox="1"/>
          <p:nvPr/>
        </p:nvSpPr>
        <p:spPr>
          <a:xfrm>
            <a:off x="6675120" y="1325880"/>
            <a:ext cx="201168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Prerequisites</a:t>
            </a:r>
            <a:endParaRPr lang="en-US" sz="1200" dirty="0"/>
          </a:p>
        </p:txBody>
      </p:sp>
      <p:sp>
        <p:nvSpPr>
          <p:cNvPr id="19" name="Text 16"/>
          <p:cNvSpPr txBox="1"/>
          <p:nvPr/>
        </p:nvSpPr>
        <p:spPr>
          <a:xfrm>
            <a:off x="6675120" y="1645920"/>
            <a:ext cx="2011680" cy="822960"/>
          </a:xfrm>
          <a:prstGeom prst="rect">
            <a:avLst/>
          </a:prstGeom>
          <a:noFill/>
          <a:ln/>
        </p:spPr>
        <p:txBody>
          <a:bodyPr wrap="square" lIns="0" tIns="0" rIns="0" bIns="0" rtlCol="0" anchor="t"/>
          <a:lstStyle/>
          <a:p>
            <a:pPr indent="0" marL="0">
              <a:buNone/>
            </a:pPr>
            <a:r>
              <a:rPr lang="en-US" sz="1400" dirty="0">
                <a:solidFill>
                  <a:schemeClr val="tx1"/>
                </a:solidFill>
              </a:rPr>
              <a:t>Lectures 1 to 7, and the chunks from Lab 6.</a:t>
            </a:r>
            <a:endParaRPr lang="en-US" sz="1400" dirty="0"/>
          </a:p>
        </p:txBody>
      </p:sp>
      <p:sp>
        <p:nvSpPr>
          <p:cNvPr id="20" name="Text 17"/>
          <p:cNvSpPr txBox="1"/>
          <p:nvPr/>
        </p:nvSpPr>
        <p:spPr>
          <a:xfrm>
            <a:off x="6675120" y="2651760"/>
            <a:ext cx="201168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Lab 8</a:t>
            </a:r>
            <a:endParaRPr lang="en-US" sz="1200" dirty="0"/>
          </a:p>
        </p:txBody>
      </p:sp>
      <p:sp>
        <p:nvSpPr>
          <p:cNvPr id="21" name="Text 18"/>
          <p:cNvSpPr txBox="1"/>
          <p:nvPr/>
        </p:nvSpPr>
        <p:spPr>
          <a:xfrm>
            <a:off x="6675120" y="2971800"/>
            <a:ext cx="2011680" cy="1463040"/>
          </a:xfrm>
          <a:prstGeom prst="rect">
            <a:avLst/>
          </a:prstGeom>
          <a:noFill/>
          <a:ln/>
        </p:spPr>
        <p:txBody>
          <a:bodyPr wrap="square" lIns="0" tIns="0" rIns="0" bIns="0" rtlCol="0" anchor="t"/>
          <a:lstStyle/>
          <a:p>
            <a:pPr indent="0" marL="0">
              <a:buNone/>
            </a:pPr>
            <a:r>
              <a:rPr lang="en-US" sz="1400" dirty="0">
                <a:solidFill>
                  <a:schemeClr val="tx1"/>
                </a:solidFill>
              </a:rPr>
              <a:t>Chat with a PDF: Chroma, a free open model, citations, a refusal rule and a web interface.</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What a language model cannot do alone</a:t>
            </a:r>
            <a:endParaRPr lang="en-US" sz="3000" dirty="0"/>
          </a:p>
        </p:txBody>
      </p:sp>
      <p:sp>
        <p:nvSpPr>
          <p:cNvPr id="4" name="Text 1"/>
          <p:cNvSpPr txBox="1"/>
          <p:nvPr/>
        </p:nvSpPr>
        <p:spPr>
          <a:xfrm>
            <a:off x="457200" y="1280160"/>
            <a:ext cx="1828800" cy="274320"/>
          </a:xfrm>
          <a:prstGeom prst="rect">
            <a:avLst/>
          </a:prstGeom>
          <a:noFill/>
          <a:ln/>
        </p:spPr>
        <p:txBody>
          <a:bodyPr wrap="square" lIns="0" tIns="0" rIns="0" bIns="0" rtlCol="0" anchor="t"/>
          <a:lstStyle/>
          <a:p>
            <a:pPr indent="0" marL="0">
              <a:buNone/>
            </a:pPr>
            <a:r>
              <a:rPr lang="en-US" sz="1200" b="1" dirty="0">
                <a:solidFill>
                  <a:schemeClr val="accent5"/>
                </a:solidFill>
              </a:rPr>
              <a:t>Question</a:t>
            </a:r>
            <a:endParaRPr lang="en-US" sz="1200" dirty="0"/>
          </a:p>
        </p:txBody>
      </p:sp>
      <p:sp>
        <p:nvSpPr>
          <p:cNvPr id="5" name="Shape 2"/>
          <p:cNvSpPr/>
          <p:nvPr/>
        </p:nvSpPr>
        <p:spPr>
          <a:xfrm>
            <a:off x="457200" y="1600200"/>
            <a:ext cx="2743200" cy="822960"/>
          </a:xfrm>
          <a:prstGeom prst="rect">
            <a:avLst/>
          </a:prstGeom>
          <a:solidFill>
            <a:schemeClr val="bg1"/>
          </a:solidFill>
          <a:ln w="12700">
            <a:solidFill>
              <a:srgbClr val="1B2A41"/>
            </a:solidFill>
            <a:prstDash val="solid"/>
          </a:ln>
        </p:spPr>
      </p:sp>
      <p:sp>
        <p:nvSpPr>
          <p:cNvPr id="6" name="Text 3"/>
          <p:cNvSpPr txBox="1"/>
          <p:nvPr/>
        </p:nvSpPr>
        <p:spPr>
          <a:xfrm>
            <a:off x="457200" y="1600200"/>
            <a:ext cx="2743200" cy="822960"/>
          </a:xfrm>
          <a:prstGeom prst="rect">
            <a:avLst/>
          </a:prstGeom>
          <a:noFill/>
          <a:ln/>
        </p:spPr>
        <p:txBody>
          <a:bodyPr wrap="square" lIns="0" tIns="0" rIns="0" bIns="0" rtlCol="0" anchor="ctr"/>
          <a:lstStyle/>
          <a:p>
            <a:pPr algn="ctr" indent="0" marL="0">
              <a:buNone/>
            </a:pPr>
            <a:r>
              <a:rPr lang="en-US" sz="1400" b="1" dirty="0">
                <a:solidFill>
                  <a:schemeClr val="tx1"/>
                </a:solidFill>
              </a:rPr>
              <a:t>What is our refund window for digital goods?</a:t>
            </a:r>
            <a:endParaRPr lang="en-US" sz="1400" dirty="0"/>
          </a:p>
        </p:txBody>
      </p:sp>
      <p:sp>
        <p:nvSpPr>
          <p:cNvPr id="7" name="Shape 4"/>
          <p:cNvSpPr/>
          <p:nvPr/>
        </p:nvSpPr>
        <p:spPr>
          <a:xfrm flipV="1">
            <a:off x="3200400" y="1600200"/>
            <a:ext cx="457200" cy="411480"/>
          </a:xfrm>
          <a:prstGeom prst="line">
            <a:avLst/>
          </a:prstGeom>
          <a:noFill/>
          <a:ln w="19050">
            <a:solidFill>
              <a:srgbClr val="B5432A"/>
            </a:solidFill>
            <a:prstDash val="solid"/>
            <a:tailEnd type="triangle"/>
          </a:ln>
        </p:spPr>
      </p:sp>
      <p:sp>
        <p:nvSpPr>
          <p:cNvPr id="8" name="Shape 5"/>
          <p:cNvSpPr/>
          <p:nvPr/>
        </p:nvSpPr>
        <p:spPr>
          <a:xfrm>
            <a:off x="3200400" y="2011680"/>
            <a:ext cx="457200" cy="1143000"/>
          </a:xfrm>
          <a:prstGeom prst="line">
            <a:avLst/>
          </a:prstGeom>
          <a:noFill/>
          <a:ln w="19050">
            <a:solidFill>
              <a:srgbClr val="3B7A57"/>
            </a:solidFill>
            <a:prstDash val="solid"/>
            <a:tailEnd type="triangle"/>
          </a:ln>
        </p:spPr>
      </p:sp>
      <p:sp>
        <p:nvSpPr>
          <p:cNvPr id="9" name="Shape 6"/>
          <p:cNvSpPr/>
          <p:nvPr/>
        </p:nvSpPr>
        <p:spPr>
          <a:xfrm>
            <a:off x="3657600" y="1280160"/>
            <a:ext cx="2011680" cy="640080"/>
          </a:xfrm>
          <a:prstGeom prst="rect">
            <a:avLst/>
          </a:prstGeom>
          <a:solidFill>
            <a:schemeClr val="bg1"/>
          </a:solidFill>
          <a:ln w="12700">
            <a:solidFill>
              <a:srgbClr val="B5432A"/>
            </a:solidFill>
            <a:prstDash val="solid"/>
          </a:ln>
        </p:spPr>
      </p:sp>
      <p:sp>
        <p:nvSpPr>
          <p:cNvPr id="10" name="Text 7"/>
          <p:cNvSpPr txBox="1"/>
          <p:nvPr/>
        </p:nvSpPr>
        <p:spPr>
          <a:xfrm>
            <a:off x="3657600" y="1280160"/>
            <a:ext cx="2011680" cy="640080"/>
          </a:xfrm>
          <a:prstGeom prst="rect">
            <a:avLst/>
          </a:prstGeom>
          <a:noFill/>
          <a:ln/>
        </p:spPr>
        <p:txBody>
          <a:bodyPr wrap="square" lIns="0" tIns="0" rIns="0" bIns="0" rtlCol="0" anchor="ctr"/>
          <a:lstStyle/>
          <a:p>
            <a:pPr algn="ctr" indent="0" marL="0">
              <a:buNone/>
            </a:pPr>
            <a:r>
              <a:rPr lang="en-US" sz="1300" b="1" dirty="0">
                <a:solidFill>
                  <a:schemeClr val="tx1"/>
                </a:solidFill>
              </a:rPr>
              <a:t>Model alone</a:t>
            </a:r>
            <a:endParaRPr lang="en-US" sz="1300" dirty="0"/>
          </a:p>
        </p:txBody>
      </p:sp>
      <p:sp>
        <p:nvSpPr>
          <p:cNvPr id="11" name="Text 8"/>
          <p:cNvSpPr txBox="1"/>
          <p:nvPr/>
        </p:nvSpPr>
        <p:spPr>
          <a:xfrm>
            <a:off x="5852160" y="1280160"/>
            <a:ext cx="2834640" cy="731520"/>
          </a:xfrm>
          <a:prstGeom prst="rect">
            <a:avLst/>
          </a:prstGeom>
          <a:noFill/>
          <a:ln/>
        </p:spPr>
        <p:txBody>
          <a:bodyPr wrap="square" lIns="0" tIns="0" rIns="0" bIns="0" rtlCol="0" anchor="t"/>
          <a:lstStyle/>
          <a:p>
            <a:pPr indent="0" marL="0">
              <a:buNone/>
            </a:pPr>
            <a:r>
              <a:rPr lang="en-US" sz="1300" i="1" dirty="0">
                <a:solidFill>
                  <a:schemeClr val="accent1"/>
                </a:solidFill>
                <a:latin typeface="Cambria" pitchFamily="34" charset="0"/>
                <a:ea typeface="Cambria" pitchFamily="34" charset="-122"/>
                <a:cs typeface="Cambria" pitchFamily="34" charset="-120"/>
              </a:rPr>
              <a:t>"Typically 30 days." A confident guess about a policy it never saw.</a:t>
            </a:r>
            <a:endParaRPr lang="en-US" sz="1300" dirty="0"/>
          </a:p>
        </p:txBody>
      </p:sp>
      <p:sp>
        <p:nvSpPr>
          <p:cNvPr id="12" name="Shape 9"/>
          <p:cNvSpPr/>
          <p:nvPr/>
        </p:nvSpPr>
        <p:spPr>
          <a:xfrm>
            <a:off x="3657600" y="2834640"/>
            <a:ext cx="2011680" cy="640080"/>
          </a:xfrm>
          <a:prstGeom prst="rect">
            <a:avLst/>
          </a:prstGeom>
          <a:solidFill>
            <a:schemeClr val="bg1"/>
          </a:solidFill>
          <a:ln w="12700">
            <a:solidFill>
              <a:srgbClr val="3B7A57"/>
            </a:solidFill>
            <a:prstDash val="solid"/>
          </a:ln>
        </p:spPr>
      </p:sp>
      <p:sp>
        <p:nvSpPr>
          <p:cNvPr id="13" name="Text 10"/>
          <p:cNvSpPr txBox="1"/>
          <p:nvPr/>
        </p:nvSpPr>
        <p:spPr>
          <a:xfrm>
            <a:off x="3657600" y="2834640"/>
            <a:ext cx="2011680" cy="640080"/>
          </a:xfrm>
          <a:prstGeom prst="rect">
            <a:avLst/>
          </a:prstGeom>
          <a:noFill/>
          <a:ln/>
        </p:spPr>
        <p:txBody>
          <a:bodyPr wrap="square" lIns="0" tIns="0" rIns="0" bIns="0" rtlCol="0" anchor="ctr"/>
          <a:lstStyle/>
          <a:p>
            <a:pPr algn="ctr" indent="0" marL="0">
              <a:buNone/>
            </a:pPr>
            <a:r>
              <a:rPr lang="en-US" sz="1300" b="1" dirty="0">
                <a:solidFill>
                  <a:schemeClr val="tx1"/>
                </a:solidFill>
              </a:rPr>
              <a:t>Retrieve first</a:t>
            </a:r>
            <a:endParaRPr lang="en-US" sz="1300" dirty="0"/>
          </a:p>
        </p:txBody>
      </p:sp>
      <p:sp>
        <p:nvSpPr>
          <p:cNvPr id="14" name="Text 11"/>
          <p:cNvSpPr txBox="1"/>
          <p:nvPr/>
        </p:nvSpPr>
        <p:spPr>
          <a:xfrm>
            <a:off x="5852160" y="2743200"/>
            <a:ext cx="2834640" cy="914400"/>
          </a:xfrm>
          <a:prstGeom prst="rect">
            <a:avLst/>
          </a:prstGeom>
          <a:noFill/>
          <a:ln/>
        </p:spPr>
        <p:txBody>
          <a:bodyPr wrap="square" lIns="0" tIns="0" rIns="0" bIns="0" rtlCol="0" anchor="t"/>
          <a:lstStyle/>
          <a:p>
            <a:pPr indent="0" marL="0">
              <a:buNone/>
            </a:pPr>
            <a:r>
              <a:rPr lang="en-US" sz="1300" i="1" dirty="0">
                <a:solidFill>
                  <a:schemeClr val="accent3"/>
                </a:solidFill>
                <a:latin typeface="Cambria" pitchFamily="34" charset="0"/>
                <a:ea typeface="Cambria" pitchFamily="34" charset="-122"/>
                <a:cs typeface="Cambria" pitchFamily="34" charset="-120"/>
              </a:rPr>
              <a:t>"Digital goods are not refundable once downloaded [1]." Grounded in your policy file.</a:t>
            </a:r>
            <a:endParaRPr lang="en-US" sz="1300" dirty="0"/>
          </a:p>
        </p:txBody>
      </p:sp>
      <p:sp>
        <p:nvSpPr>
          <p:cNvPr id="15" name="Text 12"/>
          <p:cNvSpPr txBox="1"/>
          <p:nvPr/>
        </p:nvSpPr>
        <p:spPr>
          <a:xfrm>
            <a:off x="457200" y="3749040"/>
            <a:ext cx="8229600" cy="914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Knowledge stops at the training date</a:t>
            </a:r>
            <a:endParaRPr lang="en-US" sz="1400" dirty="0"/>
          </a:p>
          <a:p>
            <a:pPr marL="342900" indent="-342900">
              <a:spcAft>
                <a:spcPts val="600"/>
              </a:spcAft>
              <a:buSzPct val="100000"/>
              <a:buChar char="•"/>
            </a:pPr>
            <a:r>
              <a:rPr lang="en-US" sz="1400" dirty="0">
                <a:solidFill>
                  <a:schemeClr val="tx1"/>
                </a:solidFill>
              </a:rPr>
              <a:t>Private data was never in the training set</a:t>
            </a:r>
            <a:endParaRPr lang="en-US" sz="1400" dirty="0"/>
          </a:p>
          <a:p>
            <a:pPr marL="342900" indent="-342900">
              <a:spcAft>
                <a:spcPts val="600"/>
              </a:spcAft>
              <a:buSzPct val="100000"/>
              <a:buChar char="•"/>
            </a:pPr>
            <a:r>
              <a:rPr lang="en-US" sz="1400" dirty="0">
                <a:solidFill>
                  <a:schemeClr val="tx1"/>
                </a:solidFill>
              </a:rPr>
              <a:t>Fluent text is not evidence: answers need sources</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The RAG pipeline</a:t>
            </a:r>
            <a:endParaRPr lang="en-US" sz="3000" dirty="0"/>
          </a:p>
        </p:txBody>
      </p:sp>
      <p:sp>
        <p:nvSpPr>
          <p:cNvPr id="4" name="Text 1"/>
          <p:cNvSpPr txBox="1"/>
          <p:nvPr/>
        </p:nvSpPr>
        <p:spPr>
          <a:xfrm>
            <a:off x="457200" y="1371600"/>
            <a:ext cx="1280160" cy="274320"/>
          </a:xfrm>
          <a:prstGeom prst="rect">
            <a:avLst/>
          </a:prstGeom>
          <a:noFill/>
          <a:ln/>
        </p:spPr>
        <p:txBody>
          <a:bodyPr wrap="square" lIns="0" tIns="0" rIns="0" bIns="0" rtlCol="0" anchor="t"/>
          <a:lstStyle/>
          <a:p>
            <a:pPr indent="0" marL="0">
              <a:buNone/>
            </a:pPr>
            <a:r>
              <a:rPr lang="en-US" sz="1700" b="1" i="1" dirty="0">
                <a:solidFill>
                  <a:schemeClr val="tx1"/>
                </a:solidFill>
                <a:latin typeface="Cambria" pitchFamily="34" charset="0"/>
                <a:ea typeface="Cambria" pitchFamily="34" charset="-122"/>
                <a:cs typeface="Cambria" pitchFamily="34" charset="-120"/>
              </a:rPr>
              <a:t>Ingest</a:t>
            </a:r>
            <a:endParaRPr lang="en-US" sz="1700" dirty="0"/>
          </a:p>
        </p:txBody>
      </p:sp>
      <p:sp>
        <p:nvSpPr>
          <p:cNvPr id="5" name="Text 2"/>
          <p:cNvSpPr txBox="1"/>
          <p:nvPr/>
        </p:nvSpPr>
        <p:spPr>
          <a:xfrm>
            <a:off x="457200" y="1691640"/>
            <a:ext cx="1280160" cy="274320"/>
          </a:xfrm>
          <a:prstGeom prst="rect">
            <a:avLst/>
          </a:prstGeom>
          <a:noFill/>
          <a:ln/>
        </p:spPr>
        <p:txBody>
          <a:bodyPr wrap="square" lIns="0" tIns="0" rIns="0" bIns="0" rtlCol="0" anchor="t"/>
          <a:lstStyle/>
          <a:p>
            <a:pPr indent="0" marL="0">
              <a:buNone/>
            </a:pPr>
            <a:r>
              <a:rPr lang="en-US" sz="1200" dirty="0">
                <a:solidFill>
                  <a:schemeClr val="accent5"/>
                </a:solidFill>
              </a:rPr>
              <a:t>once</a:t>
            </a:r>
            <a:endParaRPr lang="en-US" sz="1200" dirty="0"/>
          </a:p>
        </p:txBody>
      </p:sp>
      <p:sp>
        <p:nvSpPr>
          <p:cNvPr id="6" name="Shape 3"/>
          <p:cNvSpPr/>
          <p:nvPr/>
        </p:nvSpPr>
        <p:spPr>
          <a:xfrm>
            <a:off x="1920240" y="1325880"/>
            <a:ext cx="1463040" cy="640080"/>
          </a:xfrm>
          <a:prstGeom prst="rect">
            <a:avLst/>
          </a:prstGeom>
          <a:solidFill>
            <a:schemeClr val="bg1"/>
          </a:solidFill>
          <a:ln w="12700">
            <a:solidFill>
              <a:srgbClr val="1B2A41"/>
            </a:solidFill>
            <a:prstDash val="solid"/>
          </a:ln>
        </p:spPr>
      </p:sp>
      <p:sp>
        <p:nvSpPr>
          <p:cNvPr id="7" name="Text 4"/>
          <p:cNvSpPr txBox="1"/>
          <p:nvPr/>
        </p:nvSpPr>
        <p:spPr>
          <a:xfrm>
            <a:off x="1920240" y="1325880"/>
            <a:ext cx="1463040" cy="640080"/>
          </a:xfrm>
          <a:prstGeom prst="rect">
            <a:avLst/>
          </a:prstGeom>
          <a:noFill/>
          <a:ln/>
        </p:spPr>
        <p:txBody>
          <a:bodyPr wrap="square" lIns="0" tIns="0" rIns="0" bIns="0" rtlCol="0" anchor="ctr"/>
          <a:lstStyle/>
          <a:p>
            <a:pPr algn="ctr" indent="0" marL="0">
              <a:buNone/>
            </a:pPr>
            <a:r>
              <a:rPr lang="en-US" sz="1300" b="1" dirty="0">
                <a:solidFill>
                  <a:schemeClr val="tx1"/>
                </a:solidFill>
              </a:rPr>
              <a:t>PDF files</a:t>
            </a:r>
            <a:endParaRPr lang="en-US" sz="1300" dirty="0"/>
          </a:p>
        </p:txBody>
      </p:sp>
      <p:sp>
        <p:nvSpPr>
          <p:cNvPr id="8" name="Shape 5"/>
          <p:cNvSpPr/>
          <p:nvPr/>
        </p:nvSpPr>
        <p:spPr>
          <a:xfrm>
            <a:off x="3383280" y="1645920"/>
            <a:ext cx="274320" cy="0"/>
          </a:xfrm>
          <a:prstGeom prst="line">
            <a:avLst/>
          </a:prstGeom>
          <a:noFill/>
          <a:ln w="15875">
            <a:solidFill>
              <a:srgbClr val="1B2A41"/>
            </a:solidFill>
            <a:prstDash val="solid"/>
            <a:tailEnd type="triangle"/>
          </a:ln>
        </p:spPr>
      </p:sp>
      <p:sp>
        <p:nvSpPr>
          <p:cNvPr id="9" name="Shape 6"/>
          <p:cNvSpPr/>
          <p:nvPr/>
        </p:nvSpPr>
        <p:spPr>
          <a:xfrm>
            <a:off x="3657600" y="1325880"/>
            <a:ext cx="1463040" cy="640080"/>
          </a:xfrm>
          <a:prstGeom prst="rect">
            <a:avLst/>
          </a:prstGeom>
          <a:solidFill>
            <a:schemeClr val="bg1"/>
          </a:solidFill>
          <a:ln w="12700">
            <a:solidFill>
              <a:srgbClr val="1B2A41"/>
            </a:solidFill>
            <a:prstDash val="solid"/>
          </a:ln>
        </p:spPr>
      </p:sp>
      <p:sp>
        <p:nvSpPr>
          <p:cNvPr id="10" name="Text 7"/>
          <p:cNvSpPr txBox="1"/>
          <p:nvPr/>
        </p:nvSpPr>
        <p:spPr>
          <a:xfrm>
            <a:off x="3657600" y="1325880"/>
            <a:ext cx="1463040" cy="640080"/>
          </a:xfrm>
          <a:prstGeom prst="rect">
            <a:avLst/>
          </a:prstGeom>
          <a:noFill/>
          <a:ln/>
        </p:spPr>
        <p:txBody>
          <a:bodyPr wrap="square" lIns="0" tIns="0" rIns="0" bIns="0" rtlCol="0" anchor="ctr"/>
          <a:lstStyle/>
          <a:p>
            <a:pPr algn="ctr" indent="0" marL="0">
              <a:buNone/>
            </a:pPr>
            <a:r>
              <a:rPr lang="en-US" sz="1300" b="1" dirty="0">
                <a:solidFill>
                  <a:schemeClr val="tx1"/>
                </a:solidFill>
              </a:rPr>
              <a:t>Clean + chunk</a:t>
            </a:r>
            <a:endParaRPr lang="en-US" sz="1300" dirty="0"/>
          </a:p>
        </p:txBody>
      </p:sp>
      <p:sp>
        <p:nvSpPr>
          <p:cNvPr id="11" name="Shape 8"/>
          <p:cNvSpPr/>
          <p:nvPr/>
        </p:nvSpPr>
        <p:spPr>
          <a:xfrm>
            <a:off x="5120640" y="1645920"/>
            <a:ext cx="274320" cy="0"/>
          </a:xfrm>
          <a:prstGeom prst="line">
            <a:avLst/>
          </a:prstGeom>
          <a:noFill/>
          <a:ln w="15875">
            <a:solidFill>
              <a:srgbClr val="1B2A41"/>
            </a:solidFill>
            <a:prstDash val="solid"/>
            <a:tailEnd type="triangle"/>
          </a:ln>
        </p:spPr>
      </p:sp>
      <p:sp>
        <p:nvSpPr>
          <p:cNvPr id="12" name="Shape 9"/>
          <p:cNvSpPr/>
          <p:nvPr/>
        </p:nvSpPr>
        <p:spPr>
          <a:xfrm>
            <a:off x="5394960" y="1325880"/>
            <a:ext cx="1463040" cy="640080"/>
          </a:xfrm>
          <a:prstGeom prst="rect">
            <a:avLst/>
          </a:prstGeom>
          <a:solidFill>
            <a:schemeClr val="bg1"/>
          </a:solidFill>
          <a:ln w="12700">
            <a:solidFill>
              <a:srgbClr val="1B2A41"/>
            </a:solidFill>
            <a:prstDash val="solid"/>
          </a:ln>
        </p:spPr>
      </p:sp>
      <p:sp>
        <p:nvSpPr>
          <p:cNvPr id="13" name="Text 10"/>
          <p:cNvSpPr txBox="1"/>
          <p:nvPr/>
        </p:nvSpPr>
        <p:spPr>
          <a:xfrm>
            <a:off x="5394960" y="1325880"/>
            <a:ext cx="1463040" cy="640080"/>
          </a:xfrm>
          <a:prstGeom prst="rect">
            <a:avLst/>
          </a:prstGeom>
          <a:noFill/>
          <a:ln/>
        </p:spPr>
        <p:txBody>
          <a:bodyPr wrap="square" lIns="0" tIns="0" rIns="0" bIns="0" rtlCol="0" anchor="ctr"/>
          <a:lstStyle/>
          <a:p>
            <a:pPr algn="ctr" indent="0" marL="0">
              <a:buNone/>
            </a:pPr>
            <a:r>
              <a:rPr lang="en-US" sz="1300" b="1" dirty="0">
                <a:solidFill>
                  <a:schemeClr val="tx1"/>
                </a:solidFill>
              </a:rPr>
              <a:t>Embed</a:t>
            </a:r>
            <a:endParaRPr lang="en-US" sz="1300" dirty="0"/>
          </a:p>
        </p:txBody>
      </p:sp>
      <p:sp>
        <p:nvSpPr>
          <p:cNvPr id="14" name="Shape 11"/>
          <p:cNvSpPr/>
          <p:nvPr/>
        </p:nvSpPr>
        <p:spPr>
          <a:xfrm>
            <a:off x="6858000" y="1645920"/>
            <a:ext cx="274320" cy="0"/>
          </a:xfrm>
          <a:prstGeom prst="line">
            <a:avLst/>
          </a:prstGeom>
          <a:noFill/>
          <a:ln w="15875">
            <a:solidFill>
              <a:srgbClr val="1B2A41"/>
            </a:solidFill>
            <a:prstDash val="solid"/>
            <a:tailEnd type="triangle"/>
          </a:ln>
        </p:spPr>
      </p:sp>
      <p:sp>
        <p:nvSpPr>
          <p:cNvPr id="15" name="Shape 12"/>
          <p:cNvSpPr/>
          <p:nvPr/>
        </p:nvSpPr>
        <p:spPr>
          <a:xfrm>
            <a:off x="7132320" y="1325880"/>
            <a:ext cx="1463040" cy="640080"/>
          </a:xfrm>
          <a:prstGeom prst="rect">
            <a:avLst/>
          </a:prstGeom>
          <a:solidFill>
            <a:schemeClr val="bg1"/>
          </a:solidFill>
          <a:ln w="28575">
            <a:solidFill>
              <a:srgbClr val="B5432A"/>
            </a:solidFill>
            <a:prstDash val="solid"/>
          </a:ln>
        </p:spPr>
      </p:sp>
      <p:sp>
        <p:nvSpPr>
          <p:cNvPr id="16" name="Text 13"/>
          <p:cNvSpPr txBox="1"/>
          <p:nvPr/>
        </p:nvSpPr>
        <p:spPr>
          <a:xfrm>
            <a:off x="7132320" y="1325880"/>
            <a:ext cx="1463040" cy="640080"/>
          </a:xfrm>
          <a:prstGeom prst="rect">
            <a:avLst/>
          </a:prstGeom>
          <a:noFill/>
          <a:ln/>
        </p:spPr>
        <p:txBody>
          <a:bodyPr wrap="square" lIns="0" tIns="0" rIns="0" bIns="0" rtlCol="0" anchor="ctr"/>
          <a:lstStyle/>
          <a:p>
            <a:pPr algn="ctr" indent="0" marL="0">
              <a:buNone/>
            </a:pPr>
            <a:r>
              <a:rPr lang="en-US" sz="1300" b="1" dirty="0">
                <a:solidFill>
                  <a:schemeClr val="tx1"/>
                </a:solidFill>
              </a:rPr>
              <a:t>Chroma</a:t>
            </a:r>
            <a:endParaRPr lang="en-US" sz="1300" dirty="0"/>
          </a:p>
        </p:txBody>
      </p:sp>
      <p:sp>
        <p:nvSpPr>
          <p:cNvPr id="17" name="Text 14"/>
          <p:cNvSpPr txBox="1"/>
          <p:nvPr/>
        </p:nvSpPr>
        <p:spPr>
          <a:xfrm>
            <a:off x="457200" y="2926080"/>
            <a:ext cx="1280160" cy="274320"/>
          </a:xfrm>
          <a:prstGeom prst="rect">
            <a:avLst/>
          </a:prstGeom>
          <a:noFill/>
          <a:ln/>
        </p:spPr>
        <p:txBody>
          <a:bodyPr wrap="square" lIns="0" tIns="0" rIns="0" bIns="0" rtlCol="0" anchor="t"/>
          <a:lstStyle/>
          <a:p>
            <a:pPr indent="0" marL="0">
              <a:buNone/>
            </a:pPr>
            <a:r>
              <a:rPr lang="en-US" sz="1700" b="1" i="1" dirty="0">
                <a:solidFill>
                  <a:schemeClr val="tx1"/>
                </a:solidFill>
                <a:latin typeface="Cambria" pitchFamily="34" charset="0"/>
                <a:ea typeface="Cambria" pitchFamily="34" charset="-122"/>
                <a:cs typeface="Cambria" pitchFamily="34" charset="-120"/>
              </a:rPr>
              <a:t>Query</a:t>
            </a:r>
            <a:endParaRPr lang="en-US" sz="1700" dirty="0"/>
          </a:p>
        </p:txBody>
      </p:sp>
      <p:sp>
        <p:nvSpPr>
          <p:cNvPr id="18" name="Text 15"/>
          <p:cNvSpPr txBox="1"/>
          <p:nvPr/>
        </p:nvSpPr>
        <p:spPr>
          <a:xfrm>
            <a:off x="457200" y="3246120"/>
            <a:ext cx="1371600" cy="274320"/>
          </a:xfrm>
          <a:prstGeom prst="rect">
            <a:avLst/>
          </a:prstGeom>
          <a:noFill/>
          <a:ln/>
        </p:spPr>
        <p:txBody>
          <a:bodyPr wrap="square" lIns="0" tIns="0" rIns="0" bIns="0" rtlCol="0" anchor="t"/>
          <a:lstStyle/>
          <a:p>
            <a:pPr indent="0" marL="0">
              <a:buNone/>
            </a:pPr>
            <a:r>
              <a:rPr lang="en-US" sz="1200" dirty="0">
                <a:solidFill>
                  <a:schemeClr val="accent5"/>
                </a:solidFill>
              </a:rPr>
              <a:t>every question</a:t>
            </a:r>
            <a:endParaRPr lang="en-US" sz="1200" dirty="0"/>
          </a:p>
        </p:txBody>
      </p:sp>
      <p:sp>
        <p:nvSpPr>
          <p:cNvPr id="19" name="Shape 16"/>
          <p:cNvSpPr/>
          <p:nvPr/>
        </p:nvSpPr>
        <p:spPr>
          <a:xfrm>
            <a:off x="1920240" y="2880360"/>
            <a:ext cx="1188720" cy="731520"/>
          </a:xfrm>
          <a:prstGeom prst="rect">
            <a:avLst/>
          </a:prstGeom>
          <a:solidFill>
            <a:schemeClr val="bg1"/>
          </a:solidFill>
          <a:ln w="12700">
            <a:solidFill>
              <a:srgbClr val="1B2A41"/>
            </a:solidFill>
            <a:prstDash val="solid"/>
          </a:ln>
        </p:spPr>
      </p:sp>
      <p:sp>
        <p:nvSpPr>
          <p:cNvPr id="20" name="Text 17"/>
          <p:cNvSpPr txBox="1"/>
          <p:nvPr/>
        </p:nvSpPr>
        <p:spPr>
          <a:xfrm>
            <a:off x="1920240" y="2880360"/>
            <a:ext cx="1188720" cy="731520"/>
          </a:xfrm>
          <a:prstGeom prst="rect">
            <a:avLst/>
          </a:prstGeom>
          <a:noFill/>
          <a:ln/>
        </p:spPr>
        <p:txBody>
          <a:bodyPr wrap="square" lIns="0" tIns="0" rIns="0" bIns="0" rtlCol="0" anchor="ctr"/>
          <a:lstStyle/>
          <a:p>
            <a:pPr algn="ctr" indent="0" marL="0">
              <a:buNone/>
            </a:pPr>
            <a:r>
              <a:rPr lang="en-US" sz="1200" b="1" dirty="0">
                <a:solidFill>
                  <a:schemeClr val="tx1"/>
                </a:solidFill>
              </a:rPr>
              <a:t>Question</a:t>
            </a:r>
            <a:endParaRPr lang="en-US" sz="1200" dirty="0"/>
          </a:p>
        </p:txBody>
      </p:sp>
      <p:sp>
        <p:nvSpPr>
          <p:cNvPr id="21" name="Shape 18"/>
          <p:cNvSpPr/>
          <p:nvPr/>
        </p:nvSpPr>
        <p:spPr>
          <a:xfrm>
            <a:off x="3108960" y="3246120"/>
            <a:ext cx="182880" cy="0"/>
          </a:xfrm>
          <a:prstGeom prst="line">
            <a:avLst/>
          </a:prstGeom>
          <a:noFill/>
          <a:ln w="15875">
            <a:solidFill>
              <a:srgbClr val="1B2A41"/>
            </a:solidFill>
            <a:prstDash val="solid"/>
            <a:tailEnd type="triangle"/>
          </a:ln>
        </p:spPr>
      </p:sp>
      <p:sp>
        <p:nvSpPr>
          <p:cNvPr id="22" name="Shape 19"/>
          <p:cNvSpPr/>
          <p:nvPr/>
        </p:nvSpPr>
        <p:spPr>
          <a:xfrm>
            <a:off x="3291840" y="2880360"/>
            <a:ext cx="1188720" cy="731520"/>
          </a:xfrm>
          <a:prstGeom prst="rect">
            <a:avLst/>
          </a:prstGeom>
          <a:solidFill>
            <a:schemeClr val="bg1"/>
          </a:solidFill>
          <a:ln w="28575">
            <a:solidFill>
              <a:srgbClr val="B5432A"/>
            </a:solidFill>
            <a:prstDash val="solid"/>
          </a:ln>
        </p:spPr>
      </p:sp>
      <p:sp>
        <p:nvSpPr>
          <p:cNvPr id="23" name="Text 20"/>
          <p:cNvSpPr txBox="1"/>
          <p:nvPr/>
        </p:nvSpPr>
        <p:spPr>
          <a:xfrm>
            <a:off x="3291840" y="2880360"/>
            <a:ext cx="1188720" cy="731520"/>
          </a:xfrm>
          <a:prstGeom prst="rect">
            <a:avLst/>
          </a:prstGeom>
          <a:noFill/>
          <a:ln/>
        </p:spPr>
        <p:txBody>
          <a:bodyPr wrap="square" lIns="0" tIns="0" rIns="0" bIns="0" rtlCol="0" anchor="ctr"/>
          <a:lstStyle/>
          <a:p>
            <a:pPr algn="ctr" indent="0" marL="0">
              <a:buNone/>
            </a:pPr>
            <a:r>
              <a:rPr lang="en-US" sz="1200" b="1" dirty="0">
                <a:solidFill>
                  <a:schemeClr val="tx1"/>
                </a:solidFill>
              </a:rPr>
              <a:t>Retrieve top-k</a:t>
            </a:r>
            <a:endParaRPr lang="en-US" sz="1200" dirty="0"/>
          </a:p>
        </p:txBody>
      </p:sp>
      <p:sp>
        <p:nvSpPr>
          <p:cNvPr id="24" name="Shape 21"/>
          <p:cNvSpPr/>
          <p:nvPr/>
        </p:nvSpPr>
        <p:spPr>
          <a:xfrm>
            <a:off x="4480560" y="3246120"/>
            <a:ext cx="182880" cy="0"/>
          </a:xfrm>
          <a:prstGeom prst="line">
            <a:avLst/>
          </a:prstGeom>
          <a:noFill/>
          <a:ln w="15875">
            <a:solidFill>
              <a:srgbClr val="1B2A41"/>
            </a:solidFill>
            <a:prstDash val="solid"/>
            <a:tailEnd type="triangle"/>
          </a:ln>
        </p:spPr>
      </p:sp>
      <p:sp>
        <p:nvSpPr>
          <p:cNvPr id="25" name="Shape 22"/>
          <p:cNvSpPr/>
          <p:nvPr/>
        </p:nvSpPr>
        <p:spPr>
          <a:xfrm>
            <a:off x="4663440" y="2880360"/>
            <a:ext cx="1188720" cy="731520"/>
          </a:xfrm>
          <a:prstGeom prst="rect">
            <a:avLst/>
          </a:prstGeom>
          <a:solidFill>
            <a:schemeClr val="bg1"/>
          </a:solidFill>
          <a:ln w="12700">
            <a:solidFill>
              <a:srgbClr val="1B2A41"/>
            </a:solidFill>
            <a:prstDash val="solid"/>
          </a:ln>
        </p:spPr>
      </p:sp>
      <p:sp>
        <p:nvSpPr>
          <p:cNvPr id="26" name="Text 23"/>
          <p:cNvSpPr txBox="1"/>
          <p:nvPr/>
        </p:nvSpPr>
        <p:spPr>
          <a:xfrm>
            <a:off x="4663440" y="2880360"/>
            <a:ext cx="1188720" cy="731520"/>
          </a:xfrm>
          <a:prstGeom prst="rect">
            <a:avLst/>
          </a:prstGeom>
          <a:noFill/>
          <a:ln/>
        </p:spPr>
        <p:txBody>
          <a:bodyPr wrap="square" lIns="0" tIns="0" rIns="0" bIns="0" rtlCol="0" anchor="ctr"/>
          <a:lstStyle/>
          <a:p>
            <a:pPr algn="ctr" indent="0" marL="0">
              <a:buNone/>
            </a:pPr>
            <a:r>
              <a:rPr lang="en-US" sz="1200" b="1" dirty="0">
                <a:solidFill>
                  <a:schemeClr val="tx1"/>
                </a:solidFill>
              </a:rPr>
              <a:t>Build prompt</a:t>
            </a:r>
            <a:endParaRPr lang="en-US" sz="1200" dirty="0"/>
          </a:p>
        </p:txBody>
      </p:sp>
      <p:sp>
        <p:nvSpPr>
          <p:cNvPr id="27" name="Shape 24"/>
          <p:cNvSpPr/>
          <p:nvPr/>
        </p:nvSpPr>
        <p:spPr>
          <a:xfrm>
            <a:off x="5852160" y="3246120"/>
            <a:ext cx="182880" cy="0"/>
          </a:xfrm>
          <a:prstGeom prst="line">
            <a:avLst/>
          </a:prstGeom>
          <a:noFill/>
          <a:ln w="15875">
            <a:solidFill>
              <a:srgbClr val="1B2A41"/>
            </a:solidFill>
            <a:prstDash val="solid"/>
            <a:tailEnd type="triangle"/>
          </a:ln>
        </p:spPr>
      </p:sp>
      <p:sp>
        <p:nvSpPr>
          <p:cNvPr id="28" name="Shape 25"/>
          <p:cNvSpPr/>
          <p:nvPr/>
        </p:nvSpPr>
        <p:spPr>
          <a:xfrm>
            <a:off x="6035040" y="2880360"/>
            <a:ext cx="1188720" cy="731520"/>
          </a:xfrm>
          <a:prstGeom prst="rect">
            <a:avLst/>
          </a:prstGeom>
          <a:solidFill>
            <a:schemeClr val="bg1"/>
          </a:solidFill>
          <a:ln w="12700">
            <a:solidFill>
              <a:srgbClr val="1B2A41"/>
            </a:solidFill>
            <a:prstDash val="solid"/>
          </a:ln>
        </p:spPr>
      </p:sp>
      <p:sp>
        <p:nvSpPr>
          <p:cNvPr id="29" name="Text 26"/>
          <p:cNvSpPr txBox="1"/>
          <p:nvPr/>
        </p:nvSpPr>
        <p:spPr>
          <a:xfrm>
            <a:off x="6035040" y="2880360"/>
            <a:ext cx="1188720" cy="731520"/>
          </a:xfrm>
          <a:prstGeom prst="rect">
            <a:avLst/>
          </a:prstGeom>
          <a:noFill/>
          <a:ln/>
        </p:spPr>
        <p:txBody>
          <a:bodyPr wrap="square" lIns="0" tIns="0" rIns="0" bIns="0" rtlCol="0" anchor="ctr"/>
          <a:lstStyle/>
          <a:p>
            <a:pPr algn="ctr" indent="0" marL="0">
              <a:buNone/>
            </a:pPr>
            <a:r>
              <a:rPr lang="en-US" sz="1200" b="1" dirty="0">
                <a:solidFill>
                  <a:schemeClr val="tx1"/>
                </a:solidFill>
              </a:rPr>
              <a:t>Open LLM</a:t>
            </a:r>
            <a:endParaRPr lang="en-US" sz="1200" dirty="0"/>
          </a:p>
        </p:txBody>
      </p:sp>
      <p:sp>
        <p:nvSpPr>
          <p:cNvPr id="30" name="Shape 27"/>
          <p:cNvSpPr/>
          <p:nvPr/>
        </p:nvSpPr>
        <p:spPr>
          <a:xfrm>
            <a:off x="7223760" y="3246120"/>
            <a:ext cx="182880" cy="0"/>
          </a:xfrm>
          <a:prstGeom prst="line">
            <a:avLst/>
          </a:prstGeom>
          <a:noFill/>
          <a:ln w="15875">
            <a:solidFill>
              <a:srgbClr val="1B2A41"/>
            </a:solidFill>
            <a:prstDash val="solid"/>
            <a:tailEnd type="triangle"/>
          </a:ln>
        </p:spPr>
      </p:sp>
      <p:sp>
        <p:nvSpPr>
          <p:cNvPr id="31" name="Shape 28"/>
          <p:cNvSpPr/>
          <p:nvPr/>
        </p:nvSpPr>
        <p:spPr>
          <a:xfrm>
            <a:off x="7406640" y="2880360"/>
            <a:ext cx="1188720" cy="731520"/>
          </a:xfrm>
          <a:prstGeom prst="rect">
            <a:avLst/>
          </a:prstGeom>
          <a:solidFill>
            <a:schemeClr val="bg1"/>
          </a:solidFill>
          <a:ln w="12700">
            <a:solidFill>
              <a:srgbClr val="1B2A41"/>
            </a:solidFill>
            <a:prstDash val="solid"/>
          </a:ln>
        </p:spPr>
      </p:sp>
      <p:sp>
        <p:nvSpPr>
          <p:cNvPr id="32" name="Text 29"/>
          <p:cNvSpPr txBox="1"/>
          <p:nvPr/>
        </p:nvSpPr>
        <p:spPr>
          <a:xfrm>
            <a:off x="7406640" y="2880360"/>
            <a:ext cx="1188720" cy="731520"/>
          </a:xfrm>
          <a:prstGeom prst="rect">
            <a:avLst/>
          </a:prstGeom>
          <a:noFill/>
          <a:ln/>
        </p:spPr>
        <p:txBody>
          <a:bodyPr wrap="square" lIns="0" tIns="0" rIns="0" bIns="0" rtlCol="0" anchor="ctr"/>
          <a:lstStyle/>
          <a:p>
            <a:pPr algn="ctr" indent="0" marL="0">
              <a:buNone/>
            </a:pPr>
            <a:r>
              <a:rPr lang="en-US" sz="1200" b="1" dirty="0">
                <a:solidFill>
                  <a:schemeClr val="tx1"/>
                </a:solidFill>
              </a:rPr>
              <a:t>Answer + sources</a:t>
            </a:r>
            <a:endParaRPr lang="en-US" sz="1200" dirty="0"/>
          </a:p>
        </p:txBody>
      </p:sp>
      <p:sp>
        <p:nvSpPr>
          <p:cNvPr id="33" name="Shape 30"/>
          <p:cNvSpPr/>
          <p:nvPr/>
        </p:nvSpPr>
        <p:spPr>
          <a:xfrm>
            <a:off x="7040880" y="1965960"/>
            <a:ext cx="0" cy="685800"/>
          </a:xfrm>
          <a:prstGeom prst="line">
            <a:avLst/>
          </a:prstGeom>
          <a:noFill/>
          <a:ln w="15875">
            <a:solidFill>
              <a:srgbClr val="B5432A"/>
            </a:solidFill>
            <a:prstDash val="dash"/>
          </a:ln>
        </p:spPr>
      </p:sp>
      <p:sp>
        <p:nvSpPr>
          <p:cNvPr id="34" name="Shape 31"/>
          <p:cNvSpPr/>
          <p:nvPr/>
        </p:nvSpPr>
        <p:spPr>
          <a:xfrm>
            <a:off x="4663440" y="2651760"/>
            <a:ext cx="2377440" cy="0"/>
          </a:xfrm>
          <a:prstGeom prst="line">
            <a:avLst/>
          </a:prstGeom>
          <a:noFill/>
          <a:ln w="15875">
            <a:solidFill>
              <a:srgbClr val="B5432A"/>
            </a:solidFill>
            <a:prstDash val="dash"/>
          </a:ln>
        </p:spPr>
      </p:sp>
      <p:sp>
        <p:nvSpPr>
          <p:cNvPr id="35" name="Shape 32"/>
          <p:cNvSpPr/>
          <p:nvPr/>
        </p:nvSpPr>
        <p:spPr>
          <a:xfrm>
            <a:off x="4663440" y="2651760"/>
            <a:ext cx="0" cy="228600"/>
          </a:xfrm>
          <a:prstGeom prst="line">
            <a:avLst/>
          </a:prstGeom>
          <a:noFill/>
          <a:ln w="15875">
            <a:solidFill>
              <a:srgbClr val="B5432A"/>
            </a:solidFill>
            <a:prstDash val="solid"/>
            <a:tailEnd type="triangle"/>
          </a:ln>
        </p:spPr>
      </p:sp>
      <p:sp>
        <p:nvSpPr>
          <p:cNvPr id="36" name="Text 33"/>
          <p:cNvSpPr txBox="1"/>
          <p:nvPr/>
        </p:nvSpPr>
        <p:spPr>
          <a:xfrm>
            <a:off x="5394960" y="2240280"/>
            <a:ext cx="2194560" cy="274320"/>
          </a:xfrm>
          <a:prstGeom prst="rect">
            <a:avLst/>
          </a:prstGeom>
          <a:noFill/>
          <a:ln/>
        </p:spPr>
        <p:txBody>
          <a:bodyPr wrap="square" lIns="0" tIns="0" rIns="0" bIns="0" rtlCol="0" anchor="t"/>
          <a:lstStyle/>
          <a:p>
            <a:pPr indent="0" marL="0">
              <a:buNone/>
            </a:pPr>
            <a:r>
              <a:rPr lang="en-US" sz="1200" i="1" dirty="0">
                <a:solidFill>
                  <a:schemeClr val="accent1"/>
                </a:solidFill>
              </a:rPr>
              <a:t>searches the collection</a:t>
            </a:r>
            <a:endParaRPr lang="en-US" sz="1200" dirty="0"/>
          </a:p>
        </p:txBody>
      </p:sp>
      <p:sp>
        <p:nvSpPr>
          <p:cNvPr id="37" name="Text 34"/>
          <p:cNvSpPr txBox="1"/>
          <p:nvPr/>
        </p:nvSpPr>
        <p:spPr>
          <a:xfrm>
            <a:off x="457200" y="3931920"/>
            <a:ext cx="548640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8.1  Ingestion and query paths</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Retrieve, augment, generate</a:t>
            </a:r>
            <a:endParaRPr lang="en-US" sz="3000" dirty="0"/>
          </a:p>
        </p:txBody>
      </p:sp>
      <p:sp>
        <p:nvSpPr>
          <p:cNvPr id="4" name="Text 1"/>
          <p:cNvSpPr txBox="1"/>
          <p:nvPr/>
        </p:nvSpPr>
        <p:spPr>
          <a:xfrm>
            <a:off x="457200" y="1280160"/>
            <a:ext cx="457200" cy="64008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1</a:t>
            </a:r>
            <a:endParaRPr lang="en-US" sz="3200" dirty="0"/>
          </a:p>
        </p:txBody>
      </p:sp>
      <p:sp>
        <p:nvSpPr>
          <p:cNvPr id="5" name="Text 2"/>
          <p:cNvSpPr txBox="1"/>
          <p:nvPr/>
        </p:nvSpPr>
        <p:spPr>
          <a:xfrm>
            <a:off x="1097280" y="1280160"/>
            <a:ext cx="182880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Retrieve</a:t>
            </a:r>
            <a:endParaRPr lang="en-US" sz="2200" dirty="0"/>
          </a:p>
        </p:txBody>
      </p:sp>
      <p:sp>
        <p:nvSpPr>
          <p:cNvPr id="6" name="Text 3"/>
          <p:cNvSpPr txBox="1"/>
          <p:nvPr/>
        </p:nvSpPr>
        <p:spPr>
          <a:xfrm>
            <a:off x="3017520" y="1280160"/>
            <a:ext cx="5669280" cy="822960"/>
          </a:xfrm>
          <a:prstGeom prst="rect">
            <a:avLst/>
          </a:prstGeom>
          <a:noFill/>
          <a:ln/>
        </p:spPr>
        <p:txBody>
          <a:bodyPr wrap="square" lIns="0" tIns="0" rIns="0" bIns="0" rtlCol="0" anchor="ctr"/>
          <a:lstStyle/>
          <a:p>
            <a:pPr indent="0" marL="0">
              <a:buNone/>
            </a:pPr>
            <a:r>
              <a:rPr lang="en-US" sz="1400" dirty="0">
                <a:solidFill>
                  <a:schemeClr val="tx1"/>
                </a:solidFill>
              </a:rPr>
              <a:t>Embed the question and fetch the k nearest chunks from Chroma, with their metadata and distances.</a:t>
            </a:r>
            <a:endParaRPr lang="en-US" sz="1400" dirty="0"/>
          </a:p>
        </p:txBody>
      </p:sp>
      <p:sp>
        <p:nvSpPr>
          <p:cNvPr id="7" name="Shape 4"/>
          <p:cNvSpPr/>
          <p:nvPr/>
        </p:nvSpPr>
        <p:spPr>
          <a:xfrm>
            <a:off x="457200" y="2194560"/>
            <a:ext cx="8229600" cy="0"/>
          </a:xfrm>
          <a:prstGeom prst="line">
            <a:avLst/>
          </a:prstGeom>
          <a:noFill/>
          <a:ln w="6350">
            <a:solidFill>
              <a:schemeClr val="accent6"/>
            </a:solidFill>
            <a:prstDash val="solid"/>
          </a:ln>
        </p:spPr>
      </p:sp>
      <p:sp>
        <p:nvSpPr>
          <p:cNvPr id="8" name="Text 5"/>
          <p:cNvSpPr txBox="1"/>
          <p:nvPr/>
        </p:nvSpPr>
        <p:spPr>
          <a:xfrm>
            <a:off x="457200" y="2331720"/>
            <a:ext cx="457200" cy="64008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2</a:t>
            </a:r>
            <a:endParaRPr lang="en-US" sz="3200" dirty="0"/>
          </a:p>
        </p:txBody>
      </p:sp>
      <p:sp>
        <p:nvSpPr>
          <p:cNvPr id="9" name="Text 6"/>
          <p:cNvSpPr txBox="1"/>
          <p:nvPr/>
        </p:nvSpPr>
        <p:spPr>
          <a:xfrm>
            <a:off x="1097280" y="2331720"/>
            <a:ext cx="182880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Augment</a:t>
            </a:r>
            <a:endParaRPr lang="en-US" sz="2200" dirty="0"/>
          </a:p>
        </p:txBody>
      </p:sp>
      <p:sp>
        <p:nvSpPr>
          <p:cNvPr id="10" name="Text 7"/>
          <p:cNvSpPr txBox="1"/>
          <p:nvPr/>
        </p:nvSpPr>
        <p:spPr>
          <a:xfrm>
            <a:off x="3017520" y="2331720"/>
            <a:ext cx="5669280" cy="822960"/>
          </a:xfrm>
          <a:prstGeom prst="rect">
            <a:avLst/>
          </a:prstGeom>
          <a:noFill/>
          <a:ln/>
        </p:spPr>
        <p:txBody>
          <a:bodyPr wrap="square" lIns="0" tIns="0" rIns="0" bIns="0" rtlCol="0" anchor="ctr"/>
          <a:lstStyle/>
          <a:p>
            <a:pPr indent="0" marL="0">
              <a:buNone/>
            </a:pPr>
            <a:r>
              <a:rPr lang="en-US" sz="1400" dirty="0">
                <a:solidFill>
                  <a:schemeClr val="tx1"/>
                </a:solidFill>
              </a:rPr>
              <a:t>Place the chunks, numbered and labelled with source and page, into a prompt together with clear instructions.</a:t>
            </a:r>
            <a:endParaRPr lang="en-US" sz="1400" dirty="0"/>
          </a:p>
        </p:txBody>
      </p:sp>
      <p:sp>
        <p:nvSpPr>
          <p:cNvPr id="11" name="Shape 8"/>
          <p:cNvSpPr/>
          <p:nvPr/>
        </p:nvSpPr>
        <p:spPr>
          <a:xfrm>
            <a:off x="457200" y="3246120"/>
            <a:ext cx="8229600" cy="0"/>
          </a:xfrm>
          <a:prstGeom prst="line">
            <a:avLst/>
          </a:prstGeom>
          <a:noFill/>
          <a:ln w="6350">
            <a:solidFill>
              <a:schemeClr val="accent6"/>
            </a:solidFill>
            <a:prstDash val="solid"/>
          </a:ln>
        </p:spPr>
      </p:sp>
      <p:sp>
        <p:nvSpPr>
          <p:cNvPr id="12" name="Text 9"/>
          <p:cNvSpPr txBox="1"/>
          <p:nvPr/>
        </p:nvSpPr>
        <p:spPr>
          <a:xfrm>
            <a:off x="457200" y="3383280"/>
            <a:ext cx="457200" cy="64008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3</a:t>
            </a:r>
            <a:endParaRPr lang="en-US" sz="3200" dirty="0"/>
          </a:p>
        </p:txBody>
      </p:sp>
      <p:sp>
        <p:nvSpPr>
          <p:cNvPr id="13" name="Text 10"/>
          <p:cNvSpPr txBox="1"/>
          <p:nvPr/>
        </p:nvSpPr>
        <p:spPr>
          <a:xfrm>
            <a:off x="1097280" y="3383280"/>
            <a:ext cx="182880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Generate</a:t>
            </a:r>
            <a:endParaRPr lang="en-US" sz="2200" dirty="0"/>
          </a:p>
        </p:txBody>
      </p:sp>
      <p:sp>
        <p:nvSpPr>
          <p:cNvPr id="14" name="Text 11"/>
          <p:cNvSpPr txBox="1"/>
          <p:nvPr/>
        </p:nvSpPr>
        <p:spPr>
          <a:xfrm>
            <a:off x="3017520" y="3383280"/>
            <a:ext cx="5669280" cy="822960"/>
          </a:xfrm>
          <a:prstGeom prst="rect">
            <a:avLst/>
          </a:prstGeom>
          <a:noFill/>
          <a:ln/>
        </p:spPr>
        <p:txBody>
          <a:bodyPr wrap="square" lIns="0" tIns="0" rIns="0" bIns="0" rtlCol="0" anchor="ctr"/>
          <a:lstStyle/>
          <a:p>
            <a:pPr indent="0" marL="0">
              <a:buNone/>
            </a:pPr>
            <a:r>
              <a:rPr lang="en-US" sz="1400" dirty="0">
                <a:solidFill>
                  <a:schemeClr val="tx1"/>
                </a:solidFill>
              </a:rPr>
              <a:t>The model writes an answer from that context. Use deterministic decoding so the same question gives the same answer.</a:t>
            </a:r>
            <a:endParaRPr lang="en-US" sz="1400" dirty="0"/>
          </a:p>
        </p:txBody>
      </p:sp>
      <p:sp>
        <p:nvSpPr>
          <p:cNvPr id="15" name="Shape 12"/>
          <p:cNvSpPr/>
          <p:nvPr/>
        </p:nvSpPr>
        <p:spPr>
          <a:xfrm>
            <a:off x="457200" y="4297680"/>
            <a:ext cx="8229600" cy="0"/>
          </a:xfrm>
          <a:prstGeom prst="line">
            <a:avLst/>
          </a:prstGeom>
          <a:noFill/>
          <a:ln w="6350">
            <a:solidFill>
              <a:schemeClr val="accent6"/>
            </a:solidFill>
            <a:prstDash val="solid"/>
          </a:ln>
        </p:spPr>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 prompt that stays grounded</a:t>
            </a:r>
            <a:endParaRPr lang="en-US" sz="3000" dirty="0"/>
          </a:p>
        </p:txBody>
      </p:sp>
      <p:sp>
        <p:nvSpPr>
          <p:cNvPr id="4" name="Shape 1"/>
          <p:cNvSpPr/>
          <p:nvPr/>
        </p:nvSpPr>
        <p:spPr>
          <a:xfrm>
            <a:off x="457200" y="1280160"/>
            <a:ext cx="5303520" cy="3291840"/>
          </a:xfrm>
          <a:prstGeom prst="rect">
            <a:avLst/>
          </a:prstGeom>
          <a:solidFill>
            <a:srgbClr val="F3F4F6"/>
          </a:solidFill>
          <a:ln w="12700">
            <a:solidFill>
              <a:srgbClr val="D1D5DB"/>
            </a:solidFill>
            <a:prstDash val="solid"/>
          </a:ln>
        </p:spPr>
      </p:sp>
      <p:sp>
        <p:nvSpPr>
          <p:cNvPr id="5" name="Text 2"/>
          <p:cNvSpPr txBox="1"/>
          <p:nvPr/>
        </p:nvSpPr>
        <p:spPr>
          <a:xfrm>
            <a:off x="594360" y="1389888"/>
            <a:ext cx="5029200" cy="3072384"/>
          </a:xfrm>
          <a:prstGeom prst="rect">
            <a:avLst/>
          </a:prstGeom>
          <a:noFill/>
          <a:ln/>
        </p:spPr>
        <p:txBody>
          <a:bodyPr wrap="square" lIns="0" tIns="0" rIns="0" bIns="0" rtlCol="0" anchor="t"/>
          <a:lstStyle/>
          <a:p>
            <a:pPr indent="0" marL="0">
              <a:buNone/>
            </a:pPr>
            <a:r>
              <a:rPr lang="en-US" sz="1050" dirty="0">
                <a:solidFill>
                  <a:schemeClr val="tx1"/>
                </a:solidFill>
                <a:latin typeface="Courier New" pitchFamily="34" charset="0"/>
                <a:ea typeface="Courier New" pitchFamily="34" charset="-122"/>
                <a:cs typeface="Courier New" pitchFamily="34" charset="-120"/>
              </a:rPr>
              <a:t>SYSTEM</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Answer using only the numbered context</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passages. Cite passages like [1].</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If the context does not contain the</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answer, reply exactly:</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"I don't know based on the documents."</a:t>
            </a:r>
            <a:endParaRPr lang="en-US" sz="1050" dirty="0"/>
          </a:p>
          <a:p>
            <a:pPr indent="0" marL="0">
              <a:buNone/>
            </a:pP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USER</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Context:</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[1] (paper.pdf, page 4)</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&lt;chunk text ...&gt;</a:t>
            </a:r>
            <a:endParaRPr lang="en-US" sz="1050" dirty="0"/>
          </a:p>
          <a:p>
            <a:pPr indent="0" marL="0">
              <a:buNone/>
            </a:pP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[2] (paper.pdf, page 7)</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&lt;chunk text ...&gt;</a:t>
            </a:r>
            <a:endParaRPr lang="en-US" sz="1050" dirty="0"/>
          </a:p>
          <a:p>
            <a:pPr indent="0" marL="0">
              <a:buNone/>
            </a:pP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Question: Which optimizer was used?</a:t>
            </a:r>
            <a:endParaRPr lang="en-US" sz="1050" dirty="0"/>
          </a:p>
        </p:txBody>
      </p:sp>
      <p:sp>
        <p:nvSpPr>
          <p:cNvPr id="6" name="Text 3"/>
          <p:cNvSpPr txBox="1"/>
          <p:nvPr/>
        </p:nvSpPr>
        <p:spPr>
          <a:xfrm>
            <a:off x="6035040" y="1280160"/>
            <a:ext cx="265176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Why each part</a:t>
            </a:r>
            <a:endParaRPr lang="en-US" sz="1800" dirty="0"/>
          </a:p>
        </p:txBody>
      </p:sp>
      <p:sp>
        <p:nvSpPr>
          <p:cNvPr id="7" name="Text 4"/>
          <p:cNvSpPr txBox="1"/>
          <p:nvPr/>
        </p:nvSpPr>
        <p:spPr>
          <a:xfrm>
            <a:off x="6035040" y="1737360"/>
            <a:ext cx="265176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Only the context: limits invention</a:t>
            </a:r>
            <a:endParaRPr lang="en-US" sz="1300" dirty="0"/>
          </a:p>
          <a:p>
            <a:pPr marL="342900" indent="-342900">
              <a:spcAft>
                <a:spcPts val="600"/>
              </a:spcAft>
              <a:buSzPct val="100000"/>
              <a:buChar char="•"/>
            </a:pPr>
            <a:r>
              <a:rPr lang="en-US" sz="1300" dirty="0">
                <a:solidFill>
                  <a:schemeClr val="tx1"/>
                </a:solidFill>
              </a:rPr>
              <a:t>Numbers: enable citations</a:t>
            </a:r>
            <a:endParaRPr lang="en-US" sz="1300" dirty="0"/>
          </a:p>
          <a:p>
            <a:pPr marL="342900" indent="-342900">
              <a:spcAft>
                <a:spcPts val="600"/>
              </a:spcAft>
              <a:buSzPct val="100000"/>
              <a:buChar char="•"/>
            </a:pPr>
            <a:r>
              <a:rPr lang="en-US" sz="1300" dirty="0">
                <a:solidFill>
                  <a:schemeClr val="tx1"/>
                </a:solidFill>
              </a:rPr>
              <a:t>Exact refusal: easy to detect in code</a:t>
            </a:r>
            <a:endParaRPr lang="en-US" sz="1300" dirty="0"/>
          </a:p>
          <a:p>
            <a:pPr marL="342900" indent="-342900">
              <a:spcAft>
                <a:spcPts val="600"/>
              </a:spcAft>
              <a:buSzPct val="100000"/>
              <a:buChar char="•"/>
            </a:pPr>
            <a:r>
              <a:rPr lang="en-US" sz="1300" dirty="0">
                <a:solidFill>
                  <a:schemeClr val="tx1"/>
                </a:solidFill>
              </a:rPr>
              <a:t>Source labels: from Lecture 6 metadata</a:t>
            </a:r>
            <a:endParaRPr lang="en-US" sz="1300" dirty="0"/>
          </a:p>
          <a:p>
            <a:pPr marL="342900" indent="-342900">
              <a:spcAft>
                <a:spcPts val="600"/>
              </a:spcAft>
              <a:buSzPct val="100000"/>
              <a:buChar char="•"/>
            </a:pPr>
            <a:r>
              <a:rPr lang="en-US" sz="1300" dirty="0">
                <a:solidFill>
                  <a:schemeClr val="tx1"/>
                </a:solidFill>
              </a:rPr>
              <a:t>Question last: models weigh it more</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 free generator</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743200"/>
                <a:gridCol w="1554480"/>
                <a:gridCol w="1737360"/>
                <a:gridCol w="219456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Option</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Cost</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Needs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Notes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54864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transformers + Qwen2.5-1.5B-Instruct</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free (Apache-2.0)</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Colab; GPU helps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Used in the lab; modest quality</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Ollama with a small open model</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free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your own computer</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Simple local runtime and API</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llama.cpp with a quantized model</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free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your own computer</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Runs well on CPU</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Other small open models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free, license varies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Colab or local</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Read the license first</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5" name="Text 1"/>
          <p:cNvSpPr txBox="1"/>
          <p:nvPr/>
        </p:nvSpPr>
        <p:spPr>
          <a:xfrm>
            <a:off x="457200" y="3886200"/>
            <a:ext cx="822960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Table 8.1  Free generators; quality and speed depend on hardware and model size</a:t>
            </a:r>
            <a:endParaRPr lang="en-US" sz="1100" dirty="0"/>
          </a:p>
        </p:txBody>
      </p:sp>
      <p:sp>
        <p:nvSpPr>
          <p:cNvPr id="6" name="Text 2"/>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1300" i="1" dirty="0">
                <a:solidFill>
                  <a:schemeClr val="accent1"/>
                </a:solidFill>
                <a:latin typeface="Cambria" pitchFamily="34" charset="0"/>
                <a:ea typeface="Cambria" pitchFamily="34" charset="-122"/>
                <a:cs typeface="Cambria" pitchFamily="34" charset="-120"/>
              </a:rPr>
              <a:t>A weak generator makes weak retrieval obvious, which is a good teaching tool: if the right chunk is in the prompt, even a small model usually answers.</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The context budget</a:t>
            </a:r>
            <a:endParaRPr lang="en-US" sz="3000" dirty="0"/>
          </a:p>
        </p:txBody>
      </p:sp>
      <p:sp>
        <p:nvSpPr>
          <p:cNvPr id="4" name="Shape 1"/>
          <p:cNvSpPr/>
          <p:nvPr/>
        </p:nvSpPr>
        <p:spPr>
          <a:xfrm>
            <a:off x="457200" y="1554480"/>
            <a:ext cx="697424" cy="731520"/>
          </a:xfrm>
          <a:prstGeom prst="rect">
            <a:avLst/>
          </a:prstGeom>
          <a:solidFill>
            <a:srgbClr val="2F5D8A"/>
          </a:solidFill>
          <a:ln w="12700">
            <a:solidFill>
              <a:srgbClr val="FFFFFF"/>
            </a:solidFill>
            <a:prstDash val="solid"/>
          </a:ln>
        </p:spPr>
      </p:sp>
      <p:sp>
        <p:nvSpPr>
          <p:cNvPr id="5" name="Shape 2"/>
          <p:cNvSpPr/>
          <p:nvPr/>
        </p:nvSpPr>
        <p:spPr>
          <a:xfrm>
            <a:off x="1154624" y="1554480"/>
            <a:ext cx="5579390" cy="731520"/>
          </a:xfrm>
          <a:prstGeom prst="rect">
            <a:avLst/>
          </a:prstGeom>
          <a:solidFill>
            <a:srgbClr val="B5432A"/>
          </a:solidFill>
          <a:ln w="12700">
            <a:solidFill>
              <a:srgbClr val="FFFFFF"/>
            </a:solidFill>
            <a:prstDash val="solid"/>
          </a:ln>
        </p:spPr>
      </p:sp>
      <p:sp>
        <p:nvSpPr>
          <p:cNvPr id="6" name="Shape 3"/>
          <p:cNvSpPr/>
          <p:nvPr/>
        </p:nvSpPr>
        <p:spPr>
          <a:xfrm>
            <a:off x="6734014" y="1554480"/>
            <a:ext cx="209227" cy="731520"/>
          </a:xfrm>
          <a:prstGeom prst="rect">
            <a:avLst/>
          </a:prstGeom>
          <a:solidFill>
            <a:srgbClr val="8A6D1F"/>
          </a:solidFill>
          <a:ln w="12700">
            <a:solidFill>
              <a:srgbClr val="FFFFFF"/>
            </a:solidFill>
            <a:prstDash val="solid"/>
          </a:ln>
        </p:spPr>
      </p:sp>
      <p:sp>
        <p:nvSpPr>
          <p:cNvPr id="7" name="Shape 4"/>
          <p:cNvSpPr/>
          <p:nvPr/>
        </p:nvSpPr>
        <p:spPr>
          <a:xfrm>
            <a:off x="6943241" y="1554480"/>
            <a:ext cx="1743559" cy="731520"/>
          </a:xfrm>
          <a:prstGeom prst="rect">
            <a:avLst/>
          </a:prstGeom>
          <a:solidFill>
            <a:srgbClr val="6B7280"/>
          </a:solidFill>
          <a:ln w="12700">
            <a:solidFill>
              <a:srgbClr val="FFFFFF"/>
            </a:solidFill>
            <a:prstDash val="solid"/>
          </a:ln>
        </p:spPr>
      </p:sp>
      <p:sp>
        <p:nvSpPr>
          <p:cNvPr id="8" name="Text 5"/>
          <p:cNvSpPr txBox="1"/>
          <p:nvPr/>
        </p:nvSpPr>
        <p:spPr>
          <a:xfrm>
            <a:off x="457200" y="2423160"/>
            <a:ext cx="2011680" cy="274320"/>
          </a:xfrm>
          <a:prstGeom prst="rect">
            <a:avLst/>
          </a:prstGeom>
          <a:noFill/>
          <a:ln/>
        </p:spPr>
        <p:txBody>
          <a:bodyPr wrap="square" lIns="0" tIns="0" rIns="0" bIns="0" rtlCol="0" anchor="t"/>
          <a:lstStyle/>
          <a:p>
            <a:pPr indent="0" marL="0">
              <a:buNone/>
            </a:pPr>
            <a:r>
              <a:rPr lang="en-US" sz="1200" b="1" dirty="0">
                <a:solidFill>
                  <a:srgbClr val="2F5D8A"/>
                </a:solidFill>
              </a:rPr>
              <a:t>Instructions</a:t>
            </a:r>
            <a:endParaRPr lang="en-US" sz="1200" dirty="0"/>
          </a:p>
        </p:txBody>
      </p:sp>
      <p:sp>
        <p:nvSpPr>
          <p:cNvPr id="9" name="Text 6"/>
          <p:cNvSpPr txBox="1"/>
          <p:nvPr/>
        </p:nvSpPr>
        <p:spPr>
          <a:xfrm>
            <a:off x="457200" y="2697480"/>
            <a:ext cx="2011680" cy="274320"/>
          </a:xfrm>
          <a:prstGeom prst="rect">
            <a:avLst/>
          </a:prstGeom>
          <a:noFill/>
          <a:ln/>
        </p:spPr>
        <p:txBody>
          <a:bodyPr wrap="square" lIns="0" tIns="0" rIns="0" bIns="0" rtlCol="0" anchor="t"/>
          <a:lstStyle/>
          <a:p>
            <a:pPr indent="0" marL="0">
              <a:buNone/>
            </a:pPr>
            <a:r>
              <a:rPr lang="en-US" sz="1200" dirty="0">
                <a:solidFill>
                  <a:schemeClr val="accent5"/>
                </a:solidFill>
              </a:rPr>
              <a:t>~100 tokens</a:t>
            </a:r>
            <a:endParaRPr lang="en-US" sz="1200" dirty="0"/>
          </a:p>
        </p:txBody>
      </p:sp>
      <p:sp>
        <p:nvSpPr>
          <p:cNvPr id="10" name="Text 7"/>
          <p:cNvSpPr txBox="1"/>
          <p:nvPr/>
        </p:nvSpPr>
        <p:spPr>
          <a:xfrm>
            <a:off x="2514600" y="2423160"/>
            <a:ext cx="2011680" cy="274320"/>
          </a:xfrm>
          <a:prstGeom prst="rect">
            <a:avLst/>
          </a:prstGeom>
          <a:noFill/>
          <a:ln/>
        </p:spPr>
        <p:txBody>
          <a:bodyPr wrap="square" lIns="0" tIns="0" rIns="0" bIns="0" rtlCol="0" anchor="t"/>
          <a:lstStyle/>
          <a:p>
            <a:pPr indent="0" marL="0">
              <a:buNone/>
            </a:pPr>
            <a:r>
              <a:rPr lang="en-US" sz="1200" b="1" dirty="0">
                <a:solidFill>
                  <a:srgbClr val="B5432A"/>
                </a:solidFill>
              </a:rPr>
              <a:t>Retrieved chunks (4 x 200)</a:t>
            </a:r>
            <a:endParaRPr lang="en-US" sz="1200" dirty="0"/>
          </a:p>
        </p:txBody>
      </p:sp>
      <p:sp>
        <p:nvSpPr>
          <p:cNvPr id="11" name="Text 8"/>
          <p:cNvSpPr txBox="1"/>
          <p:nvPr/>
        </p:nvSpPr>
        <p:spPr>
          <a:xfrm>
            <a:off x="2514600" y="2697480"/>
            <a:ext cx="2011680" cy="274320"/>
          </a:xfrm>
          <a:prstGeom prst="rect">
            <a:avLst/>
          </a:prstGeom>
          <a:noFill/>
          <a:ln/>
        </p:spPr>
        <p:txBody>
          <a:bodyPr wrap="square" lIns="0" tIns="0" rIns="0" bIns="0" rtlCol="0" anchor="t"/>
          <a:lstStyle/>
          <a:p>
            <a:pPr indent="0" marL="0">
              <a:buNone/>
            </a:pPr>
            <a:r>
              <a:rPr lang="en-US" sz="1200" dirty="0">
                <a:solidFill>
                  <a:schemeClr val="accent5"/>
                </a:solidFill>
              </a:rPr>
              <a:t>~800 tokens</a:t>
            </a:r>
            <a:endParaRPr lang="en-US" sz="1200" dirty="0"/>
          </a:p>
        </p:txBody>
      </p:sp>
      <p:sp>
        <p:nvSpPr>
          <p:cNvPr id="12" name="Text 9"/>
          <p:cNvSpPr txBox="1"/>
          <p:nvPr/>
        </p:nvSpPr>
        <p:spPr>
          <a:xfrm>
            <a:off x="4572000" y="2423160"/>
            <a:ext cx="2011680" cy="274320"/>
          </a:xfrm>
          <a:prstGeom prst="rect">
            <a:avLst/>
          </a:prstGeom>
          <a:noFill/>
          <a:ln/>
        </p:spPr>
        <p:txBody>
          <a:bodyPr wrap="square" lIns="0" tIns="0" rIns="0" bIns="0" rtlCol="0" anchor="t"/>
          <a:lstStyle/>
          <a:p>
            <a:pPr indent="0" marL="0">
              <a:buNone/>
            </a:pPr>
            <a:r>
              <a:rPr lang="en-US" sz="1200" b="1" dirty="0">
                <a:solidFill>
                  <a:srgbClr val="8A6D1F"/>
                </a:solidFill>
              </a:rPr>
              <a:t>Question</a:t>
            </a:r>
            <a:endParaRPr lang="en-US" sz="1200" dirty="0"/>
          </a:p>
        </p:txBody>
      </p:sp>
      <p:sp>
        <p:nvSpPr>
          <p:cNvPr id="13" name="Text 10"/>
          <p:cNvSpPr txBox="1"/>
          <p:nvPr/>
        </p:nvSpPr>
        <p:spPr>
          <a:xfrm>
            <a:off x="4572000" y="2697480"/>
            <a:ext cx="2011680" cy="274320"/>
          </a:xfrm>
          <a:prstGeom prst="rect">
            <a:avLst/>
          </a:prstGeom>
          <a:noFill/>
          <a:ln/>
        </p:spPr>
        <p:txBody>
          <a:bodyPr wrap="square" lIns="0" tIns="0" rIns="0" bIns="0" rtlCol="0" anchor="t"/>
          <a:lstStyle/>
          <a:p>
            <a:pPr indent="0" marL="0">
              <a:buNone/>
            </a:pPr>
            <a:r>
              <a:rPr lang="en-US" sz="1200" dirty="0">
                <a:solidFill>
                  <a:schemeClr val="accent5"/>
                </a:solidFill>
              </a:rPr>
              <a:t>~30 tokens</a:t>
            </a:r>
            <a:endParaRPr lang="en-US" sz="1200" dirty="0"/>
          </a:p>
        </p:txBody>
      </p:sp>
      <p:sp>
        <p:nvSpPr>
          <p:cNvPr id="14" name="Text 11"/>
          <p:cNvSpPr txBox="1"/>
          <p:nvPr/>
        </p:nvSpPr>
        <p:spPr>
          <a:xfrm>
            <a:off x="6629400" y="2423160"/>
            <a:ext cx="2011680" cy="274320"/>
          </a:xfrm>
          <a:prstGeom prst="rect">
            <a:avLst/>
          </a:prstGeom>
          <a:noFill/>
          <a:ln/>
        </p:spPr>
        <p:txBody>
          <a:bodyPr wrap="square" lIns="0" tIns="0" rIns="0" bIns="0" rtlCol="0" anchor="t"/>
          <a:lstStyle/>
          <a:p>
            <a:pPr indent="0" marL="0">
              <a:buNone/>
            </a:pPr>
            <a:r>
              <a:rPr lang="en-US" sz="1200" b="1" dirty="0">
                <a:solidFill>
                  <a:srgbClr val="6B7280"/>
                </a:solidFill>
              </a:rPr>
              <a:t>Room for the answer</a:t>
            </a:r>
            <a:endParaRPr lang="en-US" sz="1200" dirty="0"/>
          </a:p>
        </p:txBody>
      </p:sp>
      <p:sp>
        <p:nvSpPr>
          <p:cNvPr id="15" name="Text 12"/>
          <p:cNvSpPr txBox="1"/>
          <p:nvPr/>
        </p:nvSpPr>
        <p:spPr>
          <a:xfrm>
            <a:off x="6629400" y="2697480"/>
            <a:ext cx="2011680" cy="274320"/>
          </a:xfrm>
          <a:prstGeom prst="rect">
            <a:avLst/>
          </a:prstGeom>
          <a:noFill/>
          <a:ln/>
        </p:spPr>
        <p:txBody>
          <a:bodyPr wrap="square" lIns="0" tIns="0" rIns="0" bIns="0" rtlCol="0" anchor="t"/>
          <a:lstStyle/>
          <a:p>
            <a:pPr indent="0" marL="0">
              <a:buNone/>
            </a:pPr>
            <a:r>
              <a:rPr lang="en-US" sz="1200" dirty="0">
                <a:solidFill>
                  <a:schemeClr val="accent5"/>
                </a:solidFill>
              </a:rPr>
              <a:t>~250 tokens</a:t>
            </a:r>
            <a:endParaRPr lang="en-US" sz="1200" dirty="0"/>
          </a:p>
        </p:txBody>
      </p:sp>
      <p:sp>
        <p:nvSpPr>
          <p:cNvPr id="16" name="Text 13"/>
          <p:cNvSpPr txBox="1"/>
          <p:nvPr/>
        </p:nvSpPr>
        <p:spPr>
          <a:xfrm>
            <a:off x="457200" y="3108960"/>
            <a:ext cx="822960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8.2  Approximate prompt composition, 1180 tokens in total</a:t>
            </a:r>
            <a:endParaRPr lang="en-US" sz="1100" dirty="0"/>
          </a:p>
        </p:txBody>
      </p:sp>
      <p:sp>
        <p:nvSpPr>
          <p:cNvPr id="17" name="Text 14"/>
          <p:cNvSpPr txBox="1"/>
          <p:nvPr/>
        </p:nvSpPr>
        <p:spPr>
          <a:xfrm>
            <a:off x="457200" y="3474720"/>
            <a:ext cx="8229600" cy="1188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Fewer, better chunks beat many mediocre ones</a:t>
            </a:r>
            <a:endParaRPr lang="en-US" sz="1400" dirty="0"/>
          </a:p>
          <a:p>
            <a:pPr marL="342900" indent="-342900">
              <a:spcAft>
                <a:spcPts val="800"/>
              </a:spcAft>
              <a:buSzPct val="100000"/>
              <a:buChar char="•"/>
            </a:pPr>
            <a:r>
              <a:rPr lang="en-US" sz="1400" dirty="0">
                <a:solidFill>
                  <a:schemeClr val="tx1"/>
                </a:solidFill>
              </a:rPr>
              <a:t>Order matters: models use the start and end of long contexts best (Liu et al., 2023)</a:t>
            </a:r>
            <a:endParaRPr lang="en-US" sz="1400" dirty="0"/>
          </a:p>
          <a:p>
            <a:pPr marL="342900" indent="-342900">
              <a:spcAft>
                <a:spcPts val="800"/>
              </a:spcAft>
              <a:buSzPct val="100000"/>
              <a:buChar char="•"/>
            </a:pPr>
            <a:r>
              <a:rPr lang="en-US" sz="1400" dirty="0">
                <a:solidFill>
                  <a:schemeClr val="tx1"/>
                </a:solidFill>
              </a:rPr>
              <a:t>On CPU, every extra token slows generation: keep prompts short</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Knowing when to say "I don't know"</a:t>
            </a:r>
            <a:endParaRPr lang="en-US" sz="3000" dirty="0"/>
          </a:p>
        </p:txBody>
      </p:sp>
      <p:sp>
        <p:nvSpPr>
          <p:cNvPr id="4" name="Shape 1"/>
          <p:cNvSpPr/>
          <p:nvPr/>
        </p:nvSpPr>
        <p:spPr>
          <a:xfrm>
            <a:off x="457200" y="1280160"/>
            <a:ext cx="8229600" cy="2377440"/>
          </a:xfrm>
          <a:prstGeom prst="rect">
            <a:avLst/>
          </a:prstGeom>
          <a:solidFill>
            <a:schemeClr val="bg1"/>
          </a:solidFill>
          <a:ln w="12700">
            <a:solidFill>
              <a:schemeClr val="accent6"/>
            </a:solidFill>
            <a:prstDash val="solid"/>
          </a:ln>
        </p:spPr>
      </p:sp>
      <p:sp>
        <p:nvSpPr>
          <p:cNvPr id="5" name="Shape 2"/>
          <p:cNvSpPr/>
          <p:nvPr/>
        </p:nvSpPr>
        <p:spPr>
          <a:xfrm>
            <a:off x="914400" y="3291840"/>
            <a:ext cx="7498080" cy="0"/>
          </a:xfrm>
          <a:prstGeom prst="line">
            <a:avLst/>
          </a:prstGeom>
          <a:noFill/>
          <a:ln w="12700">
            <a:solidFill>
              <a:srgbClr val="6B7280"/>
            </a:solidFill>
            <a:prstDash val="solid"/>
            <a:tailEnd type="triangle"/>
          </a:ln>
        </p:spPr>
      </p:sp>
      <p:sp>
        <p:nvSpPr>
          <p:cNvPr id="6" name="Text 3"/>
          <p:cNvSpPr txBox="1"/>
          <p:nvPr/>
        </p:nvSpPr>
        <p:spPr>
          <a:xfrm>
            <a:off x="4572000" y="2971800"/>
            <a:ext cx="3840480" cy="228600"/>
          </a:xfrm>
          <a:prstGeom prst="rect">
            <a:avLst/>
          </a:prstGeom>
          <a:noFill/>
          <a:ln/>
        </p:spPr>
        <p:txBody>
          <a:bodyPr wrap="square" lIns="0" tIns="0" rIns="0" bIns="0" rtlCol="0" anchor="t"/>
          <a:lstStyle/>
          <a:p>
            <a:pPr algn="r" indent="0" marL="0">
              <a:buNone/>
            </a:pPr>
            <a:r>
              <a:rPr lang="en-US" sz="1100" i="1" dirty="0">
                <a:solidFill>
                  <a:schemeClr val="accent5"/>
                </a:solidFill>
                <a:latin typeface="Cambria" pitchFamily="34" charset="0"/>
                <a:ea typeface="Cambria" pitchFamily="34" charset="-122"/>
                <a:cs typeface="Cambria" pitchFamily="34" charset="-120"/>
              </a:rPr>
              <a:t>cosine distance of the best chunk</a:t>
            </a:r>
            <a:endParaRPr lang="en-US" sz="1100" dirty="0"/>
          </a:p>
        </p:txBody>
      </p:sp>
      <p:sp>
        <p:nvSpPr>
          <p:cNvPr id="7" name="Shape 4"/>
          <p:cNvSpPr/>
          <p:nvPr/>
        </p:nvSpPr>
        <p:spPr>
          <a:xfrm>
            <a:off x="914400" y="3246120"/>
            <a:ext cx="0" cy="91440"/>
          </a:xfrm>
          <a:prstGeom prst="line">
            <a:avLst/>
          </a:prstGeom>
          <a:noFill/>
          <a:ln w="12700">
            <a:solidFill>
              <a:srgbClr val="6B7280"/>
            </a:solidFill>
            <a:prstDash val="solid"/>
          </a:ln>
        </p:spPr>
      </p:sp>
      <p:sp>
        <p:nvSpPr>
          <p:cNvPr id="8" name="Text 5"/>
          <p:cNvSpPr txBox="1"/>
          <p:nvPr/>
        </p:nvSpPr>
        <p:spPr>
          <a:xfrm>
            <a:off x="731520" y="3383280"/>
            <a:ext cx="365760" cy="182880"/>
          </a:xfrm>
          <a:prstGeom prst="rect">
            <a:avLst/>
          </a:prstGeom>
          <a:noFill/>
          <a:ln/>
        </p:spPr>
        <p:txBody>
          <a:bodyPr wrap="square" lIns="0" tIns="0" rIns="0" bIns="0" rtlCol="0" anchor="t"/>
          <a:lstStyle/>
          <a:p>
            <a:pPr algn="ctr" indent="0" marL="0">
              <a:buNone/>
            </a:pPr>
            <a:r>
              <a:rPr lang="en-US" sz="1000" dirty="0">
                <a:solidFill>
                  <a:schemeClr val="accent5"/>
                </a:solidFill>
              </a:rPr>
              <a:t>0</a:t>
            </a:r>
            <a:endParaRPr lang="en-US" sz="1000" dirty="0"/>
          </a:p>
        </p:txBody>
      </p:sp>
      <p:sp>
        <p:nvSpPr>
          <p:cNvPr id="9" name="Shape 6"/>
          <p:cNvSpPr/>
          <p:nvPr/>
        </p:nvSpPr>
        <p:spPr>
          <a:xfrm>
            <a:off x="2377440" y="3246120"/>
            <a:ext cx="0" cy="91440"/>
          </a:xfrm>
          <a:prstGeom prst="line">
            <a:avLst/>
          </a:prstGeom>
          <a:noFill/>
          <a:ln w="12700">
            <a:solidFill>
              <a:srgbClr val="6B7280"/>
            </a:solidFill>
            <a:prstDash val="solid"/>
          </a:ln>
        </p:spPr>
      </p:sp>
      <p:sp>
        <p:nvSpPr>
          <p:cNvPr id="10" name="Text 7"/>
          <p:cNvSpPr txBox="1"/>
          <p:nvPr/>
        </p:nvSpPr>
        <p:spPr>
          <a:xfrm>
            <a:off x="2194560" y="3383280"/>
            <a:ext cx="365760" cy="182880"/>
          </a:xfrm>
          <a:prstGeom prst="rect">
            <a:avLst/>
          </a:prstGeom>
          <a:noFill/>
          <a:ln/>
        </p:spPr>
        <p:txBody>
          <a:bodyPr wrap="square" lIns="0" tIns="0" rIns="0" bIns="0" rtlCol="0" anchor="t"/>
          <a:lstStyle/>
          <a:p>
            <a:pPr algn="ctr" indent="0" marL="0">
              <a:buNone/>
            </a:pPr>
            <a:r>
              <a:rPr lang="en-US" sz="1000" dirty="0">
                <a:solidFill>
                  <a:schemeClr val="accent5"/>
                </a:solidFill>
              </a:rPr>
              <a:t>0.2</a:t>
            </a:r>
            <a:endParaRPr lang="en-US" sz="1000" dirty="0"/>
          </a:p>
        </p:txBody>
      </p:sp>
      <p:sp>
        <p:nvSpPr>
          <p:cNvPr id="11" name="Shape 8"/>
          <p:cNvSpPr/>
          <p:nvPr/>
        </p:nvSpPr>
        <p:spPr>
          <a:xfrm>
            <a:off x="3840480" y="3246120"/>
            <a:ext cx="0" cy="91440"/>
          </a:xfrm>
          <a:prstGeom prst="line">
            <a:avLst/>
          </a:prstGeom>
          <a:noFill/>
          <a:ln w="12700">
            <a:solidFill>
              <a:srgbClr val="6B7280"/>
            </a:solidFill>
            <a:prstDash val="solid"/>
          </a:ln>
        </p:spPr>
      </p:sp>
      <p:sp>
        <p:nvSpPr>
          <p:cNvPr id="12" name="Text 9"/>
          <p:cNvSpPr txBox="1"/>
          <p:nvPr/>
        </p:nvSpPr>
        <p:spPr>
          <a:xfrm>
            <a:off x="3657600" y="3383280"/>
            <a:ext cx="365760" cy="182880"/>
          </a:xfrm>
          <a:prstGeom prst="rect">
            <a:avLst/>
          </a:prstGeom>
          <a:noFill/>
          <a:ln/>
        </p:spPr>
        <p:txBody>
          <a:bodyPr wrap="square" lIns="0" tIns="0" rIns="0" bIns="0" rtlCol="0" anchor="t"/>
          <a:lstStyle/>
          <a:p>
            <a:pPr algn="ctr" indent="0" marL="0">
              <a:buNone/>
            </a:pPr>
            <a:r>
              <a:rPr lang="en-US" sz="1000" dirty="0">
                <a:solidFill>
                  <a:schemeClr val="accent5"/>
                </a:solidFill>
              </a:rPr>
              <a:t>0.4</a:t>
            </a:r>
            <a:endParaRPr lang="en-US" sz="1000" dirty="0"/>
          </a:p>
        </p:txBody>
      </p:sp>
      <p:sp>
        <p:nvSpPr>
          <p:cNvPr id="13" name="Shape 10"/>
          <p:cNvSpPr/>
          <p:nvPr/>
        </p:nvSpPr>
        <p:spPr>
          <a:xfrm>
            <a:off x="5303520" y="3246120"/>
            <a:ext cx="0" cy="91440"/>
          </a:xfrm>
          <a:prstGeom prst="line">
            <a:avLst/>
          </a:prstGeom>
          <a:noFill/>
          <a:ln w="12700">
            <a:solidFill>
              <a:srgbClr val="6B7280"/>
            </a:solidFill>
            <a:prstDash val="solid"/>
          </a:ln>
        </p:spPr>
      </p:sp>
      <p:sp>
        <p:nvSpPr>
          <p:cNvPr id="14" name="Text 11"/>
          <p:cNvSpPr txBox="1"/>
          <p:nvPr/>
        </p:nvSpPr>
        <p:spPr>
          <a:xfrm>
            <a:off x="5120640" y="3383280"/>
            <a:ext cx="365760" cy="182880"/>
          </a:xfrm>
          <a:prstGeom prst="rect">
            <a:avLst/>
          </a:prstGeom>
          <a:noFill/>
          <a:ln/>
        </p:spPr>
        <p:txBody>
          <a:bodyPr wrap="square" lIns="0" tIns="0" rIns="0" bIns="0" rtlCol="0" anchor="t"/>
          <a:lstStyle/>
          <a:p>
            <a:pPr algn="ctr" indent="0" marL="0">
              <a:buNone/>
            </a:pPr>
            <a:r>
              <a:rPr lang="en-US" sz="1000" dirty="0">
                <a:solidFill>
                  <a:schemeClr val="accent5"/>
                </a:solidFill>
              </a:rPr>
              <a:t>0.6</a:t>
            </a:r>
            <a:endParaRPr lang="en-US" sz="1000" dirty="0"/>
          </a:p>
        </p:txBody>
      </p:sp>
      <p:sp>
        <p:nvSpPr>
          <p:cNvPr id="15" name="Shape 12"/>
          <p:cNvSpPr/>
          <p:nvPr/>
        </p:nvSpPr>
        <p:spPr>
          <a:xfrm>
            <a:off x="6766560" y="3246120"/>
            <a:ext cx="0" cy="91440"/>
          </a:xfrm>
          <a:prstGeom prst="line">
            <a:avLst/>
          </a:prstGeom>
          <a:noFill/>
          <a:ln w="12700">
            <a:solidFill>
              <a:srgbClr val="6B7280"/>
            </a:solidFill>
            <a:prstDash val="solid"/>
          </a:ln>
        </p:spPr>
      </p:sp>
      <p:sp>
        <p:nvSpPr>
          <p:cNvPr id="16" name="Text 13"/>
          <p:cNvSpPr txBox="1"/>
          <p:nvPr/>
        </p:nvSpPr>
        <p:spPr>
          <a:xfrm>
            <a:off x="6583680" y="3383280"/>
            <a:ext cx="365760" cy="182880"/>
          </a:xfrm>
          <a:prstGeom prst="rect">
            <a:avLst/>
          </a:prstGeom>
          <a:noFill/>
          <a:ln/>
        </p:spPr>
        <p:txBody>
          <a:bodyPr wrap="square" lIns="0" tIns="0" rIns="0" bIns="0" rtlCol="0" anchor="t"/>
          <a:lstStyle/>
          <a:p>
            <a:pPr algn="ctr" indent="0" marL="0">
              <a:buNone/>
            </a:pPr>
            <a:r>
              <a:rPr lang="en-US" sz="1000" dirty="0">
                <a:solidFill>
                  <a:schemeClr val="accent5"/>
                </a:solidFill>
              </a:rPr>
              <a:t>0.8</a:t>
            </a:r>
            <a:endParaRPr lang="en-US" sz="1000" dirty="0"/>
          </a:p>
        </p:txBody>
      </p:sp>
      <p:sp>
        <p:nvSpPr>
          <p:cNvPr id="17" name="Shape 14"/>
          <p:cNvSpPr/>
          <p:nvPr/>
        </p:nvSpPr>
        <p:spPr>
          <a:xfrm>
            <a:off x="8229600" y="3246120"/>
            <a:ext cx="0" cy="91440"/>
          </a:xfrm>
          <a:prstGeom prst="line">
            <a:avLst/>
          </a:prstGeom>
          <a:noFill/>
          <a:ln w="12700">
            <a:solidFill>
              <a:srgbClr val="6B7280"/>
            </a:solidFill>
            <a:prstDash val="solid"/>
          </a:ln>
        </p:spPr>
      </p:sp>
      <p:sp>
        <p:nvSpPr>
          <p:cNvPr id="18" name="Text 15"/>
          <p:cNvSpPr txBox="1"/>
          <p:nvPr/>
        </p:nvSpPr>
        <p:spPr>
          <a:xfrm>
            <a:off x="8046720" y="3383280"/>
            <a:ext cx="365760" cy="182880"/>
          </a:xfrm>
          <a:prstGeom prst="rect">
            <a:avLst/>
          </a:prstGeom>
          <a:noFill/>
          <a:ln/>
        </p:spPr>
        <p:txBody>
          <a:bodyPr wrap="square" lIns="0" tIns="0" rIns="0" bIns="0" rtlCol="0" anchor="t"/>
          <a:lstStyle/>
          <a:p>
            <a:pPr algn="ctr" indent="0" marL="0">
              <a:buNone/>
            </a:pPr>
            <a:r>
              <a:rPr lang="en-US" sz="1000" dirty="0">
                <a:solidFill>
                  <a:schemeClr val="accent5"/>
                </a:solidFill>
              </a:rPr>
              <a:t>1</a:t>
            </a:r>
            <a:endParaRPr lang="en-US" sz="1000" dirty="0"/>
          </a:p>
        </p:txBody>
      </p:sp>
      <p:sp>
        <p:nvSpPr>
          <p:cNvPr id="19" name="Shape 16"/>
          <p:cNvSpPr/>
          <p:nvPr/>
        </p:nvSpPr>
        <p:spPr>
          <a:xfrm>
            <a:off x="5303520" y="1463040"/>
            <a:ext cx="0" cy="1828800"/>
          </a:xfrm>
          <a:prstGeom prst="line">
            <a:avLst/>
          </a:prstGeom>
          <a:noFill/>
          <a:ln w="19050">
            <a:solidFill>
              <a:srgbClr val="B5432A"/>
            </a:solidFill>
            <a:prstDash val="dash"/>
          </a:ln>
        </p:spPr>
      </p:sp>
      <p:sp>
        <p:nvSpPr>
          <p:cNvPr id="20" name="Text 17"/>
          <p:cNvSpPr txBox="1"/>
          <p:nvPr/>
        </p:nvSpPr>
        <p:spPr>
          <a:xfrm>
            <a:off x="5394960" y="1417320"/>
            <a:ext cx="1463040" cy="274320"/>
          </a:xfrm>
          <a:prstGeom prst="rect">
            <a:avLst/>
          </a:prstGeom>
          <a:noFill/>
          <a:ln/>
        </p:spPr>
        <p:txBody>
          <a:bodyPr wrap="square" lIns="0" tIns="0" rIns="0" bIns="0" rtlCol="0" anchor="t"/>
          <a:lstStyle/>
          <a:p>
            <a:pPr indent="0" marL="0">
              <a:buNone/>
            </a:pPr>
            <a:r>
              <a:rPr lang="en-US" sz="1200" b="1" dirty="0">
                <a:solidFill>
                  <a:schemeClr val="accent1"/>
                </a:solidFill>
              </a:rPr>
              <a:t>threshold 0.6</a:t>
            </a:r>
            <a:endParaRPr lang="en-US" sz="1200" dirty="0"/>
          </a:p>
        </p:txBody>
      </p:sp>
      <p:sp>
        <p:nvSpPr>
          <p:cNvPr id="21" name="Shape 18"/>
          <p:cNvSpPr/>
          <p:nvPr/>
        </p:nvSpPr>
        <p:spPr>
          <a:xfrm>
            <a:off x="2679192" y="2286000"/>
            <a:ext cx="128016" cy="128016"/>
          </a:xfrm>
          <a:prstGeom prst="ellipse">
            <a:avLst/>
          </a:prstGeom>
          <a:solidFill>
            <a:srgbClr val="3B7A57"/>
          </a:solidFill>
          <a:ln w="12700">
            <a:solidFill>
              <a:srgbClr val="3B7A57"/>
            </a:solidFill>
            <a:prstDash val="solid"/>
          </a:ln>
        </p:spPr>
      </p:sp>
      <p:sp>
        <p:nvSpPr>
          <p:cNvPr id="22" name="Shape 19"/>
          <p:cNvSpPr/>
          <p:nvPr/>
        </p:nvSpPr>
        <p:spPr>
          <a:xfrm>
            <a:off x="3410712" y="2450592"/>
            <a:ext cx="128016" cy="128016"/>
          </a:xfrm>
          <a:prstGeom prst="ellipse">
            <a:avLst/>
          </a:prstGeom>
          <a:solidFill>
            <a:srgbClr val="3B7A57"/>
          </a:solidFill>
          <a:ln w="12700">
            <a:solidFill>
              <a:srgbClr val="3B7A57"/>
            </a:solidFill>
            <a:prstDash val="solid"/>
          </a:ln>
        </p:spPr>
      </p:sp>
      <p:sp>
        <p:nvSpPr>
          <p:cNvPr id="23" name="Shape 20"/>
          <p:cNvSpPr/>
          <p:nvPr/>
        </p:nvSpPr>
        <p:spPr>
          <a:xfrm>
            <a:off x="3044952" y="2615184"/>
            <a:ext cx="128016" cy="128016"/>
          </a:xfrm>
          <a:prstGeom prst="ellipse">
            <a:avLst/>
          </a:prstGeom>
          <a:solidFill>
            <a:srgbClr val="3B7A57"/>
          </a:solidFill>
          <a:ln w="12700">
            <a:solidFill>
              <a:srgbClr val="3B7A57"/>
            </a:solidFill>
            <a:prstDash val="solid"/>
          </a:ln>
        </p:spPr>
      </p:sp>
      <p:sp>
        <p:nvSpPr>
          <p:cNvPr id="24" name="Shape 21"/>
          <p:cNvSpPr/>
          <p:nvPr/>
        </p:nvSpPr>
        <p:spPr>
          <a:xfrm>
            <a:off x="6556248" y="2286000"/>
            <a:ext cx="128016" cy="128016"/>
          </a:xfrm>
          <a:prstGeom prst="ellipse">
            <a:avLst/>
          </a:prstGeom>
          <a:solidFill>
            <a:srgbClr val="B5432A"/>
          </a:solidFill>
          <a:ln w="12700">
            <a:solidFill>
              <a:srgbClr val="B5432A"/>
            </a:solidFill>
            <a:prstDash val="solid"/>
          </a:ln>
        </p:spPr>
      </p:sp>
      <p:sp>
        <p:nvSpPr>
          <p:cNvPr id="25" name="Shape 22"/>
          <p:cNvSpPr/>
          <p:nvPr/>
        </p:nvSpPr>
        <p:spPr>
          <a:xfrm>
            <a:off x="7068312" y="2450592"/>
            <a:ext cx="128016" cy="128016"/>
          </a:xfrm>
          <a:prstGeom prst="ellipse">
            <a:avLst/>
          </a:prstGeom>
          <a:solidFill>
            <a:srgbClr val="B5432A"/>
          </a:solidFill>
          <a:ln w="12700">
            <a:solidFill>
              <a:srgbClr val="B5432A"/>
            </a:solidFill>
            <a:prstDash val="solid"/>
          </a:ln>
        </p:spPr>
      </p:sp>
      <p:sp>
        <p:nvSpPr>
          <p:cNvPr id="26" name="Shape 23"/>
          <p:cNvSpPr/>
          <p:nvPr/>
        </p:nvSpPr>
        <p:spPr>
          <a:xfrm>
            <a:off x="6117336" y="2615184"/>
            <a:ext cx="128016" cy="128016"/>
          </a:xfrm>
          <a:prstGeom prst="ellipse">
            <a:avLst/>
          </a:prstGeom>
          <a:solidFill>
            <a:srgbClr val="B5432A"/>
          </a:solidFill>
          <a:ln w="12700">
            <a:solidFill>
              <a:srgbClr val="B5432A"/>
            </a:solidFill>
            <a:prstDash val="solid"/>
          </a:ln>
        </p:spPr>
      </p:sp>
      <p:sp>
        <p:nvSpPr>
          <p:cNvPr id="27" name="Text 24"/>
          <p:cNvSpPr txBox="1"/>
          <p:nvPr/>
        </p:nvSpPr>
        <p:spPr>
          <a:xfrm>
            <a:off x="1097280" y="1828800"/>
            <a:ext cx="2286000" cy="274320"/>
          </a:xfrm>
          <a:prstGeom prst="rect">
            <a:avLst/>
          </a:prstGeom>
          <a:noFill/>
          <a:ln/>
        </p:spPr>
        <p:txBody>
          <a:bodyPr wrap="square" lIns="0" tIns="0" rIns="0" bIns="0" rtlCol="0" anchor="t"/>
          <a:lstStyle/>
          <a:p>
            <a:pPr indent="0" marL="0">
              <a:buNone/>
            </a:pPr>
            <a:r>
              <a:rPr lang="en-US" sz="1200" b="1" dirty="0">
                <a:solidFill>
                  <a:schemeClr val="accent3"/>
                </a:solidFill>
              </a:rPr>
              <a:t>answer</a:t>
            </a:r>
            <a:endParaRPr lang="en-US" sz="1200" dirty="0"/>
          </a:p>
        </p:txBody>
      </p:sp>
      <p:sp>
        <p:nvSpPr>
          <p:cNvPr id="28" name="Text 25"/>
          <p:cNvSpPr txBox="1"/>
          <p:nvPr/>
        </p:nvSpPr>
        <p:spPr>
          <a:xfrm>
            <a:off x="6217920" y="1828800"/>
            <a:ext cx="2286000" cy="274320"/>
          </a:xfrm>
          <a:prstGeom prst="rect">
            <a:avLst/>
          </a:prstGeom>
          <a:noFill/>
          <a:ln/>
        </p:spPr>
        <p:txBody>
          <a:bodyPr wrap="square" lIns="0" tIns="0" rIns="0" bIns="0" rtlCol="0" anchor="t"/>
          <a:lstStyle/>
          <a:p>
            <a:pPr algn="r" indent="0" marL="0">
              <a:buNone/>
            </a:pPr>
            <a:r>
              <a:rPr lang="en-US" sz="1200" b="1" dirty="0">
                <a:solidFill>
                  <a:schemeClr val="accent1"/>
                </a:solidFill>
              </a:rPr>
              <a:t>refuse</a:t>
            </a:r>
            <a:endParaRPr lang="en-US" sz="1200" dirty="0"/>
          </a:p>
        </p:txBody>
      </p:sp>
      <p:sp>
        <p:nvSpPr>
          <p:cNvPr id="29" name="Text 26"/>
          <p:cNvSpPr txBox="1"/>
          <p:nvPr/>
        </p:nvSpPr>
        <p:spPr>
          <a:xfrm>
            <a:off x="457200" y="3703320"/>
            <a:ext cx="822960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8.3  Illustrative distances for answerable and unanswerable questions</a:t>
            </a:r>
            <a:endParaRPr lang="en-US" sz="1100" dirty="0"/>
          </a:p>
        </p:txBody>
      </p:sp>
      <p:sp>
        <p:nvSpPr>
          <p:cNvPr id="30" name="Text 27"/>
          <p:cNvSpPr txBox="1"/>
          <p:nvPr/>
        </p:nvSpPr>
        <p:spPr>
          <a:xfrm>
            <a:off x="457200" y="4114800"/>
            <a:ext cx="8229600" cy="457200"/>
          </a:xfrm>
          <a:prstGeom prst="rect">
            <a:avLst/>
          </a:prstGeom>
          <a:noFill/>
          <a:ln/>
        </p:spPr>
        <p:txBody>
          <a:bodyPr wrap="square" lIns="0" tIns="0" rIns="0" bIns="0" rtlCol="0" anchor="t"/>
          <a:lstStyle/>
          <a:p>
            <a:pPr indent="0" marL="0">
              <a:buNone/>
            </a:pPr>
            <a:r>
              <a:rPr lang="en-US" sz="1400" i="1" dirty="0">
                <a:solidFill>
                  <a:schemeClr val="accent1"/>
                </a:solidFill>
                <a:latin typeface="Cambria" pitchFamily="34" charset="0"/>
                <a:ea typeface="Cambria" pitchFamily="34" charset="-122"/>
                <a:cs typeface="Cambria" pitchFamily="34" charset="-120"/>
              </a:rPr>
              <a:t>Pick the threshold from your own questions, then re-check it whenever you change the embedding model or the chunking.</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Citations: from answer back to source</a:t>
            </a:r>
            <a:endParaRPr lang="en-US" sz="3000" dirty="0"/>
          </a:p>
        </p:txBody>
      </p:sp>
      <p:sp>
        <p:nvSpPr>
          <p:cNvPr id="4" name="Shape 1"/>
          <p:cNvSpPr/>
          <p:nvPr/>
        </p:nvSpPr>
        <p:spPr>
          <a:xfrm>
            <a:off x="457200" y="1371600"/>
            <a:ext cx="4572000" cy="731520"/>
          </a:xfrm>
          <a:prstGeom prst="rect">
            <a:avLst/>
          </a:prstGeom>
          <a:solidFill>
            <a:schemeClr val="bg1"/>
          </a:solidFill>
          <a:ln w="12700">
            <a:solidFill>
              <a:srgbClr val="1B2A41"/>
            </a:solidFill>
            <a:prstDash val="solid"/>
          </a:ln>
        </p:spPr>
      </p:sp>
      <p:sp>
        <p:nvSpPr>
          <p:cNvPr id="5" name="Text 2"/>
          <p:cNvSpPr txBox="1"/>
          <p:nvPr/>
        </p:nvSpPr>
        <p:spPr>
          <a:xfrm>
            <a:off x="457200" y="1371600"/>
            <a:ext cx="4572000" cy="731520"/>
          </a:xfrm>
          <a:prstGeom prst="rect">
            <a:avLst/>
          </a:prstGeom>
          <a:noFill/>
          <a:ln/>
        </p:spPr>
        <p:txBody>
          <a:bodyPr wrap="square" lIns="0" tIns="0" rIns="0" bIns="0" rtlCol="0" anchor="ctr"/>
          <a:lstStyle/>
          <a:p>
            <a:pPr algn="ctr" indent="0" marL="0">
              <a:buNone/>
            </a:pPr>
            <a:r>
              <a:rPr lang="en-US" sz="1500" b="1" dirty="0">
                <a:solidFill>
                  <a:schemeClr val="tx1"/>
                </a:solidFill>
              </a:rPr>
              <a:t>The model was trained with the Adam optimizer [2].</a:t>
            </a:r>
            <a:endParaRPr lang="en-US" sz="1500" dirty="0"/>
          </a:p>
        </p:txBody>
      </p:sp>
      <p:sp>
        <p:nvSpPr>
          <p:cNvPr id="6" name="Shape 3"/>
          <p:cNvSpPr/>
          <p:nvPr/>
        </p:nvSpPr>
        <p:spPr>
          <a:xfrm>
            <a:off x="2743200" y="2103120"/>
            <a:ext cx="0" cy="457200"/>
          </a:xfrm>
          <a:prstGeom prst="line">
            <a:avLst/>
          </a:prstGeom>
          <a:noFill/>
          <a:ln w="19050">
            <a:solidFill>
              <a:srgbClr val="B5432A"/>
            </a:solidFill>
            <a:prstDash val="solid"/>
            <a:tailEnd type="triangle"/>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2651760"/>
          <a:ext cx="4572000" cy="914400"/>
        </p:xfrm>
        <a:graphic>
          <a:graphicData uri="http://schemas.openxmlformats.org/drawingml/2006/table">
            <a:tbl>
              <a:tblPr/>
              <a:tblGrid>
                <a:gridCol w="640080"/>
                <a:gridCol w="1645920"/>
                <a:gridCol w="822960"/>
                <a:gridCol w="146304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Page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Distance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384048">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paper.pdf</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0.41</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84048">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paper.pdf</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0.29</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8" name="Text 4"/>
          <p:cNvSpPr txBox="1"/>
          <p:nvPr/>
        </p:nvSpPr>
        <p:spPr>
          <a:xfrm>
            <a:off x="5486400" y="1371600"/>
            <a:ext cx="320040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Show sources next to every answer</a:t>
            </a:r>
            <a:endParaRPr lang="en-US" sz="1400" dirty="0"/>
          </a:p>
          <a:p>
            <a:pPr marL="342900" indent="-342900">
              <a:spcAft>
                <a:spcPts val="800"/>
              </a:spcAft>
              <a:buSzPct val="100000"/>
              <a:buChar char="•"/>
            </a:pPr>
            <a:r>
              <a:rPr lang="en-US" sz="1400" dirty="0">
                <a:solidFill>
                  <a:schemeClr val="tx1"/>
                </a:solidFill>
              </a:rPr>
              <a:t>Validate: all cited numbers exist</a:t>
            </a:r>
            <a:endParaRPr lang="en-US" sz="1400" dirty="0"/>
          </a:p>
          <a:p>
            <a:pPr marL="342900" indent="-342900">
              <a:spcAft>
                <a:spcPts val="800"/>
              </a:spcAft>
              <a:buSzPct val="100000"/>
              <a:buChar char="•"/>
            </a:pPr>
            <a:r>
              <a:rPr lang="en-US" sz="1400" dirty="0">
                <a:solidFill>
                  <a:schemeClr val="tx1"/>
                </a:solidFill>
              </a:rPr>
              <a:t>Flag answers with no citation</a:t>
            </a:r>
            <a:endParaRPr lang="en-US" sz="1400" dirty="0"/>
          </a:p>
          <a:p>
            <a:pPr marL="342900" indent="-342900">
              <a:spcAft>
                <a:spcPts val="800"/>
              </a:spcAft>
              <a:buSzPct val="100000"/>
              <a:buChar char="•"/>
            </a:pPr>
            <a:r>
              <a:rPr lang="en-US" sz="1400" dirty="0">
                <a:solidFill>
                  <a:schemeClr val="tx1"/>
                </a:solidFill>
              </a:rPr>
              <a:t>Let users open the cited page</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Follow-up questions</a:t>
            </a:r>
            <a:endParaRPr lang="en-US" sz="3000" dirty="0"/>
          </a:p>
        </p:txBody>
      </p:sp>
      <p:sp>
        <p:nvSpPr>
          <p:cNvPr id="4" name="Shape 1"/>
          <p:cNvSpPr/>
          <p:nvPr/>
        </p:nvSpPr>
        <p:spPr>
          <a:xfrm>
            <a:off x="457200" y="1371600"/>
            <a:ext cx="3840480" cy="548640"/>
          </a:xfrm>
          <a:prstGeom prst="rect">
            <a:avLst/>
          </a:prstGeom>
          <a:solidFill>
            <a:schemeClr val="bg1"/>
          </a:solidFill>
          <a:ln w="12700">
            <a:solidFill>
              <a:srgbClr val="6B7280"/>
            </a:solidFill>
            <a:prstDash val="solid"/>
          </a:ln>
        </p:spPr>
      </p:sp>
      <p:sp>
        <p:nvSpPr>
          <p:cNvPr id="5" name="Text 2"/>
          <p:cNvSpPr txBox="1"/>
          <p:nvPr/>
        </p:nvSpPr>
        <p:spPr>
          <a:xfrm>
            <a:off x="457200" y="1371600"/>
            <a:ext cx="3840480" cy="548640"/>
          </a:xfrm>
          <a:prstGeom prst="rect">
            <a:avLst/>
          </a:prstGeom>
          <a:noFill/>
          <a:ln/>
        </p:spPr>
        <p:txBody>
          <a:bodyPr wrap="square" lIns="0" tIns="0" rIns="0" bIns="0" rtlCol="0" anchor="ctr"/>
          <a:lstStyle/>
          <a:p>
            <a:pPr algn="ctr" indent="0" marL="0">
              <a:buNone/>
            </a:pPr>
            <a:r>
              <a:rPr lang="en-US" sz="1400" dirty="0">
                <a:solidFill>
                  <a:schemeClr val="tx1"/>
                </a:solidFill>
              </a:rPr>
              <a:t>Q1: How was the model trained?</a:t>
            </a:r>
            <a:endParaRPr lang="en-US" sz="1400" dirty="0"/>
          </a:p>
        </p:txBody>
      </p:sp>
      <p:sp>
        <p:nvSpPr>
          <p:cNvPr id="6" name="Shape 3"/>
          <p:cNvSpPr/>
          <p:nvPr/>
        </p:nvSpPr>
        <p:spPr>
          <a:xfrm>
            <a:off x="457200" y="2103120"/>
            <a:ext cx="3840480" cy="548640"/>
          </a:xfrm>
          <a:prstGeom prst="rect">
            <a:avLst/>
          </a:prstGeom>
          <a:solidFill>
            <a:schemeClr val="bg1"/>
          </a:solidFill>
          <a:ln w="25400">
            <a:solidFill>
              <a:srgbClr val="B5432A"/>
            </a:solidFill>
            <a:prstDash val="solid"/>
          </a:ln>
        </p:spPr>
      </p:sp>
      <p:sp>
        <p:nvSpPr>
          <p:cNvPr id="7" name="Text 4"/>
          <p:cNvSpPr txBox="1"/>
          <p:nvPr/>
        </p:nvSpPr>
        <p:spPr>
          <a:xfrm>
            <a:off x="457200" y="2103120"/>
            <a:ext cx="3840480" cy="548640"/>
          </a:xfrm>
          <a:prstGeom prst="rect">
            <a:avLst/>
          </a:prstGeom>
          <a:noFill/>
          <a:ln/>
        </p:spPr>
        <p:txBody>
          <a:bodyPr wrap="square" lIns="0" tIns="0" rIns="0" bIns="0" rtlCol="0" anchor="ctr"/>
          <a:lstStyle/>
          <a:p>
            <a:pPr algn="ctr" indent="0" marL="0">
              <a:buNone/>
            </a:pPr>
            <a:r>
              <a:rPr lang="en-US" sz="1400" dirty="0">
                <a:solidFill>
                  <a:schemeClr val="tx1"/>
                </a:solidFill>
              </a:rPr>
              <a:t>Q2: How long did it take?</a:t>
            </a:r>
            <a:endParaRPr lang="en-US" sz="1400" dirty="0"/>
          </a:p>
        </p:txBody>
      </p:sp>
      <p:sp>
        <p:nvSpPr>
          <p:cNvPr id="8" name="Shape 5"/>
          <p:cNvSpPr/>
          <p:nvPr/>
        </p:nvSpPr>
        <p:spPr>
          <a:xfrm>
            <a:off x="4389120" y="2377440"/>
            <a:ext cx="457200" cy="0"/>
          </a:xfrm>
          <a:prstGeom prst="line">
            <a:avLst/>
          </a:prstGeom>
          <a:noFill/>
          <a:ln w="19050">
            <a:solidFill>
              <a:srgbClr val="B5432A"/>
            </a:solidFill>
            <a:prstDash val="solid"/>
            <a:tailEnd type="triangle"/>
          </a:ln>
        </p:spPr>
      </p:sp>
      <p:sp>
        <p:nvSpPr>
          <p:cNvPr id="9" name="Shape 6"/>
          <p:cNvSpPr/>
          <p:nvPr/>
        </p:nvSpPr>
        <p:spPr>
          <a:xfrm>
            <a:off x="4937760" y="2103120"/>
            <a:ext cx="3749040" cy="548640"/>
          </a:xfrm>
          <a:prstGeom prst="rect">
            <a:avLst/>
          </a:prstGeom>
          <a:solidFill>
            <a:schemeClr val="bg1"/>
          </a:solidFill>
          <a:ln w="25400">
            <a:solidFill>
              <a:srgbClr val="3B7A57"/>
            </a:solidFill>
            <a:prstDash val="solid"/>
          </a:ln>
        </p:spPr>
      </p:sp>
      <p:sp>
        <p:nvSpPr>
          <p:cNvPr id="10" name="Text 7"/>
          <p:cNvSpPr txBox="1"/>
          <p:nvPr/>
        </p:nvSpPr>
        <p:spPr>
          <a:xfrm>
            <a:off x="4937760" y="2103120"/>
            <a:ext cx="3749040" cy="548640"/>
          </a:xfrm>
          <a:prstGeom prst="rect">
            <a:avLst/>
          </a:prstGeom>
          <a:noFill/>
          <a:ln/>
        </p:spPr>
        <p:txBody>
          <a:bodyPr wrap="square" lIns="0" tIns="0" rIns="0" bIns="0" rtlCol="0" anchor="ctr"/>
          <a:lstStyle/>
          <a:p>
            <a:pPr algn="ctr" indent="0" marL="0">
              <a:buNone/>
            </a:pPr>
            <a:r>
              <a:rPr lang="en-US" sz="1400" b="1" dirty="0">
                <a:solidFill>
                  <a:schemeClr val="tx1"/>
                </a:solidFill>
              </a:rPr>
              <a:t>How long did training the model take?</a:t>
            </a:r>
            <a:endParaRPr lang="en-US" sz="1400" dirty="0"/>
          </a:p>
        </p:txBody>
      </p:sp>
      <p:sp>
        <p:nvSpPr>
          <p:cNvPr id="11" name="Text 8"/>
          <p:cNvSpPr txBox="1"/>
          <p:nvPr/>
        </p:nvSpPr>
        <p:spPr>
          <a:xfrm>
            <a:off x="457200" y="2926080"/>
            <a:ext cx="8229600" cy="365760"/>
          </a:xfrm>
          <a:prstGeom prst="rect">
            <a:avLst/>
          </a:prstGeom>
          <a:noFill/>
          <a:ln/>
        </p:spPr>
        <p:txBody>
          <a:bodyPr wrap="square" lIns="0" tIns="0" rIns="0" bIns="0" rtlCol="0" anchor="t"/>
          <a:lstStyle/>
          <a:p>
            <a:pPr indent="0" marL="0">
              <a:buNone/>
            </a:pPr>
            <a:r>
              <a:rPr lang="en-US" sz="1500" i="1" dirty="0">
                <a:solidFill>
                  <a:schemeClr val="accent1"/>
                </a:solidFill>
                <a:latin typeface="Cambria" pitchFamily="34" charset="0"/>
                <a:ea typeface="Cambria" pitchFamily="34" charset="-122"/>
                <a:cs typeface="Cambria" pitchFamily="34" charset="-120"/>
              </a:rPr>
              <a:t>A standalone question retrieves; "How long did it take?" would not.</a:t>
            </a:r>
            <a:endParaRPr lang="en-US" sz="1500" dirty="0"/>
          </a:p>
        </p:txBody>
      </p:sp>
      <p:sp>
        <p:nvSpPr>
          <p:cNvPr id="12" name="Text 9"/>
          <p:cNvSpPr txBox="1"/>
          <p:nvPr/>
        </p:nvSpPr>
        <p:spPr>
          <a:xfrm>
            <a:off x="457200" y="3383280"/>
            <a:ext cx="8229600" cy="1280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Condense history plus the new question into one standalone question</a:t>
            </a:r>
            <a:endParaRPr lang="en-US" sz="1400" dirty="0"/>
          </a:p>
          <a:p>
            <a:pPr marL="342900" indent="-342900">
              <a:spcAft>
                <a:spcPts val="800"/>
              </a:spcAft>
              <a:buSzPct val="100000"/>
              <a:buChar char="•"/>
            </a:pPr>
            <a:r>
              <a:rPr lang="en-US" sz="1400" dirty="0">
                <a:solidFill>
                  <a:schemeClr val="tx1"/>
                </a:solidFill>
              </a:rPr>
              <a:t>Search with the rewritten question</a:t>
            </a:r>
            <a:endParaRPr lang="en-US" sz="1400" dirty="0"/>
          </a:p>
          <a:p>
            <a:pPr marL="342900" indent="-342900">
              <a:spcAft>
                <a:spcPts val="800"/>
              </a:spcAft>
              <a:buSzPct val="100000"/>
              <a:buChar char="•"/>
            </a:pPr>
            <a:r>
              <a:rPr lang="en-US" sz="1400" dirty="0">
                <a:solidFill>
                  <a:schemeClr val="tx1"/>
                </a:solidFill>
              </a:rPr>
              <a:t>Answer the original question</a:t>
            </a:r>
            <a:endParaRPr lang="en-US" sz="1400" dirty="0"/>
          </a:p>
          <a:p>
            <a:pPr marL="342900" indent="-342900">
              <a:spcAft>
                <a:spcPts val="800"/>
              </a:spcAft>
              <a:buSzPct val="100000"/>
              <a:buChar char="•"/>
            </a:pPr>
            <a:r>
              <a:rPr lang="en-US" sz="1400" dirty="0">
                <a:solidFill>
                  <a:schemeClr val="tx1"/>
                </a:solidFill>
              </a:rPr>
              <a:t>Keep only the last few turns</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How RAG fails</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011680"/>
                <a:gridCol w="3383280"/>
                <a:gridCol w="283464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Failure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you see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First fix</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45720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Retrieval miss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Right chunk absent from top-k</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Chunking, k, hybrid search</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Wrong chunk wins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Plausible but off-topic answer</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Reranker, metadata filters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Context overload</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Answer ignores key chunk</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Fewer chunks, better order</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Ungrounded answer</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Claims not in the context</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Stricter prompt, citation check</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Stale data</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Outdated answer</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Re-ingest, version collections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Injected instructions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Model follows text in a document</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Treat context as data (Lecture 9)</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The Ask-your-files app</a:t>
            </a:r>
            <a:endParaRPr lang="en-US" sz="3000" dirty="0"/>
          </a:p>
        </p:txBody>
      </p:sp>
      <p:sp>
        <p:nvSpPr>
          <p:cNvPr id="4" name="Shape 1"/>
          <p:cNvSpPr/>
          <p:nvPr/>
        </p:nvSpPr>
        <p:spPr>
          <a:xfrm>
            <a:off x="457200" y="1463040"/>
            <a:ext cx="1371600" cy="731520"/>
          </a:xfrm>
          <a:prstGeom prst="rect">
            <a:avLst/>
          </a:prstGeom>
          <a:solidFill>
            <a:schemeClr val="bg1"/>
          </a:solidFill>
          <a:ln w="12700">
            <a:solidFill>
              <a:srgbClr val="1B2A41"/>
            </a:solidFill>
            <a:prstDash val="solid"/>
          </a:ln>
        </p:spPr>
      </p:sp>
      <p:sp>
        <p:nvSpPr>
          <p:cNvPr id="5" name="Text 2"/>
          <p:cNvSpPr txBox="1"/>
          <p:nvPr/>
        </p:nvSpPr>
        <p:spPr>
          <a:xfrm>
            <a:off x="457200" y="1463040"/>
            <a:ext cx="1371600" cy="731520"/>
          </a:xfrm>
          <a:prstGeom prst="rect">
            <a:avLst/>
          </a:prstGeom>
          <a:noFill/>
          <a:ln/>
        </p:spPr>
        <p:txBody>
          <a:bodyPr wrap="square" lIns="0" tIns="0" rIns="0" bIns="0" rtlCol="0" anchor="ctr"/>
          <a:lstStyle/>
          <a:p>
            <a:pPr algn="ctr" indent="0" marL="0">
              <a:buNone/>
            </a:pPr>
            <a:r>
              <a:rPr lang="en-US" sz="1400" b="1" dirty="0">
                <a:solidFill>
                  <a:schemeClr val="tx1"/>
                </a:solidFill>
              </a:rPr>
              <a:t>load_pdf</a:t>
            </a:r>
            <a:endParaRPr lang="en-US" sz="1400" dirty="0"/>
          </a:p>
        </p:txBody>
      </p:sp>
      <p:sp>
        <p:nvSpPr>
          <p:cNvPr id="6" name="Shape 3"/>
          <p:cNvSpPr/>
          <p:nvPr/>
        </p:nvSpPr>
        <p:spPr>
          <a:xfrm>
            <a:off x="1828800" y="1828800"/>
            <a:ext cx="274320" cy="0"/>
          </a:xfrm>
          <a:prstGeom prst="line">
            <a:avLst/>
          </a:prstGeom>
          <a:noFill/>
          <a:ln w="15875">
            <a:solidFill>
              <a:srgbClr val="1B2A41"/>
            </a:solidFill>
            <a:prstDash val="solid"/>
            <a:tailEnd type="triangle"/>
          </a:ln>
        </p:spPr>
      </p:sp>
      <p:sp>
        <p:nvSpPr>
          <p:cNvPr id="7" name="Shape 4"/>
          <p:cNvSpPr/>
          <p:nvPr/>
        </p:nvSpPr>
        <p:spPr>
          <a:xfrm>
            <a:off x="2103120" y="1463040"/>
            <a:ext cx="1371600" cy="731520"/>
          </a:xfrm>
          <a:prstGeom prst="rect">
            <a:avLst/>
          </a:prstGeom>
          <a:solidFill>
            <a:schemeClr val="bg1"/>
          </a:solidFill>
          <a:ln w="12700">
            <a:solidFill>
              <a:srgbClr val="1B2A41"/>
            </a:solidFill>
            <a:prstDash val="solid"/>
          </a:ln>
        </p:spPr>
      </p:sp>
      <p:sp>
        <p:nvSpPr>
          <p:cNvPr id="8" name="Text 5"/>
          <p:cNvSpPr txBox="1"/>
          <p:nvPr/>
        </p:nvSpPr>
        <p:spPr>
          <a:xfrm>
            <a:off x="2103120" y="1463040"/>
            <a:ext cx="1371600" cy="731520"/>
          </a:xfrm>
          <a:prstGeom prst="rect">
            <a:avLst/>
          </a:prstGeom>
          <a:noFill/>
          <a:ln/>
        </p:spPr>
        <p:txBody>
          <a:bodyPr wrap="square" lIns="0" tIns="0" rIns="0" bIns="0" rtlCol="0" anchor="ctr"/>
          <a:lstStyle/>
          <a:p>
            <a:pPr algn="ctr" indent="0" marL="0">
              <a:buNone/>
            </a:pPr>
            <a:r>
              <a:rPr lang="en-US" sz="1400" b="1" dirty="0">
                <a:solidFill>
                  <a:schemeClr val="tx1"/>
                </a:solidFill>
              </a:rPr>
              <a:t>chunk</a:t>
            </a:r>
            <a:endParaRPr lang="en-US" sz="1400" dirty="0"/>
          </a:p>
        </p:txBody>
      </p:sp>
      <p:sp>
        <p:nvSpPr>
          <p:cNvPr id="9" name="Shape 6"/>
          <p:cNvSpPr/>
          <p:nvPr/>
        </p:nvSpPr>
        <p:spPr>
          <a:xfrm>
            <a:off x="3474720" y="1828800"/>
            <a:ext cx="274320" cy="0"/>
          </a:xfrm>
          <a:prstGeom prst="line">
            <a:avLst/>
          </a:prstGeom>
          <a:noFill/>
          <a:ln w="15875">
            <a:solidFill>
              <a:srgbClr val="1B2A41"/>
            </a:solidFill>
            <a:prstDash val="solid"/>
            <a:tailEnd type="triangle"/>
          </a:ln>
        </p:spPr>
      </p:sp>
      <p:sp>
        <p:nvSpPr>
          <p:cNvPr id="10" name="Shape 7"/>
          <p:cNvSpPr/>
          <p:nvPr/>
        </p:nvSpPr>
        <p:spPr>
          <a:xfrm>
            <a:off x="3749040" y="1463040"/>
            <a:ext cx="1371600" cy="731520"/>
          </a:xfrm>
          <a:prstGeom prst="rect">
            <a:avLst/>
          </a:prstGeom>
          <a:solidFill>
            <a:schemeClr val="bg1"/>
          </a:solidFill>
          <a:ln w="28575">
            <a:solidFill>
              <a:srgbClr val="B5432A"/>
            </a:solidFill>
            <a:prstDash val="solid"/>
          </a:ln>
        </p:spPr>
      </p:sp>
      <p:sp>
        <p:nvSpPr>
          <p:cNvPr id="11" name="Text 8"/>
          <p:cNvSpPr txBox="1"/>
          <p:nvPr/>
        </p:nvSpPr>
        <p:spPr>
          <a:xfrm>
            <a:off x="3749040" y="1463040"/>
            <a:ext cx="1371600" cy="731520"/>
          </a:xfrm>
          <a:prstGeom prst="rect">
            <a:avLst/>
          </a:prstGeom>
          <a:noFill/>
          <a:ln/>
        </p:spPr>
        <p:txBody>
          <a:bodyPr wrap="square" lIns="0" tIns="0" rIns="0" bIns="0" rtlCol="0" anchor="ctr"/>
          <a:lstStyle/>
          <a:p>
            <a:pPr algn="ctr" indent="0" marL="0">
              <a:buNone/>
            </a:pPr>
            <a:r>
              <a:rPr lang="en-US" sz="1400" b="1" dirty="0">
                <a:solidFill>
                  <a:schemeClr val="tx1"/>
                </a:solidFill>
              </a:rPr>
              <a:t>Chroma</a:t>
            </a:r>
            <a:endParaRPr lang="en-US" sz="1400" dirty="0"/>
          </a:p>
        </p:txBody>
      </p:sp>
      <p:sp>
        <p:nvSpPr>
          <p:cNvPr id="12" name="Shape 9"/>
          <p:cNvSpPr/>
          <p:nvPr/>
        </p:nvSpPr>
        <p:spPr>
          <a:xfrm>
            <a:off x="5120640" y="1828800"/>
            <a:ext cx="274320" cy="0"/>
          </a:xfrm>
          <a:prstGeom prst="line">
            <a:avLst/>
          </a:prstGeom>
          <a:noFill/>
          <a:ln w="15875">
            <a:solidFill>
              <a:srgbClr val="1B2A41"/>
            </a:solidFill>
            <a:prstDash val="solid"/>
            <a:tailEnd type="triangle"/>
          </a:ln>
        </p:spPr>
      </p:sp>
      <p:sp>
        <p:nvSpPr>
          <p:cNvPr id="13" name="Shape 10"/>
          <p:cNvSpPr/>
          <p:nvPr/>
        </p:nvSpPr>
        <p:spPr>
          <a:xfrm>
            <a:off x="5394960" y="1463040"/>
            <a:ext cx="1371600" cy="731520"/>
          </a:xfrm>
          <a:prstGeom prst="rect">
            <a:avLst/>
          </a:prstGeom>
          <a:solidFill>
            <a:schemeClr val="bg1"/>
          </a:solidFill>
          <a:ln w="12700">
            <a:solidFill>
              <a:srgbClr val="1B2A41"/>
            </a:solidFill>
            <a:prstDash val="solid"/>
          </a:ln>
        </p:spPr>
      </p:sp>
      <p:sp>
        <p:nvSpPr>
          <p:cNvPr id="14" name="Text 11"/>
          <p:cNvSpPr txBox="1"/>
          <p:nvPr/>
        </p:nvSpPr>
        <p:spPr>
          <a:xfrm>
            <a:off x="5394960" y="1463040"/>
            <a:ext cx="1371600" cy="731520"/>
          </a:xfrm>
          <a:prstGeom prst="rect">
            <a:avLst/>
          </a:prstGeom>
          <a:noFill/>
          <a:ln/>
        </p:spPr>
        <p:txBody>
          <a:bodyPr wrap="square" lIns="0" tIns="0" rIns="0" bIns="0" rtlCol="0" anchor="ctr"/>
          <a:lstStyle/>
          <a:p>
            <a:pPr algn="ctr" indent="0" marL="0">
              <a:buNone/>
            </a:pPr>
            <a:r>
              <a:rPr lang="en-US" sz="1400" b="1" dirty="0">
                <a:solidFill>
                  <a:schemeClr val="tx1"/>
                </a:solidFill>
              </a:rPr>
              <a:t>retrieve</a:t>
            </a:r>
            <a:endParaRPr lang="en-US" sz="1400" dirty="0"/>
          </a:p>
        </p:txBody>
      </p:sp>
      <p:sp>
        <p:nvSpPr>
          <p:cNvPr id="15" name="Shape 12"/>
          <p:cNvSpPr/>
          <p:nvPr/>
        </p:nvSpPr>
        <p:spPr>
          <a:xfrm>
            <a:off x="6766560" y="1828800"/>
            <a:ext cx="274320" cy="0"/>
          </a:xfrm>
          <a:prstGeom prst="line">
            <a:avLst/>
          </a:prstGeom>
          <a:noFill/>
          <a:ln w="15875">
            <a:solidFill>
              <a:srgbClr val="1B2A41"/>
            </a:solidFill>
            <a:prstDash val="solid"/>
            <a:tailEnd type="triangle"/>
          </a:ln>
        </p:spPr>
      </p:sp>
      <p:sp>
        <p:nvSpPr>
          <p:cNvPr id="16" name="Shape 13"/>
          <p:cNvSpPr/>
          <p:nvPr/>
        </p:nvSpPr>
        <p:spPr>
          <a:xfrm>
            <a:off x="7040880" y="1463040"/>
            <a:ext cx="1371600" cy="731520"/>
          </a:xfrm>
          <a:prstGeom prst="rect">
            <a:avLst/>
          </a:prstGeom>
          <a:solidFill>
            <a:schemeClr val="bg1"/>
          </a:solidFill>
          <a:ln w="12700">
            <a:solidFill>
              <a:srgbClr val="1B2A41"/>
            </a:solidFill>
            <a:prstDash val="solid"/>
          </a:ln>
        </p:spPr>
      </p:sp>
      <p:sp>
        <p:nvSpPr>
          <p:cNvPr id="17" name="Text 14"/>
          <p:cNvSpPr txBox="1"/>
          <p:nvPr/>
        </p:nvSpPr>
        <p:spPr>
          <a:xfrm>
            <a:off x="7040880" y="1463040"/>
            <a:ext cx="1371600" cy="731520"/>
          </a:xfrm>
          <a:prstGeom prst="rect">
            <a:avLst/>
          </a:prstGeom>
          <a:noFill/>
          <a:ln/>
        </p:spPr>
        <p:txBody>
          <a:bodyPr wrap="square" lIns="0" tIns="0" rIns="0" bIns="0" rtlCol="0" anchor="ctr"/>
          <a:lstStyle/>
          <a:p>
            <a:pPr algn="ctr" indent="0" marL="0">
              <a:buNone/>
            </a:pPr>
            <a:r>
              <a:rPr lang="en-US" sz="1400" b="1" dirty="0">
                <a:solidFill>
                  <a:schemeClr val="tx1"/>
                </a:solidFill>
              </a:rPr>
              <a:t>ask</a:t>
            </a:r>
            <a:endParaRPr lang="en-US" sz="1400" dirty="0"/>
          </a:p>
        </p:txBody>
      </p:sp>
      <p:sp>
        <p:nvSpPr>
          <p:cNvPr id="18" name="Shape 15"/>
          <p:cNvSpPr/>
          <p:nvPr/>
        </p:nvSpPr>
        <p:spPr>
          <a:xfrm>
            <a:off x="7726680" y="2194560"/>
            <a:ext cx="0" cy="548640"/>
          </a:xfrm>
          <a:prstGeom prst="line">
            <a:avLst/>
          </a:prstGeom>
          <a:noFill/>
          <a:ln w="15875">
            <a:solidFill>
              <a:srgbClr val="1B2A41"/>
            </a:solidFill>
            <a:prstDash val="solid"/>
            <a:tailEnd type="triangle"/>
          </a:ln>
        </p:spPr>
      </p:sp>
      <p:sp>
        <p:nvSpPr>
          <p:cNvPr id="19" name="Shape 16"/>
          <p:cNvSpPr/>
          <p:nvPr/>
        </p:nvSpPr>
        <p:spPr>
          <a:xfrm>
            <a:off x="6766560" y="2743200"/>
            <a:ext cx="1920240" cy="640080"/>
          </a:xfrm>
          <a:prstGeom prst="rect">
            <a:avLst/>
          </a:prstGeom>
          <a:solidFill>
            <a:schemeClr val="bg1"/>
          </a:solidFill>
          <a:ln w="25400">
            <a:solidFill>
              <a:srgbClr val="3B7A57"/>
            </a:solidFill>
            <a:prstDash val="solid"/>
          </a:ln>
        </p:spPr>
      </p:sp>
      <p:sp>
        <p:nvSpPr>
          <p:cNvPr id="20" name="Text 17"/>
          <p:cNvSpPr txBox="1"/>
          <p:nvPr/>
        </p:nvSpPr>
        <p:spPr>
          <a:xfrm>
            <a:off x="6766560" y="2743200"/>
            <a:ext cx="1920240" cy="640080"/>
          </a:xfrm>
          <a:prstGeom prst="rect">
            <a:avLst/>
          </a:prstGeom>
          <a:noFill/>
          <a:ln/>
        </p:spPr>
        <p:txBody>
          <a:bodyPr wrap="square" lIns="0" tIns="0" rIns="0" bIns="0" rtlCol="0" anchor="ctr"/>
          <a:lstStyle/>
          <a:p>
            <a:pPr algn="ctr" indent="0" marL="0">
              <a:buNone/>
            </a:pPr>
            <a:r>
              <a:rPr lang="en-US" sz="1300" b="1" dirty="0">
                <a:solidFill>
                  <a:schemeClr val="tx1"/>
                </a:solidFill>
              </a:rPr>
              <a:t>Gradio interface</a:t>
            </a:r>
            <a:endParaRPr lang="en-US" sz="1300" dirty="0"/>
          </a:p>
        </p:txBody>
      </p:sp>
      <p:sp>
        <p:nvSpPr>
          <p:cNvPr id="21" name="Text 18"/>
          <p:cNvSpPr txBox="1"/>
          <p:nvPr/>
        </p:nvSpPr>
        <p:spPr>
          <a:xfrm>
            <a:off x="457200" y="2834640"/>
            <a:ext cx="6035040" cy="16459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ask(question) returns an answer and its sources</a:t>
            </a:r>
            <a:endParaRPr lang="en-US" sz="1400" dirty="0"/>
          </a:p>
          <a:p>
            <a:pPr marL="342900" indent="-342900">
              <a:spcAft>
                <a:spcPts val="800"/>
              </a:spcAft>
              <a:buSzPct val="100000"/>
              <a:buChar char="•"/>
            </a:pPr>
            <a:r>
              <a:rPr lang="en-US" sz="1400" dirty="0">
                <a:solidFill>
                  <a:schemeClr val="tx1"/>
                </a:solidFill>
              </a:rPr>
              <a:t>Every step is a small, testable function</a:t>
            </a:r>
            <a:endParaRPr lang="en-US" sz="1400" dirty="0"/>
          </a:p>
          <a:p>
            <a:pPr marL="342900" indent="-342900">
              <a:spcAft>
                <a:spcPts val="800"/>
              </a:spcAft>
              <a:buSzPct val="100000"/>
              <a:buChar char="•"/>
            </a:pPr>
            <a:r>
              <a:rPr lang="en-US" sz="1400" dirty="0">
                <a:solidFill>
                  <a:schemeClr val="tx1"/>
                </a:solidFill>
              </a:rPr>
              <a:t>Swap the model or the database without touching the rest</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The core function</a:t>
            </a:r>
            <a:endParaRPr lang="en-US" sz="3000" dirty="0"/>
          </a:p>
        </p:txBody>
      </p:sp>
      <p:sp>
        <p:nvSpPr>
          <p:cNvPr id="4" name="Shape 1"/>
          <p:cNvSpPr/>
          <p:nvPr/>
        </p:nvSpPr>
        <p:spPr>
          <a:xfrm>
            <a:off x="457200" y="1280160"/>
            <a:ext cx="5577840" cy="3291840"/>
          </a:xfrm>
          <a:prstGeom prst="rect">
            <a:avLst/>
          </a:prstGeom>
          <a:solidFill>
            <a:srgbClr val="F3F4F6"/>
          </a:solidFill>
          <a:ln w="12700">
            <a:solidFill>
              <a:srgbClr val="D1D5DB"/>
            </a:solidFill>
            <a:prstDash val="solid"/>
          </a:ln>
        </p:spPr>
      </p:sp>
      <p:sp>
        <p:nvSpPr>
          <p:cNvPr id="5" name="Text 2"/>
          <p:cNvSpPr txBox="1"/>
          <p:nvPr/>
        </p:nvSpPr>
        <p:spPr>
          <a:xfrm>
            <a:off x="594360" y="1389888"/>
            <a:ext cx="5303520" cy="3072384"/>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def ask(question, k=4, max_distance=0.6):</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    res = col.query(query_texts=[question],</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                    n_results=k)</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    hits = [h for h in zip(res["documents"][0],</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                           res["metadatas"][0],</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                           res["distances"][0])</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            if h[2] &lt;= max_distance]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    if not hits:</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        return {"answer": REFUSAL, "sources": []}</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    messages = build_messages(question, hits)</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    answer = generate(messages)</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    return {"answer": answer,</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            "sources": [m for _, m, _ in hits]}</a:t>
            </a:r>
            <a:endParaRPr lang="en-US" sz="1000" dirty="0"/>
          </a:p>
        </p:txBody>
      </p:sp>
      <p:sp>
        <p:nvSpPr>
          <p:cNvPr id="6" name="Text 3"/>
          <p:cNvSpPr txBox="1"/>
          <p:nvPr/>
        </p:nvSpPr>
        <p:spPr>
          <a:xfrm>
            <a:off x="6309360" y="1280160"/>
            <a:ext cx="2377440" cy="32004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Retrieve, filter by distance</a:t>
            </a:r>
            <a:endParaRPr lang="en-US" sz="1300" dirty="0"/>
          </a:p>
          <a:p>
            <a:pPr marL="342900" indent="-342900">
              <a:spcAft>
                <a:spcPts val="800"/>
              </a:spcAft>
              <a:buSzPct val="100000"/>
              <a:buChar char="•"/>
            </a:pPr>
            <a:r>
              <a:rPr lang="en-US" sz="1300" dirty="0">
                <a:solidFill>
                  <a:schemeClr val="tx1"/>
                </a:solidFill>
              </a:rPr>
              <a:t>Refuse early when nothing is close</a:t>
            </a:r>
            <a:endParaRPr lang="en-US" sz="1300" dirty="0"/>
          </a:p>
          <a:p>
            <a:pPr marL="342900" indent="-342900">
              <a:spcAft>
                <a:spcPts val="800"/>
              </a:spcAft>
              <a:buSzPct val="100000"/>
              <a:buChar char="•"/>
            </a:pPr>
            <a:r>
              <a:rPr lang="en-US" sz="1300" dirty="0">
                <a:solidFill>
                  <a:schemeClr val="tx1"/>
                </a:solidFill>
              </a:rPr>
              <a:t>Build the prompt, then generate</a:t>
            </a:r>
            <a:endParaRPr lang="en-US" sz="1300" dirty="0"/>
          </a:p>
          <a:p>
            <a:pPr marL="342900" indent="-342900">
              <a:spcAft>
                <a:spcPts val="800"/>
              </a:spcAft>
              <a:buSzPct val="100000"/>
              <a:buChar char="•"/>
            </a:pPr>
            <a:r>
              <a:rPr lang="en-US" sz="1300" dirty="0">
                <a:solidFill>
                  <a:schemeClr val="tx1"/>
                </a:solidFill>
              </a:rPr>
              <a:t>Return sources for the interface</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 first quality check</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828800"/>
                <a:gridCol w="3200400"/>
                <a:gridCol w="3200400"/>
              </a:tblGrid>
              <a:tr h="36576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Question set</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Expected behaviour</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How to check</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548640">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Answerable</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Correct answer with citations</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Read it; is the cited chunk right?</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48640">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Unanswerable</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Exactly the refusal sentence</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String match on the refusal</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48640">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Tricky</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Handles paraphrase and numbers</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Compare with the source passage</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5" name="Text 1"/>
          <p:cNvSpPr txBox="1"/>
          <p:nvPr/>
        </p:nvSpPr>
        <p:spPr>
          <a:xfrm>
            <a:off x="457200" y="3566160"/>
            <a:ext cx="8229600" cy="457200"/>
          </a:xfrm>
          <a:prstGeom prst="rect">
            <a:avLst/>
          </a:prstGeom>
          <a:noFill/>
          <a:ln/>
        </p:spPr>
        <p:txBody>
          <a:bodyPr wrap="square" lIns="0" tIns="0" rIns="0" bIns="0" rtlCol="0" anchor="t"/>
          <a:lstStyle/>
          <a:p>
            <a:pPr indent="0" marL="0">
              <a:buNone/>
            </a:pPr>
            <a:r>
              <a:rPr lang="en-US" sz="1600" i="1" dirty="0">
                <a:solidFill>
                  <a:schemeClr val="accent1"/>
                </a:solidFill>
                <a:latin typeface="Cambria" pitchFamily="34" charset="0"/>
                <a:ea typeface="Cambria" pitchFamily="34" charset="-122"/>
                <a:cs typeface="Cambria" pitchFamily="34" charset="-120"/>
              </a:rPr>
              <a:t>A system that never refuses is as broken as one that always refuses.</a:t>
            </a:r>
            <a:endParaRPr lang="en-US" sz="16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Free does not mean fast</a:t>
            </a:r>
            <a:endParaRPr lang="en-US" sz="3000" dirty="0"/>
          </a:p>
        </p:txBody>
      </p:sp>
      <p:sp>
        <p:nvSpPr>
          <p:cNvPr id="4" name="Text 1"/>
          <p:cNvSpPr txBox="1"/>
          <p:nvPr/>
        </p:nvSpPr>
        <p:spPr>
          <a:xfrm>
            <a:off x="457200" y="1280160"/>
            <a:ext cx="512064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Measure retrieval and generation separately</a:t>
            </a:r>
            <a:endParaRPr lang="en-US" sz="1500" dirty="0"/>
          </a:p>
          <a:p>
            <a:pPr marL="342900" indent="-342900">
              <a:spcAft>
                <a:spcPts val="1000"/>
              </a:spcAft>
              <a:buSzPct val="100000"/>
              <a:buChar char="•"/>
            </a:pPr>
            <a:r>
              <a:rPr lang="en-US" sz="1500" dirty="0">
                <a:solidFill>
                  <a:schemeClr val="tx1"/>
                </a:solidFill>
              </a:rPr>
              <a:t>A GPU runtime in Colab speeds generation a lot; availability varies</a:t>
            </a:r>
            <a:endParaRPr lang="en-US" sz="1500" dirty="0"/>
          </a:p>
          <a:p>
            <a:pPr marL="342900" indent="-342900">
              <a:spcAft>
                <a:spcPts val="1000"/>
              </a:spcAft>
              <a:buSzPct val="100000"/>
              <a:buChar char="•"/>
            </a:pPr>
            <a:r>
              <a:rPr lang="en-US" sz="1500" dirty="0">
                <a:solidFill>
                  <a:schemeClr val="tx1"/>
                </a:solidFill>
              </a:rPr>
              <a:t>Shorter prompts and answers: fewer chunks, lower max_new_tokens</a:t>
            </a:r>
            <a:endParaRPr lang="en-US" sz="1500" dirty="0"/>
          </a:p>
          <a:p>
            <a:pPr marL="342900" indent="-342900">
              <a:spcAft>
                <a:spcPts val="1000"/>
              </a:spcAft>
              <a:buSzPct val="100000"/>
              <a:buChar char="•"/>
            </a:pPr>
            <a:r>
              <a:rPr lang="en-US" sz="1500" dirty="0">
                <a:solidFill>
                  <a:schemeClr val="tx1"/>
                </a:solidFill>
              </a:rPr>
              <a:t>Load the model once, not per question</a:t>
            </a:r>
            <a:endParaRPr lang="en-US" sz="1500" dirty="0"/>
          </a:p>
          <a:p>
            <a:pPr marL="342900" indent="-342900">
              <a:spcAft>
                <a:spcPts val="1000"/>
              </a:spcAft>
              <a:buSzPct val="100000"/>
              <a:buChar char="•"/>
            </a:pPr>
            <a:r>
              <a:rPr lang="en-US" sz="1500" dirty="0">
                <a:solidFill>
                  <a:schemeClr val="tx1"/>
                </a:solidFill>
              </a:rPr>
              <a:t>Stream tokens to the interface for responsiveness</a:t>
            </a:r>
            <a:endParaRPr lang="en-US" sz="1500" dirty="0"/>
          </a:p>
        </p:txBody>
      </p:sp>
      <p:sp>
        <p:nvSpPr>
          <p:cNvPr id="5" name="Text 2"/>
          <p:cNvSpPr txBox="1"/>
          <p:nvPr/>
        </p:nvSpPr>
        <p:spPr>
          <a:xfrm>
            <a:off x="5852160" y="1280160"/>
            <a:ext cx="2834640" cy="365760"/>
          </a:xfrm>
          <a:prstGeom prst="rect">
            <a:avLst/>
          </a:prstGeom>
          <a:noFill/>
          <a:ln/>
        </p:spPr>
        <p:txBody>
          <a:bodyPr wrap="square" lIns="0" tIns="0" rIns="0" bIns="0" rtlCol="0" anchor="t"/>
          <a:lstStyle/>
          <a:p>
            <a:pPr indent="0" marL="0">
              <a:buNone/>
            </a:pPr>
            <a:r>
              <a:rPr lang="en-US" sz="1400" b="1" dirty="0">
                <a:solidFill>
                  <a:schemeClr val="accent5"/>
                </a:solidFill>
              </a:rPr>
              <a:t>Rule of thumb</a:t>
            </a:r>
            <a:endParaRPr lang="en-US" sz="1400" dirty="0"/>
          </a:p>
        </p:txBody>
      </p:sp>
      <p:sp>
        <p:nvSpPr>
          <p:cNvPr id="6" name="Text 3"/>
          <p:cNvSpPr txBox="1"/>
          <p:nvPr/>
        </p:nvSpPr>
        <p:spPr>
          <a:xfrm>
            <a:off x="5852160" y="1691640"/>
            <a:ext cx="2834640" cy="2194560"/>
          </a:xfrm>
          <a:prstGeom prst="rect">
            <a:avLst/>
          </a:prstGeom>
          <a:noFill/>
          <a:ln/>
        </p:spPr>
        <p:txBody>
          <a:bodyPr wrap="square" lIns="0" tIns="0" rIns="0" bIns="0" rtlCol="0" anchor="t"/>
          <a:lstStyle/>
          <a:p>
            <a:pPr indent="0" marL="0">
              <a:buNone/>
            </a:pPr>
            <a:r>
              <a:rPr lang="en-US" sz="1500" i="1" dirty="0">
                <a:solidFill>
                  <a:schemeClr val="accent1"/>
                </a:solidFill>
                <a:latin typeface="Cambria" pitchFamily="34" charset="0"/>
                <a:ea typeface="Cambria" pitchFamily="34" charset="-122"/>
                <a:cs typeface="Cambria" pitchFamily="34" charset="-120"/>
              </a:rPr>
              <a:t>Retrieval is usually milliseconds to tens of milliseconds; generation is seconds. Optimize what you measure.</a:t>
            </a:r>
            <a:endParaRPr lang="en-US" sz="15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Common mistakes</a:t>
            </a:r>
            <a:endParaRPr lang="en-US" sz="3000" dirty="0"/>
          </a:p>
        </p:txBody>
      </p:sp>
      <p:sp>
        <p:nvSpPr>
          <p:cNvPr id="4" name="Shape 1"/>
          <p:cNvSpPr/>
          <p:nvPr/>
        </p:nvSpPr>
        <p:spPr>
          <a:xfrm>
            <a:off x="4572000" y="1280160"/>
            <a:ext cx="0" cy="3200400"/>
          </a:xfrm>
          <a:prstGeom prst="line">
            <a:avLst/>
          </a:prstGeom>
          <a:noFill/>
          <a:ln w="9525">
            <a:solidFill>
              <a:schemeClr val="accent6"/>
            </a:solidFill>
            <a:prstDash val="solid"/>
          </a:ln>
        </p:spPr>
      </p:sp>
      <p:sp>
        <p:nvSpPr>
          <p:cNvPr id="5" name="Text 2"/>
          <p:cNvSpPr txBox="1"/>
          <p:nvPr/>
        </p:nvSpPr>
        <p:spPr>
          <a:xfrm>
            <a:off x="457200" y="1280160"/>
            <a:ext cx="393192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Mistakes</a:t>
            </a:r>
            <a:endParaRPr lang="en-US" sz="1800" dirty="0"/>
          </a:p>
        </p:txBody>
      </p:sp>
      <p:sp>
        <p:nvSpPr>
          <p:cNvPr id="6" name="Text 3"/>
          <p:cNvSpPr txBox="1"/>
          <p:nvPr/>
        </p:nvSpPr>
        <p:spPr>
          <a:xfrm>
            <a:off x="457200" y="1783080"/>
            <a:ext cx="393192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Blaming the model when retrieval missed</a:t>
            </a:r>
            <a:endParaRPr lang="en-US" sz="1400" dirty="0"/>
          </a:p>
          <a:p>
            <a:pPr marL="342900" indent="-342900">
              <a:spcAft>
                <a:spcPts val="800"/>
              </a:spcAft>
              <a:buSzPct val="100000"/>
              <a:buChar char="•"/>
            </a:pPr>
            <a:r>
              <a:rPr lang="en-US" sz="1400" dirty="0">
                <a:solidFill>
                  <a:schemeClr val="tx1"/>
                </a:solidFill>
              </a:rPr>
              <a:t>No refusal rule, so confident nonsense</a:t>
            </a:r>
            <a:endParaRPr lang="en-US" sz="1400" dirty="0"/>
          </a:p>
          <a:p>
            <a:pPr marL="342900" indent="-342900">
              <a:spcAft>
                <a:spcPts val="800"/>
              </a:spcAft>
              <a:buSzPct val="100000"/>
              <a:buChar char="•"/>
            </a:pPr>
            <a:r>
              <a:rPr lang="en-US" sz="1400" dirty="0">
                <a:solidFill>
                  <a:schemeClr val="tx1"/>
                </a:solidFill>
              </a:rPr>
              <a:t>Prompt without citation numbers</a:t>
            </a:r>
            <a:endParaRPr lang="en-US" sz="1400" dirty="0"/>
          </a:p>
          <a:p>
            <a:pPr marL="342900" indent="-342900">
              <a:spcAft>
                <a:spcPts val="800"/>
              </a:spcAft>
              <a:buSzPct val="100000"/>
              <a:buChar char="•"/>
            </a:pPr>
            <a:r>
              <a:rPr lang="en-US" sz="1400" dirty="0">
                <a:solidFill>
                  <a:schemeClr val="tx1"/>
                </a:solidFill>
              </a:rPr>
              <a:t>Changing chunking without re-evaluating</a:t>
            </a:r>
            <a:endParaRPr lang="en-US" sz="1400" dirty="0"/>
          </a:p>
          <a:p>
            <a:pPr marL="342900" indent="-342900">
              <a:spcAft>
                <a:spcPts val="800"/>
              </a:spcAft>
              <a:buSzPct val="100000"/>
              <a:buChar char="•"/>
            </a:pPr>
            <a:r>
              <a:rPr lang="en-US" sz="1400" dirty="0">
                <a:solidFill>
                  <a:schemeClr val="tx1"/>
                </a:solidFill>
              </a:rPr>
              <a:t>Sending whole documents instead of chunks</a:t>
            </a:r>
            <a:endParaRPr lang="en-US" sz="1400" dirty="0"/>
          </a:p>
        </p:txBody>
      </p:sp>
      <p:sp>
        <p:nvSpPr>
          <p:cNvPr id="7" name="Text 4"/>
          <p:cNvSpPr txBox="1"/>
          <p:nvPr/>
        </p:nvSpPr>
        <p:spPr>
          <a:xfrm>
            <a:off x="4846320" y="1280160"/>
            <a:ext cx="3840480" cy="365760"/>
          </a:xfrm>
          <a:prstGeom prst="rect">
            <a:avLst/>
          </a:prstGeom>
          <a:noFill/>
          <a:ln/>
        </p:spPr>
        <p:txBody>
          <a:bodyPr wrap="square" lIns="0" tIns="0" rIns="0" bIns="0" rtlCol="0" anchor="t"/>
          <a:lstStyle/>
          <a:p>
            <a:pPr indent="0" marL="0">
              <a:buNone/>
            </a:pPr>
            <a:r>
              <a:rPr lang="en-US" sz="1800" b="1" dirty="0">
                <a:solidFill>
                  <a:schemeClr val="accent2"/>
                </a:solidFill>
                <a:latin typeface="Cambria" pitchFamily="34" charset="0"/>
                <a:ea typeface="Cambria" pitchFamily="34" charset="-122"/>
                <a:cs typeface="Cambria" pitchFamily="34" charset="-120"/>
              </a:rPr>
              <a:t>Habits that help</a:t>
            </a:r>
            <a:endParaRPr lang="en-US" sz="1800" dirty="0"/>
          </a:p>
        </p:txBody>
      </p:sp>
      <p:sp>
        <p:nvSpPr>
          <p:cNvPr id="8" name="Text 5"/>
          <p:cNvSpPr txBox="1"/>
          <p:nvPr/>
        </p:nvSpPr>
        <p:spPr>
          <a:xfrm>
            <a:off x="4846320" y="1783080"/>
            <a:ext cx="384048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Print the retrieved chunks while debugging</a:t>
            </a:r>
            <a:endParaRPr lang="en-US" sz="1400" dirty="0"/>
          </a:p>
          <a:p>
            <a:pPr marL="342900" indent="-342900">
              <a:spcAft>
                <a:spcPts val="800"/>
              </a:spcAft>
              <a:buSzPct val="100000"/>
              <a:buChar char="•"/>
            </a:pPr>
            <a:r>
              <a:rPr lang="en-US" sz="1400" dirty="0">
                <a:solidFill>
                  <a:schemeClr val="tx1"/>
                </a:solidFill>
              </a:rPr>
              <a:t>Test answerable and unanswerable questions</a:t>
            </a:r>
            <a:endParaRPr lang="en-US" sz="1400" dirty="0"/>
          </a:p>
          <a:p>
            <a:pPr marL="342900" indent="-342900">
              <a:spcAft>
                <a:spcPts val="800"/>
              </a:spcAft>
              <a:buSzPct val="100000"/>
              <a:buChar char="•"/>
            </a:pPr>
            <a:r>
              <a:rPr lang="en-US" sz="1400" dirty="0">
                <a:solidFill>
                  <a:schemeClr val="tx1"/>
                </a:solidFill>
              </a:rPr>
              <a:t>Deterministic decoding for tests</a:t>
            </a:r>
            <a:endParaRPr lang="en-US" sz="1400" dirty="0"/>
          </a:p>
          <a:p>
            <a:pPr marL="342900" indent="-342900">
              <a:spcAft>
                <a:spcPts val="800"/>
              </a:spcAft>
              <a:buSzPct val="100000"/>
              <a:buChar char="•"/>
            </a:pPr>
            <a:r>
              <a:rPr lang="en-US" sz="1400" dirty="0">
                <a:solidFill>
                  <a:schemeClr val="tx1"/>
                </a:solidFill>
              </a:rPr>
              <a:t>Show sources to users</a:t>
            </a:r>
            <a:endParaRPr lang="en-US" sz="1400" dirty="0"/>
          </a:p>
          <a:p>
            <a:pPr marL="342900" indent="-342900">
              <a:spcAft>
                <a:spcPts val="800"/>
              </a:spcAft>
              <a:buSzPct val="100000"/>
              <a:buChar char="•"/>
            </a:pPr>
            <a:r>
              <a:rPr lang="en-US" sz="1400" dirty="0">
                <a:solidFill>
                  <a:schemeClr val="tx1"/>
                </a:solidFill>
              </a:rPr>
              <a:t>Keep each step a separate function</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Check your understanding</a:t>
            </a:r>
            <a:endParaRPr lang="en-US" sz="3000" dirty="0"/>
          </a:p>
        </p:txBody>
      </p:sp>
      <p:sp>
        <p:nvSpPr>
          <p:cNvPr id="4" name="Text 1"/>
          <p:cNvSpPr txBox="1"/>
          <p:nvPr/>
        </p:nvSpPr>
        <p:spPr>
          <a:xfrm>
            <a:off x="457200" y="12801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Q1</a:t>
            </a:r>
            <a:endParaRPr lang="en-US" sz="2200" dirty="0"/>
          </a:p>
        </p:txBody>
      </p:sp>
      <p:sp>
        <p:nvSpPr>
          <p:cNvPr id="5" name="Text 2"/>
          <p:cNvSpPr txBox="1"/>
          <p:nvPr/>
        </p:nvSpPr>
        <p:spPr>
          <a:xfrm>
            <a:off x="1280160" y="12801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Give two reasons a language model needs retrieval.</a:t>
            </a:r>
            <a:endParaRPr lang="en-US" sz="1600" dirty="0"/>
          </a:p>
        </p:txBody>
      </p:sp>
      <p:sp>
        <p:nvSpPr>
          <p:cNvPr id="6" name="Text 3"/>
          <p:cNvSpPr txBox="1"/>
          <p:nvPr/>
        </p:nvSpPr>
        <p:spPr>
          <a:xfrm>
            <a:off x="457200" y="19659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Q2</a:t>
            </a:r>
            <a:endParaRPr lang="en-US" sz="2200" dirty="0"/>
          </a:p>
        </p:txBody>
      </p:sp>
      <p:sp>
        <p:nvSpPr>
          <p:cNvPr id="7" name="Text 4"/>
          <p:cNvSpPr txBox="1"/>
          <p:nvPr/>
        </p:nvSpPr>
        <p:spPr>
          <a:xfrm>
            <a:off x="1280160" y="19659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Name the three RAG steps and what each does.</a:t>
            </a:r>
            <a:endParaRPr lang="en-US" sz="1600" dirty="0"/>
          </a:p>
        </p:txBody>
      </p:sp>
      <p:sp>
        <p:nvSpPr>
          <p:cNvPr id="8" name="Text 5"/>
          <p:cNvSpPr txBox="1"/>
          <p:nvPr/>
        </p:nvSpPr>
        <p:spPr>
          <a:xfrm>
            <a:off x="457200" y="26517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Q3</a:t>
            </a:r>
            <a:endParaRPr lang="en-US" sz="2200" dirty="0"/>
          </a:p>
        </p:txBody>
      </p:sp>
      <p:sp>
        <p:nvSpPr>
          <p:cNvPr id="9" name="Text 6"/>
          <p:cNvSpPr txBox="1"/>
          <p:nvPr/>
        </p:nvSpPr>
        <p:spPr>
          <a:xfrm>
            <a:off x="1280160" y="26517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Why do we need a distance threshold before generating?</a:t>
            </a:r>
            <a:endParaRPr lang="en-US" sz="1600" dirty="0"/>
          </a:p>
        </p:txBody>
      </p:sp>
      <p:sp>
        <p:nvSpPr>
          <p:cNvPr id="10" name="Text 7"/>
          <p:cNvSpPr txBox="1"/>
          <p:nvPr/>
        </p:nvSpPr>
        <p:spPr>
          <a:xfrm>
            <a:off x="457200" y="33375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Q4</a:t>
            </a:r>
            <a:endParaRPr lang="en-US" sz="2200" dirty="0"/>
          </a:p>
        </p:txBody>
      </p:sp>
      <p:sp>
        <p:nvSpPr>
          <p:cNvPr id="11" name="Text 8"/>
          <p:cNvSpPr txBox="1"/>
          <p:nvPr/>
        </p:nvSpPr>
        <p:spPr>
          <a:xfrm>
            <a:off x="1280160" y="33375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An answer is wrong. What do you check first?</a:t>
            </a:r>
            <a:endParaRPr lang="en-US" sz="1600" dirty="0"/>
          </a:p>
        </p:txBody>
      </p:sp>
      <p:sp>
        <p:nvSpPr>
          <p:cNvPr id="12" name="Text 9"/>
          <p:cNvSpPr txBox="1"/>
          <p:nvPr/>
        </p:nvSpPr>
        <p:spPr>
          <a:xfrm>
            <a:off x="457200" y="40233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Q5</a:t>
            </a:r>
            <a:endParaRPr lang="en-US" sz="2200" dirty="0"/>
          </a:p>
        </p:txBody>
      </p:sp>
      <p:sp>
        <p:nvSpPr>
          <p:cNvPr id="13" name="Text 10"/>
          <p:cNvSpPr txBox="1"/>
          <p:nvPr/>
        </p:nvSpPr>
        <p:spPr>
          <a:xfrm>
            <a:off x="1280160" y="40233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Why rewrite a follow-up question before searching?</a:t>
            </a:r>
            <a:endParaRPr lang="en-US" sz="16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Summary and next steps</a:t>
            </a:r>
            <a:endParaRPr lang="en-US" sz="3000" dirty="0"/>
          </a:p>
        </p:txBody>
      </p:sp>
      <p:sp>
        <p:nvSpPr>
          <p:cNvPr id="4" name="Text 1"/>
          <p:cNvSpPr txBox="1"/>
          <p:nvPr/>
        </p:nvSpPr>
        <p:spPr>
          <a:xfrm>
            <a:off x="457200" y="1280160"/>
            <a:ext cx="4846320" cy="329184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RAG = retrieve, augment, generate</a:t>
            </a:r>
            <a:endParaRPr lang="en-US" sz="1500" dirty="0"/>
          </a:p>
          <a:p>
            <a:pPr marL="342900" indent="-342900">
              <a:spcAft>
                <a:spcPts val="1200"/>
              </a:spcAft>
              <a:buSzPct val="100000"/>
              <a:buChar char="•"/>
            </a:pPr>
            <a:r>
              <a:rPr lang="en-US" sz="1500" dirty="0">
                <a:solidFill>
                  <a:schemeClr val="tx1"/>
                </a:solidFill>
              </a:rPr>
              <a:t>A grounded prompt: context only, numbered citations, explicit refusal</a:t>
            </a:r>
            <a:endParaRPr lang="en-US" sz="1500" dirty="0"/>
          </a:p>
          <a:p>
            <a:pPr marL="342900" indent="-342900">
              <a:spcAft>
                <a:spcPts val="1200"/>
              </a:spcAft>
              <a:buSzPct val="100000"/>
              <a:buChar char="•"/>
            </a:pPr>
            <a:r>
              <a:rPr lang="en-US" sz="1500" dirty="0">
                <a:solidFill>
                  <a:schemeClr val="tx1"/>
                </a:solidFill>
              </a:rPr>
              <a:t>A distance threshold decides when to refuse</a:t>
            </a:r>
            <a:endParaRPr lang="en-US" sz="1500" dirty="0"/>
          </a:p>
          <a:p>
            <a:pPr marL="342900" indent="-342900">
              <a:spcAft>
                <a:spcPts val="1200"/>
              </a:spcAft>
              <a:buSzPct val="100000"/>
              <a:buChar char="•"/>
            </a:pPr>
            <a:r>
              <a:rPr lang="en-US" sz="1500" dirty="0">
                <a:solidFill>
                  <a:schemeClr val="tx1"/>
                </a:solidFill>
              </a:rPr>
              <a:t>Debug retrieval before blaming the model</a:t>
            </a:r>
            <a:endParaRPr lang="en-US" sz="1500" dirty="0"/>
          </a:p>
          <a:p>
            <a:pPr marL="342900" indent="-342900">
              <a:spcAft>
                <a:spcPts val="1200"/>
              </a:spcAft>
              <a:buSzPct val="100000"/>
              <a:buChar char="•"/>
            </a:pPr>
            <a:r>
              <a:rPr lang="en-US" sz="1500" dirty="0">
                <a:solidFill>
                  <a:schemeClr val="tx1"/>
                </a:solidFill>
              </a:rPr>
              <a:t>The whole stack here is free: Chroma, open weights, Gradio</a:t>
            </a:r>
            <a:endParaRPr lang="en-US" sz="1500" dirty="0"/>
          </a:p>
        </p:txBody>
      </p:sp>
      <p:sp>
        <p:nvSpPr>
          <p:cNvPr id="5" name="Shape 2"/>
          <p:cNvSpPr/>
          <p:nvPr/>
        </p:nvSpPr>
        <p:spPr>
          <a:xfrm>
            <a:off x="5577840" y="1280160"/>
            <a:ext cx="0" cy="3200400"/>
          </a:xfrm>
          <a:prstGeom prst="line">
            <a:avLst/>
          </a:prstGeom>
          <a:noFill/>
          <a:ln w="9525">
            <a:solidFill>
              <a:schemeClr val="accent6"/>
            </a:solidFill>
            <a:prstDash val="solid"/>
          </a:ln>
        </p:spPr>
      </p:sp>
      <p:sp>
        <p:nvSpPr>
          <p:cNvPr id="6" name="Text 3"/>
          <p:cNvSpPr txBox="1"/>
          <p:nvPr/>
        </p:nvSpPr>
        <p:spPr>
          <a:xfrm>
            <a:off x="5852160" y="1280160"/>
            <a:ext cx="283464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Lab 8</a:t>
            </a:r>
            <a:endParaRPr lang="en-US" sz="1200" dirty="0"/>
          </a:p>
        </p:txBody>
      </p:sp>
      <p:sp>
        <p:nvSpPr>
          <p:cNvPr id="7" name="Text 4"/>
          <p:cNvSpPr txBox="1"/>
          <p:nvPr/>
        </p:nvSpPr>
        <p:spPr>
          <a:xfrm>
            <a:off x="5852160" y="1600200"/>
            <a:ext cx="2834640" cy="731520"/>
          </a:xfrm>
          <a:prstGeom prst="rect">
            <a:avLst/>
          </a:prstGeom>
          <a:noFill/>
          <a:ln/>
        </p:spPr>
        <p:txBody>
          <a:bodyPr wrap="square" lIns="0" tIns="0" rIns="0" bIns="0" rtlCol="0" anchor="t"/>
          <a:lstStyle/>
          <a:p>
            <a:pPr indent="0" marL="0">
              <a:buNone/>
            </a:pPr>
            <a:r>
              <a:rPr lang="en-US" sz="1400" dirty="0">
                <a:solidFill>
                  <a:schemeClr val="tx1"/>
                </a:solidFill>
              </a:rPr>
              <a:t>Build "Ask your files" with a free open model (90 minutes).</a:t>
            </a:r>
            <a:endParaRPr lang="en-US" sz="1400" dirty="0"/>
          </a:p>
        </p:txBody>
      </p:sp>
      <p:sp>
        <p:nvSpPr>
          <p:cNvPr id="8" name="Text 5"/>
          <p:cNvSpPr txBox="1"/>
          <p:nvPr/>
        </p:nvSpPr>
        <p:spPr>
          <a:xfrm>
            <a:off x="5852160" y="2514600"/>
            <a:ext cx="283464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Further reading</a:t>
            </a:r>
            <a:endParaRPr lang="en-US" sz="1200" dirty="0"/>
          </a:p>
        </p:txBody>
      </p:sp>
      <p:sp>
        <p:nvSpPr>
          <p:cNvPr id="9" name="Text 6"/>
          <p:cNvSpPr txBox="1"/>
          <p:nvPr/>
        </p:nvSpPr>
        <p:spPr>
          <a:xfrm>
            <a:off x="5852160" y="2834640"/>
            <a:ext cx="2834640" cy="1737360"/>
          </a:xfrm>
          <a:prstGeom prst="rect">
            <a:avLst/>
          </a:prstGeom>
          <a:noFill/>
          <a:ln/>
        </p:spPr>
        <p:txBody>
          <a:bodyPr wrap="square" lIns="0" tIns="0" rIns="0" bIns="0" rtlCol="0" anchor="t"/>
          <a:lstStyle/>
          <a:p>
            <a:pPr indent="0" marL="0">
              <a:spcAft>
                <a:spcPts val="500"/>
              </a:spcAft>
              <a:buNone/>
            </a:pPr>
            <a:r>
              <a:rPr lang="en-US" sz="1200" i="1" dirty="0">
                <a:solidFill>
                  <a:schemeClr val="tx1"/>
                </a:solidFill>
                <a:latin typeface="Cambria" pitchFamily="34" charset="0"/>
                <a:ea typeface="Cambria" pitchFamily="34" charset="-122"/>
                <a:cs typeface="Cambria" pitchFamily="34" charset="-120"/>
              </a:rPr>
              <a:t>Lewis et al. (2020). Retrieval-Augmented Generation for Knowledge-Intensive NLP Tasks.</a:t>
            </a:r>
            <a:endParaRPr lang="en-US" sz="1200" dirty="0"/>
          </a:p>
          <a:p>
            <a:pPr indent="0" marL="0">
              <a:spcAft>
                <a:spcPts val="500"/>
              </a:spcAft>
              <a:buNone/>
            </a:pPr>
            <a:r>
              <a:rPr lang="en-US" sz="1200" i="1" dirty="0">
                <a:solidFill>
                  <a:schemeClr val="tx1"/>
                </a:solidFill>
                <a:latin typeface="Cambria" pitchFamily="34" charset="0"/>
                <a:ea typeface="Cambria" pitchFamily="34" charset="-122"/>
                <a:cs typeface="Cambria" pitchFamily="34" charset="-120"/>
              </a:rPr>
              <a:t>Liu et al. (2023). Lost in the Middle.</a:t>
            </a:r>
            <a:endParaRPr lang="en-US" sz="1200" dirty="0"/>
          </a:p>
          <a:p>
            <a:pPr indent="0" marL="0">
              <a:buNone/>
            </a:pPr>
            <a:r>
              <a:rPr lang="en-US" sz="1200" i="1" dirty="0">
                <a:solidFill>
                  <a:schemeClr val="tx1"/>
                </a:solidFill>
                <a:latin typeface="Cambria" pitchFamily="34" charset="0"/>
                <a:ea typeface="Cambria" pitchFamily="34" charset="-122"/>
                <a:cs typeface="Cambria" pitchFamily="34" charset="-120"/>
              </a:rPr>
              <a:t>Model card: Qwen/Qwen2.5-1.5B-Instruct (Hugging Face).</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Editorial8">
  <a:themeElements>
    <a:clrScheme name="Editorial8">
      <a:dk1>
        <a:srgbClr val="1B2A41"/>
      </a:dk1>
      <a:lt1>
        <a:srgbClr val="FFFFFF"/>
      </a:lt1>
      <a:dk2>
        <a:srgbClr val="0F1B2D"/>
      </a:dk2>
      <a:lt2>
        <a:srgbClr val="F3F4F6"/>
      </a:lt2>
      <a:accent1>
        <a:srgbClr val="B5432A"/>
      </a:accent1>
      <a:accent2>
        <a:srgbClr val="2F5D8A"/>
      </a:accent2>
      <a:accent3>
        <a:srgbClr val="3B7A57"/>
      </a:accent3>
      <a:accent4>
        <a:srgbClr val="8A6D1F"/>
      </a:accent4>
      <a:accent5>
        <a:srgbClr val="6B7280"/>
      </a:accent5>
      <a:accent6>
        <a:srgbClr val="D1D5DB"/>
      </a:accent6>
      <a:hlink>
        <a:srgbClr val="2F5D8A"/>
      </a:hlink>
      <a:folHlink>
        <a:srgbClr val="6B7280"/>
      </a:folHlink>
    </a:clrScheme>
    <a:fontScheme name="Editorial8">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8: RAG with ChromaDB</dc:title>
  <dc:subject>PptxGenJS Presentation</dc:subject>
  <dc:creator>PptxGenJS</dc:creator>
  <cp:lastModifiedBy>PptxGenJS</cp:lastModifiedBy>
  <cp:revision>1</cp:revision>
  <dcterms:created xsi:type="dcterms:W3CDTF">2026-10-27T11:00:38Z</dcterms:created>
  <dcterms:modified xsi:type="dcterms:W3CDTF">2026-10-27T11:00:38Z</dcterms:modified>
</cp:coreProperties>
</file>