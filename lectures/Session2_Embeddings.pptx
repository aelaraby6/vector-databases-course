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cture 2" id="{c67c4660-17b0-e95f-c898-35a99f39794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A41"/>
                </a:solidFill>
                <a:latin typeface="+mn-lt"/>
              </a:rPr>
              <a:t>RAM for 1M vectors (float32), in GB, by dimension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GB</c:v>
                </c:pt>
              </c:strCache>
            </c:strRef>
          </c:tx>
          <c:spPr>
            <a:solidFill>
              <a:srgbClr val="B5432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384</c:v>
                  </c:pt>
                  <c:pt idx="1">
                    <c:v>768</c:v>
                  </c:pt>
                  <c:pt idx="2">
                    <c:v>1024</c:v>
                  </c:pt>
                  <c:pt idx="3">
                    <c:v>1536</c:v>
                  </c:pt>
                  <c:pt idx="4">
                    <c:v>3072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1.5</c:v>
                </c:pt>
                <c:pt idx="1">
                  <c:v>3.1</c:v>
                </c:pt>
                <c:pt idx="2">
                  <c:v>4.1</c:v>
                </c:pt>
                <c:pt idx="3">
                  <c:v>6.1</c:v>
                </c:pt>
                <c:pt idx="4">
                  <c:v>12.3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(2 min). Lecture 1 showed why we want search by meaning. Today we open the box: how does a piece of text become a list of numbers, and why do similar meanings get similar numbers?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(1 min). 90 minutes: about 60 lecture, 30 lab. Lab uses Colab, no installation.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from the naive approach (5 min). With one-hot, the vocabulary size is the dimension, and every pair of words is equally far apart. Dense vectors fix both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word2vec learns (6 min). No labels are needed: raw text supplies the training signal. The vectors are the weights learned while predicting neighbors.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famous analogy (4 min). Treat as a demo of structure, not a guarantee: results depend on the model, and the embeddings also absorb biases from the text they were trained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we moved beyond word2vec (5 min). Modern embedding models are contextual: the vector for a token depends on the whole sentence, which resolves polysemy from Lecture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a sentence embedding model works (6 min). Pooling collapses a variable number of token vectors into one fixed-size vector. Truncation at the max length is silent, a frequent 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Contrastive learning (6 min). Emphasize that the training pairs define what 'similar' means: a model trained on question-answer pairs is good at retrieval.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Beyond text (4 min). CLIP-style models train an image encoder and a text encoder together so matching pairs land close. That makes text-to-image search possible with the same vector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Dimensions (5 min). Values are N x d x 4 bytes with N = 1 million. Individual dimensions have no human meaning; only the geometry matters. OpenAI text-embedding-3 models accept a dimensions parameter, and Matryoshka-trained models keep quality when truncated.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landscape (5 min). Figures come from the public model cards at the time of writing; verify before relying on them. MTEB is a useful leaderboard, but always test on your own queries.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rules (5 min). Rule 1 is the most common production bug: mixing models in one index silently destroys search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limits (4 min). Mitigations point forward to hybrid search and reranking in Lecture 9, and chunking in Lecture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Visualization (6 min). We can only plot 2-D, so we project. PCA is linear and keeps global variance. t-SNE preserves local neighborhoods; distances between clusters and cluster sizes are not meaningful. This is exactly what the lab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practice (4 min). Load the model once at startup, not per request. If you use a hosted API the call is similar: send a list of strings, get back a list of vectors.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 discussion (5 min). Answers: 1) every pair is equidistant, dimension is the vocabulary size; 2) contextual models compute vectors from the full sentence; 3) different models produce different spaces; 4) PCA for a quick global view; t-SNE gaps and sizes are not meaningful.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(3 min), then hand out Lab 2. Next lecture: how we measure closeness between vectors.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48188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Databases  —  Lecture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PEN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457200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6"/>
                </a:solidFill>
              </a:rPr>
              <a:t>LECTURE 2 OF 9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32588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Embeddings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meaning into numbers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Vector Databases: from zero to ChromaDB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577840" y="1280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B5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puppy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[ 0.12, -0.53, 0.88, ... ]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kitten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577840" y="2377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[ 0.10, -0.49, 0.81, ... ]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truck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3154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[-0.62,  0.30, -0.15, ... ]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paris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3931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[ 0.05,  0.71, -0.44, ... 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Today's lecture in five questions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52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13258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embedding, and why not one-hot?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097280" y="1856232"/>
            <a:ext cx="51206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are embeddings learned?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097280" y="2496312"/>
            <a:ext cx="51206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2532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06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sentences, images and code get vectors?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097280" y="3136392"/>
            <a:ext cx="51206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3172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246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model and how many dimensions?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097280" y="3776472"/>
            <a:ext cx="51206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3813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3886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 inspect them with PCA and t-SNE?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675120" y="1325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Prerequisites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675120" y="16459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Lecture 1, basic Python and NumPy.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675120" y="2651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Lab 2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675120" y="29718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Embed 24 sentences, measure similarity, and plot them with PCA and t-SNE.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One-hot vectors carry no meaning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One-hot: sparse and blind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75488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Dense: short and meaningful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783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188720" y="1783080"/>
            <a:ext cx="2560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44752" y="1783080"/>
            <a:ext cx="2560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700784" y="1783080"/>
            <a:ext cx="256032" cy="365760"/>
          </a:xfrm>
          <a:prstGeom prst="rect">
            <a:avLst/>
          </a:prstGeom>
          <a:solidFill>
            <a:srgbClr val="2F5D8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956816" y="1783080"/>
            <a:ext cx="2560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212848" y="1783080"/>
            <a:ext cx="2560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468880" y="1783080"/>
            <a:ext cx="2560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24912" y="1783080"/>
            <a:ext cx="2560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80944" y="1783080"/>
            <a:ext cx="2560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36976" y="1783080"/>
            <a:ext cx="2560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93008" y="1783080"/>
            <a:ext cx="2560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749040" y="1783080"/>
            <a:ext cx="2560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005072" y="1783080"/>
            <a:ext cx="2560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754880" y="1783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0" y="1783080"/>
            <a:ext cx="256032" cy="365760"/>
          </a:xfrm>
          <a:prstGeom prst="rect">
            <a:avLst/>
          </a:prstGeom>
          <a:solidFill>
            <a:srgbClr val="CB7B6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742432" y="1783080"/>
            <a:ext cx="256032" cy="365760"/>
          </a:xfrm>
          <a:prstGeom prst="rect">
            <a:avLst/>
          </a:prstGeom>
          <a:solidFill>
            <a:srgbClr val="C1CED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98464" y="1783080"/>
            <a:ext cx="256032" cy="365760"/>
          </a:xfrm>
          <a:prstGeom prst="rect">
            <a:avLst/>
          </a:prstGeom>
          <a:solidFill>
            <a:srgbClr val="DAA19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54496" y="1783080"/>
            <a:ext cx="256032" cy="365760"/>
          </a:xfrm>
          <a:prstGeom prst="rect">
            <a:avLst/>
          </a:prstGeom>
          <a:solidFill>
            <a:srgbClr val="C4695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10528" y="1783080"/>
            <a:ext cx="256032" cy="365760"/>
          </a:xfrm>
          <a:prstGeom prst="rect">
            <a:avLst/>
          </a:prstGeom>
          <a:solidFill>
            <a:srgbClr val="829EB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766560" y="1783080"/>
            <a:ext cx="256032" cy="365760"/>
          </a:xfrm>
          <a:prstGeom prst="rect">
            <a:avLst/>
          </a:prstGeom>
          <a:solidFill>
            <a:srgbClr val="F0D9D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022592" y="1783080"/>
            <a:ext cx="256032" cy="365760"/>
          </a:xfrm>
          <a:prstGeom prst="rect">
            <a:avLst/>
          </a:prstGeom>
          <a:solidFill>
            <a:srgbClr val="E1B4A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278624" y="1783080"/>
            <a:ext cx="256032" cy="365760"/>
          </a:xfrm>
          <a:prstGeom prst="rect">
            <a:avLst/>
          </a:prstGeom>
          <a:solidFill>
            <a:srgbClr val="6D8EA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534656" y="1783080"/>
            <a:ext cx="256032" cy="365760"/>
          </a:xfrm>
          <a:prstGeom prst="rect">
            <a:avLst/>
          </a:prstGeom>
          <a:solidFill>
            <a:srgbClr val="D38E7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790688" y="1783080"/>
            <a:ext cx="256032" cy="365760"/>
          </a:xfrm>
          <a:prstGeom prst="rect">
            <a:avLst/>
          </a:prstGeom>
          <a:solidFill>
            <a:srgbClr val="F8EC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046720" y="1783080"/>
            <a:ext cx="256032" cy="365760"/>
          </a:xfrm>
          <a:prstGeom prst="rect">
            <a:avLst/>
          </a:prstGeom>
          <a:solidFill>
            <a:srgbClr val="97AE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302752" y="1783080"/>
            <a:ext cx="256032" cy="365760"/>
          </a:xfrm>
          <a:prstGeom prst="rect">
            <a:avLst/>
          </a:prstGeom>
          <a:solidFill>
            <a:srgbClr val="E9C7B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57200" y="22860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dog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1188720" y="2286000"/>
            <a:ext cx="2560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444752" y="2286000"/>
            <a:ext cx="2560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700784" y="2286000"/>
            <a:ext cx="2560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956816" y="2286000"/>
            <a:ext cx="256032" cy="365760"/>
          </a:xfrm>
          <a:prstGeom prst="rect">
            <a:avLst/>
          </a:prstGeom>
          <a:solidFill>
            <a:srgbClr val="2F5D8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212848" y="2286000"/>
            <a:ext cx="2560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468880" y="2286000"/>
            <a:ext cx="2560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724912" y="2286000"/>
            <a:ext cx="2560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980944" y="2286000"/>
            <a:ext cx="2560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236976" y="2286000"/>
            <a:ext cx="2560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493008" y="2286000"/>
            <a:ext cx="2560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749040" y="2286000"/>
            <a:ext cx="2560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005072" y="2286000"/>
            <a:ext cx="2560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754880" y="22860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dog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5486400" y="2286000"/>
            <a:ext cx="256032" cy="365760"/>
          </a:xfrm>
          <a:prstGeom prst="rect">
            <a:avLst/>
          </a:prstGeom>
          <a:solidFill>
            <a:srgbClr val="D38E7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742432" y="2286000"/>
            <a:ext cx="256032" cy="365760"/>
          </a:xfrm>
          <a:prstGeom prst="rect">
            <a:avLst/>
          </a:prstGeom>
          <a:solidFill>
            <a:srgbClr val="D5DFE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998464" y="2286000"/>
            <a:ext cx="256032" cy="365760"/>
          </a:xfrm>
          <a:prstGeom prst="rect">
            <a:avLst/>
          </a:prstGeom>
          <a:solidFill>
            <a:srgbClr val="D38E7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254496" y="2286000"/>
            <a:ext cx="256032" cy="365760"/>
          </a:xfrm>
          <a:prstGeom prst="rect">
            <a:avLst/>
          </a:prstGeom>
          <a:solidFill>
            <a:srgbClr val="CB7B6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510528" y="2286000"/>
            <a:ext cx="256032" cy="365760"/>
          </a:xfrm>
          <a:prstGeom prst="rect">
            <a:avLst/>
          </a:prstGeom>
          <a:solidFill>
            <a:srgbClr val="97AE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766560" y="2286000"/>
            <a:ext cx="256032" cy="365760"/>
          </a:xfrm>
          <a:prstGeom prst="rect">
            <a:avLst/>
          </a:prstGeom>
          <a:solidFill>
            <a:srgbClr val="E9C7B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022592" y="2286000"/>
            <a:ext cx="256032" cy="365760"/>
          </a:xfrm>
          <a:prstGeom prst="rect">
            <a:avLst/>
          </a:prstGeom>
          <a:solidFill>
            <a:srgbClr val="E9C7B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278624" y="2286000"/>
            <a:ext cx="256032" cy="365760"/>
          </a:xfrm>
          <a:prstGeom prst="rect">
            <a:avLst/>
          </a:prstGeom>
          <a:solidFill>
            <a:srgbClr val="829EB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534656" y="2286000"/>
            <a:ext cx="256032" cy="365760"/>
          </a:xfrm>
          <a:prstGeom prst="rect">
            <a:avLst/>
          </a:prstGeom>
          <a:solidFill>
            <a:srgbClr val="DAA19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790688" y="2286000"/>
            <a:ext cx="256032" cy="365760"/>
          </a:xfrm>
          <a:prstGeom prst="rect">
            <a:avLst/>
          </a:prstGeom>
          <a:solidFill>
            <a:srgbClr val="F0D9D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046720" y="2286000"/>
            <a:ext cx="256032" cy="365760"/>
          </a:xfrm>
          <a:prstGeom prst="rect">
            <a:avLst/>
          </a:prstGeom>
          <a:solidFill>
            <a:srgbClr val="ACBED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8302752" y="2286000"/>
            <a:ext cx="256032" cy="365760"/>
          </a:xfrm>
          <a:prstGeom prst="rect">
            <a:avLst/>
          </a:prstGeom>
          <a:solidFill>
            <a:srgbClr val="E1B4A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457200" y="2788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</a:t>
            </a:r>
            <a:endParaRPr lang="en-US" sz="1400" dirty="0"/>
          </a:p>
        </p:txBody>
      </p:sp>
      <p:sp>
        <p:nvSpPr>
          <p:cNvPr id="59" name="Shape 56"/>
          <p:cNvSpPr/>
          <p:nvPr/>
        </p:nvSpPr>
        <p:spPr>
          <a:xfrm>
            <a:off x="1188720" y="2788920"/>
            <a:ext cx="2560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1444752" y="2788920"/>
            <a:ext cx="2560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1700784" y="2788920"/>
            <a:ext cx="2560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956816" y="2788920"/>
            <a:ext cx="2560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212848" y="2788920"/>
            <a:ext cx="2560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2468880" y="2788920"/>
            <a:ext cx="2560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2724912" y="2788920"/>
            <a:ext cx="2560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2980944" y="2788920"/>
            <a:ext cx="2560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236976" y="2788920"/>
            <a:ext cx="2560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3493008" y="2788920"/>
            <a:ext cx="256032" cy="365760"/>
          </a:xfrm>
          <a:prstGeom prst="rect">
            <a:avLst/>
          </a:prstGeom>
          <a:solidFill>
            <a:srgbClr val="2F5D8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749040" y="2788920"/>
            <a:ext cx="2560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4005072" y="2788920"/>
            <a:ext cx="2560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4754880" y="2788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</a:t>
            </a:r>
            <a:endParaRPr lang="en-US" sz="1400" dirty="0"/>
          </a:p>
        </p:txBody>
      </p:sp>
      <p:sp>
        <p:nvSpPr>
          <p:cNvPr id="72" name="Shape 69"/>
          <p:cNvSpPr/>
          <p:nvPr/>
        </p:nvSpPr>
        <p:spPr>
          <a:xfrm>
            <a:off x="5486400" y="2788920"/>
            <a:ext cx="256032" cy="365760"/>
          </a:xfrm>
          <a:prstGeom prst="rect">
            <a:avLst/>
          </a:prstGeom>
          <a:solidFill>
            <a:srgbClr val="97AE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5742432" y="2788920"/>
            <a:ext cx="256032" cy="365760"/>
          </a:xfrm>
          <a:prstGeom prst="rect">
            <a:avLst/>
          </a:prstGeom>
          <a:solidFill>
            <a:srgbClr val="D38E7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5998464" y="2788920"/>
            <a:ext cx="256032" cy="365760"/>
          </a:xfrm>
          <a:prstGeom prst="rect">
            <a:avLst/>
          </a:prstGeom>
          <a:solidFill>
            <a:srgbClr val="ACBED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6254496" y="2788920"/>
            <a:ext cx="256032" cy="365760"/>
          </a:xfrm>
          <a:prstGeom prst="rect">
            <a:avLst/>
          </a:prstGeom>
          <a:solidFill>
            <a:srgbClr val="C1CED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6510528" y="2788920"/>
            <a:ext cx="256032" cy="365760"/>
          </a:xfrm>
          <a:prstGeom prst="rect">
            <a:avLst/>
          </a:prstGeom>
          <a:solidFill>
            <a:srgbClr val="DAA19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6766560" y="2788920"/>
            <a:ext cx="256032" cy="365760"/>
          </a:xfrm>
          <a:prstGeom prst="rect">
            <a:avLst/>
          </a:prstGeom>
          <a:solidFill>
            <a:srgbClr val="6D8EA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7022592" y="2788920"/>
            <a:ext cx="256032" cy="365760"/>
          </a:xfrm>
          <a:prstGeom prst="rect">
            <a:avLst/>
          </a:prstGeom>
          <a:solidFill>
            <a:srgbClr val="C4695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7278624" y="2788920"/>
            <a:ext cx="256032" cy="365760"/>
          </a:xfrm>
          <a:prstGeom prst="rect">
            <a:avLst/>
          </a:prstGeom>
          <a:solidFill>
            <a:srgbClr val="E1B4A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7534656" y="2788920"/>
            <a:ext cx="256032" cy="365760"/>
          </a:xfrm>
          <a:prstGeom prst="rect">
            <a:avLst/>
          </a:prstGeom>
          <a:solidFill>
            <a:srgbClr val="829EB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7790688" y="2788920"/>
            <a:ext cx="256032" cy="365760"/>
          </a:xfrm>
          <a:prstGeom prst="rect">
            <a:avLst/>
          </a:prstGeom>
          <a:solidFill>
            <a:srgbClr val="CB7B6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8046720" y="2788920"/>
            <a:ext cx="256032" cy="365760"/>
          </a:xfrm>
          <a:prstGeom prst="rect">
            <a:avLst/>
          </a:prstGeom>
          <a:solidFill>
            <a:srgbClr val="E9C7B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8302752" y="2788920"/>
            <a:ext cx="256032" cy="365760"/>
          </a:xfrm>
          <a:prstGeom prst="rect">
            <a:avLst/>
          </a:prstGeom>
          <a:solidFill>
            <a:srgbClr val="97AE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4572000" y="1280160"/>
            <a:ext cx="0" cy="210312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457200" y="34290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One dimension per vocabulary word (50,000+). Every pair is equally distant: cat is as far from dog as from car.</a:t>
            </a:r>
            <a:endParaRPr lang="en-US" sz="1300" dirty="0"/>
          </a:p>
        </p:txBody>
      </p:sp>
      <p:sp>
        <p:nvSpPr>
          <p:cNvPr id="86" name="Text 83"/>
          <p:cNvSpPr txBox="1"/>
          <p:nvPr/>
        </p:nvSpPr>
        <p:spPr>
          <a:xfrm>
            <a:off x="4754880" y="34290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 few hundred numbers. Cat and dog share a pattern; car does not. Distance reflects meaning.</a:t>
            </a:r>
            <a:endParaRPr lang="en-US" sz="1300" dirty="0"/>
          </a:p>
        </p:txBody>
      </p:sp>
      <p:sp>
        <p:nvSpPr>
          <p:cNvPr id="87" name="Shape 84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640080" y="4069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embedding maps an item to a dense vector so that similar items lie close together.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Words are known by their neighbors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"You shall know a word by the company it keeps."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J. R. Firth, 1957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57200" y="2103120"/>
            <a:ext cx="822960" cy="457200"/>
          </a:xfrm>
          <a:prstGeom prst="rect">
            <a:avLst/>
          </a:prstGeom>
          <a:solidFill>
            <a:schemeClr val="bg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2103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371600" y="2103120"/>
            <a:ext cx="822960" cy="45720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371600" y="2103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286000" y="2103120"/>
            <a:ext cx="822960" cy="457200"/>
          </a:xfrm>
          <a:prstGeom prst="rect">
            <a:avLst/>
          </a:prstGeom>
          <a:solidFill>
            <a:schemeClr val="bg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286000" y="2103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chased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00400" y="2103120"/>
            <a:ext cx="822960" cy="457200"/>
          </a:xfrm>
          <a:prstGeom prst="rect">
            <a:avLst/>
          </a:prstGeom>
          <a:solidFill>
            <a:schemeClr val="bg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200400" y="2103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114800" y="2103120"/>
            <a:ext cx="822960" cy="457200"/>
          </a:xfrm>
          <a:prstGeom prst="rect">
            <a:avLst/>
          </a:prstGeom>
          <a:solidFill>
            <a:schemeClr val="bg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114800" y="2103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mouse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 flipV="1">
            <a:off x="914400" y="2560320"/>
            <a:ext cx="868680" cy="1097280"/>
          </a:xfrm>
          <a:prstGeom prst="line">
            <a:avLst/>
          </a:prstGeom>
          <a:noFill/>
          <a:ln w="12700">
            <a:solidFill>
              <a:srgbClr val="B5432A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457200" y="3657600"/>
            <a:ext cx="914400" cy="457200"/>
          </a:xfrm>
          <a:prstGeom prst="rect">
            <a:avLst/>
          </a:prstGeom>
          <a:solidFill>
            <a:schemeClr val="bg1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3657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783080" y="2560320"/>
            <a:ext cx="274320" cy="1097280"/>
          </a:xfrm>
          <a:prstGeom prst="line">
            <a:avLst/>
          </a:prstGeom>
          <a:noFill/>
          <a:ln w="12700">
            <a:solidFill>
              <a:srgbClr val="B5432A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1600200" y="3657600"/>
            <a:ext cx="914400" cy="457200"/>
          </a:xfrm>
          <a:prstGeom prst="rect">
            <a:avLst/>
          </a:prstGeom>
          <a:solidFill>
            <a:schemeClr val="bg1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600200" y="3657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chased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783080" y="2560320"/>
            <a:ext cx="1417320" cy="1097280"/>
          </a:xfrm>
          <a:prstGeom prst="line">
            <a:avLst/>
          </a:prstGeom>
          <a:noFill/>
          <a:ln w="12700">
            <a:solidFill>
              <a:srgbClr val="B5432A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2743200" y="3657600"/>
            <a:ext cx="914400" cy="457200"/>
          </a:xfrm>
          <a:prstGeom prst="rect">
            <a:avLst/>
          </a:prstGeom>
          <a:solidFill>
            <a:schemeClr val="bg1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743200" y="3657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783080" y="2560320"/>
            <a:ext cx="2560320" cy="1097280"/>
          </a:xfrm>
          <a:prstGeom prst="line">
            <a:avLst/>
          </a:prstGeom>
          <a:noFill/>
          <a:ln w="12700">
            <a:solidFill>
              <a:srgbClr val="B5432A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3886200" y="3657600"/>
            <a:ext cx="914400" cy="457200"/>
          </a:xfrm>
          <a:prstGeom prst="rect">
            <a:avLst/>
          </a:prstGeom>
          <a:solidFill>
            <a:schemeClr val="bg1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886200" y="3657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mouse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4206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 2.1  Skip-gram: the center word must predict its neighbors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5394960" y="2103120"/>
            <a:ext cx="3291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Slide a window over text.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center word is trained to predict the words around it.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Similar contexts, similar vectors.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"cat" and "dog" appear near the same words, so their vectors move together.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embedding is a by-product: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weights learned to make the predictions.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Directions in space encode relations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5120640" cy="32918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flipV="1">
            <a:off x="1234440" y="2112264"/>
            <a:ext cx="1737360" cy="155448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6" name="Shape 3"/>
          <p:cNvSpPr/>
          <p:nvPr/>
        </p:nvSpPr>
        <p:spPr>
          <a:xfrm flipV="1">
            <a:off x="2331720" y="2478024"/>
            <a:ext cx="1737360" cy="155448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1234440" y="3666744"/>
            <a:ext cx="1097280" cy="365760"/>
          </a:xfrm>
          <a:prstGeom prst="line">
            <a:avLst/>
          </a:prstGeom>
          <a:noFill/>
          <a:ln w="28575">
            <a:solidFill>
              <a:srgbClr val="B5432A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971800" y="2112264"/>
            <a:ext cx="1097280" cy="365760"/>
          </a:xfrm>
          <a:prstGeom prst="line">
            <a:avLst/>
          </a:prstGeom>
          <a:noFill/>
          <a:ln w="28575">
            <a:solidFill>
              <a:srgbClr val="B5432A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1188720" y="3621024"/>
            <a:ext cx="91440" cy="914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344168" y="35661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286000" y="3986784"/>
            <a:ext cx="91440" cy="914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441448" y="39319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woman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926080" y="2066544"/>
            <a:ext cx="91440" cy="914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81528" y="2011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king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023360" y="2432304"/>
            <a:ext cx="91440" cy="914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178808" y="23774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queen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280160" y="4114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woman − man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291840" y="17830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offset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4297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 2.2  Parallel offsets in an embedding space (2-D sketch)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852160" y="12801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king − man + woman ≈ queen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0" y="219456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Relations such as gender, tense or country-capital show up as consistent directions.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Caveat: a neat demo, not a guarantee. Analogies are noisy, and models inherit biases from their training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Same word, different context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(word2vec, GloVe)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75488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Contextual (BERT-style)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0" y="1280160"/>
            <a:ext cx="0" cy="32004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783080"/>
            <a:ext cx="1828800" cy="640080"/>
          </a:xfrm>
          <a:prstGeom prst="rect">
            <a:avLst/>
          </a:prstGeom>
          <a:solidFill>
            <a:schemeClr val="bg1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783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We sat on the river bank.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937760" y="1783080"/>
            <a:ext cx="1828800" cy="640080"/>
          </a:xfrm>
          <a:prstGeom prst="rect">
            <a:avLst/>
          </a:prstGeom>
          <a:solidFill>
            <a:schemeClr val="bg1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37760" y="1783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We sat on the river bank.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560320" y="1783080"/>
            <a:ext cx="1828800" cy="640080"/>
          </a:xfrm>
          <a:prstGeom prst="rect">
            <a:avLst/>
          </a:prstGeom>
          <a:solidFill>
            <a:schemeClr val="bg1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560320" y="1783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She opened a bank account.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949440" y="1783080"/>
            <a:ext cx="1828800" cy="640080"/>
          </a:xfrm>
          <a:prstGeom prst="rect">
            <a:avLst/>
          </a:prstGeom>
          <a:solidFill>
            <a:schemeClr val="bg1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49440" y="1783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She opened a bank account.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463040" y="2423160"/>
            <a:ext cx="731520" cy="96012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 flipV="1">
            <a:off x="2743200" y="2423160"/>
            <a:ext cx="731520" cy="96012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1554480" y="3383280"/>
            <a:ext cx="182880" cy="365760"/>
          </a:xfrm>
          <a:prstGeom prst="rect">
            <a:avLst/>
          </a:prstGeom>
          <a:solidFill>
            <a:srgbClr val="F8EC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37360" y="3383280"/>
            <a:ext cx="182880" cy="365760"/>
          </a:xfrm>
          <a:prstGeom prst="rect">
            <a:avLst/>
          </a:prstGeom>
          <a:solidFill>
            <a:srgbClr val="FBF6F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920240" y="3383280"/>
            <a:ext cx="182880" cy="365760"/>
          </a:xfrm>
          <a:prstGeom prst="rect">
            <a:avLst/>
          </a:prstGeom>
          <a:solidFill>
            <a:srgbClr val="E1B4A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103120" y="3383280"/>
            <a:ext cx="182880" cy="365760"/>
          </a:xfrm>
          <a:prstGeom prst="rect">
            <a:avLst/>
          </a:prstGeom>
          <a:solidFill>
            <a:srgbClr val="F8EC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286000" y="3383280"/>
            <a:ext cx="182880" cy="365760"/>
          </a:xfrm>
          <a:prstGeom prst="rect">
            <a:avLst/>
          </a:prstGeom>
          <a:solidFill>
            <a:srgbClr val="EDD0C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468880" y="3383280"/>
            <a:ext cx="182880" cy="365760"/>
          </a:xfrm>
          <a:prstGeom prst="rect">
            <a:avLst/>
          </a:prstGeom>
          <a:solidFill>
            <a:srgbClr val="F4E3D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651760" y="3383280"/>
            <a:ext cx="182880" cy="365760"/>
          </a:xfrm>
          <a:prstGeom prst="rect">
            <a:avLst/>
          </a:prstGeom>
          <a:solidFill>
            <a:srgbClr val="E0E7E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834640" y="3383280"/>
            <a:ext cx="182880" cy="365760"/>
          </a:xfrm>
          <a:prstGeom prst="rect">
            <a:avLst/>
          </a:prstGeom>
          <a:solidFill>
            <a:srgbClr val="E5BDB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017520" y="3383280"/>
            <a:ext cx="182880" cy="365760"/>
          </a:xfrm>
          <a:prstGeom prst="rect">
            <a:avLst/>
          </a:prstGeom>
          <a:solidFill>
            <a:srgbClr val="FBF6F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00400" y="3383280"/>
            <a:ext cx="182880" cy="365760"/>
          </a:xfrm>
          <a:prstGeom prst="rect">
            <a:avLst/>
          </a:prstGeom>
          <a:solidFill>
            <a:srgbClr val="F5F7F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852160" y="2423160"/>
            <a:ext cx="0" cy="96012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7863840" y="2423160"/>
            <a:ext cx="0" cy="96012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4937760" y="3383280"/>
            <a:ext cx="182880" cy="365760"/>
          </a:xfrm>
          <a:prstGeom prst="rect">
            <a:avLst/>
          </a:prstGeom>
          <a:solidFill>
            <a:srgbClr val="D38E7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120640" y="3383280"/>
            <a:ext cx="182880" cy="365760"/>
          </a:xfrm>
          <a:prstGeom prst="rect">
            <a:avLst/>
          </a:prstGeom>
          <a:solidFill>
            <a:srgbClr val="97AE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303520" y="3383280"/>
            <a:ext cx="182880" cy="365760"/>
          </a:xfrm>
          <a:prstGeom prst="rect">
            <a:avLst/>
          </a:prstGeom>
          <a:solidFill>
            <a:srgbClr val="E9C7B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486400" y="3383280"/>
            <a:ext cx="182880" cy="365760"/>
          </a:xfrm>
          <a:prstGeom prst="rect">
            <a:avLst/>
          </a:prstGeom>
          <a:solidFill>
            <a:srgbClr val="CB7B6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669280" y="3383280"/>
            <a:ext cx="182880" cy="365760"/>
          </a:xfrm>
          <a:prstGeom prst="rect">
            <a:avLst/>
          </a:prstGeom>
          <a:solidFill>
            <a:srgbClr val="D5DFE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852160" y="3383280"/>
            <a:ext cx="182880" cy="365760"/>
          </a:xfrm>
          <a:prstGeom prst="rect">
            <a:avLst/>
          </a:prstGeom>
          <a:solidFill>
            <a:srgbClr val="E1B4A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035040" y="3383280"/>
            <a:ext cx="182880" cy="365760"/>
          </a:xfrm>
          <a:prstGeom prst="rect">
            <a:avLst/>
          </a:prstGeom>
          <a:solidFill>
            <a:srgbClr val="829EB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217920" y="3383280"/>
            <a:ext cx="182880" cy="365760"/>
          </a:xfrm>
          <a:prstGeom prst="rect">
            <a:avLst/>
          </a:prstGeom>
          <a:solidFill>
            <a:srgbClr val="F8EC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400800" y="3383280"/>
            <a:ext cx="182880" cy="365760"/>
          </a:xfrm>
          <a:prstGeom prst="rect">
            <a:avLst/>
          </a:prstGeom>
          <a:solidFill>
            <a:srgbClr val="DAA19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583680" y="3383280"/>
            <a:ext cx="182880" cy="365760"/>
          </a:xfrm>
          <a:prstGeom prst="rect">
            <a:avLst/>
          </a:prstGeom>
          <a:solidFill>
            <a:srgbClr val="C1CED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949440" y="3383280"/>
            <a:ext cx="182880" cy="365760"/>
          </a:xfrm>
          <a:prstGeom prst="rect">
            <a:avLst/>
          </a:prstGeom>
          <a:solidFill>
            <a:srgbClr val="ACBED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132320" y="3383280"/>
            <a:ext cx="182880" cy="365760"/>
          </a:xfrm>
          <a:prstGeom prst="rect">
            <a:avLst/>
          </a:prstGeom>
          <a:solidFill>
            <a:srgbClr val="D38E7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315200" y="3383280"/>
            <a:ext cx="182880" cy="365760"/>
          </a:xfrm>
          <a:prstGeom prst="rect">
            <a:avLst/>
          </a:prstGeom>
          <a:solidFill>
            <a:srgbClr val="DAA19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498080" y="3383280"/>
            <a:ext cx="182880" cy="365760"/>
          </a:xfrm>
          <a:prstGeom prst="rect">
            <a:avLst/>
          </a:prstGeom>
          <a:solidFill>
            <a:srgbClr val="97AE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680960" y="3383280"/>
            <a:ext cx="182880" cy="365760"/>
          </a:xfrm>
          <a:prstGeom prst="rect">
            <a:avLst/>
          </a:prstGeom>
          <a:solidFill>
            <a:srgbClr val="CB7B6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863840" y="3383280"/>
            <a:ext cx="182880" cy="365760"/>
          </a:xfrm>
          <a:prstGeom prst="rect">
            <a:avLst/>
          </a:prstGeom>
          <a:solidFill>
            <a:srgbClr val="EAEFF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046720" y="3383280"/>
            <a:ext cx="182880" cy="365760"/>
          </a:xfrm>
          <a:prstGeom prst="rect">
            <a:avLst/>
          </a:prstGeom>
          <a:solidFill>
            <a:srgbClr val="E9C7B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229600" y="3383280"/>
            <a:ext cx="182880" cy="365760"/>
          </a:xfrm>
          <a:prstGeom prst="rect">
            <a:avLst/>
          </a:prstGeom>
          <a:solidFill>
            <a:srgbClr val="D38E7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412480" y="3383280"/>
            <a:ext cx="182880" cy="365760"/>
          </a:xfrm>
          <a:prstGeom prst="rect">
            <a:avLst/>
          </a:prstGeom>
          <a:solidFill>
            <a:srgbClr val="ACBED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595360" y="3383280"/>
            <a:ext cx="182880" cy="365760"/>
          </a:xfrm>
          <a:prstGeom prst="rect">
            <a:avLst/>
          </a:prstGeom>
          <a:solidFill>
            <a:srgbClr val="F0D9D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57200" y="3931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vector for "bank", whatever the sentence.</a:t>
            </a:r>
            <a:endParaRPr lang="en-US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4754880" y="3931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different vector for "bank" in each sentence.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From tokens to one sentence vector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forgot my password"   →   [CLS] i forgot my pass ##word [SEP]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7200" y="1828800"/>
            <a:ext cx="1371600" cy="822960"/>
          </a:xfrm>
          <a:prstGeom prst="rect">
            <a:avLst/>
          </a:prstGeom>
          <a:solidFill>
            <a:schemeClr val="bg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8288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Tokenizer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7889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Splits text into word pieces and maps them to ids.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828800" y="2240280"/>
            <a:ext cx="342900" cy="0"/>
          </a:xfrm>
          <a:prstGeom prst="line">
            <a:avLst/>
          </a:prstGeom>
          <a:noFill/>
          <a:ln w="15875">
            <a:solidFill>
              <a:srgbClr val="1B2A41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171700" y="1828800"/>
            <a:ext cx="1371600" cy="822960"/>
          </a:xfrm>
          <a:prstGeom prst="rect">
            <a:avLst/>
          </a:prstGeom>
          <a:solidFill>
            <a:schemeClr val="bg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71700" y="18288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Transformer encoder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171700" y="27889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Attention mixes context into every token.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543300" y="2240280"/>
            <a:ext cx="342900" cy="0"/>
          </a:xfrm>
          <a:prstGeom prst="line">
            <a:avLst/>
          </a:prstGeom>
          <a:noFill/>
          <a:ln w="15875">
            <a:solidFill>
              <a:srgbClr val="1B2A41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886200" y="1828800"/>
            <a:ext cx="1371600" cy="822960"/>
          </a:xfrm>
          <a:prstGeom prst="rect">
            <a:avLst/>
          </a:prstGeom>
          <a:solidFill>
            <a:schemeClr val="bg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886200" y="18288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Token vectors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886200" y="27889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One vector per token, 384 numbers each.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257800" y="2240280"/>
            <a:ext cx="342900" cy="0"/>
          </a:xfrm>
          <a:prstGeom prst="line">
            <a:avLst/>
          </a:prstGeom>
          <a:noFill/>
          <a:ln w="15875">
            <a:solidFill>
              <a:srgbClr val="1B2A41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5600700" y="1828800"/>
            <a:ext cx="1371600" cy="822960"/>
          </a:xfrm>
          <a:prstGeom prst="rect">
            <a:avLst/>
          </a:prstGeom>
          <a:solidFill>
            <a:schemeClr val="bg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600700" y="18288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Pooling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600700" y="27889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Average the token vectors (or take [CLS]).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972300" y="2240280"/>
            <a:ext cx="342900" cy="0"/>
          </a:xfrm>
          <a:prstGeom prst="line">
            <a:avLst/>
          </a:prstGeom>
          <a:noFill/>
          <a:ln w="15875">
            <a:solidFill>
              <a:srgbClr val="1B2A41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7315200" y="1828800"/>
            <a:ext cx="1371600" cy="822960"/>
          </a:xfrm>
          <a:prstGeom prst="rect">
            <a:avLst/>
          </a:prstGeom>
          <a:solidFill>
            <a:schemeClr val="bg1"/>
          </a:solidFill>
          <a:ln w="28575">
            <a:solidFill>
              <a:srgbClr val="B5432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0" y="18288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Sentence vector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315200" y="27889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One fixed-size vector for the whole text.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 2.3  Inside a sentence embedding model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5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 length matters: text beyond the model's limit (256 tokens for all-MiniLM-L6-v2) is silently cut off, so long documents must be chunked (Lecture 6).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embedding models are trained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3657600" cy="22402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29200" y="1280160"/>
            <a:ext cx="3657600" cy="22402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371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166360" y="1371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280160" y="2249424"/>
            <a:ext cx="91440" cy="91440"/>
          </a:xfrm>
          <a:prstGeom prst="ellipse">
            <a:avLst/>
          </a:prstGeom>
          <a:solidFill>
            <a:srgbClr val="B5432A"/>
          </a:solidFill>
          <a:ln w="12700">
            <a:solidFill>
              <a:srgbClr val="B5432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435608" y="21945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5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anchor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011680" y="2706624"/>
            <a:ext cx="91440" cy="9144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167128" y="26517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377440" y="3072384"/>
            <a:ext cx="91440" cy="91440"/>
          </a:xfrm>
          <a:prstGeom prst="ellipse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532888" y="30175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3B7A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760720" y="2249424"/>
            <a:ext cx="91440" cy="91440"/>
          </a:xfrm>
          <a:prstGeom prst="ellipse">
            <a:avLst/>
          </a:prstGeom>
          <a:solidFill>
            <a:srgbClr val="B5432A"/>
          </a:solidFill>
          <a:ln w="12700">
            <a:solidFill>
              <a:srgbClr val="B5432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16168" y="21945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5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anchor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17920" y="2660904"/>
            <a:ext cx="91440" cy="91440"/>
          </a:xfrm>
          <a:prstGeom prst="ellipse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73368" y="26060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3B7A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406640" y="3163824"/>
            <a:ext cx="91440" cy="9144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562088" y="3108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206240" y="2423160"/>
            <a:ext cx="731520" cy="0"/>
          </a:xfrm>
          <a:prstGeom prst="line">
            <a:avLst/>
          </a:prstGeom>
          <a:noFill/>
          <a:ln w="25400">
            <a:solidFill>
              <a:srgbClr val="B5432A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4160520" y="2103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Training pairs: (question, answer), (sentence, paraphrase), (title, body).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loss pulls positives toward the anchor and pushes negatives away.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In-batch negatives: other examples in the same batch serve as negatives.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One space for text and images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4754880" cy="32918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508760"/>
            <a:ext cx="3108960" cy="137160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5432A"/>
            </a:solidFill>
            <a:prstDash val="dash"/>
          </a:ln>
        </p:spPr>
      </p:sp>
      <p:sp>
        <p:nvSpPr>
          <p:cNvPr id="6" name="Shape 3"/>
          <p:cNvSpPr/>
          <p:nvPr/>
        </p:nvSpPr>
        <p:spPr>
          <a:xfrm>
            <a:off x="2468880" y="3063240"/>
            <a:ext cx="2651760" cy="118872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868680" y="1883664"/>
            <a:ext cx="91440" cy="914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24128" y="18288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photo of a dog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560320" y="1920240"/>
            <a:ext cx="868680" cy="548640"/>
          </a:xfrm>
          <a:prstGeom prst="rect">
            <a:avLst/>
          </a:prstGeom>
          <a:solidFill>
            <a:schemeClr val="bg1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560320" y="192024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dog.jpg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651760" y="3712464"/>
            <a:ext cx="91440" cy="914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807208" y="3657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red sports car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160520" y="3291840"/>
            <a:ext cx="868680" cy="548640"/>
          </a:xfrm>
          <a:prstGeom prst="rect">
            <a:avLst/>
          </a:prstGeom>
          <a:solidFill>
            <a:schemeClr val="bg1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160520" y="329184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car.jpg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 2.4  A shared space: matching text and image are neighbors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space, many modalities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0" y="173736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Text and images (CLIP-style models)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Source code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Audio and speech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Scanned pages and tables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0" y="32918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encoders are trained so that matching pairs land close together, which makes cross-modal search possible.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Dimensions: capacity versus cost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49377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669280" y="128016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More dimensions, more capacity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Finer distinctions, but more memory, slower search, and diminishing returns.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Axes are not interpretable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Dimension 17 does not mean "animal". Only distances matter.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Truncation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Some models are trained so the first k dimensions still work, letting you trade quality for memory.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Choosing an embedding model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40080"/>
                <a:gridCol w="1188720"/>
                <a:gridCol w="640080"/>
                <a:gridCol w="3566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input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all-MiniLM-L6-v2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tokens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and fast English 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all-mpnet-base-v2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 tokens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quality, slower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bge-base-en-v1.5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tokens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English retrieval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multilingual-e5-base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tokens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languages; needs prefixes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text-embedding-3-small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8,191 tokens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 hosted option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text-embedding-3-large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8,191 tokens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quality; dimensions adjustable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2.1  Common choices. Check the MTEB leaderboard, then test on your own data.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Four rules for using embeddings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1005840" y="1280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one model, and record it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005840" y="160934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Embed documents and queries with the same model, and store its name with the vectors. Changing models means re-embedding everything.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1031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2103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 the prefixes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243230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Some models expect "query: " and "passage: " prefixes, or an instruction for queries (e5, bge). Read the model card.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926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2926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Normalize when you use cosine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325526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Unit-length vectors make cosine equal to the dot product (Lecture 3).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7490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3749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Respect length, batch, and cache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407822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Chunk long text, send texts in batches, and cache vectors by a hash of the text.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0" y="1280160"/>
            <a:ext cx="0" cy="32004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29400" y="1371600"/>
            <a:ext cx="2057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committing to a model, test it on about 50 real queries from your own domain.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Where embeddings struggle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0" y="1280160"/>
            <a:ext cx="0" cy="32004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spots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78308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Negation: "refund allowed" and "refund not allowed" can look alike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Exact tokens: IDs, SKUs, version numbers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Domain jargon the model never saw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Long text: one vector averages many topics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Biases inherited from training data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Mitigations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178308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Combine with keyword search (hybrid)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Pick or fine-tune a domain model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Chunk smaller, with overlap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Rerank the top results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Evaluate on your own queries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Seeing embeddings: PCA and t-SNE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3931920" cy="21945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 2.5a  PCA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89204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 2.5b  t-SNE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463040" y="2212848"/>
            <a:ext cx="118872" cy="118872"/>
          </a:xfrm>
          <a:prstGeom prst="ellipse">
            <a:avLst/>
          </a:prstGeom>
          <a:solidFill>
            <a:srgbClr val="B5432A"/>
          </a:solidFill>
          <a:ln w="12700">
            <a:solidFill>
              <a:srgbClr val="B5432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847088" y="2048256"/>
            <a:ext cx="118872" cy="118872"/>
          </a:xfrm>
          <a:prstGeom prst="ellipse">
            <a:avLst/>
          </a:prstGeom>
          <a:solidFill>
            <a:srgbClr val="B5432A"/>
          </a:solidFill>
          <a:ln w="12700">
            <a:solidFill>
              <a:srgbClr val="B5432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066544" y="2487168"/>
            <a:ext cx="118872" cy="118872"/>
          </a:xfrm>
          <a:prstGeom prst="ellipse">
            <a:avLst/>
          </a:prstGeom>
          <a:solidFill>
            <a:srgbClr val="B5432A"/>
          </a:solidFill>
          <a:ln w="12700">
            <a:solidFill>
              <a:srgbClr val="B5432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27632" y="2651760"/>
            <a:ext cx="118872" cy="118872"/>
          </a:xfrm>
          <a:prstGeom prst="ellipse">
            <a:avLst/>
          </a:prstGeom>
          <a:solidFill>
            <a:srgbClr val="B5432A"/>
          </a:solidFill>
          <a:ln w="12700">
            <a:solidFill>
              <a:srgbClr val="B5432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56816" y="2322576"/>
            <a:ext cx="118872" cy="118872"/>
          </a:xfrm>
          <a:prstGeom prst="ellipse">
            <a:avLst/>
          </a:prstGeom>
          <a:solidFill>
            <a:srgbClr val="B5432A"/>
          </a:solidFill>
          <a:ln w="12700">
            <a:solidFill>
              <a:srgbClr val="B5432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08176" y="2487168"/>
            <a:ext cx="118872" cy="118872"/>
          </a:xfrm>
          <a:prstGeom prst="ellipse">
            <a:avLst/>
          </a:prstGeom>
          <a:solidFill>
            <a:srgbClr val="B5432A"/>
          </a:solidFill>
          <a:ln w="12700">
            <a:solidFill>
              <a:srgbClr val="B5432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792224" y="2432304"/>
            <a:ext cx="118872" cy="118872"/>
          </a:xfrm>
          <a:prstGeom prst="ellipse">
            <a:avLst/>
          </a:prstGeom>
          <a:solidFill>
            <a:srgbClr val="B5432A"/>
          </a:solidFill>
          <a:ln w="12700">
            <a:solidFill>
              <a:srgbClr val="B5432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68880" y="2487168"/>
            <a:ext cx="118872" cy="118872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852928" y="2322576"/>
            <a:ext cx="118872" cy="118872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072384" y="2761488"/>
            <a:ext cx="118872" cy="118872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633472" y="2926080"/>
            <a:ext cx="118872" cy="118872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962656" y="2596896"/>
            <a:ext cx="118872" cy="118872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414016" y="2761488"/>
            <a:ext cx="118872" cy="118872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798064" y="2706624"/>
            <a:ext cx="118872" cy="118872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920240" y="2852928"/>
            <a:ext cx="118872" cy="118872"/>
          </a:xfrm>
          <a:prstGeom prst="ellipse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304288" y="2688336"/>
            <a:ext cx="118872" cy="118872"/>
          </a:xfrm>
          <a:prstGeom prst="ellipse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523744" y="3127248"/>
            <a:ext cx="118872" cy="118872"/>
          </a:xfrm>
          <a:prstGeom prst="ellipse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084832" y="3291840"/>
            <a:ext cx="118872" cy="118872"/>
          </a:xfrm>
          <a:prstGeom prst="ellipse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414016" y="2962656"/>
            <a:ext cx="118872" cy="118872"/>
          </a:xfrm>
          <a:prstGeom prst="ellipse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65376" y="3127248"/>
            <a:ext cx="118872" cy="118872"/>
          </a:xfrm>
          <a:prstGeom prst="ellipse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249424" y="3072384"/>
            <a:ext cx="118872" cy="118872"/>
          </a:xfrm>
          <a:prstGeom prst="ellipse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212080" y="2084832"/>
            <a:ext cx="118872" cy="118872"/>
          </a:xfrm>
          <a:prstGeom prst="ellipse">
            <a:avLst/>
          </a:prstGeom>
          <a:solidFill>
            <a:srgbClr val="B5432A"/>
          </a:solidFill>
          <a:ln w="12700">
            <a:solidFill>
              <a:srgbClr val="B5432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468112" y="1975104"/>
            <a:ext cx="118872" cy="118872"/>
          </a:xfrm>
          <a:prstGeom prst="ellipse">
            <a:avLst/>
          </a:prstGeom>
          <a:solidFill>
            <a:srgbClr val="B5432A"/>
          </a:solidFill>
          <a:ln w="12700">
            <a:solidFill>
              <a:srgbClr val="B5432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614416" y="2267712"/>
            <a:ext cx="118872" cy="118872"/>
          </a:xfrm>
          <a:prstGeom prst="ellipse">
            <a:avLst/>
          </a:prstGeom>
          <a:solidFill>
            <a:srgbClr val="B5432A"/>
          </a:solidFill>
          <a:ln w="12700">
            <a:solidFill>
              <a:srgbClr val="B5432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321808" y="2377440"/>
            <a:ext cx="118872" cy="118872"/>
          </a:xfrm>
          <a:prstGeom prst="ellipse">
            <a:avLst/>
          </a:prstGeom>
          <a:solidFill>
            <a:srgbClr val="B5432A"/>
          </a:solidFill>
          <a:ln w="12700">
            <a:solidFill>
              <a:srgbClr val="B5432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541264" y="2157984"/>
            <a:ext cx="118872" cy="118872"/>
          </a:xfrm>
          <a:prstGeom prst="ellipse">
            <a:avLst/>
          </a:prstGeom>
          <a:solidFill>
            <a:srgbClr val="B5432A"/>
          </a:solidFill>
          <a:ln w="12700">
            <a:solidFill>
              <a:srgbClr val="B5432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175504" y="2267712"/>
            <a:ext cx="118872" cy="118872"/>
          </a:xfrm>
          <a:prstGeom prst="ellipse">
            <a:avLst/>
          </a:prstGeom>
          <a:solidFill>
            <a:srgbClr val="B5432A"/>
          </a:solidFill>
          <a:ln w="12700">
            <a:solidFill>
              <a:srgbClr val="B5432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431536" y="2231136"/>
            <a:ext cx="118872" cy="118872"/>
          </a:xfrm>
          <a:prstGeom prst="ellipse">
            <a:avLst/>
          </a:prstGeom>
          <a:solidFill>
            <a:srgbClr val="B5432A"/>
          </a:solidFill>
          <a:ln w="12700">
            <a:solidFill>
              <a:srgbClr val="B5432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132320" y="2176272"/>
            <a:ext cx="118872" cy="118872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388352" y="2066544"/>
            <a:ext cx="118872" cy="118872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534656" y="2359152"/>
            <a:ext cx="118872" cy="118872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242048" y="2468880"/>
            <a:ext cx="118872" cy="118872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461504" y="2249424"/>
            <a:ext cx="118872" cy="118872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095744" y="2359152"/>
            <a:ext cx="118872" cy="118872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351776" y="2322576"/>
            <a:ext cx="118872" cy="118872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217920" y="2953512"/>
            <a:ext cx="118872" cy="118872"/>
          </a:xfrm>
          <a:prstGeom prst="ellipse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473952" y="2843784"/>
            <a:ext cx="118872" cy="118872"/>
          </a:xfrm>
          <a:prstGeom prst="ellipse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620256" y="3136392"/>
            <a:ext cx="118872" cy="118872"/>
          </a:xfrm>
          <a:prstGeom prst="ellipse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327648" y="3246120"/>
            <a:ext cx="118872" cy="118872"/>
          </a:xfrm>
          <a:prstGeom prst="ellipse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547104" y="3026664"/>
            <a:ext cx="118872" cy="118872"/>
          </a:xfrm>
          <a:prstGeom prst="ellipse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181344" y="3136392"/>
            <a:ext cx="118872" cy="118872"/>
          </a:xfrm>
          <a:prstGeom prst="ellipse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437376" y="3099816"/>
            <a:ext cx="118872" cy="118872"/>
          </a:xfrm>
          <a:prstGeom prst="ellipse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457200" y="36118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PCA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Linear and fast. Keeps the directions of largest variance; clusters may overlap.</a:t>
            </a:r>
            <a:endParaRPr lang="en-US" sz="1300" dirty="0"/>
          </a:p>
        </p:txBody>
      </p:sp>
      <p:sp>
        <p:nvSpPr>
          <p:cNvPr id="51" name="Text 48"/>
          <p:cNvSpPr txBox="1"/>
          <p:nvPr/>
        </p:nvSpPr>
        <p:spPr>
          <a:xfrm>
            <a:off x="4754880" y="36118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t-SNE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Nonlinear. Keeps local neighbors; tune perplexity and set random_state. Gaps and sizes are not meaningful. UMAP is a faster alternative.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Generating embeddings in code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4937760" cy="32004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41732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sentence_transformers import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SentenceTransformer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SentenceTransformer("all-MiniLM-L6-v2")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texts = ["I forgot my password",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"Guided tours of the pyramids"]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vecs = model.encode(texts,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normalize_embeddings=True)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print(vecs.shape)    # (2, 384)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669280" y="1280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practice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173736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Load the model once, at startup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Encode in batches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Cache by a hash of the text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Store model name and dimension with the vectors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Hosted APIs: send a list of strings, receive a list of vectors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Check your understanding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1280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one-hot a poor representation for search?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1031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2103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can a contextual model give "bank" two different vectors?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9260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2926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must queries and documents use the same model?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7490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3749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would you choose PCA over t-SNE, and what can you not conclude from a t-SNE plot?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Summary and next steps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An embedding maps an item to a dense vector; similar meaning means nearby vectors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Models learn from context and from pairs that define similarity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Sentence models pool token vectors; multimodal models share one space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Choose by language, length, quality and cost; never mix models in one index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PCA and t-SNE help you inspect, but read them with care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577840" y="1280160"/>
            <a:ext cx="0" cy="32004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52160" y="1280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Lab 2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16002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Embeddings and visualization in Colab (45 minutes).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2514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Further reading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283464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Mikolov et al. (2013). Efficient Estimation of Word Representations in Vector Space.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Reimers and Gurevych (2019). Sentence-BERT.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Radford et al. (2021). Learning Transferable Visual Models From Natural Language Supervision.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 der Maaten and Hinton (2008). Visualizing Data using t-SNE.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ial2">
  <a:themeElements>
    <a:clrScheme name="Editorial2">
      <a:dk1>
        <a:srgbClr val="1B2A41"/>
      </a:dk1>
      <a:lt1>
        <a:srgbClr val="FFFFFF"/>
      </a:lt1>
      <a:dk2>
        <a:srgbClr val="0F1B2D"/>
      </a:dk2>
      <a:lt2>
        <a:srgbClr val="F3F4F6"/>
      </a:lt2>
      <a:accent1>
        <a:srgbClr val="B5432A"/>
      </a:accent1>
      <a:accent2>
        <a:srgbClr val="2F5D8A"/>
      </a:accent2>
      <a:accent3>
        <a:srgbClr val="3B7A57"/>
      </a:accent3>
      <a:accent4>
        <a:srgbClr val="8A6D1F"/>
      </a:accent4>
      <a:accent5>
        <a:srgbClr val="6B7280"/>
      </a:accent5>
      <a:accent6>
        <a:srgbClr val="D1D5DB"/>
      </a:accent6>
      <a:hlink>
        <a:srgbClr val="2F5D8A"/>
      </a:hlink>
      <a:folHlink>
        <a:srgbClr val="6B7280"/>
      </a:folHlink>
    </a:clrScheme>
    <a:fontScheme name="Editorial2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2: Embeddings</dc:title>
  <dc:subject>PptxGenJS Presentation</dc:subject>
  <dc:creator>PptxGenJS</dc:creator>
  <cp:lastModifiedBy>PptxGenJS</cp:lastModifiedBy>
  <cp:revision>1</cp:revision>
  <dcterms:created xsi:type="dcterms:W3CDTF">2026-10-25T16:38:23Z</dcterms:created>
  <dcterms:modified xsi:type="dcterms:W3CDTF">2026-10-25T16:38:23Z</dcterms:modified>
</cp:coreProperties>
</file>