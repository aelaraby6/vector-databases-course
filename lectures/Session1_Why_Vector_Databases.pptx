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cture 1" id="{26AF2EB3-8D9D-51D6-57EA-0FA2B5C5718F}">
          <p14:sldIdLst>
            <p14:sldId id="256"/>
            <p14:sldId id="257"/>
            <p14:sldId id="258"/>
            <p14:sldId id="259"/>
            <p14:sldId id="260"/>
            <p14:sldId id="261"/>
            <p14:sldId id="262"/>
            <p14:sldId id="263"/>
            <p14:sldId id="264"/>
            <p14:sldId id="265"/>
            <p14:sldId id="266"/>
            <p14:sldId id="267"/>
            <p14:sldId id="268"/>
            <p14:sldId id="269"/>
            <p14:sldId id="27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(2 min). Frame the course: Parts 1 and 2 build the intuition, Part 3 is ChromaDB. Today is the 'why'. The words on the right are a preview: related words sit close together, and the highlighted query lands among its neighbors.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(1 min). Total 90 minutes: 60 lecture, 30 lab. The lab is a Colab notebook so no installation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before revealing the annotations (3 min). Let students vote. Point out that the two best results share no word with the query, and the worst one shares 'cheap'.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lexical search works (5 min). Mention BM25 as the standard ranking function in Elasticsearch/Lucene. SQL LIKE is the crudest version: substring scan, no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failure modes (5 min). The Furnas et al. (1987) result is worth stating: even people disagree on naming, so exact-word matching is fragile by construction.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50-year idea (4 min). The key point: representing text as vectors is old; what changed is that neural models made the vectors capture meaning, and that scale now needs specialized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intuition (6 min). Draw the ring on the board: nearest neighbors of 'puppy' are dog and kitten, not truck. Stress that this is a 2-D sketch of a space with hundreds of dimensions.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concrete (5 min). Values here are illustrative, but the cosine numbers on the slide are computed from the strips shown. Real embeddings are not human-readable; only distances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and anatomy (5 min). Point out that the document and metadata are stored next to the vector so results can be shown and filtered without a second lookup.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(5 min). Emphasize the dashed link: the query phase searches the index built in the ingest phase, and both phases must use the same embedding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(4 min). Note that the line is blurring: PostgreSQL has pgvector and Elasticsearch has vector search. We compare tools in Session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Applications (4 min). Ask students which they used today. RAG gets its own sessions (8 and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Balance (4 min). A good lecture earns trust by naming the limits. Misconception 2 sets up hybrid search in Session 9; misconception 3 is the point of Lab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 discussion (5 min). Suggested answers: 1) any synonym query; 2) different models give different spaces; 3) store, index, search; 4) exact IDs, legal phrases, or small filtered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(3 min), then hand out Lab 1. Next lecture: how text and images become vectors.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rgbClr val="FFFFFF"/>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457200" y="320040"/>
            <a:ext cx="8229600" cy="731520"/>
          </a:xfrm>
          <a:prstGeom prst="rect">
            <a:avLst/>
          </a:prstGeom>
          <a:noFill/>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Shape 0"/>
          <p:cNvSpPr/>
          <p:nvPr/>
        </p:nvSpPr>
        <p:spPr>
          <a:xfrm>
            <a:off x="457200" y="4754880"/>
            <a:ext cx="8229600" cy="0"/>
          </a:xfrm>
          <a:prstGeom prst="line">
            <a:avLst/>
          </a:prstGeom>
          <a:noFill/>
          <a:ln w="12700">
            <a:solidFill>
              <a:srgbClr val="D1D5DB"/>
            </a:solidFill>
            <a:prstDash val="solid"/>
          </a:ln>
        </p:spPr>
      </p:sp>
      <p:sp>
        <p:nvSpPr>
          <p:cNvPr id="4" name="Text 1"/>
          <p:cNvSpPr/>
          <p:nvPr/>
        </p:nvSpPr>
        <p:spPr>
          <a:xfrm>
            <a:off x="457200" y="4818888"/>
            <a:ext cx="4572000" cy="228600"/>
          </a:xfrm>
          <a:prstGeom prst="rect">
            <a:avLst/>
          </a:prstGeom>
          <a:noFill/>
        </p:spPr>
        <p:txBody>
          <a:bodyPr wrap="square" lIns="0" tIns="0" rIns="0" bIns="0" rtlCol="0" anchor="ctr"/>
          <a:lstStyle/>
          <a:p>
            <a:pPr marL="0" indent="0">
              <a:buNone/>
            </a:pPr>
            <a:r>
              <a:rPr lang="en-US" sz="1000" i="1" dirty="0">
                <a:solidFill>
                  <a:schemeClr val="accent5"/>
                </a:solidFill>
                <a:latin typeface="Cambria" panose="02040503050406030204" pitchFamily="34" charset="0"/>
                <a:ea typeface="Cambria" panose="02040503050406030204" pitchFamily="34" charset="-122"/>
                <a:cs typeface="Cambria" panose="02040503050406030204" pitchFamily="34" charset="-120"/>
              </a:rPr>
              <a:t>Vector Databases  —  Lecture 1</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5"/>
                </a:solidFill>
              </a:defRPr>
            </a:lvl1pPr>
          </a:lstStyle>
          <a:p>
            <a:pPr algn="l"/>
            <a:fld id="{F7021451-1387-4CA6-816F-3879F97B5CBC}" type="slidenum">
              <a:rPr lang="en-US" b="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PEN">
    <p:bg>
      <p:bgPr>
        <a:solidFill>
          <a:srgbClr val="0F1B2D"/>
        </a:solidFill>
        <a:effectLst/>
      </p:bgPr>
    </p:bg>
    <p:spTree>
      <p:nvGrpSpPr>
        <p:cNvPr id="1" name=""/>
        <p:cNvGrpSpPr/>
        <p:nvPr/>
      </p:nvGrpSpPr>
      <p:grpSpPr>
        <a:xfrm>
          <a:off x="0" y="0"/>
          <a:ext cx="0" cy="0"/>
          <a:chOff x="0" y="0"/>
          <a:chExt cx="0" cy="0"/>
        </a:xfrm>
      </p:grpSpPr>
      <p:sp>
        <p:nvSpPr>
          <p:cNvPr id="2" name="Text 0"/>
          <p:cNvSpPr/>
          <p:nvPr>
            <p:ph type="title" idx="100" hasCustomPrompt="1"/>
          </p:nvPr>
        </p:nvSpPr>
        <p:spPr>
          <a:xfrm>
            <a:off x="548640" y="1325880"/>
            <a:ext cx="4572000" cy="1554480"/>
          </a:xfrm>
          <a:prstGeom prst="rect">
            <a:avLst/>
          </a:prstGeom>
          <a:noFill/>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5"/>
                </a:solidFill>
              </a:defRPr>
            </a:lvl1pPr>
          </a:lstStyle>
          <a:p>
            <a:pPr algn="l"/>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548640" y="914400"/>
            <a:ext cx="3657600" cy="274320"/>
          </a:xfrm>
          <a:prstGeom prst="rect">
            <a:avLst/>
          </a:prstGeom>
          <a:noFill/>
        </p:spPr>
        <p:txBody>
          <a:bodyPr wrap="square" lIns="0" tIns="0" rIns="0" bIns="0" rtlCol="0" anchor="t"/>
          <a:lstStyle/>
          <a:p>
            <a:pPr marL="0" indent="0">
              <a:buNone/>
            </a:pPr>
            <a:r>
              <a:rPr lang="en-US" sz="1200" b="1" kern="0" spc="400" dirty="0">
                <a:solidFill>
                  <a:schemeClr val="accent6"/>
                </a:solidFill>
              </a:rPr>
              <a:t>LECTURE 1 OF 9</a:t>
            </a:r>
            <a:endParaRPr lang="en-US" sz="1200" dirty="0"/>
          </a:p>
        </p:txBody>
      </p:sp>
      <p:sp>
        <p:nvSpPr>
          <p:cNvPr id="3" name="Text 0"/>
          <p:cNvSpPr/>
          <p:nvPr>
            <p:ph type="title" idx="100" hasCustomPrompt="1"/>
          </p:nvPr>
        </p:nvSpPr>
        <p:spPr>
          <a:xfrm>
            <a:off x="548640" y="1325880"/>
            <a:ext cx="4572000" cy="1554480"/>
          </a:xfrm>
          <a:prstGeom prst="rect">
            <a:avLst/>
          </a:prstGeom>
          <a:noFill/>
        </p:spPr>
        <p:txBody>
          <a:bodyPr wrap="square" lIns="0" tIns="0" rIns="0" bIns="0" rtlCol="0" anchor="t"/>
          <a:lstStyle/>
          <a:p>
            <a:pPr marL="0" indent="0" algn="l">
              <a:buNone/>
            </a:pPr>
            <a:r>
              <a:rPr lang="en-US" sz="4400" b="1" dirty="0">
                <a:solidFill>
                  <a:schemeClr val="bg1"/>
                </a:solidFill>
              </a:rPr>
              <a:t>Why Vector Databases?</a:t>
            </a:r>
            <a:endParaRPr lang="en-US" sz="4400" dirty="0"/>
          </a:p>
        </p:txBody>
      </p:sp>
      <p:sp>
        <p:nvSpPr>
          <p:cNvPr id="4" name="Text 2"/>
          <p:cNvSpPr txBox="1"/>
          <p:nvPr/>
        </p:nvSpPr>
        <p:spPr>
          <a:xfrm>
            <a:off x="548640" y="3063240"/>
            <a:ext cx="4572000" cy="365760"/>
          </a:xfrm>
          <a:prstGeom prst="rect">
            <a:avLst/>
          </a:prstGeom>
          <a:noFill/>
        </p:spPr>
        <p:txBody>
          <a:bodyPr wrap="square" lIns="0" tIns="0" rIns="0" bIns="0" rtlCol="0" anchor="t"/>
          <a:lstStyle/>
          <a:p>
            <a:pPr marL="0" indent="0">
              <a:buNone/>
            </a:pPr>
            <a:r>
              <a:rPr lang="en-US" sz="1800" i="1" dirty="0">
                <a:solidFill>
                  <a:schemeClr val="bg2"/>
                </a:solidFill>
                <a:latin typeface="Cambria" panose="02040503050406030204" pitchFamily="34" charset="0"/>
                <a:ea typeface="Cambria" panose="02040503050406030204" pitchFamily="34" charset="-122"/>
                <a:cs typeface="Cambria" panose="02040503050406030204" pitchFamily="34" charset="-120"/>
              </a:rPr>
              <a:t>From keyword matching to search by meaning</a:t>
            </a:r>
            <a:endParaRPr lang="en-US" sz="1800" dirty="0"/>
          </a:p>
        </p:txBody>
      </p:sp>
      <p:sp>
        <p:nvSpPr>
          <p:cNvPr id="5" name="Text 3"/>
          <p:cNvSpPr txBox="1"/>
          <p:nvPr/>
        </p:nvSpPr>
        <p:spPr>
          <a:xfrm>
            <a:off x="548640" y="4206240"/>
            <a:ext cx="4572000" cy="274320"/>
          </a:xfrm>
          <a:prstGeom prst="rect">
            <a:avLst/>
          </a:prstGeom>
          <a:noFill/>
        </p:spPr>
        <p:txBody>
          <a:bodyPr wrap="square" lIns="0" tIns="0" rIns="0" bIns="0" rtlCol="0" anchor="t"/>
          <a:lstStyle/>
          <a:p>
            <a:pPr marL="0" indent="0">
              <a:buNone/>
            </a:pPr>
            <a:r>
              <a:rPr lang="en-US" sz="1200" dirty="0">
                <a:solidFill>
                  <a:schemeClr val="accent6"/>
                </a:solidFill>
              </a:rPr>
              <a:t>Vector Databases: from zero to ChromaDB</a:t>
            </a:r>
            <a:endParaRPr lang="en-US" sz="1200" dirty="0"/>
          </a:p>
        </p:txBody>
      </p:sp>
      <p:sp>
        <p:nvSpPr>
          <p:cNvPr id="6" name="Shape 4"/>
          <p:cNvSpPr/>
          <p:nvPr/>
        </p:nvSpPr>
        <p:spPr>
          <a:xfrm>
            <a:off x="5852160" y="1426464"/>
            <a:ext cx="91440" cy="91440"/>
          </a:xfrm>
          <a:prstGeom prst="ellipse">
            <a:avLst/>
          </a:prstGeom>
          <a:solidFill>
            <a:srgbClr val="D1D5DB"/>
          </a:solidFill>
          <a:ln w="12700">
            <a:solidFill>
              <a:srgbClr val="D1D5DB"/>
            </a:solidFill>
            <a:prstDash val="solid"/>
          </a:ln>
        </p:spPr>
      </p:sp>
      <p:sp>
        <p:nvSpPr>
          <p:cNvPr id="7" name="Text 5"/>
          <p:cNvSpPr txBox="1"/>
          <p:nvPr/>
        </p:nvSpPr>
        <p:spPr>
          <a:xfrm>
            <a:off x="6007608" y="1371600"/>
            <a:ext cx="1188720" cy="228600"/>
          </a:xfrm>
          <a:prstGeom prst="rect">
            <a:avLst/>
          </a:prstGeom>
          <a:noFill/>
        </p:spPr>
        <p:txBody>
          <a:bodyPr wrap="square" lIns="0" tIns="0" rIns="0" bIns="0" rtlCol="0" anchor="t"/>
          <a:lstStyle/>
          <a:p>
            <a:pPr marL="0" indent="0">
              <a:buNone/>
            </a:pPr>
            <a:r>
              <a:rPr lang="en-US" sz="1400" i="1" dirty="0">
                <a:solidFill>
                  <a:srgbClr val="D1D5DB"/>
                </a:solidFill>
                <a:latin typeface="Cambria" panose="02040503050406030204" pitchFamily="34" charset="0"/>
                <a:ea typeface="Cambria" panose="02040503050406030204" pitchFamily="34" charset="-122"/>
                <a:cs typeface="Cambria" panose="02040503050406030204" pitchFamily="34" charset="-120"/>
              </a:rPr>
              <a:t>cat</a:t>
            </a:r>
            <a:endParaRPr lang="en-US" sz="1400" dirty="0"/>
          </a:p>
        </p:txBody>
      </p:sp>
      <p:sp>
        <p:nvSpPr>
          <p:cNvPr id="8" name="Shape 6"/>
          <p:cNvSpPr/>
          <p:nvPr/>
        </p:nvSpPr>
        <p:spPr>
          <a:xfrm>
            <a:off x="6858000" y="1792224"/>
            <a:ext cx="91440" cy="91440"/>
          </a:xfrm>
          <a:prstGeom prst="ellipse">
            <a:avLst/>
          </a:prstGeom>
          <a:solidFill>
            <a:srgbClr val="D1D5DB"/>
          </a:solidFill>
          <a:ln w="12700">
            <a:solidFill>
              <a:srgbClr val="D1D5DB"/>
            </a:solidFill>
            <a:prstDash val="solid"/>
          </a:ln>
        </p:spPr>
      </p:sp>
      <p:sp>
        <p:nvSpPr>
          <p:cNvPr id="9" name="Text 7"/>
          <p:cNvSpPr txBox="1"/>
          <p:nvPr/>
        </p:nvSpPr>
        <p:spPr>
          <a:xfrm>
            <a:off x="7013448" y="1737360"/>
            <a:ext cx="1188720" cy="228600"/>
          </a:xfrm>
          <a:prstGeom prst="rect">
            <a:avLst/>
          </a:prstGeom>
          <a:noFill/>
        </p:spPr>
        <p:txBody>
          <a:bodyPr wrap="square" lIns="0" tIns="0" rIns="0" bIns="0" rtlCol="0" anchor="t"/>
          <a:lstStyle/>
          <a:p>
            <a:pPr marL="0" indent="0">
              <a:buNone/>
            </a:pPr>
            <a:r>
              <a:rPr lang="en-US" sz="1400" i="1" dirty="0">
                <a:solidFill>
                  <a:srgbClr val="D1D5DB"/>
                </a:solidFill>
                <a:latin typeface="Cambria" panose="02040503050406030204" pitchFamily="34" charset="0"/>
                <a:ea typeface="Cambria" panose="02040503050406030204" pitchFamily="34" charset="-122"/>
                <a:cs typeface="Cambria" panose="02040503050406030204" pitchFamily="34" charset="-120"/>
              </a:rPr>
              <a:t>kitten</a:t>
            </a:r>
            <a:endParaRPr lang="en-US" sz="1400" dirty="0"/>
          </a:p>
        </p:txBody>
      </p:sp>
      <p:sp>
        <p:nvSpPr>
          <p:cNvPr id="10" name="Shape 8"/>
          <p:cNvSpPr/>
          <p:nvPr/>
        </p:nvSpPr>
        <p:spPr>
          <a:xfrm>
            <a:off x="5669280" y="2340864"/>
            <a:ext cx="91440" cy="91440"/>
          </a:xfrm>
          <a:prstGeom prst="ellipse">
            <a:avLst/>
          </a:prstGeom>
          <a:solidFill>
            <a:srgbClr val="D1D5DB"/>
          </a:solidFill>
          <a:ln w="12700">
            <a:solidFill>
              <a:srgbClr val="D1D5DB"/>
            </a:solidFill>
            <a:prstDash val="solid"/>
          </a:ln>
        </p:spPr>
      </p:sp>
      <p:sp>
        <p:nvSpPr>
          <p:cNvPr id="11" name="Text 9"/>
          <p:cNvSpPr txBox="1"/>
          <p:nvPr/>
        </p:nvSpPr>
        <p:spPr>
          <a:xfrm>
            <a:off x="5824728" y="2286000"/>
            <a:ext cx="1188720" cy="228600"/>
          </a:xfrm>
          <a:prstGeom prst="rect">
            <a:avLst/>
          </a:prstGeom>
          <a:noFill/>
        </p:spPr>
        <p:txBody>
          <a:bodyPr wrap="square" lIns="0" tIns="0" rIns="0" bIns="0" rtlCol="0" anchor="t"/>
          <a:lstStyle/>
          <a:p>
            <a:pPr marL="0" indent="0">
              <a:buNone/>
            </a:pPr>
            <a:r>
              <a:rPr lang="en-US" sz="1400" i="1" dirty="0">
                <a:solidFill>
                  <a:srgbClr val="D1D5DB"/>
                </a:solidFill>
                <a:latin typeface="Cambria" panose="02040503050406030204" pitchFamily="34" charset="0"/>
                <a:ea typeface="Cambria" panose="02040503050406030204" pitchFamily="34" charset="-122"/>
                <a:cs typeface="Cambria" panose="02040503050406030204" pitchFamily="34" charset="-120"/>
              </a:rPr>
              <a:t>dog</a:t>
            </a:r>
            <a:endParaRPr lang="en-US" sz="1400" dirty="0"/>
          </a:p>
        </p:txBody>
      </p:sp>
      <p:sp>
        <p:nvSpPr>
          <p:cNvPr id="12" name="Shape 10"/>
          <p:cNvSpPr/>
          <p:nvPr/>
        </p:nvSpPr>
        <p:spPr>
          <a:xfrm>
            <a:off x="6583680" y="2752344"/>
            <a:ext cx="91440" cy="91440"/>
          </a:xfrm>
          <a:prstGeom prst="ellipse">
            <a:avLst/>
          </a:prstGeom>
          <a:solidFill>
            <a:srgbClr val="B5432A"/>
          </a:solidFill>
          <a:ln w="12700">
            <a:solidFill>
              <a:srgbClr val="B5432A"/>
            </a:solidFill>
            <a:prstDash val="solid"/>
          </a:ln>
        </p:spPr>
      </p:sp>
      <p:sp>
        <p:nvSpPr>
          <p:cNvPr id="13" name="Text 11"/>
          <p:cNvSpPr txBox="1"/>
          <p:nvPr/>
        </p:nvSpPr>
        <p:spPr>
          <a:xfrm>
            <a:off x="6739128" y="2697480"/>
            <a:ext cx="1188720" cy="228600"/>
          </a:xfrm>
          <a:prstGeom prst="rect">
            <a:avLst/>
          </a:prstGeom>
          <a:noFill/>
        </p:spPr>
        <p:txBody>
          <a:bodyPr wrap="square" lIns="0" tIns="0" rIns="0" bIns="0" rtlCol="0" anchor="t"/>
          <a:lstStyle/>
          <a:p>
            <a:pPr marL="0" indent="0">
              <a:buNone/>
            </a:pPr>
            <a:r>
              <a:rPr lang="en-US" sz="1400" b="1" dirty="0">
                <a:solidFill>
                  <a:srgbClr val="B5432A"/>
                </a:solidFill>
                <a:latin typeface="Cambria" panose="02040503050406030204" pitchFamily="34" charset="0"/>
                <a:ea typeface="Cambria" panose="02040503050406030204" pitchFamily="34" charset="-122"/>
                <a:cs typeface="Cambria" panose="02040503050406030204" pitchFamily="34" charset="-120"/>
              </a:rPr>
              <a:t>puppy</a:t>
            </a:r>
            <a:endParaRPr lang="en-US" sz="1400" dirty="0"/>
          </a:p>
        </p:txBody>
      </p:sp>
      <p:sp>
        <p:nvSpPr>
          <p:cNvPr id="14" name="Shape 12"/>
          <p:cNvSpPr/>
          <p:nvPr/>
        </p:nvSpPr>
        <p:spPr>
          <a:xfrm>
            <a:off x="7498080" y="3438144"/>
            <a:ext cx="91440" cy="91440"/>
          </a:xfrm>
          <a:prstGeom prst="ellipse">
            <a:avLst/>
          </a:prstGeom>
          <a:solidFill>
            <a:srgbClr val="D1D5DB"/>
          </a:solidFill>
          <a:ln w="12700">
            <a:solidFill>
              <a:srgbClr val="D1D5DB"/>
            </a:solidFill>
            <a:prstDash val="solid"/>
          </a:ln>
        </p:spPr>
      </p:sp>
      <p:sp>
        <p:nvSpPr>
          <p:cNvPr id="15" name="Text 13"/>
          <p:cNvSpPr txBox="1"/>
          <p:nvPr/>
        </p:nvSpPr>
        <p:spPr>
          <a:xfrm>
            <a:off x="7653528" y="3383280"/>
            <a:ext cx="1188720" cy="228600"/>
          </a:xfrm>
          <a:prstGeom prst="rect">
            <a:avLst/>
          </a:prstGeom>
          <a:noFill/>
        </p:spPr>
        <p:txBody>
          <a:bodyPr wrap="square" lIns="0" tIns="0" rIns="0" bIns="0" rtlCol="0" anchor="t"/>
          <a:lstStyle/>
          <a:p>
            <a:pPr marL="0" indent="0">
              <a:buNone/>
            </a:pPr>
            <a:r>
              <a:rPr lang="en-US" sz="1400" i="1" dirty="0">
                <a:solidFill>
                  <a:srgbClr val="D1D5DB"/>
                </a:solidFill>
                <a:latin typeface="Cambria" panose="02040503050406030204" pitchFamily="34" charset="0"/>
                <a:ea typeface="Cambria" panose="02040503050406030204" pitchFamily="34" charset="-122"/>
                <a:cs typeface="Cambria" panose="02040503050406030204" pitchFamily="34" charset="-120"/>
              </a:rPr>
              <a:t>paris</a:t>
            </a:r>
            <a:endParaRPr lang="en-US" sz="1400" dirty="0"/>
          </a:p>
        </p:txBody>
      </p:sp>
      <p:sp>
        <p:nvSpPr>
          <p:cNvPr id="16" name="Shape 14"/>
          <p:cNvSpPr/>
          <p:nvPr/>
        </p:nvSpPr>
        <p:spPr>
          <a:xfrm>
            <a:off x="5943600" y="3712464"/>
            <a:ext cx="91440" cy="91440"/>
          </a:xfrm>
          <a:prstGeom prst="ellipse">
            <a:avLst/>
          </a:prstGeom>
          <a:solidFill>
            <a:srgbClr val="D1D5DB"/>
          </a:solidFill>
          <a:ln w="12700">
            <a:solidFill>
              <a:srgbClr val="D1D5DB"/>
            </a:solidFill>
            <a:prstDash val="solid"/>
          </a:ln>
        </p:spPr>
      </p:sp>
      <p:sp>
        <p:nvSpPr>
          <p:cNvPr id="17" name="Text 15"/>
          <p:cNvSpPr txBox="1"/>
          <p:nvPr/>
        </p:nvSpPr>
        <p:spPr>
          <a:xfrm>
            <a:off x="6099048" y="3657600"/>
            <a:ext cx="1188720" cy="228600"/>
          </a:xfrm>
          <a:prstGeom prst="rect">
            <a:avLst/>
          </a:prstGeom>
          <a:noFill/>
        </p:spPr>
        <p:txBody>
          <a:bodyPr wrap="square" lIns="0" tIns="0" rIns="0" bIns="0" rtlCol="0" anchor="t"/>
          <a:lstStyle/>
          <a:p>
            <a:pPr marL="0" indent="0">
              <a:buNone/>
            </a:pPr>
            <a:r>
              <a:rPr lang="en-US" sz="1400" i="1" dirty="0">
                <a:solidFill>
                  <a:srgbClr val="D1D5DB"/>
                </a:solidFill>
                <a:latin typeface="Cambria" panose="02040503050406030204" pitchFamily="34" charset="0"/>
                <a:ea typeface="Cambria" panose="02040503050406030204" pitchFamily="34" charset="-122"/>
                <a:cs typeface="Cambria" panose="02040503050406030204" pitchFamily="34" charset="-120"/>
              </a:rPr>
              <a:t>cairo</a:t>
            </a:r>
            <a:endParaRPr lang="en-US" sz="1400" dirty="0"/>
          </a:p>
        </p:txBody>
      </p:sp>
      <p:sp>
        <p:nvSpPr>
          <p:cNvPr id="18" name="Shape 16"/>
          <p:cNvSpPr/>
          <p:nvPr/>
        </p:nvSpPr>
        <p:spPr>
          <a:xfrm>
            <a:off x="7040880" y="4169664"/>
            <a:ext cx="91440" cy="91440"/>
          </a:xfrm>
          <a:prstGeom prst="ellipse">
            <a:avLst/>
          </a:prstGeom>
          <a:solidFill>
            <a:srgbClr val="D1D5DB"/>
          </a:solidFill>
          <a:ln w="12700">
            <a:solidFill>
              <a:srgbClr val="D1D5DB"/>
            </a:solidFill>
            <a:prstDash val="solid"/>
          </a:ln>
        </p:spPr>
      </p:sp>
      <p:sp>
        <p:nvSpPr>
          <p:cNvPr id="19" name="Text 17"/>
          <p:cNvSpPr txBox="1"/>
          <p:nvPr/>
        </p:nvSpPr>
        <p:spPr>
          <a:xfrm>
            <a:off x="7196328" y="4114800"/>
            <a:ext cx="1188720" cy="228600"/>
          </a:xfrm>
          <a:prstGeom prst="rect">
            <a:avLst/>
          </a:prstGeom>
          <a:noFill/>
        </p:spPr>
        <p:txBody>
          <a:bodyPr wrap="square" lIns="0" tIns="0" rIns="0" bIns="0" rtlCol="0" anchor="t"/>
          <a:lstStyle/>
          <a:p>
            <a:pPr marL="0" indent="0">
              <a:buNone/>
            </a:pPr>
            <a:r>
              <a:rPr lang="en-US" sz="1400" i="1" dirty="0">
                <a:solidFill>
                  <a:srgbClr val="D1D5DB"/>
                </a:solidFill>
                <a:latin typeface="Cambria" panose="02040503050406030204" pitchFamily="34" charset="0"/>
                <a:ea typeface="Cambria" panose="02040503050406030204" pitchFamily="34" charset="-122"/>
                <a:cs typeface="Cambria" panose="02040503050406030204" pitchFamily="34" charset="-120"/>
              </a:rPr>
              <a:t>egypt</a:t>
            </a:r>
            <a:endParaRPr lang="en-US" sz="1400" dirty="0"/>
          </a:p>
        </p:txBody>
      </p:sp>
      <p:sp>
        <p:nvSpPr>
          <p:cNvPr id="20" name="Shape 18"/>
          <p:cNvSpPr/>
          <p:nvPr/>
        </p:nvSpPr>
        <p:spPr>
          <a:xfrm>
            <a:off x="7680960" y="1335024"/>
            <a:ext cx="91440" cy="91440"/>
          </a:xfrm>
          <a:prstGeom prst="ellipse">
            <a:avLst/>
          </a:prstGeom>
          <a:solidFill>
            <a:srgbClr val="D1D5DB"/>
          </a:solidFill>
          <a:ln w="12700">
            <a:solidFill>
              <a:srgbClr val="D1D5DB"/>
            </a:solidFill>
            <a:prstDash val="solid"/>
          </a:ln>
        </p:spPr>
      </p:sp>
      <p:sp>
        <p:nvSpPr>
          <p:cNvPr id="21" name="Text 19"/>
          <p:cNvSpPr txBox="1"/>
          <p:nvPr/>
        </p:nvSpPr>
        <p:spPr>
          <a:xfrm>
            <a:off x="7836408" y="1280160"/>
            <a:ext cx="1188720" cy="228600"/>
          </a:xfrm>
          <a:prstGeom prst="rect">
            <a:avLst/>
          </a:prstGeom>
          <a:noFill/>
        </p:spPr>
        <p:txBody>
          <a:bodyPr wrap="square" lIns="0" tIns="0" rIns="0" bIns="0" rtlCol="0" anchor="t"/>
          <a:lstStyle/>
          <a:p>
            <a:pPr marL="0" indent="0">
              <a:buNone/>
            </a:pPr>
            <a:r>
              <a:rPr lang="en-US" sz="1400" i="1" dirty="0">
                <a:solidFill>
                  <a:srgbClr val="D1D5DB"/>
                </a:solidFill>
                <a:latin typeface="Cambria" panose="02040503050406030204" pitchFamily="34" charset="0"/>
                <a:ea typeface="Cambria" panose="02040503050406030204" pitchFamily="34" charset="-122"/>
                <a:cs typeface="Cambria" panose="02040503050406030204" pitchFamily="34" charset="-120"/>
              </a:rPr>
              <a:t>car</a:t>
            </a:r>
            <a:endParaRPr lang="en-US" sz="1400" dirty="0"/>
          </a:p>
        </p:txBody>
      </p:sp>
      <p:sp>
        <p:nvSpPr>
          <p:cNvPr id="22" name="Shape 20"/>
          <p:cNvSpPr/>
          <p:nvPr/>
        </p:nvSpPr>
        <p:spPr>
          <a:xfrm>
            <a:off x="7863840" y="2066544"/>
            <a:ext cx="91440" cy="91440"/>
          </a:xfrm>
          <a:prstGeom prst="ellipse">
            <a:avLst/>
          </a:prstGeom>
          <a:solidFill>
            <a:srgbClr val="D1D5DB"/>
          </a:solidFill>
          <a:ln w="12700">
            <a:solidFill>
              <a:srgbClr val="D1D5DB"/>
            </a:solidFill>
            <a:prstDash val="solid"/>
          </a:ln>
        </p:spPr>
      </p:sp>
      <p:sp>
        <p:nvSpPr>
          <p:cNvPr id="23" name="Text 21"/>
          <p:cNvSpPr txBox="1"/>
          <p:nvPr/>
        </p:nvSpPr>
        <p:spPr>
          <a:xfrm>
            <a:off x="8019288" y="2011680"/>
            <a:ext cx="1188720" cy="228600"/>
          </a:xfrm>
          <a:prstGeom prst="rect">
            <a:avLst/>
          </a:prstGeom>
          <a:noFill/>
        </p:spPr>
        <p:txBody>
          <a:bodyPr wrap="square" lIns="0" tIns="0" rIns="0" bIns="0" rtlCol="0" anchor="t"/>
          <a:lstStyle/>
          <a:p>
            <a:pPr marL="0" indent="0">
              <a:buNone/>
            </a:pPr>
            <a:r>
              <a:rPr lang="en-US" sz="1400" i="1" dirty="0">
                <a:solidFill>
                  <a:srgbClr val="D1D5DB"/>
                </a:solidFill>
                <a:latin typeface="Cambria" panose="02040503050406030204" pitchFamily="34" charset="0"/>
                <a:ea typeface="Cambria" panose="02040503050406030204" pitchFamily="34" charset="-122"/>
                <a:cs typeface="Cambria" panose="02040503050406030204" pitchFamily="34" charset="-120"/>
              </a:rPr>
              <a:t>truck</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320040"/>
            <a:ext cx="8229600" cy="731520"/>
          </a:xfrm>
          <a:prstGeom prst="rect">
            <a:avLst/>
          </a:prstGeom>
          <a:noFill/>
        </p:spPr>
        <p:txBody>
          <a:bodyPr wrap="square" lIns="0" tIns="0" rIns="0" bIns="0" rtlCol="0" anchor="ctr"/>
          <a:lstStyle/>
          <a:p>
            <a:pPr marL="0" indent="0" algn="l">
              <a:buNone/>
            </a:pPr>
            <a:r>
              <a:rPr lang="en-US" sz="3000" b="1" dirty="0">
                <a:solidFill>
                  <a:schemeClr val="tx1"/>
                </a:solidFill>
              </a:rPr>
              <a:t>Today's lecture in five questions</a:t>
            </a:r>
            <a:endParaRPr lang="en-US" sz="3000" dirty="0"/>
          </a:p>
        </p:txBody>
      </p:sp>
      <p:sp>
        <p:nvSpPr>
          <p:cNvPr id="4" name="Text 1"/>
          <p:cNvSpPr txBox="1"/>
          <p:nvPr/>
        </p:nvSpPr>
        <p:spPr>
          <a:xfrm>
            <a:off x="457200" y="1252728"/>
            <a:ext cx="548640" cy="548640"/>
          </a:xfrm>
          <a:prstGeom prst="rect">
            <a:avLst/>
          </a:prstGeom>
          <a:noFill/>
        </p:spPr>
        <p:txBody>
          <a:bodyPr wrap="square" lIns="0" tIns="0" rIns="0" bIns="0" rtlCol="0" anchor="t"/>
          <a:lstStyle/>
          <a:p>
            <a:pPr marL="0" indent="0">
              <a:buNone/>
            </a:pPr>
            <a:r>
              <a:rPr lang="en-US" sz="32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1</a:t>
            </a:r>
            <a:endParaRPr lang="en-US" sz="3200" dirty="0"/>
          </a:p>
        </p:txBody>
      </p:sp>
      <p:sp>
        <p:nvSpPr>
          <p:cNvPr id="5" name="Text 2"/>
          <p:cNvSpPr txBox="1"/>
          <p:nvPr/>
        </p:nvSpPr>
        <p:spPr>
          <a:xfrm>
            <a:off x="1097280" y="1325880"/>
            <a:ext cx="5120640" cy="457200"/>
          </a:xfrm>
          <a:prstGeom prst="rect">
            <a:avLst/>
          </a:prstGeom>
          <a:noFill/>
        </p:spPr>
        <p:txBody>
          <a:bodyPr wrap="square" lIns="0" tIns="0" rIns="0" bIns="0" rtlCol="0" anchor="ctr"/>
          <a:lstStyle/>
          <a:p>
            <a:pPr marL="0" indent="0">
              <a:buNone/>
            </a:pPr>
            <a:r>
              <a:rPr lang="en-US" sz="1800" dirty="0">
                <a:solidFill>
                  <a:schemeClr val="tx1"/>
                </a:solidFill>
                <a:latin typeface="Cambria" panose="02040503050406030204" pitchFamily="34" charset="0"/>
                <a:ea typeface="Cambria" panose="02040503050406030204" pitchFamily="34" charset="-122"/>
                <a:cs typeface="Cambria" panose="02040503050406030204" pitchFamily="34" charset="-120"/>
              </a:rPr>
              <a:t>Why does keyword search fail?</a:t>
            </a:r>
            <a:endParaRPr lang="en-US" sz="1800" dirty="0"/>
          </a:p>
        </p:txBody>
      </p:sp>
      <p:sp>
        <p:nvSpPr>
          <p:cNvPr id="6" name="Shape 3"/>
          <p:cNvSpPr/>
          <p:nvPr/>
        </p:nvSpPr>
        <p:spPr>
          <a:xfrm>
            <a:off x="1097280" y="1856232"/>
            <a:ext cx="5120640" cy="0"/>
          </a:xfrm>
          <a:prstGeom prst="line">
            <a:avLst/>
          </a:prstGeom>
          <a:noFill/>
          <a:ln w="6350">
            <a:solidFill>
              <a:schemeClr val="accent6"/>
            </a:solidFill>
            <a:prstDash val="solid"/>
          </a:ln>
        </p:spPr>
      </p:sp>
      <p:sp>
        <p:nvSpPr>
          <p:cNvPr id="7" name="Text 4"/>
          <p:cNvSpPr txBox="1"/>
          <p:nvPr/>
        </p:nvSpPr>
        <p:spPr>
          <a:xfrm>
            <a:off x="457200" y="1892808"/>
            <a:ext cx="548640" cy="548640"/>
          </a:xfrm>
          <a:prstGeom prst="rect">
            <a:avLst/>
          </a:prstGeom>
          <a:noFill/>
        </p:spPr>
        <p:txBody>
          <a:bodyPr wrap="square" lIns="0" tIns="0" rIns="0" bIns="0" rtlCol="0" anchor="t"/>
          <a:lstStyle/>
          <a:p>
            <a:pPr marL="0" indent="0">
              <a:buNone/>
            </a:pPr>
            <a:r>
              <a:rPr lang="en-US" sz="32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2</a:t>
            </a:r>
            <a:endParaRPr lang="en-US" sz="3200" dirty="0"/>
          </a:p>
        </p:txBody>
      </p:sp>
      <p:sp>
        <p:nvSpPr>
          <p:cNvPr id="8" name="Text 5"/>
          <p:cNvSpPr txBox="1"/>
          <p:nvPr/>
        </p:nvSpPr>
        <p:spPr>
          <a:xfrm>
            <a:off x="1097280" y="1965960"/>
            <a:ext cx="5120640" cy="457200"/>
          </a:xfrm>
          <a:prstGeom prst="rect">
            <a:avLst/>
          </a:prstGeom>
          <a:noFill/>
        </p:spPr>
        <p:txBody>
          <a:bodyPr wrap="square" lIns="0" tIns="0" rIns="0" bIns="0" rtlCol="0" anchor="ctr"/>
          <a:lstStyle/>
          <a:p>
            <a:pPr marL="0" indent="0">
              <a:buNone/>
            </a:pPr>
            <a:r>
              <a:rPr lang="en-US" sz="1800" dirty="0">
                <a:solidFill>
                  <a:schemeClr val="tx1"/>
                </a:solidFill>
                <a:latin typeface="Cambria" panose="02040503050406030204" pitchFamily="34" charset="0"/>
                <a:ea typeface="Cambria" panose="02040503050406030204" pitchFamily="34" charset="-122"/>
                <a:cs typeface="Cambria" panose="02040503050406030204" pitchFamily="34" charset="-120"/>
              </a:rPr>
              <a:t>Where did the idea of searching by meaning come from?</a:t>
            </a:r>
            <a:endParaRPr lang="en-US" sz="1800" dirty="0"/>
          </a:p>
        </p:txBody>
      </p:sp>
      <p:sp>
        <p:nvSpPr>
          <p:cNvPr id="9" name="Shape 6"/>
          <p:cNvSpPr/>
          <p:nvPr/>
        </p:nvSpPr>
        <p:spPr>
          <a:xfrm>
            <a:off x="1097280" y="2496312"/>
            <a:ext cx="5120640" cy="0"/>
          </a:xfrm>
          <a:prstGeom prst="line">
            <a:avLst/>
          </a:prstGeom>
          <a:noFill/>
          <a:ln w="6350">
            <a:solidFill>
              <a:schemeClr val="accent6"/>
            </a:solidFill>
            <a:prstDash val="solid"/>
          </a:ln>
        </p:spPr>
      </p:sp>
      <p:sp>
        <p:nvSpPr>
          <p:cNvPr id="10" name="Text 7"/>
          <p:cNvSpPr txBox="1"/>
          <p:nvPr/>
        </p:nvSpPr>
        <p:spPr>
          <a:xfrm>
            <a:off x="457200" y="2532888"/>
            <a:ext cx="548640" cy="548640"/>
          </a:xfrm>
          <a:prstGeom prst="rect">
            <a:avLst/>
          </a:prstGeom>
          <a:noFill/>
        </p:spPr>
        <p:txBody>
          <a:bodyPr wrap="square" lIns="0" tIns="0" rIns="0" bIns="0" rtlCol="0" anchor="t"/>
          <a:lstStyle/>
          <a:p>
            <a:pPr marL="0" indent="0">
              <a:buNone/>
            </a:pPr>
            <a:r>
              <a:rPr lang="en-US" sz="32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3</a:t>
            </a:r>
            <a:endParaRPr lang="en-US" sz="3200" dirty="0"/>
          </a:p>
        </p:txBody>
      </p:sp>
      <p:sp>
        <p:nvSpPr>
          <p:cNvPr id="11" name="Text 8"/>
          <p:cNvSpPr txBox="1"/>
          <p:nvPr/>
        </p:nvSpPr>
        <p:spPr>
          <a:xfrm>
            <a:off x="1097280" y="2606040"/>
            <a:ext cx="5120640" cy="457200"/>
          </a:xfrm>
          <a:prstGeom prst="rect">
            <a:avLst/>
          </a:prstGeom>
          <a:noFill/>
        </p:spPr>
        <p:txBody>
          <a:bodyPr wrap="square" lIns="0" tIns="0" rIns="0" bIns="0" rtlCol="0" anchor="ctr"/>
          <a:lstStyle/>
          <a:p>
            <a:pPr marL="0" indent="0">
              <a:buNone/>
            </a:pPr>
            <a:r>
              <a:rPr lang="en-US" sz="1800" dirty="0">
                <a:solidFill>
                  <a:schemeClr val="tx1"/>
                </a:solidFill>
                <a:latin typeface="Cambria" panose="02040503050406030204" pitchFamily="34" charset="0"/>
                <a:ea typeface="Cambria" panose="02040503050406030204" pitchFamily="34" charset="-122"/>
                <a:cs typeface="Cambria" panose="02040503050406030204" pitchFamily="34" charset="-120"/>
              </a:rPr>
              <a:t>What is an embedding, concretely?</a:t>
            </a:r>
            <a:endParaRPr lang="en-US" sz="1800" dirty="0"/>
          </a:p>
        </p:txBody>
      </p:sp>
      <p:sp>
        <p:nvSpPr>
          <p:cNvPr id="12" name="Shape 9"/>
          <p:cNvSpPr/>
          <p:nvPr/>
        </p:nvSpPr>
        <p:spPr>
          <a:xfrm>
            <a:off x="1097280" y="3136392"/>
            <a:ext cx="5120640" cy="0"/>
          </a:xfrm>
          <a:prstGeom prst="line">
            <a:avLst/>
          </a:prstGeom>
          <a:noFill/>
          <a:ln w="6350">
            <a:solidFill>
              <a:schemeClr val="accent6"/>
            </a:solidFill>
            <a:prstDash val="solid"/>
          </a:ln>
        </p:spPr>
      </p:sp>
      <p:sp>
        <p:nvSpPr>
          <p:cNvPr id="13" name="Text 10"/>
          <p:cNvSpPr txBox="1"/>
          <p:nvPr/>
        </p:nvSpPr>
        <p:spPr>
          <a:xfrm>
            <a:off x="457200" y="3172968"/>
            <a:ext cx="548640" cy="548640"/>
          </a:xfrm>
          <a:prstGeom prst="rect">
            <a:avLst/>
          </a:prstGeom>
          <a:noFill/>
        </p:spPr>
        <p:txBody>
          <a:bodyPr wrap="square" lIns="0" tIns="0" rIns="0" bIns="0" rtlCol="0" anchor="t"/>
          <a:lstStyle/>
          <a:p>
            <a:pPr marL="0" indent="0">
              <a:buNone/>
            </a:pPr>
            <a:r>
              <a:rPr lang="en-US" sz="32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4</a:t>
            </a:r>
            <a:endParaRPr lang="en-US" sz="3200" dirty="0"/>
          </a:p>
        </p:txBody>
      </p:sp>
      <p:sp>
        <p:nvSpPr>
          <p:cNvPr id="14" name="Text 11"/>
          <p:cNvSpPr txBox="1"/>
          <p:nvPr/>
        </p:nvSpPr>
        <p:spPr>
          <a:xfrm>
            <a:off x="1097280" y="3246120"/>
            <a:ext cx="5120640" cy="457200"/>
          </a:xfrm>
          <a:prstGeom prst="rect">
            <a:avLst/>
          </a:prstGeom>
          <a:noFill/>
        </p:spPr>
        <p:txBody>
          <a:bodyPr wrap="square" lIns="0" tIns="0" rIns="0" bIns="0" rtlCol="0" anchor="ctr"/>
          <a:lstStyle/>
          <a:p>
            <a:pPr marL="0" indent="0">
              <a:buNone/>
            </a:pPr>
            <a:r>
              <a:rPr lang="en-US" sz="1800" dirty="0">
                <a:solidFill>
                  <a:schemeClr val="tx1"/>
                </a:solidFill>
                <a:latin typeface="Cambria" panose="02040503050406030204" pitchFamily="34" charset="0"/>
                <a:ea typeface="Cambria" panose="02040503050406030204" pitchFamily="34" charset="-122"/>
                <a:cs typeface="Cambria" panose="02040503050406030204" pitchFamily="34" charset="-120"/>
              </a:rPr>
              <a:t>What does a vector database actually do?</a:t>
            </a:r>
            <a:endParaRPr lang="en-US" sz="1800" dirty="0"/>
          </a:p>
        </p:txBody>
      </p:sp>
      <p:sp>
        <p:nvSpPr>
          <p:cNvPr id="15" name="Shape 12"/>
          <p:cNvSpPr/>
          <p:nvPr/>
        </p:nvSpPr>
        <p:spPr>
          <a:xfrm>
            <a:off x="1097280" y="3776472"/>
            <a:ext cx="5120640" cy="0"/>
          </a:xfrm>
          <a:prstGeom prst="line">
            <a:avLst/>
          </a:prstGeom>
          <a:noFill/>
          <a:ln w="6350">
            <a:solidFill>
              <a:schemeClr val="accent6"/>
            </a:solidFill>
            <a:prstDash val="solid"/>
          </a:ln>
        </p:spPr>
      </p:sp>
      <p:sp>
        <p:nvSpPr>
          <p:cNvPr id="16" name="Text 13"/>
          <p:cNvSpPr txBox="1"/>
          <p:nvPr/>
        </p:nvSpPr>
        <p:spPr>
          <a:xfrm>
            <a:off x="457200" y="3813048"/>
            <a:ext cx="548640" cy="548640"/>
          </a:xfrm>
          <a:prstGeom prst="rect">
            <a:avLst/>
          </a:prstGeom>
          <a:noFill/>
        </p:spPr>
        <p:txBody>
          <a:bodyPr wrap="square" lIns="0" tIns="0" rIns="0" bIns="0" rtlCol="0" anchor="t"/>
          <a:lstStyle/>
          <a:p>
            <a:pPr marL="0" indent="0">
              <a:buNone/>
            </a:pPr>
            <a:r>
              <a:rPr lang="en-US" sz="32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5</a:t>
            </a:r>
            <a:endParaRPr lang="en-US" sz="3200" dirty="0"/>
          </a:p>
        </p:txBody>
      </p:sp>
      <p:sp>
        <p:nvSpPr>
          <p:cNvPr id="17" name="Text 14"/>
          <p:cNvSpPr txBox="1"/>
          <p:nvPr/>
        </p:nvSpPr>
        <p:spPr>
          <a:xfrm>
            <a:off x="1097280" y="3886200"/>
            <a:ext cx="5120640" cy="457200"/>
          </a:xfrm>
          <a:prstGeom prst="rect">
            <a:avLst/>
          </a:prstGeom>
          <a:noFill/>
        </p:spPr>
        <p:txBody>
          <a:bodyPr wrap="square" lIns="0" tIns="0" rIns="0" bIns="0" rtlCol="0" anchor="ctr"/>
          <a:lstStyle/>
          <a:p>
            <a:pPr marL="0" indent="0">
              <a:buNone/>
            </a:pPr>
            <a:r>
              <a:rPr lang="en-US" sz="1800" dirty="0">
                <a:solidFill>
                  <a:schemeClr val="tx1"/>
                </a:solidFill>
                <a:latin typeface="Cambria" panose="02040503050406030204" pitchFamily="34" charset="0"/>
                <a:ea typeface="Cambria" panose="02040503050406030204" pitchFamily="34" charset="-122"/>
                <a:cs typeface="Cambria" panose="02040503050406030204" pitchFamily="34" charset="-120"/>
              </a:rPr>
              <a:t>When should you not use one?</a:t>
            </a:r>
            <a:endParaRPr lang="en-US" sz="1800" dirty="0"/>
          </a:p>
        </p:txBody>
      </p:sp>
      <p:sp>
        <p:nvSpPr>
          <p:cNvPr id="18" name="Text 15"/>
          <p:cNvSpPr txBox="1"/>
          <p:nvPr/>
        </p:nvSpPr>
        <p:spPr>
          <a:xfrm>
            <a:off x="6675120" y="1325880"/>
            <a:ext cx="2011680" cy="274320"/>
          </a:xfrm>
          <a:prstGeom prst="rect">
            <a:avLst/>
          </a:prstGeom>
          <a:noFill/>
        </p:spPr>
        <p:txBody>
          <a:bodyPr wrap="square" lIns="0" tIns="0" rIns="0" bIns="0" rtlCol="0" anchor="t"/>
          <a:lstStyle/>
          <a:p>
            <a:pPr marL="0" indent="0">
              <a:buNone/>
            </a:pPr>
            <a:r>
              <a:rPr lang="en-US" sz="1200" b="1" kern="0" spc="200" dirty="0">
                <a:solidFill>
                  <a:schemeClr val="accent5"/>
                </a:solidFill>
              </a:rPr>
              <a:t>Prerequisites</a:t>
            </a:r>
            <a:endParaRPr lang="en-US" sz="1200" dirty="0"/>
          </a:p>
        </p:txBody>
      </p:sp>
      <p:sp>
        <p:nvSpPr>
          <p:cNvPr id="19" name="Text 16"/>
          <p:cNvSpPr txBox="1"/>
          <p:nvPr/>
        </p:nvSpPr>
        <p:spPr>
          <a:xfrm>
            <a:off x="6675120" y="1645920"/>
            <a:ext cx="2011680" cy="822960"/>
          </a:xfrm>
          <a:prstGeom prst="rect">
            <a:avLst/>
          </a:prstGeom>
          <a:noFill/>
        </p:spPr>
        <p:txBody>
          <a:bodyPr wrap="square" lIns="0" tIns="0" rIns="0" bIns="0" rtlCol="0" anchor="t"/>
          <a:lstStyle/>
          <a:p>
            <a:pPr marL="0" indent="0">
              <a:buNone/>
            </a:pPr>
            <a:r>
              <a:rPr lang="en-US" sz="1400" dirty="0">
                <a:solidFill>
                  <a:schemeClr val="tx1"/>
                </a:solidFill>
              </a:rPr>
              <a:t>Basic Python. No prior machine learning needed.</a:t>
            </a:r>
            <a:endParaRPr lang="en-US" sz="1400" dirty="0"/>
          </a:p>
        </p:txBody>
      </p:sp>
      <p:sp>
        <p:nvSpPr>
          <p:cNvPr id="20" name="Text 17"/>
          <p:cNvSpPr txBox="1"/>
          <p:nvPr/>
        </p:nvSpPr>
        <p:spPr>
          <a:xfrm>
            <a:off x="6675120" y="2651760"/>
            <a:ext cx="2011680" cy="274320"/>
          </a:xfrm>
          <a:prstGeom prst="rect">
            <a:avLst/>
          </a:prstGeom>
          <a:noFill/>
        </p:spPr>
        <p:txBody>
          <a:bodyPr wrap="square" lIns="0" tIns="0" rIns="0" bIns="0" rtlCol="0" anchor="t"/>
          <a:lstStyle/>
          <a:p>
            <a:pPr marL="0" indent="0">
              <a:buNone/>
            </a:pPr>
            <a:r>
              <a:rPr lang="en-US" sz="1200" b="1" kern="0" spc="200" dirty="0">
                <a:solidFill>
                  <a:schemeClr val="accent5"/>
                </a:solidFill>
              </a:rPr>
              <a:t>Lab 1</a:t>
            </a:r>
            <a:endParaRPr lang="en-US" sz="1200" dirty="0"/>
          </a:p>
        </p:txBody>
      </p:sp>
      <p:sp>
        <p:nvSpPr>
          <p:cNvPr id="21" name="Text 18"/>
          <p:cNvSpPr txBox="1"/>
          <p:nvPr/>
        </p:nvSpPr>
        <p:spPr>
          <a:xfrm>
            <a:off x="6675120" y="2971800"/>
            <a:ext cx="2011680" cy="1371600"/>
          </a:xfrm>
          <a:prstGeom prst="rect">
            <a:avLst/>
          </a:prstGeom>
          <a:noFill/>
        </p:spPr>
        <p:txBody>
          <a:bodyPr wrap="square" lIns="0" tIns="0" rIns="0" bIns="0" rtlCol="0" anchor="t"/>
          <a:lstStyle/>
          <a:p>
            <a:pPr marL="0" indent="0">
              <a:buNone/>
            </a:pPr>
            <a:r>
              <a:rPr lang="en-US" sz="1400" dirty="0">
                <a:solidFill>
                  <a:schemeClr val="tx1"/>
                </a:solidFill>
              </a:rPr>
              <a:t>Build a keyword search and a semantic search over the same 12 documents, then compare.</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5"/>
                </a:solidFill>
              </a:defRPr>
            </a:lvl1pPr>
          </a:lstStyle>
          <a:p>
            <a:pPr algn="l"/>
            <a:fld id="{F7021451-1387-4CA6-816F-3879F97B5CBC}" type="slidenum">
              <a:rPr lang="en-US" b="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320040"/>
            <a:ext cx="8229600" cy="731520"/>
          </a:xfrm>
          <a:prstGeom prst="rect">
            <a:avLst/>
          </a:prstGeom>
          <a:noFill/>
        </p:spPr>
        <p:txBody>
          <a:bodyPr wrap="square" lIns="0" tIns="0" rIns="0" bIns="0" rtlCol="0" anchor="ctr"/>
          <a:lstStyle/>
          <a:p>
            <a:pPr marL="0" indent="0" algn="l">
              <a:buNone/>
            </a:pPr>
            <a:r>
              <a:rPr lang="en-US" sz="3000" b="1" dirty="0">
                <a:solidFill>
                  <a:schemeClr val="tx1"/>
                </a:solidFill>
              </a:rPr>
              <a:t>Which results would you want?</a:t>
            </a:r>
            <a:endParaRPr lang="en-US" sz="3000" dirty="0"/>
          </a:p>
        </p:txBody>
      </p:sp>
      <p:sp>
        <p:nvSpPr>
          <p:cNvPr id="4" name="Shape 1"/>
          <p:cNvSpPr/>
          <p:nvPr/>
        </p:nvSpPr>
        <p:spPr>
          <a:xfrm>
            <a:off x="457200" y="1280160"/>
            <a:ext cx="5486400" cy="3291840"/>
          </a:xfrm>
          <a:prstGeom prst="rect">
            <a:avLst/>
          </a:prstGeom>
          <a:solidFill>
            <a:schemeClr val="bg1"/>
          </a:solidFill>
          <a:ln w="12700">
            <a:solidFill>
              <a:schemeClr val="accent6"/>
            </a:solidFill>
            <a:prstDash val="solid"/>
          </a:ln>
        </p:spPr>
      </p:sp>
      <p:sp>
        <p:nvSpPr>
          <p:cNvPr id="5" name="Shape 2"/>
          <p:cNvSpPr/>
          <p:nvPr/>
        </p:nvSpPr>
        <p:spPr>
          <a:xfrm>
            <a:off x="640080" y="1417320"/>
            <a:ext cx="5120640" cy="411480"/>
          </a:xfrm>
          <a:prstGeom prst="rect">
            <a:avLst/>
          </a:prstGeom>
          <a:solidFill>
            <a:schemeClr val="bg1"/>
          </a:solidFill>
          <a:ln w="12700">
            <a:solidFill>
              <a:srgbClr val="1B2A41"/>
            </a:solidFill>
            <a:prstDash val="solid"/>
          </a:ln>
        </p:spPr>
      </p:sp>
      <p:sp>
        <p:nvSpPr>
          <p:cNvPr id="6" name="Text 3"/>
          <p:cNvSpPr txBox="1"/>
          <p:nvPr/>
        </p:nvSpPr>
        <p:spPr>
          <a:xfrm>
            <a:off x="822960" y="1417320"/>
            <a:ext cx="4754880" cy="411480"/>
          </a:xfrm>
          <a:prstGeom prst="rect">
            <a:avLst/>
          </a:prstGeom>
          <a:noFill/>
        </p:spPr>
        <p:txBody>
          <a:bodyPr wrap="square" lIns="0" tIns="0" rIns="0" bIns="0" rtlCol="0" anchor="ctr"/>
          <a:lstStyle/>
          <a:p>
            <a:pPr marL="0" indent="0">
              <a:buNone/>
            </a:pPr>
            <a:r>
              <a:rPr lang="en-US" sz="1600" dirty="0">
                <a:solidFill>
                  <a:schemeClr val="tx1"/>
                </a:solidFill>
              </a:rPr>
              <a:t>cheap places to stay</a:t>
            </a:r>
            <a:endParaRPr lang="en-US" sz="1600" dirty="0"/>
          </a:p>
        </p:txBody>
      </p:sp>
      <p:sp>
        <p:nvSpPr>
          <p:cNvPr id="7" name="Text 4"/>
          <p:cNvSpPr txBox="1"/>
          <p:nvPr/>
        </p:nvSpPr>
        <p:spPr>
          <a:xfrm>
            <a:off x="640080" y="2011680"/>
            <a:ext cx="5120640" cy="274320"/>
          </a:xfrm>
          <a:prstGeom prst="rect">
            <a:avLst/>
          </a:prstGeom>
          <a:noFill/>
        </p:spPr>
        <p:txBody>
          <a:bodyPr wrap="square" lIns="0" tIns="0" rIns="0" bIns="0" rtlCol="0" anchor="t"/>
          <a:lstStyle/>
          <a:p>
            <a:pPr marL="0" indent="0">
              <a:buNone/>
            </a:pPr>
            <a:r>
              <a:rPr lang="en-US" sz="1600" b="1" u="sng" dirty="0">
                <a:solidFill>
                  <a:schemeClr val="accent2"/>
                </a:solidFill>
              </a:rPr>
              <a:t>Affordable hotels near the beach</a:t>
            </a:r>
            <a:endParaRPr lang="en-US" sz="1600" dirty="0"/>
          </a:p>
        </p:txBody>
      </p:sp>
      <p:sp>
        <p:nvSpPr>
          <p:cNvPr id="8" name="Text 5"/>
          <p:cNvSpPr txBox="1"/>
          <p:nvPr/>
        </p:nvSpPr>
        <p:spPr>
          <a:xfrm>
            <a:off x="640080" y="2331720"/>
            <a:ext cx="5120640" cy="274320"/>
          </a:xfrm>
          <a:prstGeom prst="rect">
            <a:avLst/>
          </a:prstGeom>
          <a:noFill/>
        </p:spPr>
        <p:txBody>
          <a:bodyPr wrap="square" lIns="0" tIns="0" rIns="0" bIns="0" rtlCol="0" anchor="t"/>
          <a:lstStyle/>
          <a:p>
            <a:pPr marL="0" indent="0">
              <a:buNone/>
            </a:pPr>
            <a:r>
              <a:rPr lang="en-US" sz="1300" dirty="0">
                <a:solidFill>
                  <a:schemeClr val="accent5"/>
                </a:solidFill>
              </a:rPr>
              <a:t>Rooms from $35 per night, steps from the sea.</a:t>
            </a:r>
            <a:endParaRPr lang="en-US" sz="1300" dirty="0"/>
          </a:p>
        </p:txBody>
      </p:sp>
      <p:sp>
        <p:nvSpPr>
          <p:cNvPr id="9" name="Text 6"/>
          <p:cNvSpPr txBox="1"/>
          <p:nvPr/>
        </p:nvSpPr>
        <p:spPr>
          <a:xfrm>
            <a:off x="6217920" y="2057400"/>
            <a:ext cx="2468880" cy="640080"/>
          </a:xfrm>
          <a:prstGeom prst="rect">
            <a:avLst/>
          </a:prstGeom>
          <a:noFill/>
        </p:spPr>
        <p:txBody>
          <a:bodyPr wrap="square" lIns="0" tIns="0" rIns="0" bIns="0" rtlCol="0" anchor="t"/>
          <a:lstStyle/>
          <a:p>
            <a:pPr marL="0" indent="0">
              <a:buNone/>
            </a:pPr>
            <a:r>
              <a:rPr lang="en-US" sz="1300" i="1" dirty="0">
                <a:solidFill>
                  <a:schemeClr val="accent1"/>
                </a:solidFill>
                <a:latin typeface="Cambria" panose="02040503050406030204" pitchFamily="34" charset="0"/>
                <a:ea typeface="Cambria" panose="02040503050406030204" pitchFamily="34" charset="-122"/>
                <a:cs typeface="Cambria" panose="02040503050406030204" pitchFamily="34" charset="-120"/>
              </a:rPr>
              <a:t>Relevant. No shared word. Not returned.</a:t>
            </a:r>
            <a:endParaRPr lang="en-US" sz="1300" dirty="0"/>
          </a:p>
        </p:txBody>
      </p:sp>
      <p:sp>
        <p:nvSpPr>
          <p:cNvPr id="10" name="Shape 7"/>
          <p:cNvSpPr/>
          <p:nvPr/>
        </p:nvSpPr>
        <p:spPr>
          <a:xfrm>
            <a:off x="5989320" y="2103120"/>
            <a:ext cx="137160" cy="0"/>
          </a:xfrm>
          <a:prstGeom prst="line">
            <a:avLst/>
          </a:prstGeom>
          <a:noFill/>
          <a:ln w="9525">
            <a:solidFill>
              <a:schemeClr val="accent6"/>
            </a:solidFill>
            <a:prstDash val="solid"/>
          </a:ln>
        </p:spPr>
      </p:sp>
      <p:sp>
        <p:nvSpPr>
          <p:cNvPr id="11" name="Text 8"/>
          <p:cNvSpPr txBox="1"/>
          <p:nvPr/>
        </p:nvSpPr>
        <p:spPr>
          <a:xfrm>
            <a:off x="640080" y="2880360"/>
            <a:ext cx="5120640" cy="274320"/>
          </a:xfrm>
          <a:prstGeom prst="rect">
            <a:avLst/>
          </a:prstGeom>
          <a:noFill/>
        </p:spPr>
        <p:txBody>
          <a:bodyPr wrap="square" lIns="0" tIns="0" rIns="0" bIns="0" rtlCol="0" anchor="t"/>
          <a:lstStyle/>
          <a:p>
            <a:pPr marL="0" indent="0">
              <a:buNone/>
            </a:pPr>
            <a:r>
              <a:rPr lang="en-US" sz="1600" b="1" u="sng" dirty="0">
                <a:solidFill>
                  <a:schemeClr val="accent2"/>
                </a:solidFill>
              </a:rPr>
              <a:t>Cheap flights to Cairo</a:t>
            </a:r>
            <a:endParaRPr lang="en-US" sz="1600" dirty="0"/>
          </a:p>
        </p:txBody>
      </p:sp>
      <p:sp>
        <p:nvSpPr>
          <p:cNvPr id="12" name="Text 9"/>
          <p:cNvSpPr txBox="1"/>
          <p:nvPr/>
        </p:nvSpPr>
        <p:spPr>
          <a:xfrm>
            <a:off x="640080" y="3200400"/>
            <a:ext cx="5120640" cy="274320"/>
          </a:xfrm>
          <a:prstGeom prst="rect">
            <a:avLst/>
          </a:prstGeom>
          <a:noFill/>
        </p:spPr>
        <p:txBody>
          <a:bodyPr wrap="square" lIns="0" tIns="0" rIns="0" bIns="0" rtlCol="0" anchor="t"/>
          <a:lstStyle/>
          <a:p>
            <a:pPr marL="0" indent="0">
              <a:buNone/>
            </a:pPr>
            <a:r>
              <a:rPr lang="en-US" sz="1300" dirty="0">
                <a:solidFill>
                  <a:schemeClr val="accent5"/>
                </a:solidFill>
              </a:rPr>
              <a:t>Book low-cost airfare and save on your next trip.</a:t>
            </a:r>
            <a:endParaRPr lang="en-US" sz="1300" dirty="0"/>
          </a:p>
        </p:txBody>
      </p:sp>
      <p:sp>
        <p:nvSpPr>
          <p:cNvPr id="13" name="Text 10"/>
          <p:cNvSpPr txBox="1"/>
          <p:nvPr/>
        </p:nvSpPr>
        <p:spPr>
          <a:xfrm>
            <a:off x="6217920" y="2926080"/>
            <a:ext cx="2468880" cy="640080"/>
          </a:xfrm>
          <a:prstGeom prst="rect">
            <a:avLst/>
          </a:prstGeom>
          <a:noFill/>
        </p:spPr>
        <p:txBody>
          <a:bodyPr wrap="square" lIns="0" tIns="0" rIns="0" bIns="0" rtlCol="0" anchor="t"/>
          <a:lstStyle/>
          <a:p>
            <a:pPr marL="0" indent="0">
              <a:buNone/>
            </a:pPr>
            <a:r>
              <a:rPr lang="en-US" sz="1300" i="1" dirty="0">
                <a:solidFill>
                  <a:schemeClr val="tx1"/>
                </a:solidFill>
                <a:latin typeface="Cambria" panose="02040503050406030204" pitchFamily="34" charset="0"/>
                <a:ea typeface="Cambria" panose="02040503050406030204" pitchFamily="34" charset="-122"/>
                <a:cs typeface="Cambria" panose="02040503050406030204" pitchFamily="34" charset="-120"/>
              </a:rPr>
              <a:t>Irrelevant. Shares "cheap". Returned first.</a:t>
            </a:r>
            <a:endParaRPr lang="en-US" sz="1300" dirty="0"/>
          </a:p>
        </p:txBody>
      </p:sp>
      <p:sp>
        <p:nvSpPr>
          <p:cNvPr id="14" name="Shape 11"/>
          <p:cNvSpPr/>
          <p:nvPr/>
        </p:nvSpPr>
        <p:spPr>
          <a:xfrm>
            <a:off x="5989320" y="2971800"/>
            <a:ext cx="137160" cy="0"/>
          </a:xfrm>
          <a:prstGeom prst="line">
            <a:avLst/>
          </a:prstGeom>
          <a:noFill/>
          <a:ln w="9525">
            <a:solidFill>
              <a:schemeClr val="accent6"/>
            </a:solidFill>
            <a:prstDash val="solid"/>
          </a:ln>
        </p:spPr>
      </p:sp>
      <p:sp>
        <p:nvSpPr>
          <p:cNvPr id="15" name="Text 12"/>
          <p:cNvSpPr txBox="1"/>
          <p:nvPr/>
        </p:nvSpPr>
        <p:spPr>
          <a:xfrm>
            <a:off x="640080" y="3749040"/>
            <a:ext cx="5120640" cy="274320"/>
          </a:xfrm>
          <a:prstGeom prst="rect">
            <a:avLst/>
          </a:prstGeom>
          <a:noFill/>
        </p:spPr>
        <p:txBody>
          <a:bodyPr wrap="square" lIns="0" tIns="0" rIns="0" bIns="0" rtlCol="0" anchor="t"/>
          <a:lstStyle/>
          <a:p>
            <a:pPr marL="0" indent="0">
              <a:buNone/>
            </a:pPr>
            <a:r>
              <a:rPr lang="en-US" sz="1600" b="1" u="sng" dirty="0">
                <a:solidFill>
                  <a:schemeClr val="accent2"/>
                </a:solidFill>
              </a:rPr>
              <a:t>Budget hostel for backpackers</a:t>
            </a:r>
            <a:endParaRPr lang="en-US" sz="1600" dirty="0"/>
          </a:p>
        </p:txBody>
      </p:sp>
      <p:sp>
        <p:nvSpPr>
          <p:cNvPr id="16" name="Text 13"/>
          <p:cNvSpPr txBox="1"/>
          <p:nvPr/>
        </p:nvSpPr>
        <p:spPr>
          <a:xfrm>
            <a:off x="640080" y="4069080"/>
            <a:ext cx="5120640" cy="274320"/>
          </a:xfrm>
          <a:prstGeom prst="rect">
            <a:avLst/>
          </a:prstGeom>
          <a:noFill/>
        </p:spPr>
        <p:txBody>
          <a:bodyPr wrap="square" lIns="0" tIns="0" rIns="0" bIns="0" rtlCol="0" anchor="t"/>
          <a:lstStyle/>
          <a:p>
            <a:pPr marL="0" indent="0">
              <a:buNone/>
            </a:pPr>
            <a:r>
              <a:rPr lang="en-US" sz="1300" dirty="0">
                <a:solidFill>
                  <a:schemeClr val="accent5"/>
                </a:solidFill>
              </a:rPr>
              <a:t>Shared dorms and a free breakfast.</a:t>
            </a:r>
            <a:endParaRPr lang="en-US" sz="1300" dirty="0"/>
          </a:p>
        </p:txBody>
      </p:sp>
      <p:sp>
        <p:nvSpPr>
          <p:cNvPr id="17" name="Text 14"/>
          <p:cNvSpPr txBox="1"/>
          <p:nvPr/>
        </p:nvSpPr>
        <p:spPr>
          <a:xfrm>
            <a:off x="6217920" y="3794760"/>
            <a:ext cx="2468880" cy="640080"/>
          </a:xfrm>
          <a:prstGeom prst="rect">
            <a:avLst/>
          </a:prstGeom>
          <a:noFill/>
        </p:spPr>
        <p:txBody>
          <a:bodyPr wrap="square" lIns="0" tIns="0" rIns="0" bIns="0" rtlCol="0" anchor="t"/>
          <a:lstStyle/>
          <a:p>
            <a:pPr marL="0" indent="0">
              <a:buNone/>
            </a:pPr>
            <a:r>
              <a:rPr lang="en-US" sz="1300" i="1" dirty="0">
                <a:solidFill>
                  <a:schemeClr val="accent1"/>
                </a:solidFill>
                <a:latin typeface="Cambria" panose="02040503050406030204" pitchFamily="34" charset="0"/>
                <a:ea typeface="Cambria" panose="02040503050406030204" pitchFamily="34" charset="-122"/>
                <a:cs typeface="Cambria" panose="02040503050406030204" pitchFamily="34" charset="-120"/>
              </a:rPr>
              <a:t>Relevant. No shared word. Not returned.</a:t>
            </a:r>
            <a:endParaRPr lang="en-US" sz="1300" dirty="0"/>
          </a:p>
        </p:txBody>
      </p:sp>
      <p:sp>
        <p:nvSpPr>
          <p:cNvPr id="18" name="Shape 15"/>
          <p:cNvSpPr/>
          <p:nvPr/>
        </p:nvSpPr>
        <p:spPr>
          <a:xfrm>
            <a:off x="5989320" y="3840480"/>
            <a:ext cx="137160" cy="0"/>
          </a:xfrm>
          <a:prstGeom prst="line">
            <a:avLst/>
          </a:prstGeom>
          <a:noFill/>
          <a:ln w="9525">
            <a:solidFill>
              <a:schemeClr val="accent6"/>
            </a:solidFill>
            <a:prstDash val="solid"/>
          </a:ln>
        </p:spPr>
      </p:sp>
      <p:sp>
        <p:nvSpPr>
          <p:cNvPr id="25"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5"/>
                </a:solidFill>
              </a:defRPr>
            </a:lvl1pPr>
          </a:lstStyle>
          <a:p>
            <a:pPr algn="l"/>
            <a:fld id="{F7021451-1387-4CA6-816F-3879F97B5CBC}" type="slidenum">
              <a:rPr lang="en-US" b="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320040"/>
            <a:ext cx="8229600" cy="731520"/>
          </a:xfrm>
          <a:prstGeom prst="rect">
            <a:avLst/>
          </a:prstGeom>
          <a:noFill/>
        </p:spPr>
        <p:txBody>
          <a:bodyPr wrap="square" lIns="0" tIns="0" rIns="0" bIns="0" rtlCol="0" anchor="ctr"/>
          <a:lstStyle/>
          <a:p>
            <a:pPr marL="0" indent="0" algn="l">
              <a:buNone/>
            </a:pPr>
            <a:r>
              <a:rPr lang="en-US" sz="3000" b="1" dirty="0">
                <a:solidFill>
                  <a:schemeClr val="tx1"/>
                </a:solidFill>
              </a:rPr>
              <a:t>Keyword search matches tokens, not ideas</a:t>
            </a:r>
            <a:endParaRPr lang="en-US" sz="3000" dirty="0"/>
          </a:p>
        </p:txBody>
      </p:sp>
      <p:graphicFrame>
        <p:nvGraphicFramePr>
          <p:cNvPr id="5" name="Table 0"/>
          <p:cNvGraphicFramePr>
            <a:graphicFrameLocks noGrp="1"/>
          </p:cNvGraphicFramePr>
          <p:nvPr/>
        </p:nvGraphicFramePr>
        <p:xfrm>
          <a:off x="457200" y="1280160"/>
          <a:ext cx="3291840" cy="2560320"/>
        </p:xfrm>
        <a:graphic>
          <a:graphicData uri="http://schemas.openxmlformats.org/drawingml/2006/table">
            <a:tbl>
              <a:tblPr/>
              <a:tblGrid>
                <a:gridCol w="1737360"/>
                <a:gridCol w="1554480"/>
              </a:tblGrid>
              <a:tr h="365760">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Term</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marL="0" indent="0">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Documents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r>
              <a:tr h="365760">
                <a:tc>
                  <a:txBody>
                    <a:bodyPr/>
                    <a:lstStyle/>
                    <a:p>
                      <a:pPr marL="0" indent="0">
                        <a:buNone/>
                      </a:pPr>
                      <a:r>
                        <a:rPr lang="en-US" sz="1300" dirty="0">
                          <a:solidFill>
                            <a:srgbClr val="1B2A41"/>
                          </a:solidFill>
                          <a:latin typeface="Calibri" panose="020F0502020204030204" pitchFamily="34" charset="0"/>
                          <a:ea typeface="Calibri" panose="020F0502020204030204" pitchFamily="34" charset="-122"/>
                          <a:cs typeface="Calibri" panose="020F0502020204030204" pitchFamily="34" charset="-120"/>
                        </a:rPr>
                        <a:t>affordable</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300" dirty="0">
                          <a:solidFill>
                            <a:srgbClr val="1B2A41"/>
                          </a:solidFill>
                          <a:latin typeface="Calibri" panose="020F0502020204030204" pitchFamily="34" charset="0"/>
                          <a:ea typeface="Calibri" panose="020F0502020204030204" pitchFamily="34" charset="-122"/>
                          <a:cs typeface="Calibri" panose="020F0502020204030204" pitchFamily="34" charset="-120"/>
                        </a:rPr>
                        <a:t>d1</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65760">
                <a:tc>
                  <a:txBody>
                    <a:bodyPr/>
                    <a:lstStyle/>
                    <a:p>
                      <a:pPr marL="0" indent="0">
                        <a:buNone/>
                      </a:pPr>
                      <a:r>
                        <a:rPr lang="en-US" sz="1300" dirty="0">
                          <a:solidFill>
                            <a:srgbClr val="1B2A41"/>
                          </a:solidFill>
                          <a:latin typeface="Calibri" panose="020F0502020204030204" pitchFamily="34" charset="0"/>
                          <a:ea typeface="Calibri" panose="020F0502020204030204" pitchFamily="34" charset="-122"/>
                          <a:cs typeface="Calibri" panose="020F0502020204030204" pitchFamily="34" charset="-120"/>
                        </a:rPr>
                        <a:t>beach</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300" dirty="0">
                          <a:solidFill>
                            <a:srgbClr val="1B2A41"/>
                          </a:solidFill>
                          <a:latin typeface="Calibri" panose="020F0502020204030204" pitchFamily="34" charset="0"/>
                          <a:ea typeface="Calibri" panose="020F0502020204030204" pitchFamily="34" charset="-122"/>
                          <a:cs typeface="Calibri" panose="020F0502020204030204" pitchFamily="34" charset="-120"/>
                        </a:rPr>
                        <a:t>d1</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65760">
                <a:tc>
                  <a:txBody>
                    <a:bodyPr/>
                    <a:lstStyle/>
                    <a:p>
                      <a:pPr marL="0" indent="0">
                        <a:buNone/>
                      </a:pPr>
                      <a:r>
                        <a:rPr lang="en-US" sz="1300" dirty="0">
                          <a:solidFill>
                            <a:srgbClr val="1B2A41"/>
                          </a:solidFill>
                          <a:latin typeface="Calibri" panose="020F0502020204030204" pitchFamily="34" charset="0"/>
                          <a:ea typeface="Calibri" panose="020F0502020204030204" pitchFamily="34" charset="-122"/>
                          <a:cs typeface="Calibri" panose="020F0502020204030204" pitchFamily="34" charset="-120"/>
                        </a:rPr>
                        <a:t>cheap</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300" dirty="0">
                          <a:solidFill>
                            <a:srgbClr val="1B2A41"/>
                          </a:solidFill>
                          <a:latin typeface="Calibri" panose="020F0502020204030204" pitchFamily="34" charset="0"/>
                          <a:ea typeface="Calibri" panose="020F0502020204030204" pitchFamily="34" charset="-122"/>
                          <a:cs typeface="Calibri" panose="020F0502020204030204" pitchFamily="34" charset="-120"/>
                        </a:rPr>
                        <a:t>d2</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65760">
                <a:tc>
                  <a:txBody>
                    <a:bodyPr/>
                    <a:lstStyle/>
                    <a:p>
                      <a:pPr marL="0" indent="0">
                        <a:buNone/>
                      </a:pPr>
                      <a:r>
                        <a:rPr lang="en-US" sz="1300" dirty="0">
                          <a:solidFill>
                            <a:srgbClr val="1B2A41"/>
                          </a:solidFill>
                          <a:latin typeface="Calibri" panose="020F0502020204030204" pitchFamily="34" charset="0"/>
                          <a:ea typeface="Calibri" panose="020F0502020204030204" pitchFamily="34" charset="-122"/>
                          <a:cs typeface="Calibri" panose="020F0502020204030204" pitchFamily="34" charset="-120"/>
                        </a:rPr>
                        <a:t>flights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300" dirty="0">
                          <a:solidFill>
                            <a:srgbClr val="1B2A41"/>
                          </a:solidFill>
                          <a:latin typeface="Calibri" panose="020F0502020204030204" pitchFamily="34" charset="0"/>
                          <a:ea typeface="Calibri" panose="020F0502020204030204" pitchFamily="34" charset="-122"/>
                          <a:cs typeface="Calibri" panose="020F0502020204030204" pitchFamily="34" charset="-120"/>
                        </a:rPr>
                        <a:t>d2</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65760">
                <a:tc>
                  <a:txBody>
                    <a:bodyPr/>
                    <a:lstStyle/>
                    <a:p>
                      <a:pPr marL="0" indent="0">
                        <a:buNone/>
                      </a:pPr>
                      <a:r>
                        <a:rPr lang="en-US" sz="1300" dirty="0">
                          <a:solidFill>
                            <a:srgbClr val="1B2A41"/>
                          </a:solidFill>
                          <a:latin typeface="Calibri" panose="020F0502020204030204" pitchFamily="34" charset="0"/>
                          <a:ea typeface="Calibri" panose="020F0502020204030204" pitchFamily="34" charset="-122"/>
                          <a:cs typeface="Calibri" panose="020F0502020204030204" pitchFamily="34" charset="-120"/>
                        </a:rPr>
                        <a:t>hostel</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300" dirty="0">
                          <a:solidFill>
                            <a:srgbClr val="1B2A41"/>
                          </a:solidFill>
                          <a:latin typeface="Calibri" panose="020F0502020204030204" pitchFamily="34" charset="0"/>
                          <a:ea typeface="Calibri" panose="020F0502020204030204" pitchFamily="34" charset="-122"/>
                          <a:cs typeface="Calibri" panose="020F0502020204030204" pitchFamily="34" charset="-120"/>
                        </a:rPr>
                        <a:t>d3</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365760">
                <a:tc>
                  <a:txBody>
                    <a:bodyPr/>
                    <a:lstStyle/>
                    <a:p>
                      <a:pPr marL="0" indent="0">
                        <a:buNone/>
                      </a:pPr>
                      <a:r>
                        <a:rPr lang="en-US" sz="1300" dirty="0">
                          <a:solidFill>
                            <a:srgbClr val="1B2A41"/>
                          </a:solidFill>
                          <a:latin typeface="Calibri" panose="020F0502020204030204" pitchFamily="34" charset="0"/>
                          <a:ea typeface="Calibri" panose="020F0502020204030204" pitchFamily="34" charset="-122"/>
                          <a:cs typeface="Calibri" panose="020F0502020204030204" pitchFamily="34" charset="-120"/>
                        </a:rPr>
                        <a:t>hotels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300" dirty="0">
                          <a:solidFill>
                            <a:srgbClr val="1B2A41"/>
                          </a:solidFill>
                          <a:latin typeface="Calibri" panose="020F0502020204030204" pitchFamily="34" charset="0"/>
                          <a:ea typeface="Calibri" panose="020F0502020204030204" pitchFamily="34" charset="-122"/>
                          <a:cs typeface="Calibri" panose="020F0502020204030204" pitchFamily="34" charset="-120"/>
                        </a:rPr>
                        <a:t>d1</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3" name="Text 1"/>
          <p:cNvSpPr txBox="1"/>
          <p:nvPr/>
        </p:nvSpPr>
        <p:spPr>
          <a:xfrm>
            <a:off x="457200" y="3931920"/>
            <a:ext cx="3474720" cy="274320"/>
          </a:xfrm>
          <a:prstGeom prst="rect">
            <a:avLst/>
          </a:prstGeom>
          <a:noFill/>
        </p:spPr>
        <p:txBody>
          <a:bodyPr wrap="square" lIns="0" tIns="0" rIns="0" bIns="0" rtlCol="0" anchor="t"/>
          <a:lstStyle/>
          <a:p>
            <a:pPr marL="0" indent="0">
              <a:buNone/>
            </a:pPr>
            <a:r>
              <a:rPr lang="en-US" sz="1100" i="1" dirty="0">
                <a:solidFill>
                  <a:schemeClr val="accent5"/>
                </a:solidFill>
                <a:latin typeface="Cambria" panose="02040503050406030204" pitchFamily="34" charset="0"/>
                <a:ea typeface="Cambria" panose="02040503050406030204" pitchFamily="34" charset="-122"/>
                <a:cs typeface="Cambria" panose="02040503050406030204" pitchFamily="34" charset="-120"/>
              </a:rPr>
              <a:t>Figure 1.1  An inverted index over three documents</a:t>
            </a:r>
            <a:endParaRPr lang="en-US" sz="1100" dirty="0"/>
          </a:p>
        </p:txBody>
      </p:sp>
      <p:sp>
        <p:nvSpPr>
          <p:cNvPr id="6" name="Text 2"/>
          <p:cNvSpPr txBox="1"/>
          <p:nvPr/>
        </p:nvSpPr>
        <p:spPr>
          <a:xfrm>
            <a:off x="4206240" y="1280160"/>
            <a:ext cx="4480560" cy="2377440"/>
          </a:xfrm>
          <a:prstGeom prst="rect">
            <a:avLst/>
          </a:prstGeom>
          <a:noFill/>
        </p:spPr>
        <p:txBody>
          <a:bodyPr wrap="square" lIns="0" tIns="0" rIns="0" bIns="0" rtlCol="0" anchor="t"/>
          <a:lstStyle/>
          <a:p>
            <a:pPr marL="0" indent="0">
              <a:buNone/>
            </a:pPr>
            <a:r>
              <a:rPr lang="en-US" sz="1400" b="1" dirty="0">
                <a:solidFill>
                  <a:schemeClr val="tx1"/>
                </a:solidFill>
              </a:rPr>
              <a:t>Indexing. </a:t>
            </a:r>
            <a:r>
              <a:rPr lang="en-US" sz="1400" dirty="0">
                <a:solidFill>
                  <a:schemeClr val="tx1"/>
                </a:solidFill>
              </a:rPr>
              <a:t>Split each document into tokens (lowercase, often stemmed) and map every token to the documents that contain it.</a:t>
            </a:r>
            <a:endParaRPr lang="en-US" sz="1400" dirty="0"/>
          </a:p>
          <a:p>
            <a:pPr marL="0" indent="0">
              <a:buNone/>
            </a:pPr>
            <a:r>
              <a:rPr lang="en-US" sz="600" dirty="0">
                <a:solidFill>
                  <a:schemeClr val="tx1"/>
                </a:solidFill>
              </a:rPr>
              <a:t> </a:t>
            </a:r>
            <a:endParaRPr lang="en-US" sz="1400" dirty="0"/>
          </a:p>
          <a:p>
            <a:pPr marL="0" indent="0">
              <a:buNone/>
            </a:pPr>
            <a:r>
              <a:rPr lang="en-US" sz="1400" b="1" dirty="0">
                <a:solidFill>
                  <a:schemeClr val="tx1"/>
                </a:solidFill>
              </a:rPr>
              <a:t>Querying. </a:t>
            </a:r>
            <a:r>
              <a:rPr lang="en-US" sz="1400" dirty="0">
                <a:solidFill>
                  <a:schemeClr val="tx1"/>
                </a:solidFill>
              </a:rPr>
              <a:t>Look up each query token, merge the lists, and rank with BM25: term frequency weighted by how rare the term is.</a:t>
            </a:r>
            <a:endParaRPr lang="en-US" sz="1400" dirty="0"/>
          </a:p>
          <a:p>
            <a:pPr marL="0" indent="0">
              <a:buNone/>
            </a:pPr>
            <a:r>
              <a:rPr lang="en-US" sz="600" dirty="0">
                <a:solidFill>
                  <a:schemeClr val="tx1"/>
                </a:solidFill>
              </a:rPr>
              <a:t> </a:t>
            </a:r>
            <a:endParaRPr lang="en-US" sz="1400" dirty="0"/>
          </a:p>
          <a:p>
            <a:pPr marL="0" indent="0">
              <a:buNone/>
            </a:pPr>
            <a:r>
              <a:rPr lang="en-US" sz="1400" b="1" dirty="0">
                <a:solidFill>
                  <a:schemeClr val="tx1"/>
                </a:solidFill>
              </a:rPr>
              <a:t>SQL LIKE. </a:t>
            </a:r>
            <a:r>
              <a:rPr lang="en-US" sz="1400" dirty="0">
                <a:solidFill>
                  <a:schemeClr val="tx1"/>
                </a:solidFill>
              </a:rPr>
              <a:t>WHERE text LIKE '%cheap%' scans rows for a substring. No ranking, no notion of meaning.</a:t>
            </a:r>
            <a:endParaRPr lang="en-US" sz="1400" dirty="0"/>
          </a:p>
        </p:txBody>
      </p:sp>
      <p:sp>
        <p:nvSpPr>
          <p:cNvPr id="7" name="Shape 3"/>
          <p:cNvSpPr/>
          <p:nvPr/>
        </p:nvSpPr>
        <p:spPr>
          <a:xfrm>
            <a:off x="4206240" y="3703320"/>
            <a:ext cx="4480560" cy="868680"/>
          </a:xfrm>
          <a:prstGeom prst="rect">
            <a:avLst/>
          </a:prstGeom>
          <a:solidFill>
            <a:srgbClr val="F3F4F6"/>
          </a:solidFill>
          <a:ln w="12700">
            <a:solidFill>
              <a:srgbClr val="F3F4F6"/>
            </a:solidFill>
            <a:prstDash val="solid"/>
          </a:ln>
        </p:spPr>
      </p:sp>
      <p:sp>
        <p:nvSpPr>
          <p:cNvPr id="8" name="Text 4"/>
          <p:cNvSpPr txBox="1"/>
          <p:nvPr/>
        </p:nvSpPr>
        <p:spPr>
          <a:xfrm>
            <a:off x="4389120" y="3794760"/>
            <a:ext cx="4114800" cy="685800"/>
          </a:xfrm>
          <a:prstGeom prst="rect">
            <a:avLst/>
          </a:prstGeom>
          <a:noFill/>
        </p:spPr>
        <p:txBody>
          <a:bodyPr wrap="square" lIns="0" tIns="0" rIns="0" bIns="0" rtlCol="0" anchor="ctr"/>
          <a:lstStyle/>
          <a:p>
            <a:pPr marL="0" indent="0">
              <a:buNone/>
            </a:pPr>
            <a:r>
              <a:rPr lang="en-US" sz="1500" b="1" dirty="0">
                <a:solidFill>
                  <a:srgbClr val="B5432A"/>
                </a:solidFill>
                <a:latin typeface="Cambria" panose="02040503050406030204" pitchFamily="34" charset="0"/>
                <a:ea typeface="Cambria" panose="02040503050406030204" pitchFamily="34" charset="-122"/>
                <a:cs typeface="Cambria" panose="02040503050406030204" pitchFamily="34" charset="-120"/>
              </a:rPr>
              <a:t>Consequence  </a:t>
            </a:r>
            <a:r>
              <a:rPr lang="en-US" sz="1500" dirty="0">
                <a:solidFill>
                  <a:schemeClr val="tx1"/>
                </a:solidFill>
                <a:latin typeface="Cambria" panose="02040503050406030204" pitchFamily="34" charset="0"/>
                <a:ea typeface="Cambria" panose="02040503050406030204" pitchFamily="34" charset="-122"/>
                <a:cs typeface="Cambria" panose="02040503050406030204" pitchFamily="34" charset="-120"/>
              </a:rPr>
              <a:t>A document can only match through words it literally contains.</a:t>
            </a:r>
            <a:endParaRPr lang="en-US" sz="1500" dirty="0"/>
          </a:p>
        </p:txBody>
      </p:sp>
      <p:sp>
        <p:nvSpPr>
          <p:cNvPr id="25"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5"/>
                </a:solidFill>
              </a:defRPr>
            </a:lvl1pPr>
          </a:lstStyle>
          <a:p>
            <a:pPr algn="l"/>
            <a:fld id="{F7021451-1387-4CA6-816F-3879F97B5CBC}" type="slidenum">
              <a:rPr lang="en-US" b="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320040"/>
            <a:ext cx="8229600" cy="731520"/>
          </a:xfrm>
          <a:prstGeom prst="rect">
            <a:avLst/>
          </a:prstGeom>
          <a:noFill/>
        </p:spPr>
        <p:txBody>
          <a:bodyPr wrap="square" lIns="0" tIns="0" rIns="0" bIns="0" rtlCol="0" anchor="ctr"/>
          <a:lstStyle/>
          <a:p>
            <a:pPr marL="0" indent="0" algn="l">
              <a:buNone/>
            </a:pPr>
            <a:r>
              <a:rPr lang="en-US" sz="3000" b="1" dirty="0">
                <a:solidFill>
                  <a:schemeClr val="tx1"/>
                </a:solidFill>
              </a:rPr>
              <a:t>The vocabulary mismatch problem</a:t>
            </a:r>
            <a:endParaRPr lang="en-US" sz="3000" dirty="0"/>
          </a:p>
        </p:txBody>
      </p:sp>
      <p:sp>
        <p:nvSpPr>
          <p:cNvPr id="4" name="Text 1"/>
          <p:cNvSpPr txBox="1"/>
          <p:nvPr/>
        </p:nvSpPr>
        <p:spPr>
          <a:xfrm>
            <a:off x="457200" y="1280160"/>
            <a:ext cx="457200" cy="548640"/>
          </a:xfrm>
          <a:prstGeom prst="rect">
            <a:avLst/>
          </a:prstGeom>
          <a:noFill/>
        </p:spPr>
        <p:txBody>
          <a:bodyPr wrap="square" lIns="0" tIns="0" rIns="0" bIns="0" rtlCol="0" anchor="t"/>
          <a:lstStyle/>
          <a:p>
            <a:pPr marL="0" indent="0">
              <a:buNone/>
            </a:pPr>
            <a:r>
              <a:rPr lang="en-US" sz="28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1</a:t>
            </a:r>
            <a:endParaRPr lang="en-US" sz="2800" dirty="0"/>
          </a:p>
        </p:txBody>
      </p:sp>
      <p:sp>
        <p:nvSpPr>
          <p:cNvPr id="5" name="Text 2"/>
          <p:cNvSpPr txBox="1"/>
          <p:nvPr/>
        </p:nvSpPr>
        <p:spPr>
          <a:xfrm>
            <a:off x="1005840" y="1280160"/>
            <a:ext cx="4846320" cy="274320"/>
          </a:xfrm>
          <a:prstGeom prst="rect">
            <a:avLst/>
          </a:prstGeom>
          <a:noFill/>
        </p:spPr>
        <p:txBody>
          <a:bodyPr wrap="square" lIns="0" tIns="0" rIns="0" bIns="0" rtlCol="0" anchor="t"/>
          <a:lstStyle/>
          <a:p>
            <a:pPr marL="0" indent="0">
              <a:buNone/>
            </a:pPr>
            <a:r>
              <a:rPr lang="en-US" sz="1800" b="1" dirty="0">
                <a:solidFill>
                  <a:schemeClr val="tx1"/>
                </a:solidFill>
                <a:latin typeface="Cambria" panose="02040503050406030204" pitchFamily="34" charset="0"/>
                <a:ea typeface="Cambria" panose="02040503050406030204" pitchFamily="34" charset="-122"/>
                <a:cs typeface="Cambria" panose="02040503050406030204" pitchFamily="34" charset="-120"/>
              </a:rPr>
              <a:t>Synonymy</a:t>
            </a:r>
            <a:endParaRPr lang="en-US" sz="1800" dirty="0"/>
          </a:p>
        </p:txBody>
      </p:sp>
      <p:sp>
        <p:nvSpPr>
          <p:cNvPr id="6" name="Text 3"/>
          <p:cNvSpPr txBox="1"/>
          <p:nvPr/>
        </p:nvSpPr>
        <p:spPr>
          <a:xfrm>
            <a:off x="1005840" y="1609344"/>
            <a:ext cx="4846320" cy="457200"/>
          </a:xfrm>
          <a:prstGeom prst="rect">
            <a:avLst/>
          </a:prstGeom>
          <a:noFill/>
        </p:spPr>
        <p:txBody>
          <a:bodyPr wrap="square" lIns="0" tIns="0" rIns="0" bIns="0" rtlCol="0" anchor="t"/>
          <a:lstStyle/>
          <a:p>
            <a:pPr marL="0" indent="0">
              <a:buNone/>
            </a:pPr>
            <a:r>
              <a:rPr lang="en-US" sz="1400" dirty="0">
                <a:solidFill>
                  <a:schemeClr val="tx1"/>
                </a:solidFill>
              </a:rPr>
              <a:t>"cheap" and "affordable"; "car" and "automobile". Same idea, different word.</a:t>
            </a:r>
            <a:endParaRPr lang="en-US" sz="1400" dirty="0"/>
          </a:p>
        </p:txBody>
      </p:sp>
      <p:sp>
        <p:nvSpPr>
          <p:cNvPr id="7" name="Text 4"/>
          <p:cNvSpPr txBox="1"/>
          <p:nvPr/>
        </p:nvSpPr>
        <p:spPr>
          <a:xfrm>
            <a:off x="457200" y="2103120"/>
            <a:ext cx="457200" cy="548640"/>
          </a:xfrm>
          <a:prstGeom prst="rect">
            <a:avLst/>
          </a:prstGeom>
          <a:noFill/>
        </p:spPr>
        <p:txBody>
          <a:bodyPr wrap="square" lIns="0" tIns="0" rIns="0" bIns="0" rtlCol="0" anchor="t"/>
          <a:lstStyle/>
          <a:p>
            <a:pPr marL="0" indent="0">
              <a:buNone/>
            </a:pPr>
            <a:r>
              <a:rPr lang="en-US" sz="28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2</a:t>
            </a:r>
            <a:endParaRPr lang="en-US" sz="2800" dirty="0"/>
          </a:p>
        </p:txBody>
      </p:sp>
      <p:sp>
        <p:nvSpPr>
          <p:cNvPr id="8" name="Text 5"/>
          <p:cNvSpPr txBox="1"/>
          <p:nvPr/>
        </p:nvSpPr>
        <p:spPr>
          <a:xfrm>
            <a:off x="1005840" y="2103120"/>
            <a:ext cx="4846320" cy="274320"/>
          </a:xfrm>
          <a:prstGeom prst="rect">
            <a:avLst/>
          </a:prstGeom>
          <a:noFill/>
        </p:spPr>
        <p:txBody>
          <a:bodyPr wrap="square" lIns="0" tIns="0" rIns="0" bIns="0" rtlCol="0" anchor="t"/>
          <a:lstStyle/>
          <a:p>
            <a:pPr marL="0" indent="0">
              <a:buNone/>
            </a:pPr>
            <a:r>
              <a:rPr lang="en-US" sz="1800" b="1" dirty="0">
                <a:solidFill>
                  <a:schemeClr val="tx1"/>
                </a:solidFill>
                <a:latin typeface="Cambria" panose="02040503050406030204" pitchFamily="34" charset="0"/>
                <a:ea typeface="Cambria" panose="02040503050406030204" pitchFamily="34" charset="-122"/>
                <a:cs typeface="Cambria" panose="02040503050406030204" pitchFamily="34" charset="-120"/>
              </a:rPr>
              <a:t>Polysemy</a:t>
            </a:r>
            <a:endParaRPr lang="en-US" sz="1800" dirty="0"/>
          </a:p>
        </p:txBody>
      </p:sp>
      <p:sp>
        <p:nvSpPr>
          <p:cNvPr id="9" name="Text 6"/>
          <p:cNvSpPr txBox="1"/>
          <p:nvPr/>
        </p:nvSpPr>
        <p:spPr>
          <a:xfrm>
            <a:off x="1005840" y="2432304"/>
            <a:ext cx="4846320" cy="457200"/>
          </a:xfrm>
          <a:prstGeom prst="rect">
            <a:avLst/>
          </a:prstGeom>
          <a:noFill/>
        </p:spPr>
        <p:txBody>
          <a:bodyPr wrap="square" lIns="0" tIns="0" rIns="0" bIns="0" rtlCol="0" anchor="t"/>
          <a:lstStyle/>
          <a:p>
            <a:pPr marL="0" indent="0">
              <a:buNone/>
            </a:pPr>
            <a:r>
              <a:rPr lang="en-US" sz="1400" dirty="0">
                <a:solidFill>
                  <a:schemeClr val="tx1"/>
                </a:solidFill>
              </a:rPr>
              <a:t>"apple": fruit or company? "python": snake or language? Same word, different idea.</a:t>
            </a:r>
            <a:endParaRPr lang="en-US" sz="1400" dirty="0"/>
          </a:p>
        </p:txBody>
      </p:sp>
      <p:sp>
        <p:nvSpPr>
          <p:cNvPr id="10" name="Text 7"/>
          <p:cNvSpPr txBox="1"/>
          <p:nvPr/>
        </p:nvSpPr>
        <p:spPr>
          <a:xfrm>
            <a:off x="457200" y="2926080"/>
            <a:ext cx="457200" cy="548640"/>
          </a:xfrm>
          <a:prstGeom prst="rect">
            <a:avLst/>
          </a:prstGeom>
          <a:noFill/>
        </p:spPr>
        <p:txBody>
          <a:bodyPr wrap="square" lIns="0" tIns="0" rIns="0" bIns="0" rtlCol="0" anchor="t"/>
          <a:lstStyle/>
          <a:p>
            <a:pPr marL="0" indent="0">
              <a:buNone/>
            </a:pPr>
            <a:r>
              <a:rPr lang="en-US" sz="28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3</a:t>
            </a:r>
            <a:endParaRPr lang="en-US" sz="2800" dirty="0"/>
          </a:p>
        </p:txBody>
      </p:sp>
      <p:sp>
        <p:nvSpPr>
          <p:cNvPr id="11" name="Text 8"/>
          <p:cNvSpPr txBox="1"/>
          <p:nvPr/>
        </p:nvSpPr>
        <p:spPr>
          <a:xfrm>
            <a:off x="1005840" y="2926080"/>
            <a:ext cx="4846320" cy="274320"/>
          </a:xfrm>
          <a:prstGeom prst="rect">
            <a:avLst/>
          </a:prstGeom>
          <a:noFill/>
        </p:spPr>
        <p:txBody>
          <a:bodyPr wrap="square" lIns="0" tIns="0" rIns="0" bIns="0" rtlCol="0" anchor="t"/>
          <a:lstStyle/>
          <a:p>
            <a:pPr marL="0" indent="0">
              <a:buNone/>
            </a:pPr>
            <a:r>
              <a:rPr lang="en-US" sz="1800" b="1" dirty="0">
                <a:solidFill>
                  <a:schemeClr val="tx1"/>
                </a:solidFill>
                <a:latin typeface="Cambria" panose="02040503050406030204" pitchFamily="34" charset="0"/>
                <a:ea typeface="Cambria" panose="02040503050406030204" pitchFamily="34" charset="-122"/>
                <a:cs typeface="Cambria" panose="02040503050406030204" pitchFamily="34" charset="-120"/>
              </a:rPr>
              <a:t>Paraphrase and language</a:t>
            </a:r>
            <a:endParaRPr lang="en-US" sz="1800" dirty="0"/>
          </a:p>
        </p:txBody>
      </p:sp>
      <p:sp>
        <p:nvSpPr>
          <p:cNvPr id="12" name="Text 9"/>
          <p:cNvSpPr txBox="1"/>
          <p:nvPr/>
        </p:nvSpPr>
        <p:spPr>
          <a:xfrm>
            <a:off x="1005840" y="3255264"/>
            <a:ext cx="4846320" cy="457200"/>
          </a:xfrm>
          <a:prstGeom prst="rect">
            <a:avLst/>
          </a:prstGeom>
          <a:noFill/>
        </p:spPr>
        <p:txBody>
          <a:bodyPr wrap="square" lIns="0" tIns="0" rIns="0" bIns="0" rtlCol="0" anchor="t"/>
          <a:lstStyle/>
          <a:p>
            <a:pPr marL="0" indent="0">
              <a:buNone/>
            </a:pPr>
            <a:r>
              <a:rPr lang="en-US" sz="1400" dirty="0">
                <a:solidFill>
                  <a:schemeClr val="tx1"/>
                </a:solidFill>
              </a:rPr>
              <a:t>"How do I get my money back?" versus a page titled "Refund policy". Or the same question in Arabic.</a:t>
            </a:r>
            <a:endParaRPr lang="en-US" sz="1400" dirty="0"/>
          </a:p>
        </p:txBody>
      </p:sp>
      <p:sp>
        <p:nvSpPr>
          <p:cNvPr id="13" name="Text 10"/>
          <p:cNvSpPr txBox="1"/>
          <p:nvPr/>
        </p:nvSpPr>
        <p:spPr>
          <a:xfrm>
            <a:off x="457200" y="3749040"/>
            <a:ext cx="457200" cy="548640"/>
          </a:xfrm>
          <a:prstGeom prst="rect">
            <a:avLst/>
          </a:prstGeom>
          <a:noFill/>
        </p:spPr>
        <p:txBody>
          <a:bodyPr wrap="square" lIns="0" tIns="0" rIns="0" bIns="0" rtlCol="0" anchor="t"/>
          <a:lstStyle/>
          <a:p>
            <a:pPr marL="0" indent="0">
              <a:buNone/>
            </a:pPr>
            <a:r>
              <a:rPr lang="en-US" sz="28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4</a:t>
            </a:r>
            <a:endParaRPr lang="en-US" sz="2800" dirty="0"/>
          </a:p>
        </p:txBody>
      </p:sp>
      <p:sp>
        <p:nvSpPr>
          <p:cNvPr id="14" name="Text 11"/>
          <p:cNvSpPr txBox="1"/>
          <p:nvPr/>
        </p:nvSpPr>
        <p:spPr>
          <a:xfrm>
            <a:off x="1005840" y="3749040"/>
            <a:ext cx="4846320" cy="274320"/>
          </a:xfrm>
          <a:prstGeom prst="rect">
            <a:avLst/>
          </a:prstGeom>
          <a:noFill/>
        </p:spPr>
        <p:txBody>
          <a:bodyPr wrap="square" lIns="0" tIns="0" rIns="0" bIns="0" rtlCol="0" anchor="t"/>
          <a:lstStyle/>
          <a:p>
            <a:pPr marL="0" indent="0">
              <a:buNone/>
            </a:pPr>
            <a:r>
              <a:rPr lang="en-US" sz="1800" b="1" dirty="0">
                <a:solidFill>
                  <a:schemeClr val="tx1"/>
                </a:solidFill>
                <a:latin typeface="Cambria" panose="02040503050406030204" pitchFamily="34" charset="0"/>
                <a:ea typeface="Cambria" panose="02040503050406030204" pitchFamily="34" charset="-122"/>
                <a:cs typeface="Cambria" panose="02040503050406030204" pitchFamily="34" charset="-120"/>
              </a:rPr>
              <a:t>Beyond text</a:t>
            </a:r>
            <a:endParaRPr lang="en-US" sz="1800" dirty="0"/>
          </a:p>
        </p:txBody>
      </p:sp>
      <p:sp>
        <p:nvSpPr>
          <p:cNvPr id="15" name="Text 12"/>
          <p:cNvSpPr txBox="1"/>
          <p:nvPr/>
        </p:nvSpPr>
        <p:spPr>
          <a:xfrm>
            <a:off x="1005840" y="4078224"/>
            <a:ext cx="4846320" cy="457200"/>
          </a:xfrm>
          <a:prstGeom prst="rect">
            <a:avLst/>
          </a:prstGeom>
          <a:noFill/>
        </p:spPr>
        <p:txBody>
          <a:bodyPr wrap="square" lIns="0" tIns="0" rIns="0" bIns="0" rtlCol="0" anchor="t"/>
          <a:lstStyle/>
          <a:p>
            <a:pPr marL="0" indent="0">
              <a:buNone/>
            </a:pPr>
            <a:r>
              <a:rPr lang="en-US" sz="1400" dirty="0">
                <a:solidFill>
                  <a:schemeClr val="tx1"/>
                </a:solidFill>
              </a:rPr>
              <a:t>A photo of a beach, a song, a function in code: nothing to match against.</a:t>
            </a:r>
            <a:endParaRPr lang="en-US" sz="1400" dirty="0"/>
          </a:p>
        </p:txBody>
      </p:sp>
      <p:sp>
        <p:nvSpPr>
          <p:cNvPr id="16" name="Shape 13"/>
          <p:cNvSpPr/>
          <p:nvPr/>
        </p:nvSpPr>
        <p:spPr>
          <a:xfrm>
            <a:off x="6309360" y="1280160"/>
            <a:ext cx="0" cy="3200400"/>
          </a:xfrm>
          <a:prstGeom prst="line">
            <a:avLst/>
          </a:prstGeom>
          <a:noFill/>
          <a:ln w="9525">
            <a:solidFill>
              <a:schemeClr val="accent6"/>
            </a:solidFill>
            <a:prstDash val="solid"/>
          </a:ln>
        </p:spPr>
      </p:sp>
      <p:sp>
        <p:nvSpPr>
          <p:cNvPr id="17" name="Text 14"/>
          <p:cNvSpPr txBox="1"/>
          <p:nvPr/>
        </p:nvSpPr>
        <p:spPr>
          <a:xfrm>
            <a:off x="6537960" y="1371600"/>
            <a:ext cx="2148840" cy="2103120"/>
          </a:xfrm>
          <a:prstGeom prst="rect">
            <a:avLst/>
          </a:prstGeom>
          <a:noFill/>
        </p:spPr>
        <p:txBody>
          <a:bodyPr wrap="square" lIns="0" tIns="0" rIns="0" bIns="0" rtlCol="0" anchor="t"/>
          <a:lstStyle/>
          <a:p>
            <a:pPr marL="0" indent="0">
              <a:buNone/>
            </a:pPr>
            <a:r>
              <a:rPr lang="en-US" sz="1400" i="1" dirty="0">
                <a:solidFill>
                  <a:schemeClr val="accent5"/>
                </a:solidFill>
                <a:latin typeface="Cambria" panose="02040503050406030204" pitchFamily="34" charset="0"/>
                <a:ea typeface="Cambria" panose="02040503050406030204" pitchFamily="34" charset="-122"/>
                <a:cs typeface="Cambria" panose="02040503050406030204" pitchFamily="34" charset="-120"/>
              </a:rPr>
              <a:t>Classic finding: when people name the same thing, two of them pick the same word less than 20% of the time (Furnas et al., 1987).</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5"/>
                </a:solidFill>
              </a:defRPr>
            </a:lvl1pPr>
          </a:lstStyle>
          <a:p>
            <a:pPr algn="l"/>
            <a:fld id="{F7021451-1387-4CA6-816F-3879F97B5CBC}" type="slidenum">
              <a:rPr lang="en-US" b="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320040"/>
            <a:ext cx="8229600" cy="731520"/>
          </a:xfrm>
          <a:prstGeom prst="rect">
            <a:avLst/>
          </a:prstGeom>
          <a:noFill/>
        </p:spPr>
        <p:txBody>
          <a:bodyPr wrap="square" lIns="0" tIns="0" rIns="0" bIns="0" rtlCol="0" anchor="ctr"/>
          <a:lstStyle/>
          <a:p>
            <a:pPr marL="0" indent="0" algn="l">
              <a:buNone/>
            </a:pPr>
            <a:r>
              <a:rPr lang="en-US" sz="3000" b="1" dirty="0">
                <a:solidFill>
                  <a:schemeClr val="tx1"/>
                </a:solidFill>
              </a:rPr>
              <a:t>From term vectors to vector databases</a:t>
            </a:r>
            <a:endParaRPr lang="en-US" sz="3000" dirty="0"/>
          </a:p>
        </p:txBody>
      </p:sp>
      <p:sp>
        <p:nvSpPr>
          <p:cNvPr id="4" name="Shape 1"/>
          <p:cNvSpPr/>
          <p:nvPr/>
        </p:nvSpPr>
        <p:spPr>
          <a:xfrm>
            <a:off x="457200" y="2697480"/>
            <a:ext cx="8229600" cy="0"/>
          </a:xfrm>
          <a:prstGeom prst="line">
            <a:avLst/>
          </a:prstGeom>
          <a:noFill/>
          <a:ln w="15875">
            <a:solidFill>
              <a:srgbClr val="1B2A41"/>
            </a:solidFill>
            <a:prstDash val="solid"/>
          </a:ln>
        </p:spPr>
      </p:sp>
      <p:sp>
        <p:nvSpPr>
          <p:cNvPr id="5" name="Text 2"/>
          <p:cNvSpPr txBox="1"/>
          <p:nvPr/>
        </p:nvSpPr>
        <p:spPr>
          <a:xfrm>
            <a:off x="502920" y="1920240"/>
            <a:ext cx="1554480" cy="457200"/>
          </a:xfrm>
          <a:prstGeom prst="rect">
            <a:avLst/>
          </a:prstGeom>
          <a:noFill/>
        </p:spPr>
        <p:txBody>
          <a:bodyPr wrap="square" lIns="0" tIns="0" rIns="0" bIns="0" rtlCol="0" anchor="t"/>
          <a:lstStyle/>
          <a:p>
            <a:pPr marL="0" indent="0" algn="ctr">
              <a:buNone/>
            </a:pPr>
            <a:r>
              <a:rPr lang="en-US" sz="2400" b="1" dirty="0">
                <a:solidFill>
                  <a:schemeClr val="tx1"/>
                </a:solidFill>
                <a:latin typeface="Cambria" panose="02040503050406030204" pitchFamily="34" charset="0"/>
                <a:ea typeface="Cambria" panose="02040503050406030204" pitchFamily="34" charset="-122"/>
                <a:cs typeface="Cambria" panose="02040503050406030204" pitchFamily="34" charset="-120"/>
              </a:rPr>
              <a:t>1975</a:t>
            </a:r>
            <a:endParaRPr lang="en-US" sz="2400" dirty="0"/>
          </a:p>
        </p:txBody>
      </p:sp>
      <p:sp>
        <p:nvSpPr>
          <p:cNvPr id="6" name="Shape 3"/>
          <p:cNvSpPr/>
          <p:nvPr/>
        </p:nvSpPr>
        <p:spPr>
          <a:xfrm>
            <a:off x="1197864" y="2615184"/>
            <a:ext cx="164592" cy="164592"/>
          </a:xfrm>
          <a:prstGeom prst="ellipse">
            <a:avLst/>
          </a:prstGeom>
          <a:solidFill>
            <a:srgbClr val="1B2A41"/>
          </a:solidFill>
          <a:ln w="12700">
            <a:solidFill>
              <a:srgbClr val="1B2A41"/>
            </a:solidFill>
            <a:prstDash val="solid"/>
          </a:ln>
        </p:spPr>
      </p:sp>
      <p:sp>
        <p:nvSpPr>
          <p:cNvPr id="7" name="Text 4"/>
          <p:cNvSpPr txBox="1"/>
          <p:nvPr/>
        </p:nvSpPr>
        <p:spPr>
          <a:xfrm>
            <a:off x="502920" y="2971800"/>
            <a:ext cx="1554480" cy="502920"/>
          </a:xfrm>
          <a:prstGeom prst="rect">
            <a:avLst/>
          </a:prstGeom>
          <a:noFill/>
        </p:spPr>
        <p:txBody>
          <a:bodyPr wrap="square" lIns="0" tIns="0" rIns="0" bIns="0" rtlCol="0" anchor="t"/>
          <a:lstStyle/>
          <a:p>
            <a:pPr marL="0" indent="0" algn="ctr">
              <a:buNone/>
            </a:pPr>
            <a:r>
              <a:rPr lang="en-US" sz="1400" b="1" dirty="0">
                <a:solidFill>
                  <a:schemeClr val="tx1"/>
                </a:solidFill>
              </a:rPr>
              <a:t>Vector space model</a:t>
            </a:r>
            <a:endParaRPr lang="en-US" sz="1400" dirty="0"/>
          </a:p>
        </p:txBody>
      </p:sp>
      <p:sp>
        <p:nvSpPr>
          <p:cNvPr id="8" name="Text 5"/>
          <p:cNvSpPr txBox="1"/>
          <p:nvPr/>
        </p:nvSpPr>
        <p:spPr>
          <a:xfrm>
            <a:off x="502920" y="3520440"/>
            <a:ext cx="1554480" cy="914400"/>
          </a:xfrm>
          <a:prstGeom prst="rect">
            <a:avLst/>
          </a:prstGeom>
          <a:noFill/>
        </p:spPr>
        <p:txBody>
          <a:bodyPr wrap="square" lIns="0" tIns="0" rIns="0" bIns="0" rtlCol="0" anchor="t"/>
          <a:lstStyle/>
          <a:p>
            <a:pPr marL="0" indent="0" algn="ctr">
              <a:buNone/>
            </a:pPr>
            <a:r>
              <a:rPr lang="en-US" sz="1200" dirty="0">
                <a:solidFill>
                  <a:schemeClr val="accent5"/>
                </a:solidFill>
              </a:rPr>
              <a:t>Salton: documents as vectors of term weights.</a:t>
            </a:r>
            <a:endParaRPr lang="en-US" sz="1200" dirty="0"/>
          </a:p>
        </p:txBody>
      </p:sp>
      <p:sp>
        <p:nvSpPr>
          <p:cNvPr id="9" name="Text 6"/>
          <p:cNvSpPr txBox="1"/>
          <p:nvPr/>
        </p:nvSpPr>
        <p:spPr>
          <a:xfrm>
            <a:off x="2148840" y="1920240"/>
            <a:ext cx="1554480" cy="457200"/>
          </a:xfrm>
          <a:prstGeom prst="rect">
            <a:avLst/>
          </a:prstGeom>
          <a:noFill/>
        </p:spPr>
        <p:txBody>
          <a:bodyPr wrap="square" lIns="0" tIns="0" rIns="0" bIns="0" rtlCol="0" anchor="t"/>
          <a:lstStyle/>
          <a:p>
            <a:pPr marL="0" indent="0" algn="ctr">
              <a:buNone/>
            </a:pPr>
            <a:r>
              <a:rPr lang="en-US" sz="2400" b="1" dirty="0">
                <a:solidFill>
                  <a:schemeClr val="tx1"/>
                </a:solidFill>
                <a:latin typeface="Cambria" panose="02040503050406030204" pitchFamily="34" charset="0"/>
                <a:ea typeface="Cambria" panose="02040503050406030204" pitchFamily="34" charset="-122"/>
                <a:cs typeface="Cambria" panose="02040503050406030204" pitchFamily="34" charset="-120"/>
              </a:rPr>
              <a:t>1990</a:t>
            </a:r>
            <a:endParaRPr lang="en-US" sz="2400" dirty="0"/>
          </a:p>
        </p:txBody>
      </p:sp>
      <p:sp>
        <p:nvSpPr>
          <p:cNvPr id="10" name="Shape 7"/>
          <p:cNvSpPr/>
          <p:nvPr/>
        </p:nvSpPr>
        <p:spPr>
          <a:xfrm>
            <a:off x="2843784" y="2615184"/>
            <a:ext cx="164592" cy="164592"/>
          </a:xfrm>
          <a:prstGeom prst="ellipse">
            <a:avLst/>
          </a:prstGeom>
          <a:solidFill>
            <a:srgbClr val="1B2A41"/>
          </a:solidFill>
          <a:ln w="12700">
            <a:solidFill>
              <a:srgbClr val="1B2A41"/>
            </a:solidFill>
            <a:prstDash val="solid"/>
          </a:ln>
        </p:spPr>
      </p:sp>
      <p:sp>
        <p:nvSpPr>
          <p:cNvPr id="11" name="Text 8"/>
          <p:cNvSpPr txBox="1"/>
          <p:nvPr/>
        </p:nvSpPr>
        <p:spPr>
          <a:xfrm>
            <a:off x="2148840" y="2971800"/>
            <a:ext cx="1554480" cy="502920"/>
          </a:xfrm>
          <a:prstGeom prst="rect">
            <a:avLst/>
          </a:prstGeom>
          <a:noFill/>
        </p:spPr>
        <p:txBody>
          <a:bodyPr wrap="square" lIns="0" tIns="0" rIns="0" bIns="0" rtlCol="0" anchor="t"/>
          <a:lstStyle/>
          <a:p>
            <a:pPr marL="0" indent="0" algn="ctr">
              <a:buNone/>
            </a:pPr>
            <a:r>
              <a:rPr lang="en-US" sz="1400" b="1" dirty="0">
                <a:solidFill>
                  <a:schemeClr val="tx1"/>
                </a:solidFill>
              </a:rPr>
              <a:t>Latent semantic analysis</a:t>
            </a:r>
            <a:endParaRPr lang="en-US" sz="1400" dirty="0"/>
          </a:p>
        </p:txBody>
      </p:sp>
      <p:sp>
        <p:nvSpPr>
          <p:cNvPr id="12" name="Text 9"/>
          <p:cNvSpPr txBox="1"/>
          <p:nvPr/>
        </p:nvSpPr>
        <p:spPr>
          <a:xfrm>
            <a:off x="2148840" y="3520440"/>
            <a:ext cx="1554480" cy="914400"/>
          </a:xfrm>
          <a:prstGeom prst="rect">
            <a:avLst/>
          </a:prstGeom>
          <a:noFill/>
        </p:spPr>
        <p:txBody>
          <a:bodyPr wrap="square" lIns="0" tIns="0" rIns="0" bIns="0" rtlCol="0" anchor="t"/>
          <a:lstStyle/>
          <a:p>
            <a:pPr marL="0" indent="0" algn="ctr">
              <a:buNone/>
            </a:pPr>
            <a:r>
              <a:rPr lang="en-US" sz="1200" dirty="0">
                <a:solidFill>
                  <a:schemeClr val="accent5"/>
                </a:solidFill>
              </a:rPr>
              <a:t>Meaning inferred from word co-occurrence.</a:t>
            </a:r>
            <a:endParaRPr lang="en-US" sz="1200" dirty="0"/>
          </a:p>
        </p:txBody>
      </p:sp>
      <p:sp>
        <p:nvSpPr>
          <p:cNvPr id="13" name="Text 10"/>
          <p:cNvSpPr txBox="1"/>
          <p:nvPr/>
        </p:nvSpPr>
        <p:spPr>
          <a:xfrm>
            <a:off x="3794760" y="1920240"/>
            <a:ext cx="1554480" cy="457200"/>
          </a:xfrm>
          <a:prstGeom prst="rect">
            <a:avLst/>
          </a:prstGeom>
          <a:noFill/>
        </p:spPr>
        <p:txBody>
          <a:bodyPr wrap="square" lIns="0" tIns="0" rIns="0" bIns="0" rtlCol="0" anchor="t"/>
          <a:lstStyle/>
          <a:p>
            <a:pPr marL="0" indent="0" algn="ctr">
              <a:buNone/>
            </a:pPr>
            <a:r>
              <a:rPr lang="en-US" sz="2400" b="1" dirty="0">
                <a:solidFill>
                  <a:schemeClr val="tx1"/>
                </a:solidFill>
                <a:latin typeface="Cambria" panose="02040503050406030204" pitchFamily="34" charset="0"/>
                <a:ea typeface="Cambria" panose="02040503050406030204" pitchFamily="34" charset="-122"/>
                <a:cs typeface="Cambria" panose="02040503050406030204" pitchFamily="34" charset="-120"/>
              </a:rPr>
              <a:t>2013</a:t>
            </a:r>
            <a:endParaRPr lang="en-US" sz="2400" dirty="0"/>
          </a:p>
        </p:txBody>
      </p:sp>
      <p:sp>
        <p:nvSpPr>
          <p:cNvPr id="14" name="Shape 11"/>
          <p:cNvSpPr/>
          <p:nvPr/>
        </p:nvSpPr>
        <p:spPr>
          <a:xfrm>
            <a:off x="4489704" y="2615184"/>
            <a:ext cx="164592" cy="164592"/>
          </a:xfrm>
          <a:prstGeom prst="ellipse">
            <a:avLst/>
          </a:prstGeom>
          <a:solidFill>
            <a:srgbClr val="1B2A41"/>
          </a:solidFill>
          <a:ln w="12700">
            <a:solidFill>
              <a:srgbClr val="1B2A41"/>
            </a:solidFill>
            <a:prstDash val="solid"/>
          </a:ln>
        </p:spPr>
      </p:sp>
      <p:sp>
        <p:nvSpPr>
          <p:cNvPr id="15" name="Text 12"/>
          <p:cNvSpPr txBox="1"/>
          <p:nvPr/>
        </p:nvSpPr>
        <p:spPr>
          <a:xfrm>
            <a:off x="3794760" y="2971800"/>
            <a:ext cx="1554480" cy="502920"/>
          </a:xfrm>
          <a:prstGeom prst="rect">
            <a:avLst/>
          </a:prstGeom>
          <a:noFill/>
        </p:spPr>
        <p:txBody>
          <a:bodyPr wrap="square" lIns="0" tIns="0" rIns="0" bIns="0" rtlCol="0" anchor="t"/>
          <a:lstStyle/>
          <a:p>
            <a:pPr marL="0" indent="0" algn="ctr">
              <a:buNone/>
            </a:pPr>
            <a:r>
              <a:rPr lang="en-US" sz="1400" b="1" dirty="0">
                <a:solidFill>
                  <a:schemeClr val="tx1"/>
                </a:solidFill>
              </a:rPr>
              <a:t>word2vec</a:t>
            </a:r>
            <a:endParaRPr lang="en-US" sz="1400" dirty="0"/>
          </a:p>
        </p:txBody>
      </p:sp>
      <p:sp>
        <p:nvSpPr>
          <p:cNvPr id="16" name="Text 13"/>
          <p:cNvSpPr txBox="1"/>
          <p:nvPr/>
        </p:nvSpPr>
        <p:spPr>
          <a:xfrm>
            <a:off x="3794760" y="3520440"/>
            <a:ext cx="1554480" cy="914400"/>
          </a:xfrm>
          <a:prstGeom prst="rect">
            <a:avLst/>
          </a:prstGeom>
          <a:noFill/>
        </p:spPr>
        <p:txBody>
          <a:bodyPr wrap="square" lIns="0" tIns="0" rIns="0" bIns="0" rtlCol="0" anchor="t"/>
          <a:lstStyle/>
          <a:p>
            <a:pPr marL="0" indent="0" algn="ctr">
              <a:buNone/>
            </a:pPr>
            <a:r>
              <a:rPr lang="en-US" sz="1200" dirty="0">
                <a:solidFill>
                  <a:schemeClr val="accent5"/>
                </a:solidFill>
              </a:rPr>
              <a:t>Dense word vectors learned from raw text.</a:t>
            </a:r>
            <a:endParaRPr lang="en-US" sz="1200" dirty="0"/>
          </a:p>
        </p:txBody>
      </p:sp>
      <p:sp>
        <p:nvSpPr>
          <p:cNvPr id="17" name="Text 14"/>
          <p:cNvSpPr txBox="1"/>
          <p:nvPr/>
        </p:nvSpPr>
        <p:spPr>
          <a:xfrm>
            <a:off x="5440680" y="1920240"/>
            <a:ext cx="1554480" cy="457200"/>
          </a:xfrm>
          <a:prstGeom prst="rect">
            <a:avLst/>
          </a:prstGeom>
          <a:noFill/>
        </p:spPr>
        <p:txBody>
          <a:bodyPr wrap="square" lIns="0" tIns="0" rIns="0" bIns="0" rtlCol="0" anchor="t"/>
          <a:lstStyle/>
          <a:p>
            <a:pPr marL="0" indent="0" algn="ctr">
              <a:buNone/>
            </a:pPr>
            <a:r>
              <a:rPr lang="en-US" sz="2400" b="1" dirty="0">
                <a:solidFill>
                  <a:schemeClr val="tx1"/>
                </a:solidFill>
                <a:latin typeface="Cambria" panose="02040503050406030204" pitchFamily="34" charset="0"/>
                <a:ea typeface="Cambria" panose="02040503050406030204" pitchFamily="34" charset="-122"/>
                <a:cs typeface="Cambria" panose="02040503050406030204" pitchFamily="34" charset="-120"/>
              </a:rPr>
              <a:t>2018-19</a:t>
            </a:r>
            <a:endParaRPr lang="en-US" sz="2400" dirty="0"/>
          </a:p>
        </p:txBody>
      </p:sp>
      <p:sp>
        <p:nvSpPr>
          <p:cNvPr id="18" name="Shape 15"/>
          <p:cNvSpPr/>
          <p:nvPr/>
        </p:nvSpPr>
        <p:spPr>
          <a:xfrm>
            <a:off x="6135624" y="2615184"/>
            <a:ext cx="164592" cy="164592"/>
          </a:xfrm>
          <a:prstGeom prst="ellipse">
            <a:avLst/>
          </a:prstGeom>
          <a:solidFill>
            <a:srgbClr val="1B2A41"/>
          </a:solidFill>
          <a:ln w="12700">
            <a:solidFill>
              <a:srgbClr val="1B2A41"/>
            </a:solidFill>
            <a:prstDash val="solid"/>
          </a:ln>
        </p:spPr>
      </p:sp>
      <p:sp>
        <p:nvSpPr>
          <p:cNvPr id="19" name="Text 16"/>
          <p:cNvSpPr txBox="1"/>
          <p:nvPr/>
        </p:nvSpPr>
        <p:spPr>
          <a:xfrm>
            <a:off x="5440680" y="2971800"/>
            <a:ext cx="1554480" cy="502920"/>
          </a:xfrm>
          <a:prstGeom prst="rect">
            <a:avLst/>
          </a:prstGeom>
          <a:noFill/>
        </p:spPr>
        <p:txBody>
          <a:bodyPr wrap="square" lIns="0" tIns="0" rIns="0" bIns="0" rtlCol="0" anchor="t"/>
          <a:lstStyle/>
          <a:p>
            <a:pPr marL="0" indent="0" algn="ctr">
              <a:buNone/>
            </a:pPr>
            <a:r>
              <a:rPr lang="en-US" sz="1400" b="1" dirty="0">
                <a:solidFill>
                  <a:schemeClr val="tx1"/>
                </a:solidFill>
              </a:rPr>
              <a:t>BERT, Sentence-BERT</a:t>
            </a:r>
            <a:endParaRPr lang="en-US" sz="1400" dirty="0"/>
          </a:p>
        </p:txBody>
      </p:sp>
      <p:sp>
        <p:nvSpPr>
          <p:cNvPr id="20" name="Text 17"/>
          <p:cNvSpPr txBox="1"/>
          <p:nvPr/>
        </p:nvSpPr>
        <p:spPr>
          <a:xfrm>
            <a:off x="5440680" y="3520440"/>
            <a:ext cx="1554480" cy="914400"/>
          </a:xfrm>
          <a:prstGeom prst="rect">
            <a:avLst/>
          </a:prstGeom>
          <a:noFill/>
        </p:spPr>
        <p:txBody>
          <a:bodyPr wrap="square" lIns="0" tIns="0" rIns="0" bIns="0" rtlCol="0" anchor="t"/>
          <a:lstStyle/>
          <a:p>
            <a:pPr marL="0" indent="0" algn="ctr">
              <a:buNone/>
            </a:pPr>
            <a:r>
              <a:rPr lang="en-US" sz="1200" dirty="0">
                <a:solidFill>
                  <a:schemeClr val="accent5"/>
                </a:solidFill>
              </a:rPr>
              <a:t>Sentence embeddings you can compare directly.</a:t>
            </a:r>
            <a:endParaRPr lang="en-US" sz="1200" dirty="0"/>
          </a:p>
        </p:txBody>
      </p:sp>
      <p:sp>
        <p:nvSpPr>
          <p:cNvPr id="21" name="Text 18"/>
          <p:cNvSpPr txBox="1"/>
          <p:nvPr/>
        </p:nvSpPr>
        <p:spPr>
          <a:xfrm>
            <a:off x="7086600" y="1920240"/>
            <a:ext cx="1554480" cy="457200"/>
          </a:xfrm>
          <a:prstGeom prst="rect">
            <a:avLst/>
          </a:prstGeom>
          <a:noFill/>
        </p:spPr>
        <p:txBody>
          <a:bodyPr wrap="square" lIns="0" tIns="0" rIns="0" bIns="0" rtlCol="0" anchor="t"/>
          <a:lstStyle/>
          <a:p>
            <a:pPr marL="0" indent="0" algn="ctr">
              <a:buNone/>
            </a:pPr>
            <a:r>
              <a:rPr lang="en-US" sz="24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2020s</a:t>
            </a:r>
            <a:endParaRPr lang="en-US" sz="2400" dirty="0"/>
          </a:p>
        </p:txBody>
      </p:sp>
      <p:sp>
        <p:nvSpPr>
          <p:cNvPr id="22" name="Shape 19"/>
          <p:cNvSpPr/>
          <p:nvPr/>
        </p:nvSpPr>
        <p:spPr>
          <a:xfrm>
            <a:off x="7781544" y="2615184"/>
            <a:ext cx="164592" cy="164592"/>
          </a:xfrm>
          <a:prstGeom prst="ellipse">
            <a:avLst/>
          </a:prstGeom>
          <a:solidFill>
            <a:srgbClr val="B5432A"/>
          </a:solidFill>
          <a:ln w="12700">
            <a:solidFill>
              <a:srgbClr val="B5432A"/>
            </a:solidFill>
            <a:prstDash val="solid"/>
          </a:ln>
        </p:spPr>
      </p:sp>
      <p:sp>
        <p:nvSpPr>
          <p:cNvPr id="23" name="Text 20"/>
          <p:cNvSpPr txBox="1"/>
          <p:nvPr/>
        </p:nvSpPr>
        <p:spPr>
          <a:xfrm>
            <a:off x="7086600" y="2971800"/>
            <a:ext cx="1554480" cy="502920"/>
          </a:xfrm>
          <a:prstGeom prst="rect">
            <a:avLst/>
          </a:prstGeom>
          <a:noFill/>
        </p:spPr>
        <p:txBody>
          <a:bodyPr wrap="square" lIns="0" tIns="0" rIns="0" bIns="0" rtlCol="0" anchor="t"/>
          <a:lstStyle/>
          <a:p>
            <a:pPr marL="0" indent="0" algn="ctr">
              <a:buNone/>
            </a:pPr>
            <a:r>
              <a:rPr lang="en-US" sz="1400" b="1" dirty="0">
                <a:solidFill>
                  <a:schemeClr val="tx1"/>
                </a:solidFill>
              </a:rPr>
              <a:t>RAG and vector DBs</a:t>
            </a:r>
            <a:endParaRPr lang="en-US" sz="1400" dirty="0"/>
          </a:p>
        </p:txBody>
      </p:sp>
      <p:sp>
        <p:nvSpPr>
          <p:cNvPr id="24" name="Text 21"/>
          <p:cNvSpPr txBox="1"/>
          <p:nvPr/>
        </p:nvSpPr>
        <p:spPr>
          <a:xfrm>
            <a:off x="7086600" y="3520440"/>
            <a:ext cx="1554480" cy="914400"/>
          </a:xfrm>
          <a:prstGeom prst="rect">
            <a:avLst/>
          </a:prstGeom>
          <a:noFill/>
        </p:spPr>
        <p:txBody>
          <a:bodyPr wrap="square" lIns="0" tIns="0" rIns="0" bIns="0" rtlCol="0" anchor="t"/>
          <a:lstStyle/>
          <a:p>
            <a:pPr marL="0" indent="0" algn="ctr">
              <a:buNone/>
            </a:pPr>
            <a:r>
              <a:rPr lang="en-US" sz="1200" dirty="0">
                <a:solidFill>
                  <a:schemeClr val="accent5"/>
                </a:solidFill>
              </a:rPr>
              <a:t>LLMs need retrieval; scale needs indexes.</a:t>
            </a:r>
            <a:endParaRPr lang="en-US" sz="1200" dirty="0"/>
          </a:p>
        </p:txBody>
      </p:sp>
      <p:sp>
        <p:nvSpPr>
          <p:cNvPr id="25"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5"/>
                </a:solidFill>
              </a:defRPr>
            </a:lvl1pPr>
          </a:lstStyle>
          <a:p>
            <a:pPr algn="l"/>
            <a:fld id="{F7021451-1387-4CA6-816F-3879F97B5CBC}" type="slidenum">
              <a:rPr lang="en-US" b="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320040"/>
            <a:ext cx="8229600" cy="731520"/>
          </a:xfrm>
          <a:prstGeom prst="rect">
            <a:avLst/>
          </a:prstGeom>
          <a:noFill/>
        </p:spPr>
        <p:txBody>
          <a:bodyPr wrap="square" lIns="0" tIns="0" rIns="0" bIns="0" rtlCol="0" anchor="ctr"/>
          <a:lstStyle/>
          <a:p>
            <a:pPr marL="0" indent="0" algn="l">
              <a:buNone/>
            </a:pPr>
            <a:r>
              <a:rPr lang="en-US" sz="3000" b="1" dirty="0">
                <a:solidFill>
                  <a:schemeClr val="tx1"/>
                </a:solidFill>
              </a:rPr>
              <a:t>Meaning as geometry</a:t>
            </a:r>
            <a:endParaRPr lang="en-US" sz="3000" dirty="0"/>
          </a:p>
        </p:txBody>
      </p:sp>
      <p:sp>
        <p:nvSpPr>
          <p:cNvPr id="4" name="Shape 1"/>
          <p:cNvSpPr/>
          <p:nvPr/>
        </p:nvSpPr>
        <p:spPr>
          <a:xfrm>
            <a:off x="457200" y="1280160"/>
            <a:ext cx="5486400" cy="3291840"/>
          </a:xfrm>
          <a:prstGeom prst="rect">
            <a:avLst/>
          </a:prstGeom>
          <a:solidFill>
            <a:schemeClr val="bg1"/>
          </a:solidFill>
          <a:ln w="12700">
            <a:solidFill>
              <a:schemeClr val="accent6"/>
            </a:solidFill>
            <a:prstDash val="solid"/>
          </a:ln>
        </p:spPr>
      </p:sp>
      <p:sp>
        <p:nvSpPr>
          <p:cNvPr id="5" name="Shape 2"/>
          <p:cNvSpPr/>
          <p:nvPr/>
        </p:nvSpPr>
        <p:spPr>
          <a:xfrm>
            <a:off x="1280160" y="2011680"/>
            <a:ext cx="1737360" cy="1737360"/>
          </a:xfrm>
          <a:prstGeom prst="ellipse">
            <a:avLst/>
          </a:prstGeom>
          <a:solidFill>
            <a:srgbClr val="FFFFFF">
              <a:alpha val="0"/>
            </a:srgbClr>
          </a:solidFill>
          <a:ln w="15875">
            <a:solidFill>
              <a:srgbClr val="B5432A"/>
            </a:solidFill>
            <a:prstDash val="dash"/>
          </a:ln>
        </p:spPr>
      </p:sp>
      <p:sp>
        <p:nvSpPr>
          <p:cNvPr id="6" name="Shape 3"/>
          <p:cNvSpPr/>
          <p:nvPr/>
        </p:nvSpPr>
        <p:spPr>
          <a:xfrm>
            <a:off x="914400" y="1517904"/>
            <a:ext cx="91440" cy="91440"/>
          </a:xfrm>
          <a:prstGeom prst="ellipse">
            <a:avLst/>
          </a:prstGeom>
          <a:solidFill>
            <a:srgbClr val="1B2A41"/>
          </a:solidFill>
          <a:ln w="12700">
            <a:solidFill>
              <a:srgbClr val="1B2A41"/>
            </a:solidFill>
            <a:prstDash val="solid"/>
          </a:ln>
        </p:spPr>
      </p:sp>
      <p:sp>
        <p:nvSpPr>
          <p:cNvPr id="7" name="Text 4"/>
          <p:cNvSpPr txBox="1"/>
          <p:nvPr/>
        </p:nvSpPr>
        <p:spPr>
          <a:xfrm>
            <a:off x="1069848" y="1463040"/>
            <a:ext cx="1188720" cy="228600"/>
          </a:xfrm>
          <a:prstGeom prst="rect">
            <a:avLst/>
          </a:prstGeom>
          <a:noFill/>
        </p:spPr>
        <p:txBody>
          <a:bodyPr wrap="square" lIns="0" tIns="0" rIns="0" bIns="0" rtlCol="0" anchor="t"/>
          <a:lstStyle/>
          <a:p>
            <a:pPr marL="0" indent="0">
              <a:buNone/>
            </a:pPr>
            <a:r>
              <a:rPr lang="en-US" sz="1400" i="1" dirty="0">
                <a:solidFill>
                  <a:srgbClr val="1B2A41"/>
                </a:solidFill>
                <a:latin typeface="Cambria" panose="02040503050406030204" pitchFamily="34" charset="0"/>
                <a:ea typeface="Cambria" panose="02040503050406030204" pitchFamily="34" charset="-122"/>
                <a:cs typeface="Cambria" panose="02040503050406030204" pitchFamily="34" charset="-120"/>
              </a:rPr>
              <a:t>cat</a:t>
            </a:r>
            <a:endParaRPr lang="en-US" sz="1400" dirty="0"/>
          </a:p>
        </p:txBody>
      </p:sp>
      <p:sp>
        <p:nvSpPr>
          <p:cNvPr id="8" name="Shape 5"/>
          <p:cNvSpPr/>
          <p:nvPr/>
        </p:nvSpPr>
        <p:spPr>
          <a:xfrm>
            <a:off x="1920240" y="2203704"/>
            <a:ext cx="91440" cy="91440"/>
          </a:xfrm>
          <a:prstGeom prst="ellipse">
            <a:avLst/>
          </a:prstGeom>
          <a:solidFill>
            <a:srgbClr val="1B2A41"/>
          </a:solidFill>
          <a:ln w="12700">
            <a:solidFill>
              <a:srgbClr val="1B2A41"/>
            </a:solidFill>
            <a:prstDash val="solid"/>
          </a:ln>
        </p:spPr>
      </p:sp>
      <p:sp>
        <p:nvSpPr>
          <p:cNvPr id="9" name="Text 6"/>
          <p:cNvSpPr txBox="1"/>
          <p:nvPr/>
        </p:nvSpPr>
        <p:spPr>
          <a:xfrm>
            <a:off x="2075688" y="2148840"/>
            <a:ext cx="1188720" cy="228600"/>
          </a:xfrm>
          <a:prstGeom prst="rect">
            <a:avLst/>
          </a:prstGeom>
          <a:noFill/>
        </p:spPr>
        <p:txBody>
          <a:bodyPr wrap="square" lIns="0" tIns="0" rIns="0" bIns="0" rtlCol="0" anchor="t"/>
          <a:lstStyle/>
          <a:p>
            <a:pPr marL="0" indent="0">
              <a:buNone/>
            </a:pPr>
            <a:r>
              <a:rPr lang="en-US" sz="1400" i="1" dirty="0">
                <a:solidFill>
                  <a:srgbClr val="1B2A41"/>
                </a:solidFill>
                <a:latin typeface="Cambria" panose="02040503050406030204" pitchFamily="34" charset="0"/>
                <a:ea typeface="Cambria" panose="02040503050406030204" pitchFamily="34" charset="-122"/>
                <a:cs typeface="Cambria" panose="02040503050406030204" pitchFamily="34" charset="-120"/>
              </a:rPr>
              <a:t>kitten</a:t>
            </a:r>
            <a:endParaRPr lang="en-US" sz="1400" dirty="0"/>
          </a:p>
        </p:txBody>
      </p:sp>
      <p:sp>
        <p:nvSpPr>
          <p:cNvPr id="10" name="Shape 7"/>
          <p:cNvSpPr/>
          <p:nvPr/>
        </p:nvSpPr>
        <p:spPr>
          <a:xfrm>
            <a:off x="1371600" y="3026664"/>
            <a:ext cx="91440" cy="91440"/>
          </a:xfrm>
          <a:prstGeom prst="ellipse">
            <a:avLst/>
          </a:prstGeom>
          <a:solidFill>
            <a:srgbClr val="1B2A41"/>
          </a:solidFill>
          <a:ln w="12700">
            <a:solidFill>
              <a:srgbClr val="1B2A41"/>
            </a:solidFill>
            <a:prstDash val="solid"/>
          </a:ln>
        </p:spPr>
      </p:sp>
      <p:sp>
        <p:nvSpPr>
          <p:cNvPr id="11" name="Text 8"/>
          <p:cNvSpPr txBox="1"/>
          <p:nvPr/>
        </p:nvSpPr>
        <p:spPr>
          <a:xfrm>
            <a:off x="1527048" y="2971800"/>
            <a:ext cx="1188720" cy="228600"/>
          </a:xfrm>
          <a:prstGeom prst="rect">
            <a:avLst/>
          </a:prstGeom>
          <a:noFill/>
        </p:spPr>
        <p:txBody>
          <a:bodyPr wrap="square" lIns="0" tIns="0" rIns="0" bIns="0" rtlCol="0" anchor="t"/>
          <a:lstStyle/>
          <a:p>
            <a:pPr marL="0" indent="0">
              <a:buNone/>
            </a:pPr>
            <a:r>
              <a:rPr lang="en-US" sz="1400" i="1" dirty="0">
                <a:solidFill>
                  <a:srgbClr val="1B2A41"/>
                </a:solidFill>
                <a:latin typeface="Cambria" panose="02040503050406030204" pitchFamily="34" charset="0"/>
                <a:ea typeface="Cambria" panose="02040503050406030204" pitchFamily="34" charset="-122"/>
                <a:cs typeface="Cambria" panose="02040503050406030204" pitchFamily="34" charset="-120"/>
              </a:rPr>
              <a:t>dog</a:t>
            </a:r>
            <a:endParaRPr lang="en-US" sz="1400" dirty="0"/>
          </a:p>
        </p:txBody>
      </p:sp>
      <p:sp>
        <p:nvSpPr>
          <p:cNvPr id="12" name="Shape 9"/>
          <p:cNvSpPr/>
          <p:nvPr/>
        </p:nvSpPr>
        <p:spPr>
          <a:xfrm>
            <a:off x="4023360" y="3712464"/>
            <a:ext cx="91440" cy="91440"/>
          </a:xfrm>
          <a:prstGeom prst="ellipse">
            <a:avLst/>
          </a:prstGeom>
          <a:solidFill>
            <a:srgbClr val="2F5D8A"/>
          </a:solidFill>
          <a:ln w="12700">
            <a:solidFill>
              <a:srgbClr val="2F5D8A"/>
            </a:solidFill>
            <a:prstDash val="solid"/>
          </a:ln>
        </p:spPr>
      </p:sp>
      <p:sp>
        <p:nvSpPr>
          <p:cNvPr id="13" name="Text 10"/>
          <p:cNvSpPr txBox="1"/>
          <p:nvPr/>
        </p:nvSpPr>
        <p:spPr>
          <a:xfrm>
            <a:off x="4178808" y="3657600"/>
            <a:ext cx="1188720" cy="228600"/>
          </a:xfrm>
          <a:prstGeom prst="rect">
            <a:avLst/>
          </a:prstGeom>
          <a:noFill/>
        </p:spPr>
        <p:txBody>
          <a:bodyPr wrap="square" lIns="0" tIns="0" rIns="0" bIns="0" rtlCol="0" anchor="t"/>
          <a:lstStyle/>
          <a:p>
            <a:pPr marL="0" indent="0">
              <a:buNone/>
            </a:pPr>
            <a:r>
              <a:rPr lang="en-US" sz="1400" i="1" dirty="0">
                <a:solidFill>
                  <a:srgbClr val="2F5D8A"/>
                </a:solidFill>
                <a:latin typeface="Cambria" panose="02040503050406030204" pitchFamily="34" charset="0"/>
                <a:ea typeface="Cambria" panose="02040503050406030204" pitchFamily="34" charset="-122"/>
                <a:cs typeface="Cambria" panose="02040503050406030204" pitchFamily="34" charset="-120"/>
              </a:rPr>
              <a:t>car</a:t>
            </a:r>
            <a:endParaRPr lang="en-US" sz="1400" dirty="0"/>
          </a:p>
        </p:txBody>
      </p:sp>
      <p:sp>
        <p:nvSpPr>
          <p:cNvPr id="14" name="Shape 11"/>
          <p:cNvSpPr/>
          <p:nvPr/>
        </p:nvSpPr>
        <p:spPr>
          <a:xfrm>
            <a:off x="4572000" y="3163824"/>
            <a:ext cx="91440" cy="91440"/>
          </a:xfrm>
          <a:prstGeom prst="ellipse">
            <a:avLst/>
          </a:prstGeom>
          <a:solidFill>
            <a:srgbClr val="2F5D8A"/>
          </a:solidFill>
          <a:ln w="12700">
            <a:solidFill>
              <a:srgbClr val="2F5D8A"/>
            </a:solidFill>
            <a:prstDash val="solid"/>
          </a:ln>
        </p:spPr>
      </p:sp>
      <p:sp>
        <p:nvSpPr>
          <p:cNvPr id="15" name="Text 12"/>
          <p:cNvSpPr txBox="1"/>
          <p:nvPr/>
        </p:nvSpPr>
        <p:spPr>
          <a:xfrm>
            <a:off x="4727448" y="3108960"/>
            <a:ext cx="1188720" cy="228600"/>
          </a:xfrm>
          <a:prstGeom prst="rect">
            <a:avLst/>
          </a:prstGeom>
          <a:noFill/>
        </p:spPr>
        <p:txBody>
          <a:bodyPr wrap="square" lIns="0" tIns="0" rIns="0" bIns="0" rtlCol="0" anchor="t"/>
          <a:lstStyle/>
          <a:p>
            <a:pPr marL="0" indent="0">
              <a:buNone/>
            </a:pPr>
            <a:r>
              <a:rPr lang="en-US" sz="1400" i="1" dirty="0">
                <a:solidFill>
                  <a:srgbClr val="2F5D8A"/>
                </a:solidFill>
                <a:latin typeface="Cambria" panose="02040503050406030204" pitchFamily="34" charset="0"/>
                <a:ea typeface="Cambria" panose="02040503050406030204" pitchFamily="34" charset="-122"/>
                <a:cs typeface="Cambria" panose="02040503050406030204" pitchFamily="34" charset="-120"/>
              </a:rPr>
              <a:t>truck</a:t>
            </a:r>
            <a:endParaRPr lang="en-US" sz="1400" dirty="0"/>
          </a:p>
        </p:txBody>
      </p:sp>
      <p:sp>
        <p:nvSpPr>
          <p:cNvPr id="16" name="Shape 13"/>
          <p:cNvSpPr/>
          <p:nvPr/>
        </p:nvSpPr>
        <p:spPr>
          <a:xfrm>
            <a:off x="3566160" y="3209544"/>
            <a:ext cx="91440" cy="91440"/>
          </a:xfrm>
          <a:prstGeom prst="ellipse">
            <a:avLst/>
          </a:prstGeom>
          <a:solidFill>
            <a:srgbClr val="2F5D8A"/>
          </a:solidFill>
          <a:ln w="12700">
            <a:solidFill>
              <a:srgbClr val="2F5D8A"/>
            </a:solidFill>
            <a:prstDash val="solid"/>
          </a:ln>
        </p:spPr>
      </p:sp>
      <p:sp>
        <p:nvSpPr>
          <p:cNvPr id="17" name="Text 14"/>
          <p:cNvSpPr txBox="1"/>
          <p:nvPr/>
        </p:nvSpPr>
        <p:spPr>
          <a:xfrm>
            <a:off x="3721608" y="3154680"/>
            <a:ext cx="1188720" cy="228600"/>
          </a:xfrm>
          <a:prstGeom prst="rect">
            <a:avLst/>
          </a:prstGeom>
          <a:noFill/>
        </p:spPr>
        <p:txBody>
          <a:bodyPr wrap="square" lIns="0" tIns="0" rIns="0" bIns="0" rtlCol="0" anchor="t"/>
          <a:lstStyle/>
          <a:p>
            <a:pPr marL="0" indent="0">
              <a:buNone/>
            </a:pPr>
            <a:r>
              <a:rPr lang="en-US" sz="1400" i="1" dirty="0">
                <a:solidFill>
                  <a:srgbClr val="2F5D8A"/>
                </a:solidFill>
                <a:latin typeface="Cambria" panose="02040503050406030204" pitchFamily="34" charset="0"/>
                <a:ea typeface="Cambria" panose="02040503050406030204" pitchFamily="34" charset="-122"/>
                <a:cs typeface="Cambria" panose="02040503050406030204" pitchFamily="34" charset="-120"/>
              </a:rPr>
              <a:t>bus</a:t>
            </a:r>
            <a:endParaRPr lang="en-US" sz="1400" dirty="0"/>
          </a:p>
        </p:txBody>
      </p:sp>
      <p:sp>
        <p:nvSpPr>
          <p:cNvPr id="18" name="Shape 15"/>
          <p:cNvSpPr/>
          <p:nvPr/>
        </p:nvSpPr>
        <p:spPr>
          <a:xfrm>
            <a:off x="3931920" y="1700784"/>
            <a:ext cx="91440" cy="91440"/>
          </a:xfrm>
          <a:prstGeom prst="ellipse">
            <a:avLst/>
          </a:prstGeom>
          <a:solidFill>
            <a:srgbClr val="3B7A57"/>
          </a:solidFill>
          <a:ln w="12700">
            <a:solidFill>
              <a:srgbClr val="3B7A57"/>
            </a:solidFill>
            <a:prstDash val="solid"/>
          </a:ln>
        </p:spPr>
      </p:sp>
      <p:sp>
        <p:nvSpPr>
          <p:cNvPr id="19" name="Text 16"/>
          <p:cNvSpPr txBox="1"/>
          <p:nvPr/>
        </p:nvSpPr>
        <p:spPr>
          <a:xfrm>
            <a:off x="4087368" y="1645920"/>
            <a:ext cx="1188720" cy="228600"/>
          </a:xfrm>
          <a:prstGeom prst="rect">
            <a:avLst/>
          </a:prstGeom>
          <a:noFill/>
        </p:spPr>
        <p:txBody>
          <a:bodyPr wrap="square" lIns="0" tIns="0" rIns="0" bIns="0" rtlCol="0" anchor="t"/>
          <a:lstStyle/>
          <a:p>
            <a:pPr marL="0" indent="0">
              <a:buNone/>
            </a:pPr>
            <a:r>
              <a:rPr lang="en-US" sz="1400" i="1" dirty="0">
                <a:solidFill>
                  <a:srgbClr val="3B7A57"/>
                </a:solidFill>
                <a:latin typeface="Cambria" panose="02040503050406030204" pitchFamily="34" charset="0"/>
                <a:ea typeface="Cambria" panose="02040503050406030204" pitchFamily="34" charset="-122"/>
                <a:cs typeface="Cambria" panose="02040503050406030204" pitchFamily="34" charset="-120"/>
              </a:rPr>
              <a:t>cairo</a:t>
            </a:r>
            <a:endParaRPr lang="en-US" sz="1400" dirty="0"/>
          </a:p>
        </p:txBody>
      </p:sp>
      <p:sp>
        <p:nvSpPr>
          <p:cNvPr id="20" name="Shape 17"/>
          <p:cNvSpPr/>
          <p:nvPr/>
        </p:nvSpPr>
        <p:spPr>
          <a:xfrm>
            <a:off x="4572000" y="2249424"/>
            <a:ext cx="91440" cy="91440"/>
          </a:xfrm>
          <a:prstGeom prst="ellipse">
            <a:avLst/>
          </a:prstGeom>
          <a:solidFill>
            <a:srgbClr val="3B7A57"/>
          </a:solidFill>
          <a:ln w="12700">
            <a:solidFill>
              <a:srgbClr val="3B7A57"/>
            </a:solidFill>
            <a:prstDash val="solid"/>
          </a:ln>
        </p:spPr>
      </p:sp>
      <p:sp>
        <p:nvSpPr>
          <p:cNvPr id="21" name="Text 18"/>
          <p:cNvSpPr txBox="1"/>
          <p:nvPr/>
        </p:nvSpPr>
        <p:spPr>
          <a:xfrm>
            <a:off x="4727448" y="2194560"/>
            <a:ext cx="1188720" cy="228600"/>
          </a:xfrm>
          <a:prstGeom prst="rect">
            <a:avLst/>
          </a:prstGeom>
          <a:noFill/>
        </p:spPr>
        <p:txBody>
          <a:bodyPr wrap="square" lIns="0" tIns="0" rIns="0" bIns="0" rtlCol="0" anchor="t"/>
          <a:lstStyle/>
          <a:p>
            <a:pPr marL="0" indent="0">
              <a:buNone/>
            </a:pPr>
            <a:r>
              <a:rPr lang="en-US" sz="1400" i="1" dirty="0">
                <a:solidFill>
                  <a:srgbClr val="3B7A57"/>
                </a:solidFill>
                <a:latin typeface="Cambria" panose="02040503050406030204" pitchFamily="34" charset="0"/>
                <a:ea typeface="Cambria" panose="02040503050406030204" pitchFamily="34" charset="-122"/>
                <a:cs typeface="Cambria" panose="02040503050406030204" pitchFamily="34" charset="-120"/>
              </a:rPr>
              <a:t>paris</a:t>
            </a:r>
            <a:endParaRPr lang="en-US" sz="1400" dirty="0"/>
          </a:p>
        </p:txBody>
      </p:sp>
      <p:sp>
        <p:nvSpPr>
          <p:cNvPr id="22" name="Shape 19"/>
          <p:cNvSpPr/>
          <p:nvPr/>
        </p:nvSpPr>
        <p:spPr>
          <a:xfrm>
            <a:off x="3474720" y="2340864"/>
            <a:ext cx="91440" cy="91440"/>
          </a:xfrm>
          <a:prstGeom prst="ellipse">
            <a:avLst/>
          </a:prstGeom>
          <a:solidFill>
            <a:srgbClr val="3B7A57"/>
          </a:solidFill>
          <a:ln w="12700">
            <a:solidFill>
              <a:srgbClr val="3B7A57"/>
            </a:solidFill>
            <a:prstDash val="solid"/>
          </a:ln>
        </p:spPr>
      </p:sp>
      <p:sp>
        <p:nvSpPr>
          <p:cNvPr id="23" name="Text 20"/>
          <p:cNvSpPr txBox="1"/>
          <p:nvPr/>
        </p:nvSpPr>
        <p:spPr>
          <a:xfrm>
            <a:off x="3630168" y="2286000"/>
            <a:ext cx="1188720" cy="228600"/>
          </a:xfrm>
          <a:prstGeom prst="rect">
            <a:avLst/>
          </a:prstGeom>
          <a:noFill/>
        </p:spPr>
        <p:txBody>
          <a:bodyPr wrap="square" lIns="0" tIns="0" rIns="0" bIns="0" rtlCol="0" anchor="t"/>
          <a:lstStyle/>
          <a:p>
            <a:pPr marL="0" indent="0">
              <a:buNone/>
            </a:pPr>
            <a:r>
              <a:rPr lang="en-US" sz="1400" i="1" dirty="0">
                <a:solidFill>
                  <a:srgbClr val="3B7A57"/>
                </a:solidFill>
                <a:latin typeface="Cambria" panose="02040503050406030204" pitchFamily="34" charset="0"/>
                <a:ea typeface="Cambria" panose="02040503050406030204" pitchFamily="34" charset="-122"/>
                <a:cs typeface="Cambria" panose="02040503050406030204" pitchFamily="34" charset="-120"/>
              </a:rPr>
              <a:t>egypt</a:t>
            </a:r>
            <a:endParaRPr lang="en-US" sz="1400" dirty="0"/>
          </a:p>
        </p:txBody>
      </p:sp>
      <p:sp>
        <p:nvSpPr>
          <p:cNvPr id="24" name="Shape 21"/>
          <p:cNvSpPr/>
          <p:nvPr/>
        </p:nvSpPr>
        <p:spPr>
          <a:xfrm>
            <a:off x="1828800" y="2798064"/>
            <a:ext cx="91440" cy="91440"/>
          </a:xfrm>
          <a:prstGeom prst="ellipse">
            <a:avLst/>
          </a:prstGeom>
          <a:solidFill>
            <a:srgbClr val="B5432A"/>
          </a:solidFill>
          <a:ln w="12700">
            <a:solidFill>
              <a:srgbClr val="B5432A"/>
            </a:solidFill>
            <a:prstDash val="solid"/>
          </a:ln>
        </p:spPr>
      </p:sp>
      <p:sp>
        <p:nvSpPr>
          <p:cNvPr id="25" name="Text 22"/>
          <p:cNvSpPr txBox="1"/>
          <p:nvPr/>
        </p:nvSpPr>
        <p:spPr>
          <a:xfrm>
            <a:off x="1984248" y="2743200"/>
            <a:ext cx="1188720" cy="228600"/>
          </a:xfrm>
          <a:prstGeom prst="rect">
            <a:avLst/>
          </a:prstGeom>
          <a:noFill/>
        </p:spPr>
        <p:txBody>
          <a:bodyPr wrap="square" lIns="0" tIns="0" rIns="0" bIns="0" rtlCol="0" anchor="t"/>
          <a:lstStyle/>
          <a:p>
            <a:pPr marL="0" indent="0">
              <a:buNone/>
            </a:pPr>
            <a:r>
              <a:rPr lang="en-US" sz="1400" b="1" dirty="0">
                <a:solidFill>
                  <a:srgbClr val="B5432A"/>
                </a:solidFill>
                <a:latin typeface="Cambria" panose="02040503050406030204" pitchFamily="34" charset="0"/>
                <a:ea typeface="Cambria" panose="02040503050406030204" pitchFamily="34" charset="-122"/>
                <a:cs typeface="Cambria" panose="02040503050406030204" pitchFamily="34" charset="-120"/>
              </a:rPr>
              <a:t>puppy</a:t>
            </a:r>
            <a:endParaRPr lang="en-US" sz="1400" dirty="0"/>
          </a:p>
        </p:txBody>
      </p:sp>
      <p:sp>
        <p:nvSpPr>
          <p:cNvPr id="26" name="Text 23"/>
          <p:cNvSpPr txBox="1"/>
          <p:nvPr/>
        </p:nvSpPr>
        <p:spPr>
          <a:xfrm>
            <a:off x="594360" y="4224528"/>
            <a:ext cx="5120640" cy="274320"/>
          </a:xfrm>
          <a:prstGeom prst="rect">
            <a:avLst/>
          </a:prstGeom>
          <a:noFill/>
        </p:spPr>
        <p:txBody>
          <a:bodyPr wrap="square" lIns="0" tIns="0" rIns="0" bIns="0" rtlCol="0" anchor="t"/>
          <a:lstStyle/>
          <a:p>
            <a:pPr marL="0" indent="0">
              <a:buNone/>
            </a:pPr>
            <a:r>
              <a:rPr lang="en-US" sz="1100" i="1" dirty="0">
                <a:solidFill>
                  <a:schemeClr val="accent5"/>
                </a:solidFill>
                <a:latin typeface="Cambria" panose="02040503050406030204" pitchFamily="34" charset="0"/>
                <a:ea typeface="Cambria" panose="02040503050406030204" pitchFamily="34" charset="-122"/>
                <a:cs typeface="Cambria" panose="02040503050406030204" pitchFamily="34" charset="-120"/>
              </a:rPr>
              <a:t>Figure 1.2  A 2-D sketch of an embedding space</a:t>
            </a:r>
            <a:endParaRPr lang="en-US" sz="1100" dirty="0"/>
          </a:p>
        </p:txBody>
      </p:sp>
      <p:sp>
        <p:nvSpPr>
          <p:cNvPr id="27" name="Text 24"/>
          <p:cNvSpPr txBox="1"/>
          <p:nvPr/>
        </p:nvSpPr>
        <p:spPr>
          <a:xfrm>
            <a:off x="6217920" y="1280160"/>
            <a:ext cx="2468880" cy="3200400"/>
          </a:xfrm>
          <a:prstGeom prst="rect">
            <a:avLst/>
          </a:prstGeom>
          <a:noFill/>
        </p:spPr>
        <p:txBody>
          <a:bodyPr wrap="square" lIns="0" tIns="0" rIns="0" bIns="0" rtlCol="0" anchor="t"/>
          <a:lstStyle/>
          <a:p>
            <a:pPr marL="0" indent="0">
              <a:buNone/>
            </a:pPr>
            <a:r>
              <a:rPr lang="en-US" sz="1400" b="1" dirty="0">
                <a:solidFill>
                  <a:schemeClr val="tx1"/>
                </a:solidFill>
              </a:rPr>
              <a:t>Nearby means similar.</a:t>
            </a:r>
            <a:endParaRPr lang="en-US" sz="1400" dirty="0"/>
          </a:p>
          <a:p>
            <a:pPr marL="0" indent="0">
              <a:spcAft>
                <a:spcPts val="1200"/>
              </a:spcAft>
              <a:buNone/>
            </a:pPr>
            <a:r>
              <a:rPr lang="en-US" sz="1400" dirty="0">
                <a:solidFill>
                  <a:schemeClr val="tx1"/>
                </a:solidFill>
              </a:rPr>
              <a:t>An embedding model places items so that similar meaning gives small distance.</a:t>
            </a:r>
            <a:endParaRPr lang="en-US" sz="1400" dirty="0"/>
          </a:p>
          <a:p>
            <a:pPr marL="0" indent="0">
              <a:buNone/>
            </a:pPr>
            <a:r>
              <a:rPr lang="en-US" sz="1400" b="1" dirty="0">
                <a:solidFill>
                  <a:schemeClr val="tx1"/>
                </a:solidFill>
              </a:rPr>
              <a:t>Search becomes geometry.</a:t>
            </a:r>
            <a:endParaRPr lang="en-US" sz="1400" dirty="0"/>
          </a:p>
          <a:p>
            <a:pPr marL="0" indent="0">
              <a:spcAft>
                <a:spcPts val="1200"/>
              </a:spcAft>
              <a:buNone/>
            </a:pPr>
            <a:r>
              <a:rPr lang="en-US" sz="1400" dirty="0">
                <a:solidFill>
                  <a:schemeClr val="tx1"/>
                </a:solidFill>
              </a:rPr>
              <a:t>Embed the query, then return its nearest neighbors.</a:t>
            </a:r>
            <a:endParaRPr lang="en-US" sz="1400" dirty="0"/>
          </a:p>
          <a:p>
            <a:pPr marL="0" indent="0">
              <a:buNone/>
            </a:pPr>
            <a:r>
              <a:rPr lang="en-US" sz="1400" b="1" dirty="0">
                <a:solidFill>
                  <a:schemeClr val="tx1"/>
                </a:solidFill>
              </a:rPr>
              <a:t>Dimensions.</a:t>
            </a:r>
            <a:endParaRPr lang="en-US" sz="1400" dirty="0"/>
          </a:p>
          <a:p>
            <a:pPr marL="0" indent="0">
              <a:buNone/>
            </a:pPr>
            <a:r>
              <a:rPr lang="en-US" sz="1400" dirty="0">
                <a:solidFill>
                  <a:schemeClr val="tx1"/>
                </a:solidFill>
              </a:rPr>
              <a:t>Real models use 384 to 3,072 dimensions, not 2.</a:t>
            </a:r>
            <a:endParaRPr lang="en-US" sz="1400" dirty="0"/>
          </a:p>
        </p:txBody>
      </p:sp>
      <p:sp>
        <p:nvSpPr>
          <p:cNvPr id="3"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5"/>
                </a:solidFill>
              </a:defRPr>
            </a:lvl1pPr>
          </a:lstStyle>
          <a:p>
            <a:pPr algn="l"/>
            <a:fld id="{F7021451-1387-4CA6-816F-3879F97B5CBC}" type="slidenum">
              <a:rPr lang="en-US" b="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320040"/>
            <a:ext cx="8229600" cy="731520"/>
          </a:xfrm>
          <a:prstGeom prst="rect">
            <a:avLst/>
          </a:prstGeom>
          <a:noFill/>
        </p:spPr>
        <p:txBody>
          <a:bodyPr wrap="square" lIns="0" tIns="0" rIns="0" bIns="0" rtlCol="0" anchor="ctr"/>
          <a:lstStyle/>
          <a:p>
            <a:pPr marL="0" indent="0" algn="l">
              <a:buNone/>
            </a:pPr>
            <a:r>
              <a:rPr lang="en-US" sz="3000" b="1" dirty="0">
                <a:solidFill>
                  <a:schemeClr val="tx1"/>
                </a:solidFill>
              </a:rPr>
              <a:t>What an embedding looks like</a:t>
            </a:r>
            <a:endParaRPr lang="en-US" sz="3000" dirty="0"/>
          </a:p>
        </p:txBody>
      </p:sp>
      <p:sp>
        <p:nvSpPr>
          <p:cNvPr id="4" name="Text 1"/>
          <p:cNvSpPr txBox="1"/>
          <p:nvPr/>
        </p:nvSpPr>
        <p:spPr>
          <a:xfrm>
            <a:off x="457200" y="1371600"/>
            <a:ext cx="2743200" cy="457200"/>
          </a:xfrm>
          <a:prstGeom prst="rect">
            <a:avLst/>
          </a:prstGeom>
          <a:noFill/>
        </p:spPr>
        <p:txBody>
          <a:bodyPr wrap="square" lIns="0" tIns="0" rIns="0" bIns="0" rtlCol="0" anchor="ctr"/>
          <a:lstStyle/>
          <a:p>
            <a:pPr marL="0" indent="0">
              <a:buNone/>
            </a:pPr>
            <a:r>
              <a:rPr lang="en-US" sz="1400" b="1" dirty="0">
                <a:solidFill>
                  <a:srgbClr val="B5432A"/>
                </a:solidFill>
              </a:rPr>
              <a:t>A   </a:t>
            </a:r>
            <a:r>
              <a:rPr lang="en-US" sz="1400" dirty="0">
                <a:solidFill>
                  <a:schemeClr val="tx1"/>
                </a:solidFill>
              </a:rPr>
              <a:t>I forgot my password</a:t>
            </a:r>
            <a:endParaRPr lang="en-US" sz="1400" dirty="0"/>
          </a:p>
        </p:txBody>
      </p:sp>
      <p:sp>
        <p:nvSpPr>
          <p:cNvPr id="5" name="Shape 2"/>
          <p:cNvSpPr/>
          <p:nvPr/>
        </p:nvSpPr>
        <p:spPr>
          <a:xfrm>
            <a:off x="3383280" y="1371600"/>
            <a:ext cx="219456" cy="457200"/>
          </a:xfrm>
          <a:prstGeom prst="rect">
            <a:avLst/>
          </a:prstGeom>
          <a:solidFill>
            <a:srgbClr val="D38E7F"/>
          </a:solidFill>
          <a:ln w="6350">
            <a:solidFill>
              <a:srgbClr val="FFFFFF"/>
            </a:solidFill>
            <a:prstDash val="solid"/>
          </a:ln>
        </p:spPr>
      </p:sp>
      <p:sp>
        <p:nvSpPr>
          <p:cNvPr id="6" name="Shape 3"/>
          <p:cNvSpPr/>
          <p:nvPr/>
        </p:nvSpPr>
        <p:spPr>
          <a:xfrm>
            <a:off x="3602736" y="1371600"/>
            <a:ext cx="219456" cy="457200"/>
          </a:xfrm>
          <a:prstGeom prst="rect">
            <a:avLst/>
          </a:prstGeom>
          <a:solidFill>
            <a:srgbClr val="ACBED0"/>
          </a:solidFill>
          <a:ln w="6350">
            <a:solidFill>
              <a:srgbClr val="FFFFFF"/>
            </a:solidFill>
            <a:prstDash val="solid"/>
          </a:ln>
        </p:spPr>
      </p:sp>
      <p:sp>
        <p:nvSpPr>
          <p:cNvPr id="7" name="Shape 4"/>
          <p:cNvSpPr/>
          <p:nvPr/>
        </p:nvSpPr>
        <p:spPr>
          <a:xfrm>
            <a:off x="3822192" y="1371600"/>
            <a:ext cx="219456" cy="457200"/>
          </a:xfrm>
          <a:prstGeom prst="rect">
            <a:avLst/>
          </a:prstGeom>
          <a:solidFill>
            <a:srgbClr val="C46955"/>
          </a:solidFill>
          <a:ln w="6350">
            <a:solidFill>
              <a:srgbClr val="FFFFFF"/>
            </a:solidFill>
            <a:prstDash val="solid"/>
          </a:ln>
        </p:spPr>
      </p:sp>
      <p:sp>
        <p:nvSpPr>
          <p:cNvPr id="8" name="Shape 5"/>
          <p:cNvSpPr/>
          <p:nvPr/>
        </p:nvSpPr>
        <p:spPr>
          <a:xfrm>
            <a:off x="4041648" y="1371600"/>
            <a:ext cx="219456" cy="457200"/>
          </a:xfrm>
          <a:prstGeom prst="rect">
            <a:avLst/>
          </a:prstGeom>
          <a:solidFill>
            <a:srgbClr val="F8ECEA"/>
          </a:solidFill>
          <a:ln w="6350">
            <a:solidFill>
              <a:srgbClr val="FFFFFF"/>
            </a:solidFill>
            <a:prstDash val="solid"/>
          </a:ln>
        </p:spPr>
      </p:sp>
      <p:sp>
        <p:nvSpPr>
          <p:cNvPr id="9" name="Shape 6"/>
          <p:cNvSpPr/>
          <p:nvPr/>
        </p:nvSpPr>
        <p:spPr>
          <a:xfrm>
            <a:off x="4261104" y="1371600"/>
            <a:ext cx="219456" cy="457200"/>
          </a:xfrm>
          <a:prstGeom prst="rect">
            <a:avLst/>
          </a:prstGeom>
          <a:solidFill>
            <a:srgbClr val="6D8EAD"/>
          </a:solidFill>
          <a:ln w="6350">
            <a:solidFill>
              <a:srgbClr val="FFFFFF"/>
            </a:solidFill>
            <a:prstDash val="solid"/>
          </a:ln>
        </p:spPr>
      </p:sp>
      <p:sp>
        <p:nvSpPr>
          <p:cNvPr id="10" name="Shape 7"/>
          <p:cNvSpPr/>
          <p:nvPr/>
        </p:nvSpPr>
        <p:spPr>
          <a:xfrm>
            <a:off x="4480560" y="1371600"/>
            <a:ext cx="219456" cy="457200"/>
          </a:xfrm>
          <a:prstGeom prst="rect">
            <a:avLst/>
          </a:prstGeom>
          <a:solidFill>
            <a:srgbClr val="DAA195"/>
          </a:solidFill>
          <a:ln w="6350">
            <a:solidFill>
              <a:srgbClr val="FFFFFF"/>
            </a:solidFill>
            <a:prstDash val="solid"/>
          </a:ln>
        </p:spPr>
      </p:sp>
      <p:sp>
        <p:nvSpPr>
          <p:cNvPr id="11" name="Shape 8"/>
          <p:cNvSpPr/>
          <p:nvPr/>
        </p:nvSpPr>
        <p:spPr>
          <a:xfrm>
            <a:off x="4700016" y="1371600"/>
            <a:ext cx="219456" cy="457200"/>
          </a:xfrm>
          <a:prstGeom prst="rect">
            <a:avLst/>
          </a:prstGeom>
          <a:solidFill>
            <a:srgbClr val="E9C7BF"/>
          </a:solidFill>
          <a:ln w="6350">
            <a:solidFill>
              <a:srgbClr val="FFFFFF"/>
            </a:solidFill>
            <a:prstDash val="solid"/>
          </a:ln>
        </p:spPr>
      </p:sp>
      <p:sp>
        <p:nvSpPr>
          <p:cNvPr id="12" name="Shape 9"/>
          <p:cNvSpPr/>
          <p:nvPr/>
        </p:nvSpPr>
        <p:spPr>
          <a:xfrm>
            <a:off x="4919472" y="1371600"/>
            <a:ext cx="219456" cy="457200"/>
          </a:xfrm>
          <a:prstGeom prst="rect">
            <a:avLst/>
          </a:prstGeom>
          <a:solidFill>
            <a:srgbClr val="D5DFE8"/>
          </a:solidFill>
          <a:ln w="6350">
            <a:solidFill>
              <a:srgbClr val="FFFFFF"/>
            </a:solidFill>
            <a:prstDash val="solid"/>
          </a:ln>
        </p:spPr>
      </p:sp>
      <p:sp>
        <p:nvSpPr>
          <p:cNvPr id="13" name="Shape 10"/>
          <p:cNvSpPr/>
          <p:nvPr/>
        </p:nvSpPr>
        <p:spPr>
          <a:xfrm>
            <a:off x="5138928" y="1371600"/>
            <a:ext cx="219456" cy="457200"/>
          </a:xfrm>
          <a:prstGeom prst="rect">
            <a:avLst/>
          </a:prstGeom>
          <a:solidFill>
            <a:srgbClr val="BC563F"/>
          </a:solidFill>
          <a:ln w="6350">
            <a:solidFill>
              <a:srgbClr val="FFFFFF"/>
            </a:solidFill>
            <a:prstDash val="solid"/>
          </a:ln>
        </p:spPr>
      </p:sp>
      <p:sp>
        <p:nvSpPr>
          <p:cNvPr id="14" name="Shape 11"/>
          <p:cNvSpPr/>
          <p:nvPr/>
        </p:nvSpPr>
        <p:spPr>
          <a:xfrm>
            <a:off x="5358384" y="1371600"/>
            <a:ext cx="219456" cy="457200"/>
          </a:xfrm>
          <a:prstGeom prst="rect">
            <a:avLst/>
          </a:prstGeom>
          <a:solidFill>
            <a:srgbClr val="97AEC5"/>
          </a:solidFill>
          <a:ln w="6350">
            <a:solidFill>
              <a:srgbClr val="FFFFFF"/>
            </a:solidFill>
            <a:prstDash val="solid"/>
          </a:ln>
        </p:spPr>
      </p:sp>
      <p:sp>
        <p:nvSpPr>
          <p:cNvPr id="15" name="Shape 12"/>
          <p:cNvSpPr/>
          <p:nvPr/>
        </p:nvSpPr>
        <p:spPr>
          <a:xfrm>
            <a:off x="5577840" y="1371600"/>
            <a:ext cx="219456" cy="457200"/>
          </a:xfrm>
          <a:prstGeom prst="rect">
            <a:avLst/>
          </a:prstGeom>
          <a:solidFill>
            <a:srgbClr val="F0D9D4"/>
          </a:solidFill>
          <a:ln w="6350">
            <a:solidFill>
              <a:srgbClr val="FFFFFF"/>
            </a:solidFill>
            <a:prstDash val="solid"/>
          </a:ln>
        </p:spPr>
      </p:sp>
      <p:sp>
        <p:nvSpPr>
          <p:cNvPr id="16" name="Shape 13"/>
          <p:cNvSpPr/>
          <p:nvPr/>
        </p:nvSpPr>
        <p:spPr>
          <a:xfrm>
            <a:off x="5797296" y="1371600"/>
            <a:ext cx="219456" cy="457200"/>
          </a:xfrm>
          <a:prstGeom prst="rect">
            <a:avLst/>
          </a:prstGeom>
          <a:solidFill>
            <a:srgbClr val="CB7B6A"/>
          </a:solidFill>
          <a:ln w="6350">
            <a:solidFill>
              <a:srgbClr val="FFFFFF"/>
            </a:solidFill>
            <a:prstDash val="solid"/>
          </a:ln>
        </p:spPr>
      </p:sp>
      <p:sp>
        <p:nvSpPr>
          <p:cNvPr id="17" name="Shape 14"/>
          <p:cNvSpPr/>
          <p:nvPr/>
        </p:nvSpPr>
        <p:spPr>
          <a:xfrm>
            <a:off x="6016752" y="1371600"/>
            <a:ext cx="219456" cy="457200"/>
          </a:xfrm>
          <a:prstGeom prst="rect">
            <a:avLst/>
          </a:prstGeom>
          <a:solidFill>
            <a:srgbClr val="829EB9"/>
          </a:solidFill>
          <a:ln w="6350">
            <a:solidFill>
              <a:srgbClr val="FFFFFF"/>
            </a:solidFill>
            <a:prstDash val="solid"/>
          </a:ln>
        </p:spPr>
      </p:sp>
      <p:sp>
        <p:nvSpPr>
          <p:cNvPr id="18" name="Shape 15"/>
          <p:cNvSpPr/>
          <p:nvPr/>
        </p:nvSpPr>
        <p:spPr>
          <a:xfrm>
            <a:off x="6236208" y="1371600"/>
            <a:ext cx="219456" cy="457200"/>
          </a:xfrm>
          <a:prstGeom prst="rect">
            <a:avLst/>
          </a:prstGeom>
          <a:solidFill>
            <a:srgbClr val="E1B4AA"/>
          </a:solidFill>
          <a:ln w="6350">
            <a:solidFill>
              <a:srgbClr val="FFFFFF"/>
            </a:solidFill>
            <a:prstDash val="solid"/>
          </a:ln>
        </p:spPr>
      </p:sp>
      <p:sp>
        <p:nvSpPr>
          <p:cNvPr id="19" name="Shape 16"/>
          <p:cNvSpPr/>
          <p:nvPr/>
        </p:nvSpPr>
        <p:spPr>
          <a:xfrm>
            <a:off x="6455664" y="1371600"/>
            <a:ext cx="219456" cy="457200"/>
          </a:xfrm>
          <a:prstGeom prst="rect">
            <a:avLst/>
          </a:prstGeom>
          <a:solidFill>
            <a:srgbClr val="EAEFF3"/>
          </a:solidFill>
          <a:ln w="6350">
            <a:solidFill>
              <a:srgbClr val="FFFFFF"/>
            </a:solidFill>
            <a:prstDash val="solid"/>
          </a:ln>
        </p:spPr>
      </p:sp>
      <p:sp>
        <p:nvSpPr>
          <p:cNvPr id="20" name="Shape 17"/>
          <p:cNvSpPr/>
          <p:nvPr/>
        </p:nvSpPr>
        <p:spPr>
          <a:xfrm>
            <a:off x="6675120" y="1371600"/>
            <a:ext cx="219456" cy="457200"/>
          </a:xfrm>
          <a:prstGeom prst="rect">
            <a:avLst/>
          </a:prstGeom>
          <a:solidFill>
            <a:srgbClr val="C46955"/>
          </a:solidFill>
          <a:ln w="6350">
            <a:solidFill>
              <a:srgbClr val="FFFFFF"/>
            </a:solidFill>
            <a:prstDash val="solid"/>
          </a:ln>
        </p:spPr>
      </p:sp>
      <p:sp>
        <p:nvSpPr>
          <p:cNvPr id="21" name="Shape 18"/>
          <p:cNvSpPr/>
          <p:nvPr/>
        </p:nvSpPr>
        <p:spPr>
          <a:xfrm>
            <a:off x="6894576" y="1371600"/>
            <a:ext cx="219456" cy="457200"/>
          </a:xfrm>
          <a:prstGeom prst="rect">
            <a:avLst/>
          </a:prstGeom>
          <a:solidFill>
            <a:srgbClr val="E9C7BF"/>
          </a:solidFill>
          <a:ln w="6350">
            <a:solidFill>
              <a:srgbClr val="FFFFFF"/>
            </a:solidFill>
            <a:prstDash val="solid"/>
          </a:ln>
        </p:spPr>
      </p:sp>
      <p:sp>
        <p:nvSpPr>
          <p:cNvPr id="22" name="Shape 19"/>
          <p:cNvSpPr/>
          <p:nvPr/>
        </p:nvSpPr>
        <p:spPr>
          <a:xfrm>
            <a:off x="7114032" y="1371600"/>
            <a:ext cx="219456" cy="457200"/>
          </a:xfrm>
          <a:prstGeom prst="rect">
            <a:avLst/>
          </a:prstGeom>
          <a:solidFill>
            <a:srgbClr val="597DA1"/>
          </a:solidFill>
          <a:ln w="6350">
            <a:solidFill>
              <a:srgbClr val="FFFFFF"/>
            </a:solidFill>
            <a:prstDash val="solid"/>
          </a:ln>
        </p:spPr>
      </p:sp>
      <p:sp>
        <p:nvSpPr>
          <p:cNvPr id="23" name="Shape 20"/>
          <p:cNvSpPr/>
          <p:nvPr/>
        </p:nvSpPr>
        <p:spPr>
          <a:xfrm>
            <a:off x="7333488" y="1371600"/>
            <a:ext cx="219456" cy="457200"/>
          </a:xfrm>
          <a:prstGeom prst="rect">
            <a:avLst/>
          </a:prstGeom>
          <a:solidFill>
            <a:srgbClr val="DAA195"/>
          </a:solidFill>
          <a:ln w="6350">
            <a:solidFill>
              <a:srgbClr val="FFFFFF"/>
            </a:solidFill>
            <a:prstDash val="solid"/>
          </a:ln>
        </p:spPr>
      </p:sp>
      <p:sp>
        <p:nvSpPr>
          <p:cNvPr id="24" name="Shape 21"/>
          <p:cNvSpPr/>
          <p:nvPr/>
        </p:nvSpPr>
        <p:spPr>
          <a:xfrm>
            <a:off x="7552944" y="1371600"/>
            <a:ext cx="219456" cy="457200"/>
          </a:xfrm>
          <a:prstGeom prst="rect">
            <a:avLst/>
          </a:prstGeom>
          <a:solidFill>
            <a:srgbClr val="F0D9D4"/>
          </a:solidFill>
          <a:ln w="6350">
            <a:solidFill>
              <a:srgbClr val="FFFFFF"/>
            </a:solidFill>
            <a:prstDash val="solid"/>
          </a:ln>
        </p:spPr>
      </p:sp>
      <p:sp>
        <p:nvSpPr>
          <p:cNvPr id="25" name="Shape 22"/>
          <p:cNvSpPr/>
          <p:nvPr/>
        </p:nvSpPr>
        <p:spPr>
          <a:xfrm>
            <a:off x="7772400" y="1371600"/>
            <a:ext cx="219456" cy="457200"/>
          </a:xfrm>
          <a:prstGeom prst="rect">
            <a:avLst/>
          </a:prstGeom>
          <a:solidFill>
            <a:srgbClr val="C1CEDC"/>
          </a:solidFill>
          <a:ln w="6350">
            <a:solidFill>
              <a:srgbClr val="FFFFFF"/>
            </a:solidFill>
            <a:prstDash val="solid"/>
          </a:ln>
        </p:spPr>
      </p:sp>
      <p:sp>
        <p:nvSpPr>
          <p:cNvPr id="26" name="Shape 23"/>
          <p:cNvSpPr/>
          <p:nvPr/>
        </p:nvSpPr>
        <p:spPr>
          <a:xfrm>
            <a:off x="7991856" y="1371600"/>
            <a:ext cx="219456" cy="457200"/>
          </a:xfrm>
          <a:prstGeom prst="rect">
            <a:avLst/>
          </a:prstGeom>
          <a:solidFill>
            <a:srgbClr val="D38E7F"/>
          </a:solidFill>
          <a:ln w="6350">
            <a:solidFill>
              <a:srgbClr val="FFFFFF"/>
            </a:solidFill>
            <a:prstDash val="solid"/>
          </a:ln>
        </p:spPr>
      </p:sp>
      <p:sp>
        <p:nvSpPr>
          <p:cNvPr id="27" name="Shape 24"/>
          <p:cNvSpPr/>
          <p:nvPr/>
        </p:nvSpPr>
        <p:spPr>
          <a:xfrm>
            <a:off x="8211312" y="1371600"/>
            <a:ext cx="219456" cy="457200"/>
          </a:xfrm>
          <a:prstGeom prst="rect">
            <a:avLst/>
          </a:prstGeom>
          <a:solidFill>
            <a:srgbClr val="ACBED0"/>
          </a:solidFill>
          <a:ln w="6350">
            <a:solidFill>
              <a:srgbClr val="FFFFFF"/>
            </a:solidFill>
            <a:prstDash val="solid"/>
          </a:ln>
        </p:spPr>
      </p:sp>
      <p:sp>
        <p:nvSpPr>
          <p:cNvPr id="28" name="Shape 25"/>
          <p:cNvSpPr/>
          <p:nvPr/>
        </p:nvSpPr>
        <p:spPr>
          <a:xfrm>
            <a:off x="8430768" y="1371600"/>
            <a:ext cx="219456" cy="457200"/>
          </a:xfrm>
          <a:prstGeom prst="rect">
            <a:avLst/>
          </a:prstGeom>
          <a:solidFill>
            <a:srgbClr val="F8ECEA"/>
          </a:solidFill>
          <a:ln w="6350">
            <a:solidFill>
              <a:srgbClr val="FFFFFF"/>
            </a:solidFill>
            <a:prstDash val="solid"/>
          </a:ln>
        </p:spPr>
      </p:sp>
      <p:sp>
        <p:nvSpPr>
          <p:cNvPr id="29" name="Text 26"/>
          <p:cNvSpPr txBox="1"/>
          <p:nvPr/>
        </p:nvSpPr>
        <p:spPr>
          <a:xfrm>
            <a:off x="457200" y="2057400"/>
            <a:ext cx="2743200" cy="457200"/>
          </a:xfrm>
          <a:prstGeom prst="rect">
            <a:avLst/>
          </a:prstGeom>
          <a:noFill/>
        </p:spPr>
        <p:txBody>
          <a:bodyPr wrap="square" lIns="0" tIns="0" rIns="0" bIns="0" rtlCol="0" anchor="ctr"/>
          <a:lstStyle/>
          <a:p>
            <a:pPr marL="0" indent="0">
              <a:buNone/>
            </a:pPr>
            <a:r>
              <a:rPr lang="en-US" sz="1400" b="1" dirty="0">
                <a:solidFill>
                  <a:srgbClr val="B5432A"/>
                </a:solidFill>
              </a:rPr>
              <a:t>B   </a:t>
            </a:r>
            <a:r>
              <a:rPr lang="en-US" sz="1400" dirty="0">
                <a:solidFill>
                  <a:schemeClr val="tx1"/>
                </a:solidFill>
              </a:rPr>
              <a:t>I lost my login details</a:t>
            </a:r>
            <a:endParaRPr lang="en-US" sz="1400" dirty="0"/>
          </a:p>
        </p:txBody>
      </p:sp>
      <p:sp>
        <p:nvSpPr>
          <p:cNvPr id="30" name="Shape 27"/>
          <p:cNvSpPr/>
          <p:nvPr/>
        </p:nvSpPr>
        <p:spPr>
          <a:xfrm>
            <a:off x="3383280" y="2057400"/>
            <a:ext cx="219456" cy="457200"/>
          </a:xfrm>
          <a:prstGeom prst="rect">
            <a:avLst/>
          </a:prstGeom>
          <a:solidFill>
            <a:srgbClr val="CB7B6A"/>
          </a:solidFill>
          <a:ln w="6350">
            <a:solidFill>
              <a:srgbClr val="FFFFFF"/>
            </a:solidFill>
            <a:prstDash val="solid"/>
          </a:ln>
        </p:spPr>
      </p:sp>
      <p:sp>
        <p:nvSpPr>
          <p:cNvPr id="31" name="Shape 28"/>
          <p:cNvSpPr/>
          <p:nvPr/>
        </p:nvSpPr>
        <p:spPr>
          <a:xfrm>
            <a:off x="3602736" y="2057400"/>
            <a:ext cx="219456" cy="457200"/>
          </a:xfrm>
          <a:prstGeom prst="rect">
            <a:avLst/>
          </a:prstGeom>
          <a:solidFill>
            <a:srgbClr val="97AEC5"/>
          </a:solidFill>
          <a:ln w="6350">
            <a:solidFill>
              <a:srgbClr val="FFFFFF"/>
            </a:solidFill>
            <a:prstDash val="solid"/>
          </a:ln>
        </p:spPr>
      </p:sp>
      <p:sp>
        <p:nvSpPr>
          <p:cNvPr id="32" name="Shape 29"/>
          <p:cNvSpPr/>
          <p:nvPr/>
        </p:nvSpPr>
        <p:spPr>
          <a:xfrm>
            <a:off x="3822192" y="2057400"/>
            <a:ext cx="219456" cy="457200"/>
          </a:xfrm>
          <a:prstGeom prst="rect">
            <a:avLst/>
          </a:prstGeom>
          <a:solidFill>
            <a:srgbClr val="C05F4A"/>
          </a:solidFill>
          <a:ln w="6350">
            <a:solidFill>
              <a:srgbClr val="FFFFFF"/>
            </a:solidFill>
            <a:prstDash val="solid"/>
          </a:ln>
        </p:spPr>
      </p:sp>
      <p:sp>
        <p:nvSpPr>
          <p:cNvPr id="33" name="Shape 30"/>
          <p:cNvSpPr/>
          <p:nvPr/>
        </p:nvSpPr>
        <p:spPr>
          <a:xfrm>
            <a:off x="4041648" y="2057400"/>
            <a:ext cx="219456" cy="457200"/>
          </a:xfrm>
          <a:prstGeom prst="rect">
            <a:avLst/>
          </a:prstGeom>
          <a:solidFill>
            <a:srgbClr val="F0D9D4"/>
          </a:solidFill>
          <a:ln w="6350">
            <a:solidFill>
              <a:srgbClr val="FFFFFF"/>
            </a:solidFill>
            <a:prstDash val="solid"/>
          </a:ln>
        </p:spPr>
      </p:sp>
      <p:sp>
        <p:nvSpPr>
          <p:cNvPr id="34" name="Shape 31"/>
          <p:cNvSpPr/>
          <p:nvPr/>
        </p:nvSpPr>
        <p:spPr>
          <a:xfrm>
            <a:off x="4261104" y="2057400"/>
            <a:ext cx="219456" cy="457200"/>
          </a:xfrm>
          <a:prstGeom prst="rect">
            <a:avLst/>
          </a:prstGeom>
          <a:solidFill>
            <a:srgbClr val="597DA1"/>
          </a:solidFill>
          <a:ln w="6350">
            <a:solidFill>
              <a:srgbClr val="FFFFFF"/>
            </a:solidFill>
            <a:prstDash val="solid"/>
          </a:ln>
        </p:spPr>
      </p:sp>
      <p:sp>
        <p:nvSpPr>
          <p:cNvPr id="35" name="Shape 32"/>
          <p:cNvSpPr/>
          <p:nvPr/>
        </p:nvSpPr>
        <p:spPr>
          <a:xfrm>
            <a:off x="4480560" y="2057400"/>
            <a:ext cx="219456" cy="457200"/>
          </a:xfrm>
          <a:prstGeom prst="rect">
            <a:avLst/>
          </a:prstGeom>
          <a:solidFill>
            <a:srgbClr val="CF8575"/>
          </a:solidFill>
          <a:ln w="6350">
            <a:solidFill>
              <a:srgbClr val="FFFFFF"/>
            </a:solidFill>
            <a:prstDash val="solid"/>
          </a:ln>
        </p:spPr>
      </p:sp>
      <p:sp>
        <p:nvSpPr>
          <p:cNvPr id="36" name="Shape 33"/>
          <p:cNvSpPr/>
          <p:nvPr/>
        </p:nvSpPr>
        <p:spPr>
          <a:xfrm>
            <a:off x="4700016" y="2057400"/>
            <a:ext cx="219456" cy="457200"/>
          </a:xfrm>
          <a:prstGeom prst="rect">
            <a:avLst/>
          </a:prstGeom>
          <a:solidFill>
            <a:srgbClr val="EDD0CA"/>
          </a:solidFill>
          <a:ln w="6350">
            <a:solidFill>
              <a:srgbClr val="FFFFFF"/>
            </a:solidFill>
            <a:prstDash val="solid"/>
          </a:ln>
        </p:spPr>
      </p:sp>
      <p:sp>
        <p:nvSpPr>
          <p:cNvPr id="37" name="Shape 34"/>
          <p:cNvSpPr/>
          <p:nvPr/>
        </p:nvSpPr>
        <p:spPr>
          <a:xfrm>
            <a:off x="4919472" y="2057400"/>
            <a:ext cx="219456" cy="457200"/>
          </a:xfrm>
          <a:prstGeom prst="rect">
            <a:avLst/>
          </a:prstGeom>
          <a:solidFill>
            <a:srgbClr val="EAEFF3"/>
          </a:solidFill>
          <a:ln w="6350">
            <a:solidFill>
              <a:srgbClr val="FFFFFF"/>
            </a:solidFill>
            <a:prstDash val="solid"/>
          </a:ln>
        </p:spPr>
      </p:sp>
      <p:sp>
        <p:nvSpPr>
          <p:cNvPr id="38" name="Shape 35"/>
          <p:cNvSpPr/>
          <p:nvPr/>
        </p:nvSpPr>
        <p:spPr>
          <a:xfrm>
            <a:off x="5138928" y="2057400"/>
            <a:ext cx="219456" cy="457200"/>
          </a:xfrm>
          <a:prstGeom prst="rect">
            <a:avLst/>
          </a:prstGeom>
          <a:solidFill>
            <a:srgbClr val="C46955"/>
          </a:solidFill>
          <a:ln w="6350">
            <a:solidFill>
              <a:srgbClr val="FFFFFF"/>
            </a:solidFill>
            <a:prstDash val="solid"/>
          </a:ln>
        </p:spPr>
      </p:sp>
      <p:sp>
        <p:nvSpPr>
          <p:cNvPr id="39" name="Shape 36"/>
          <p:cNvSpPr/>
          <p:nvPr/>
        </p:nvSpPr>
        <p:spPr>
          <a:xfrm>
            <a:off x="5358384" y="2057400"/>
            <a:ext cx="219456" cy="457200"/>
          </a:xfrm>
          <a:prstGeom prst="rect">
            <a:avLst/>
          </a:prstGeom>
          <a:solidFill>
            <a:srgbClr val="ACBED0"/>
          </a:solidFill>
          <a:ln w="6350">
            <a:solidFill>
              <a:srgbClr val="FFFFFF"/>
            </a:solidFill>
            <a:prstDash val="solid"/>
          </a:ln>
        </p:spPr>
      </p:sp>
      <p:sp>
        <p:nvSpPr>
          <p:cNvPr id="40" name="Shape 37"/>
          <p:cNvSpPr/>
          <p:nvPr/>
        </p:nvSpPr>
        <p:spPr>
          <a:xfrm>
            <a:off x="5577840" y="2057400"/>
            <a:ext cx="219456" cy="457200"/>
          </a:xfrm>
          <a:prstGeom prst="rect">
            <a:avLst/>
          </a:prstGeom>
          <a:solidFill>
            <a:srgbClr val="EDD0CA"/>
          </a:solidFill>
          <a:ln w="6350">
            <a:solidFill>
              <a:srgbClr val="FFFFFF"/>
            </a:solidFill>
            <a:prstDash val="solid"/>
          </a:ln>
        </p:spPr>
      </p:sp>
      <p:sp>
        <p:nvSpPr>
          <p:cNvPr id="41" name="Shape 38"/>
          <p:cNvSpPr/>
          <p:nvPr/>
        </p:nvSpPr>
        <p:spPr>
          <a:xfrm>
            <a:off x="5797296" y="2057400"/>
            <a:ext cx="219456" cy="457200"/>
          </a:xfrm>
          <a:prstGeom prst="rect">
            <a:avLst/>
          </a:prstGeom>
          <a:solidFill>
            <a:srgbClr val="D38E7F"/>
          </a:solidFill>
          <a:ln w="6350">
            <a:solidFill>
              <a:srgbClr val="FFFFFF"/>
            </a:solidFill>
            <a:prstDash val="solid"/>
          </a:ln>
        </p:spPr>
      </p:sp>
      <p:sp>
        <p:nvSpPr>
          <p:cNvPr id="42" name="Shape 39"/>
          <p:cNvSpPr/>
          <p:nvPr/>
        </p:nvSpPr>
        <p:spPr>
          <a:xfrm>
            <a:off x="6016752" y="2057400"/>
            <a:ext cx="219456" cy="457200"/>
          </a:xfrm>
          <a:prstGeom prst="rect">
            <a:avLst/>
          </a:prstGeom>
          <a:solidFill>
            <a:srgbClr val="97AEC5"/>
          </a:solidFill>
          <a:ln w="6350">
            <a:solidFill>
              <a:srgbClr val="FFFFFF"/>
            </a:solidFill>
            <a:prstDash val="solid"/>
          </a:ln>
        </p:spPr>
      </p:sp>
      <p:sp>
        <p:nvSpPr>
          <p:cNvPr id="43" name="Shape 40"/>
          <p:cNvSpPr/>
          <p:nvPr/>
        </p:nvSpPr>
        <p:spPr>
          <a:xfrm>
            <a:off x="6236208" y="2057400"/>
            <a:ext cx="219456" cy="457200"/>
          </a:xfrm>
          <a:prstGeom prst="rect">
            <a:avLst/>
          </a:prstGeom>
          <a:solidFill>
            <a:srgbClr val="E9C7BF"/>
          </a:solidFill>
          <a:ln w="6350">
            <a:solidFill>
              <a:srgbClr val="FFFFFF"/>
            </a:solidFill>
            <a:prstDash val="solid"/>
          </a:ln>
        </p:spPr>
      </p:sp>
      <p:sp>
        <p:nvSpPr>
          <p:cNvPr id="44" name="Shape 41"/>
          <p:cNvSpPr/>
          <p:nvPr/>
        </p:nvSpPr>
        <p:spPr>
          <a:xfrm>
            <a:off x="6455664" y="2057400"/>
            <a:ext cx="219456" cy="457200"/>
          </a:xfrm>
          <a:prstGeom prst="rect">
            <a:avLst/>
          </a:prstGeom>
          <a:solidFill>
            <a:srgbClr val="FBF6F4"/>
          </a:solidFill>
          <a:ln w="6350">
            <a:solidFill>
              <a:srgbClr val="FFFFFF"/>
            </a:solidFill>
            <a:prstDash val="solid"/>
          </a:ln>
        </p:spPr>
      </p:sp>
      <p:sp>
        <p:nvSpPr>
          <p:cNvPr id="45" name="Shape 42"/>
          <p:cNvSpPr/>
          <p:nvPr/>
        </p:nvSpPr>
        <p:spPr>
          <a:xfrm>
            <a:off x="6675120" y="2057400"/>
            <a:ext cx="219456" cy="457200"/>
          </a:xfrm>
          <a:prstGeom prst="rect">
            <a:avLst/>
          </a:prstGeom>
          <a:solidFill>
            <a:srgbClr val="CB7B6A"/>
          </a:solidFill>
          <a:ln w="6350">
            <a:solidFill>
              <a:srgbClr val="FFFFFF"/>
            </a:solidFill>
            <a:prstDash val="solid"/>
          </a:ln>
        </p:spPr>
      </p:sp>
      <p:sp>
        <p:nvSpPr>
          <p:cNvPr id="46" name="Shape 43"/>
          <p:cNvSpPr/>
          <p:nvPr/>
        </p:nvSpPr>
        <p:spPr>
          <a:xfrm>
            <a:off x="6894576" y="2057400"/>
            <a:ext cx="219456" cy="457200"/>
          </a:xfrm>
          <a:prstGeom prst="rect">
            <a:avLst/>
          </a:prstGeom>
          <a:solidFill>
            <a:srgbClr val="E5BDB4"/>
          </a:solidFill>
          <a:ln w="6350">
            <a:solidFill>
              <a:srgbClr val="FFFFFF"/>
            </a:solidFill>
            <a:prstDash val="solid"/>
          </a:ln>
        </p:spPr>
      </p:sp>
      <p:sp>
        <p:nvSpPr>
          <p:cNvPr id="47" name="Shape 44"/>
          <p:cNvSpPr/>
          <p:nvPr/>
        </p:nvSpPr>
        <p:spPr>
          <a:xfrm>
            <a:off x="7114032" y="2057400"/>
            <a:ext cx="219456" cy="457200"/>
          </a:xfrm>
          <a:prstGeom prst="rect">
            <a:avLst/>
          </a:prstGeom>
          <a:solidFill>
            <a:srgbClr val="6D8EAD"/>
          </a:solidFill>
          <a:ln w="6350">
            <a:solidFill>
              <a:srgbClr val="FFFFFF"/>
            </a:solidFill>
            <a:prstDash val="solid"/>
          </a:ln>
        </p:spPr>
      </p:sp>
      <p:sp>
        <p:nvSpPr>
          <p:cNvPr id="48" name="Shape 45"/>
          <p:cNvSpPr/>
          <p:nvPr/>
        </p:nvSpPr>
        <p:spPr>
          <a:xfrm>
            <a:off x="7333488" y="2057400"/>
            <a:ext cx="219456" cy="457200"/>
          </a:xfrm>
          <a:prstGeom prst="rect">
            <a:avLst/>
          </a:prstGeom>
          <a:solidFill>
            <a:srgbClr val="E1B4AA"/>
          </a:solidFill>
          <a:ln w="6350">
            <a:solidFill>
              <a:srgbClr val="FFFFFF"/>
            </a:solidFill>
            <a:prstDash val="solid"/>
          </a:ln>
        </p:spPr>
      </p:sp>
      <p:sp>
        <p:nvSpPr>
          <p:cNvPr id="49" name="Shape 46"/>
          <p:cNvSpPr/>
          <p:nvPr/>
        </p:nvSpPr>
        <p:spPr>
          <a:xfrm>
            <a:off x="7552944" y="2057400"/>
            <a:ext cx="219456" cy="457200"/>
          </a:xfrm>
          <a:prstGeom prst="rect">
            <a:avLst/>
          </a:prstGeom>
          <a:solidFill>
            <a:srgbClr val="E9C7BF"/>
          </a:solidFill>
          <a:ln w="6350">
            <a:solidFill>
              <a:srgbClr val="FFFFFF"/>
            </a:solidFill>
            <a:prstDash val="solid"/>
          </a:ln>
        </p:spPr>
      </p:sp>
      <p:sp>
        <p:nvSpPr>
          <p:cNvPr id="50" name="Shape 47"/>
          <p:cNvSpPr/>
          <p:nvPr/>
        </p:nvSpPr>
        <p:spPr>
          <a:xfrm>
            <a:off x="7772400" y="2057400"/>
            <a:ext cx="219456" cy="457200"/>
          </a:xfrm>
          <a:prstGeom prst="rect">
            <a:avLst/>
          </a:prstGeom>
          <a:solidFill>
            <a:srgbClr val="CBD7E2"/>
          </a:solidFill>
          <a:ln w="6350">
            <a:solidFill>
              <a:srgbClr val="FFFFFF"/>
            </a:solidFill>
            <a:prstDash val="solid"/>
          </a:ln>
        </p:spPr>
      </p:sp>
      <p:sp>
        <p:nvSpPr>
          <p:cNvPr id="51" name="Shape 48"/>
          <p:cNvSpPr/>
          <p:nvPr/>
        </p:nvSpPr>
        <p:spPr>
          <a:xfrm>
            <a:off x="7991856" y="2057400"/>
            <a:ext cx="219456" cy="457200"/>
          </a:xfrm>
          <a:prstGeom prst="rect">
            <a:avLst/>
          </a:prstGeom>
          <a:solidFill>
            <a:srgbClr val="DAA195"/>
          </a:solidFill>
          <a:ln w="6350">
            <a:solidFill>
              <a:srgbClr val="FFFFFF"/>
            </a:solidFill>
            <a:prstDash val="solid"/>
          </a:ln>
        </p:spPr>
      </p:sp>
      <p:sp>
        <p:nvSpPr>
          <p:cNvPr id="52" name="Shape 49"/>
          <p:cNvSpPr/>
          <p:nvPr/>
        </p:nvSpPr>
        <p:spPr>
          <a:xfrm>
            <a:off x="8211312" y="2057400"/>
            <a:ext cx="219456" cy="457200"/>
          </a:xfrm>
          <a:prstGeom prst="rect">
            <a:avLst/>
          </a:prstGeom>
          <a:solidFill>
            <a:srgbClr val="C1CEDC"/>
          </a:solidFill>
          <a:ln w="6350">
            <a:solidFill>
              <a:srgbClr val="FFFFFF"/>
            </a:solidFill>
            <a:prstDash val="solid"/>
          </a:ln>
        </p:spPr>
      </p:sp>
      <p:sp>
        <p:nvSpPr>
          <p:cNvPr id="53" name="Shape 50"/>
          <p:cNvSpPr/>
          <p:nvPr/>
        </p:nvSpPr>
        <p:spPr>
          <a:xfrm>
            <a:off x="8430768" y="2057400"/>
            <a:ext cx="219456" cy="457200"/>
          </a:xfrm>
          <a:prstGeom prst="rect">
            <a:avLst/>
          </a:prstGeom>
          <a:solidFill>
            <a:srgbClr val="FBF6F4"/>
          </a:solidFill>
          <a:ln w="6350">
            <a:solidFill>
              <a:srgbClr val="FFFFFF"/>
            </a:solidFill>
            <a:prstDash val="solid"/>
          </a:ln>
        </p:spPr>
      </p:sp>
      <p:sp>
        <p:nvSpPr>
          <p:cNvPr id="54" name="Text 51"/>
          <p:cNvSpPr txBox="1"/>
          <p:nvPr/>
        </p:nvSpPr>
        <p:spPr>
          <a:xfrm>
            <a:off x="457200" y="2743200"/>
            <a:ext cx="2743200" cy="457200"/>
          </a:xfrm>
          <a:prstGeom prst="rect">
            <a:avLst/>
          </a:prstGeom>
          <a:noFill/>
        </p:spPr>
        <p:txBody>
          <a:bodyPr wrap="square" lIns="0" tIns="0" rIns="0" bIns="0" rtlCol="0" anchor="ctr"/>
          <a:lstStyle/>
          <a:p>
            <a:pPr marL="0" indent="0">
              <a:buNone/>
            </a:pPr>
            <a:r>
              <a:rPr lang="en-US" sz="1400" b="1" dirty="0">
                <a:solidFill>
                  <a:srgbClr val="B5432A"/>
                </a:solidFill>
              </a:rPr>
              <a:t>C   </a:t>
            </a:r>
            <a:r>
              <a:rPr lang="en-US" sz="1400" dirty="0">
                <a:solidFill>
                  <a:schemeClr val="tx1"/>
                </a:solidFill>
              </a:rPr>
              <a:t>Guided tours of the pyramids</a:t>
            </a:r>
            <a:endParaRPr lang="en-US" sz="1400" dirty="0"/>
          </a:p>
        </p:txBody>
      </p:sp>
      <p:sp>
        <p:nvSpPr>
          <p:cNvPr id="55" name="Shape 52"/>
          <p:cNvSpPr/>
          <p:nvPr/>
        </p:nvSpPr>
        <p:spPr>
          <a:xfrm>
            <a:off x="3383280" y="2743200"/>
            <a:ext cx="219456" cy="457200"/>
          </a:xfrm>
          <a:prstGeom prst="rect">
            <a:avLst/>
          </a:prstGeom>
          <a:solidFill>
            <a:srgbClr val="97AEC5"/>
          </a:solidFill>
          <a:ln w="6350">
            <a:solidFill>
              <a:srgbClr val="FFFFFF"/>
            </a:solidFill>
            <a:prstDash val="solid"/>
          </a:ln>
        </p:spPr>
      </p:sp>
      <p:sp>
        <p:nvSpPr>
          <p:cNvPr id="56" name="Shape 53"/>
          <p:cNvSpPr/>
          <p:nvPr/>
        </p:nvSpPr>
        <p:spPr>
          <a:xfrm>
            <a:off x="3602736" y="2743200"/>
            <a:ext cx="219456" cy="457200"/>
          </a:xfrm>
          <a:prstGeom prst="rect">
            <a:avLst/>
          </a:prstGeom>
          <a:solidFill>
            <a:srgbClr val="CB7B6A"/>
          </a:solidFill>
          <a:ln w="6350">
            <a:solidFill>
              <a:srgbClr val="FFFFFF"/>
            </a:solidFill>
            <a:prstDash val="solid"/>
          </a:ln>
        </p:spPr>
      </p:sp>
      <p:sp>
        <p:nvSpPr>
          <p:cNvPr id="57" name="Shape 54"/>
          <p:cNvSpPr/>
          <p:nvPr/>
        </p:nvSpPr>
        <p:spPr>
          <a:xfrm>
            <a:off x="3822192" y="2743200"/>
            <a:ext cx="219456" cy="457200"/>
          </a:xfrm>
          <a:prstGeom prst="rect">
            <a:avLst/>
          </a:prstGeom>
          <a:solidFill>
            <a:srgbClr val="D5DFE8"/>
          </a:solidFill>
          <a:ln w="6350">
            <a:solidFill>
              <a:srgbClr val="FFFFFF"/>
            </a:solidFill>
            <a:prstDash val="solid"/>
          </a:ln>
        </p:spPr>
      </p:sp>
      <p:sp>
        <p:nvSpPr>
          <p:cNvPr id="58" name="Shape 55"/>
          <p:cNvSpPr/>
          <p:nvPr/>
        </p:nvSpPr>
        <p:spPr>
          <a:xfrm>
            <a:off x="4041648" y="2743200"/>
            <a:ext cx="219456" cy="457200"/>
          </a:xfrm>
          <a:prstGeom prst="rect">
            <a:avLst/>
          </a:prstGeom>
          <a:solidFill>
            <a:srgbClr val="D38E7F"/>
          </a:solidFill>
          <a:ln w="6350">
            <a:solidFill>
              <a:srgbClr val="FFFFFF"/>
            </a:solidFill>
            <a:prstDash val="solid"/>
          </a:ln>
        </p:spPr>
      </p:sp>
      <p:sp>
        <p:nvSpPr>
          <p:cNvPr id="59" name="Shape 56"/>
          <p:cNvSpPr/>
          <p:nvPr/>
        </p:nvSpPr>
        <p:spPr>
          <a:xfrm>
            <a:off x="4261104" y="2743200"/>
            <a:ext cx="219456" cy="457200"/>
          </a:xfrm>
          <a:prstGeom prst="rect">
            <a:avLst/>
          </a:prstGeom>
          <a:solidFill>
            <a:srgbClr val="E1B4AA"/>
          </a:solidFill>
          <a:ln w="6350">
            <a:solidFill>
              <a:srgbClr val="FFFFFF"/>
            </a:solidFill>
            <a:prstDash val="solid"/>
          </a:ln>
        </p:spPr>
      </p:sp>
      <p:sp>
        <p:nvSpPr>
          <p:cNvPr id="60" name="Shape 57"/>
          <p:cNvSpPr/>
          <p:nvPr/>
        </p:nvSpPr>
        <p:spPr>
          <a:xfrm>
            <a:off x="4480560" y="2743200"/>
            <a:ext cx="219456" cy="457200"/>
          </a:xfrm>
          <a:prstGeom prst="rect">
            <a:avLst/>
          </a:prstGeom>
          <a:solidFill>
            <a:srgbClr val="829EB9"/>
          </a:solidFill>
          <a:ln w="6350">
            <a:solidFill>
              <a:srgbClr val="FFFFFF"/>
            </a:solidFill>
            <a:prstDash val="solid"/>
          </a:ln>
        </p:spPr>
      </p:sp>
      <p:sp>
        <p:nvSpPr>
          <p:cNvPr id="61" name="Shape 58"/>
          <p:cNvSpPr/>
          <p:nvPr/>
        </p:nvSpPr>
        <p:spPr>
          <a:xfrm>
            <a:off x="4700016" y="2743200"/>
            <a:ext cx="219456" cy="457200"/>
          </a:xfrm>
          <a:prstGeom prst="rect">
            <a:avLst/>
          </a:prstGeom>
          <a:solidFill>
            <a:srgbClr val="C46955"/>
          </a:solidFill>
          <a:ln w="6350">
            <a:solidFill>
              <a:srgbClr val="FFFFFF"/>
            </a:solidFill>
            <a:prstDash val="solid"/>
          </a:ln>
        </p:spPr>
      </p:sp>
      <p:sp>
        <p:nvSpPr>
          <p:cNvPr id="62" name="Shape 59"/>
          <p:cNvSpPr/>
          <p:nvPr/>
        </p:nvSpPr>
        <p:spPr>
          <a:xfrm>
            <a:off x="4919472" y="2743200"/>
            <a:ext cx="219456" cy="457200"/>
          </a:xfrm>
          <a:prstGeom prst="rect">
            <a:avLst/>
          </a:prstGeom>
          <a:solidFill>
            <a:srgbClr val="C1CEDC"/>
          </a:solidFill>
          <a:ln w="6350">
            <a:solidFill>
              <a:srgbClr val="FFFFFF"/>
            </a:solidFill>
            <a:prstDash val="solid"/>
          </a:ln>
        </p:spPr>
      </p:sp>
      <p:sp>
        <p:nvSpPr>
          <p:cNvPr id="63" name="Shape 60"/>
          <p:cNvSpPr/>
          <p:nvPr/>
        </p:nvSpPr>
        <p:spPr>
          <a:xfrm>
            <a:off x="5138928" y="2743200"/>
            <a:ext cx="219456" cy="457200"/>
          </a:xfrm>
          <a:prstGeom prst="rect">
            <a:avLst/>
          </a:prstGeom>
          <a:solidFill>
            <a:srgbClr val="F8ECEA"/>
          </a:solidFill>
          <a:ln w="6350">
            <a:solidFill>
              <a:srgbClr val="FFFFFF"/>
            </a:solidFill>
            <a:prstDash val="solid"/>
          </a:ln>
        </p:spPr>
      </p:sp>
      <p:sp>
        <p:nvSpPr>
          <p:cNvPr id="64" name="Shape 61"/>
          <p:cNvSpPr/>
          <p:nvPr/>
        </p:nvSpPr>
        <p:spPr>
          <a:xfrm>
            <a:off x="5358384" y="2743200"/>
            <a:ext cx="219456" cy="457200"/>
          </a:xfrm>
          <a:prstGeom prst="rect">
            <a:avLst/>
          </a:prstGeom>
          <a:solidFill>
            <a:srgbClr val="DAA195"/>
          </a:solidFill>
          <a:ln w="6350">
            <a:solidFill>
              <a:srgbClr val="FFFFFF"/>
            </a:solidFill>
            <a:prstDash val="solid"/>
          </a:ln>
        </p:spPr>
      </p:sp>
      <p:sp>
        <p:nvSpPr>
          <p:cNvPr id="65" name="Shape 62"/>
          <p:cNvSpPr/>
          <p:nvPr/>
        </p:nvSpPr>
        <p:spPr>
          <a:xfrm>
            <a:off x="5577840" y="2743200"/>
            <a:ext cx="219456" cy="457200"/>
          </a:xfrm>
          <a:prstGeom prst="rect">
            <a:avLst/>
          </a:prstGeom>
          <a:solidFill>
            <a:srgbClr val="6D8EAD"/>
          </a:solidFill>
          <a:ln w="6350">
            <a:solidFill>
              <a:srgbClr val="FFFFFF"/>
            </a:solidFill>
            <a:prstDash val="solid"/>
          </a:ln>
        </p:spPr>
      </p:sp>
      <p:sp>
        <p:nvSpPr>
          <p:cNvPr id="66" name="Shape 63"/>
          <p:cNvSpPr/>
          <p:nvPr/>
        </p:nvSpPr>
        <p:spPr>
          <a:xfrm>
            <a:off x="5797296" y="2743200"/>
            <a:ext cx="219456" cy="457200"/>
          </a:xfrm>
          <a:prstGeom prst="rect">
            <a:avLst/>
          </a:prstGeom>
          <a:solidFill>
            <a:srgbClr val="F0D9D4"/>
          </a:solidFill>
          <a:ln w="6350">
            <a:solidFill>
              <a:srgbClr val="FFFFFF"/>
            </a:solidFill>
            <a:prstDash val="solid"/>
          </a:ln>
        </p:spPr>
      </p:sp>
      <p:sp>
        <p:nvSpPr>
          <p:cNvPr id="67" name="Shape 64"/>
          <p:cNvSpPr/>
          <p:nvPr/>
        </p:nvSpPr>
        <p:spPr>
          <a:xfrm>
            <a:off x="6016752" y="2743200"/>
            <a:ext cx="219456" cy="457200"/>
          </a:xfrm>
          <a:prstGeom prst="rect">
            <a:avLst/>
          </a:prstGeom>
          <a:solidFill>
            <a:srgbClr val="D38E7F"/>
          </a:solidFill>
          <a:ln w="6350">
            <a:solidFill>
              <a:srgbClr val="FFFFFF"/>
            </a:solidFill>
            <a:prstDash val="solid"/>
          </a:ln>
        </p:spPr>
      </p:sp>
      <p:sp>
        <p:nvSpPr>
          <p:cNvPr id="68" name="Shape 65"/>
          <p:cNvSpPr/>
          <p:nvPr/>
        </p:nvSpPr>
        <p:spPr>
          <a:xfrm>
            <a:off x="6236208" y="2743200"/>
            <a:ext cx="219456" cy="457200"/>
          </a:xfrm>
          <a:prstGeom prst="rect">
            <a:avLst/>
          </a:prstGeom>
          <a:solidFill>
            <a:srgbClr val="EAEFF3"/>
          </a:solidFill>
          <a:ln w="6350">
            <a:solidFill>
              <a:srgbClr val="FFFFFF"/>
            </a:solidFill>
            <a:prstDash val="solid"/>
          </a:ln>
        </p:spPr>
      </p:sp>
      <p:sp>
        <p:nvSpPr>
          <p:cNvPr id="69" name="Shape 66"/>
          <p:cNvSpPr/>
          <p:nvPr/>
        </p:nvSpPr>
        <p:spPr>
          <a:xfrm>
            <a:off x="6455664" y="2743200"/>
            <a:ext cx="219456" cy="457200"/>
          </a:xfrm>
          <a:prstGeom prst="rect">
            <a:avLst/>
          </a:prstGeom>
          <a:solidFill>
            <a:srgbClr val="597DA1"/>
          </a:solidFill>
          <a:ln w="6350">
            <a:solidFill>
              <a:srgbClr val="FFFFFF"/>
            </a:solidFill>
            <a:prstDash val="solid"/>
          </a:ln>
        </p:spPr>
      </p:sp>
      <p:sp>
        <p:nvSpPr>
          <p:cNvPr id="70" name="Shape 67"/>
          <p:cNvSpPr/>
          <p:nvPr/>
        </p:nvSpPr>
        <p:spPr>
          <a:xfrm>
            <a:off x="6675120" y="2743200"/>
            <a:ext cx="219456" cy="457200"/>
          </a:xfrm>
          <a:prstGeom prst="rect">
            <a:avLst/>
          </a:prstGeom>
          <a:solidFill>
            <a:srgbClr val="E9C7BF"/>
          </a:solidFill>
          <a:ln w="6350">
            <a:solidFill>
              <a:srgbClr val="FFFFFF"/>
            </a:solidFill>
            <a:prstDash val="solid"/>
          </a:ln>
        </p:spPr>
      </p:sp>
      <p:sp>
        <p:nvSpPr>
          <p:cNvPr id="71" name="Shape 68"/>
          <p:cNvSpPr/>
          <p:nvPr/>
        </p:nvSpPr>
        <p:spPr>
          <a:xfrm>
            <a:off x="6894576" y="2743200"/>
            <a:ext cx="219456" cy="457200"/>
          </a:xfrm>
          <a:prstGeom prst="rect">
            <a:avLst/>
          </a:prstGeom>
          <a:solidFill>
            <a:srgbClr val="CB7B6A"/>
          </a:solidFill>
          <a:ln w="6350">
            <a:solidFill>
              <a:srgbClr val="FFFFFF"/>
            </a:solidFill>
            <a:prstDash val="solid"/>
          </a:ln>
        </p:spPr>
      </p:sp>
      <p:sp>
        <p:nvSpPr>
          <p:cNvPr id="72" name="Shape 69"/>
          <p:cNvSpPr/>
          <p:nvPr/>
        </p:nvSpPr>
        <p:spPr>
          <a:xfrm>
            <a:off x="7114032" y="2743200"/>
            <a:ext cx="219456" cy="457200"/>
          </a:xfrm>
          <a:prstGeom prst="rect">
            <a:avLst/>
          </a:prstGeom>
          <a:solidFill>
            <a:srgbClr val="F8ECEA"/>
          </a:solidFill>
          <a:ln w="6350">
            <a:solidFill>
              <a:srgbClr val="FFFFFF"/>
            </a:solidFill>
            <a:prstDash val="solid"/>
          </a:ln>
        </p:spPr>
      </p:sp>
      <p:sp>
        <p:nvSpPr>
          <p:cNvPr id="73" name="Shape 70"/>
          <p:cNvSpPr/>
          <p:nvPr/>
        </p:nvSpPr>
        <p:spPr>
          <a:xfrm>
            <a:off x="7333488" y="2743200"/>
            <a:ext cx="219456" cy="457200"/>
          </a:xfrm>
          <a:prstGeom prst="rect">
            <a:avLst/>
          </a:prstGeom>
          <a:solidFill>
            <a:srgbClr val="ACBED0"/>
          </a:solidFill>
          <a:ln w="6350">
            <a:solidFill>
              <a:srgbClr val="FFFFFF"/>
            </a:solidFill>
            <a:prstDash val="solid"/>
          </a:ln>
        </p:spPr>
      </p:sp>
      <p:sp>
        <p:nvSpPr>
          <p:cNvPr id="74" name="Shape 71"/>
          <p:cNvSpPr/>
          <p:nvPr/>
        </p:nvSpPr>
        <p:spPr>
          <a:xfrm>
            <a:off x="7552944" y="2743200"/>
            <a:ext cx="219456" cy="457200"/>
          </a:xfrm>
          <a:prstGeom prst="rect">
            <a:avLst/>
          </a:prstGeom>
          <a:solidFill>
            <a:srgbClr val="829EB9"/>
          </a:solidFill>
          <a:ln w="6350">
            <a:solidFill>
              <a:srgbClr val="FFFFFF"/>
            </a:solidFill>
            <a:prstDash val="solid"/>
          </a:ln>
        </p:spPr>
      </p:sp>
      <p:sp>
        <p:nvSpPr>
          <p:cNvPr id="75" name="Shape 72"/>
          <p:cNvSpPr/>
          <p:nvPr/>
        </p:nvSpPr>
        <p:spPr>
          <a:xfrm>
            <a:off x="7772400" y="2743200"/>
            <a:ext cx="219456" cy="457200"/>
          </a:xfrm>
          <a:prstGeom prst="rect">
            <a:avLst/>
          </a:prstGeom>
          <a:solidFill>
            <a:srgbClr val="DAA195"/>
          </a:solidFill>
          <a:ln w="6350">
            <a:solidFill>
              <a:srgbClr val="FFFFFF"/>
            </a:solidFill>
            <a:prstDash val="solid"/>
          </a:ln>
        </p:spPr>
      </p:sp>
      <p:sp>
        <p:nvSpPr>
          <p:cNvPr id="76" name="Shape 73"/>
          <p:cNvSpPr/>
          <p:nvPr/>
        </p:nvSpPr>
        <p:spPr>
          <a:xfrm>
            <a:off x="7991856" y="2743200"/>
            <a:ext cx="219456" cy="457200"/>
          </a:xfrm>
          <a:prstGeom prst="rect">
            <a:avLst/>
          </a:prstGeom>
          <a:solidFill>
            <a:srgbClr val="D5DFE8"/>
          </a:solidFill>
          <a:ln w="6350">
            <a:solidFill>
              <a:srgbClr val="FFFFFF"/>
            </a:solidFill>
            <a:prstDash val="solid"/>
          </a:ln>
        </p:spPr>
      </p:sp>
      <p:sp>
        <p:nvSpPr>
          <p:cNvPr id="77" name="Shape 74"/>
          <p:cNvSpPr/>
          <p:nvPr/>
        </p:nvSpPr>
        <p:spPr>
          <a:xfrm>
            <a:off x="8211312" y="2743200"/>
            <a:ext cx="219456" cy="457200"/>
          </a:xfrm>
          <a:prstGeom prst="rect">
            <a:avLst/>
          </a:prstGeom>
          <a:solidFill>
            <a:srgbClr val="C46955"/>
          </a:solidFill>
          <a:ln w="6350">
            <a:solidFill>
              <a:srgbClr val="FFFFFF"/>
            </a:solidFill>
            <a:prstDash val="solid"/>
          </a:ln>
        </p:spPr>
      </p:sp>
      <p:sp>
        <p:nvSpPr>
          <p:cNvPr id="78" name="Shape 75"/>
          <p:cNvSpPr/>
          <p:nvPr/>
        </p:nvSpPr>
        <p:spPr>
          <a:xfrm>
            <a:off x="8430768" y="2743200"/>
            <a:ext cx="219456" cy="457200"/>
          </a:xfrm>
          <a:prstGeom prst="rect">
            <a:avLst/>
          </a:prstGeom>
          <a:solidFill>
            <a:srgbClr val="97AEC5"/>
          </a:solidFill>
          <a:ln w="6350">
            <a:solidFill>
              <a:srgbClr val="FFFFFF"/>
            </a:solidFill>
            <a:prstDash val="solid"/>
          </a:ln>
        </p:spPr>
      </p:sp>
      <p:sp>
        <p:nvSpPr>
          <p:cNvPr id="79" name="Text 76"/>
          <p:cNvSpPr txBox="1"/>
          <p:nvPr/>
        </p:nvSpPr>
        <p:spPr>
          <a:xfrm>
            <a:off x="3383280" y="3474720"/>
            <a:ext cx="5303520" cy="274320"/>
          </a:xfrm>
          <a:prstGeom prst="rect">
            <a:avLst/>
          </a:prstGeom>
          <a:noFill/>
        </p:spPr>
        <p:txBody>
          <a:bodyPr wrap="square" lIns="0" tIns="0" rIns="0" bIns="0" rtlCol="0" anchor="t"/>
          <a:lstStyle/>
          <a:p>
            <a:pPr marL="0" indent="0">
              <a:buNone/>
            </a:pPr>
            <a:r>
              <a:rPr lang="en-US" sz="1100" i="1" dirty="0">
                <a:solidFill>
                  <a:schemeClr val="accent5"/>
                </a:solidFill>
                <a:latin typeface="Cambria" panose="02040503050406030204" pitchFamily="34" charset="0"/>
                <a:ea typeface="Cambria" panose="02040503050406030204" pitchFamily="34" charset="-122"/>
                <a:cs typeface="Cambria" panose="02040503050406030204" pitchFamily="34" charset="-120"/>
              </a:rPr>
              <a:t>Figure 1.3  24 of 384 values per sentence (illustrative). Red = positive, blue = negative.</a:t>
            </a:r>
            <a:endParaRPr lang="en-US" sz="1100" dirty="0"/>
          </a:p>
        </p:txBody>
      </p:sp>
      <p:sp>
        <p:nvSpPr>
          <p:cNvPr id="80" name="Text 77"/>
          <p:cNvSpPr txBox="1"/>
          <p:nvPr/>
        </p:nvSpPr>
        <p:spPr>
          <a:xfrm>
            <a:off x="457200" y="3657600"/>
            <a:ext cx="3840480" cy="365760"/>
          </a:xfrm>
          <a:prstGeom prst="rect">
            <a:avLst/>
          </a:prstGeom>
          <a:noFill/>
        </p:spPr>
        <p:txBody>
          <a:bodyPr wrap="square" lIns="0" tIns="0" rIns="0" bIns="0" rtlCol="0" anchor="t"/>
          <a:lstStyle/>
          <a:p>
            <a:pPr marL="0" indent="0">
              <a:buNone/>
            </a:pPr>
            <a:r>
              <a:rPr lang="en-US" sz="2000" b="1" dirty="0">
                <a:solidFill>
                  <a:srgbClr val="3B7A57"/>
                </a:solidFill>
                <a:latin typeface="Cambria" panose="02040503050406030204" pitchFamily="34" charset="0"/>
                <a:ea typeface="Cambria" panose="02040503050406030204" pitchFamily="34" charset="-122"/>
                <a:cs typeface="Cambria" panose="02040503050406030204" pitchFamily="34" charset="-120"/>
              </a:rPr>
              <a:t>cosine(A, B) = 0.98</a:t>
            </a:r>
            <a:endParaRPr lang="en-US" sz="2000" dirty="0"/>
          </a:p>
        </p:txBody>
      </p:sp>
      <p:sp>
        <p:nvSpPr>
          <p:cNvPr id="81" name="Text 78"/>
          <p:cNvSpPr txBox="1"/>
          <p:nvPr/>
        </p:nvSpPr>
        <p:spPr>
          <a:xfrm>
            <a:off x="4480560" y="3657600"/>
            <a:ext cx="4206240" cy="365760"/>
          </a:xfrm>
          <a:prstGeom prst="rect">
            <a:avLst/>
          </a:prstGeom>
          <a:noFill/>
        </p:spPr>
        <p:txBody>
          <a:bodyPr wrap="square" lIns="0" tIns="0" rIns="0" bIns="0" rtlCol="0" anchor="t"/>
          <a:lstStyle/>
          <a:p>
            <a:pPr marL="0" indent="0">
              <a:buNone/>
            </a:pPr>
            <a:r>
              <a:rPr lang="en-US" sz="2000" b="1" dirty="0">
                <a:solidFill>
                  <a:srgbClr val="B5432A"/>
                </a:solidFill>
                <a:latin typeface="Cambria" panose="02040503050406030204" pitchFamily="34" charset="0"/>
                <a:ea typeface="Cambria" panose="02040503050406030204" pitchFamily="34" charset="-122"/>
                <a:cs typeface="Cambria" panose="02040503050406030204" pitchFamily="34" charset="-120"/>
              </a:rPr>
              <a:t>cosine(A, C) = -0.31</a:t>
            </a:r>
            <a:endParaRPr lang="en-US" sz="2000" dirty="0"/>
          </a:p>
        </p:txBody>
      </p:sp>
      <p:sp>
        <p:nvSpPr>
          <p:cNvPr id="82" name="Text 79"/>
          <p:cNvSpPr txBox="1"/>
          <p:nvPr/>
        </p:nvSpPr>
        <p:spPr>
          <a:xfrm>
            <a:off x="457200" y="4114800"/>
            <a:ext cx="8229600" cy="548640"/>
          </a:xfrm>
          <a:prstGeom prst="rect">
            <a:avLst/>
          </a:prstGeom>
          <a:noFill/>
        </p:spPr>
        <p:txBody>
          <a:bodyPr wrap="square" lIns="0" tIns="0" rIns="0" bIns="0" rtlCol="0" anchor="t"/>
          <a:lstStyle/>
          <a:p>
            <a:pPr marL="0" indent="0">
              <a:buNone/>
            </a:pPr>
            <a:r>
              <a:rPr lang="en-US" sz="1400" dirty="0">
                <a:solidFill>
                  <a:schemeClr val="tx1"/>
                </a:solidFill>
              </a:rPr>
              <a:t>Similar meaning gives similar patterns, so the score is high. Unrelated meaning gives a much lower score, near zero or below. We study these metrics in Session 3.</a:t>
            </a:r>
            <a:endParaRPr lang="en-US" sz="1400" dirty="0"/>
          </a:p>
        </p:txBody>
      </p:sp>
      <p:sp>
        <p:nvSpPr>
          <p:cNvPr id="3"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5"/>
                </a:solidFill>
              </a:defRPr>
            </a:lvl1pPr>
          </a:lstStyle>
          <a:p>
            <a:pPr algn="l"/>
            <a:fld id="{F7021451-1387-4CA6-816F-3879F97B5CBC}" type="slidenum">
              <a:rPr lang="en-US" b="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320040"/>
            <a:ext cx="8229600" cy="731520"/>
          </a:xfrm>
          <a:prstGeom prst="rect">
            <a:avLst/>
          </a:prstGeom>
          <a:noFill/>
        </p:spPr>
        <p:txBody>
          <a:bodyPr wrap="square" lIns="0" tIns="0" rIns="0" bIns="0" rtlCol="0" anchor="ctr"/>
          <a:lstStyle/>
          <a:p>
            <a:pPr marL="0" indent="0" algn="l">
              <a:buNone/>
            </a:pPr>
            <a:r>
              <a:rPr lang="en-US" sz="3000" b="1" dirty="0">
                <a:solidFill>
                  <a:schemeClr val="tx1"/>
                </a:solidFill>
              </a:rPr>
              <a:t>What a vector database stores</a:t>
            </a:r>
            <a:endParaRPr lang="en-US" sz="3000" dirty="0"/>
          </a:p>
        </p:txBody>
      </p:sp>
      <p:sp>
        <p:nvSpPr>
          <p:cNvPr id="4" name="Shape 1"/>
          <p:cNvSpPr/>
          <p:nvPr/>
        </p:nvSpPr>
        <p:spPr>
          <a:xfrm>
            <a:off x="457200" y="1280160"/>
            <a:ext cx="3657600" cy="1828800"/>
          </a:xfrm>
          <a:prstGeom prst="rect">
            <a:avLst/>
          </a:prstGeom>
          <a:solidFill>
            <a:schemeClr val="bg1"/>
          </a:solidFill>
          <a:ln w="12700">
            <a:solidFill>
              <a:schemeClr val="accent6"/>
            </a:solidFill>
            <a:prstDash val="solid"/>
          </a:ln>
        </p:spPr>
      </p:sp>
      <p:sp>
        <p:nvSpPr>
          <p:cNvPr id="5" name="Text 2"/>
          <p:cNvSpPr txBox="1"/>
          <p:nvPr/>
        </p:nvSpPr>
        <p:spPr>
          <a:xfrm>
            <a:off x="640080" y="1389888"/>
            <a:ext cx="3291840" cy="228600"/>
          </a:xfrm>
          <a:prstGeom prst="rect">
            <a:avLst/>
          </a:prstGeom>
          <a:noFill/>
        </p:spPr>
        <p:txBody>
          <a:bodyPr wrap="square" lIns="0" tIns="0" rIns="0" bIns="0" rtlCol="0" anchor="t"/>
          <a:lstStyle/>
          <a:p>
            <a:pPr marL="0" indent="0">
              <a:buNone/>
            </a:pPr>
            <a:r>
              <a:rPr lang="en-US" sz="1100" b="1" kern="0" spc="200" dirty="0">
                <a:solidFill>
                  <a:schemeClr val="accent1"/>
                </a:solidFill>
              </a:rPr>
              <a:t>DEFINITION 1.1</a:t>
            </a:r>
            <a:endParaRPr lang="en-US" sz="1100" dirty="0"/>
          </a:p>
        </p:txBody>
      </p:sp>
      <p:sp>
        <p:nvSpPr>
          <p:cNvPr id="6" name="Text 3"/>
          <p:cNvSpPr txBox="1"/>
          <p:nvPr/>
        </p:nvSpPr>
        <p:spPr>
          <a:xfrm>
            <a:off x="640080" y="1691640"/>
            <a:ext cx="3291840" cy="1371600"/>
          </a:xfrm>
          <a:prstGeom prst="rect">
            <a:avLst/>
          </a:prstGeom>
          <a:noFill/>
        </p:spPr>
        <p:txBody>
          <a:bodyPr wrap="square" lIns="0" tIns="0" rIns="0" bIns="0" rtlCol="0" anchor="t"/>
          <a:lstStyle/>
          <a:p>
            <a:pPr marL="0" indent="0">
              <a:buNone/>
            </a:pPr>
            <a:r>
              <a:rPr lang="en-US" sz="1500" dirty="0">
                <a:solidFill>
                  <a:schemeClr val="tx1"/>
                </a:solidFill>
                <a:latin typeface="Cambria" panose="02040503050406030204" pitchFamily="34" charset="0"/>
                <a:ea typeface="Cambria" panose="02040503050406030204" pitchFamily="34" charset="-122"/>
                <a:cs typeface="Cambria" panose="02040503050406030204" pitchFamily="34" charset="-120"/>
              </a:rPr>
              <a:t>A vector database stores embeddings with their source data, builds an index over them, and returns the nearest neighbors of a query vector, optionally filtered by metadata.</a:t>
            </a:r>
            <a:endParaRPr lang="en-US" sz="1500" dirty="0"/>
          </a:p>
        </p:txBody>
      </p:sp>
      <p:sp>
        <p:nvSpPr>
          <p:cNvPr id="7" name="Text 4"/>
          <p:cNvSpPr txBox="1"/>
          <p:nvPr/>
        </p:nvSpPr>
        <p:spPr>
          <a:xfrm>
            <a:off x="457200" y="3337560"/>
            <a:ext cx="3657600" cy="1188720"/>
          </a:xfrm>
          <a:prstGeom prst="rect">
            <a:avLst/>
          </a:prstGeom>
          <a:noFill/>
        </p:spPr>
        <p:txBody>
          <a:bodyPr wrap="square" lIns="0" tIns="0" rIns="0" bIns="0" rtlCol="0" anchor="t"/>
          <a:lstStyle/>
          <a:p>
            <a:pPr marL="0" indent="0">
              <a:spcAft>
                <a:spcPts val="600"/>
              </a:spcAft>
              <a:buNone/>
            </a:pPr>
            <a:r>
              <a:rPr lang="en-US" sz="1500" b="1" dirty="0">
                <a:solidFill>
                  <a:schemeClr val="tx1"/>
                </a:solidFill>
              </a:rPr>
              <a:t>Store </a:t>
            </a:r>
            <a:r>
              <a:rPr lang="en-US" sz="1500" dirty="0">
                <a:solidFill>
                  <a:schemeClr val="tx1"/>
                </a:solidFill>
              </a:rPr>
              <a:t>vectors, documents, metadata</a:t>
            </a:r>
            <a:endParaRPr lang="en-US" sz="1500" dirty="0"/>
          </a:p>
          <a:p>
            <a:pPr marL="0" indent="0">
              <a:spcAft>
                <a:spcPts val="600"/>
              </a:spcAft>
              <a:buNone/>
            </a:pPr>
            <a:r>
              <a:rPr lang="en-US" sz="1500" b="1" dirty="0">
                <a:solidFill>
                  <a:schemeClr val="tx1"/>
                </a:solidFill>
              </a:rPr>
              <a:t>Index </a:t>
            </a:r>
            <a:r>
              <a:rPr lang="en-US" sz="1500" dirty="0">
                <a:solidFill>
                  <a:schemeClr val="tx1"/>
                </a:solidFill>
              </a:rPr>
              <a:t>ANN structures (Session 4)</a:t>
            </a:r>
            <a:endParaRPr lang="en-US" sz="1500" dirty="0"/>
          </a:p>
          <a:p>
            <a:pPr marL="0" indent="0">
              <a:spcAft>
                <a:spcPts val="600"/>
              </a:spcAft>
              <a:buNone/>
            </a:pPr>
            <a:r>
              <a:rPr lang="en-US" sz="1500" b="1" dirty="0">
                <a:solidFill>
                  <a:schemeClr val="tx1"/>
                </a:solidFill>
              </a:rPr>
              <a:t>Search </a:t>
            </a:r>
            <a:r>
              <a:rPr lang="en-US" sz="1500" dirty="0">
                <a:solidFill>
                  <a:schemeClr val="tx1"/>
                </a:solidFill>
              </a:rPr>
              <a:t>top-k by similarity, with filters</a:t>
            </a:r>
            <a:endParaRPr lang="en-US" sz="1500" dirty="0"/>
          </a:p>
        </p:txBody>
      </p:sp>
      <p:graphicFrame>
        <p:nvGraphicFramePr>
          <p:cNvPr id="10" name="Table 0"/>
          <p:cNvGraphicFramePr>
            <a:graphicFrameLocks noGrp="1"/>
          </p:cNvGraphicFramePr>
          <p:nvPr/>
        </p:nvGraphicFramePr>
        <p:xfrm>
          <a:off x="4480560" y="1280160"/>
          <a:ext cx="4206240" cy="2423160"/>
        </p:xfrm>
        <a:graphic>
          <a:graphicData uri="http://schemas.openxmlformats.org/drawingml/2006/table">
            <a:tbl>
              <a:tblPr/>
              <a:tblGrid>
                <a:gridCol w="411480"/>
                <a:gridCol w="1234440"/>
                <a:gridCol w="1554480"/>
                <a:gridCol w="1005840"/>
              </a:tblGrid>
              <a:tr h="365760">
                <a:tc>
                  <a:txBody>
                    <a:bodyP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id</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embedding</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document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metadata</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r>
              <a:tr h="685800">
                <a:tc>
                  <a:txBody>
                    <a:bodyPr/>
                    <a:lstStyle/>
                    <a:p>
                      <a:pPr marL="0" indent="0">
                        <a:buNone/>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d1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[0.12, -0.53, ...]</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Affordable hotels near the beach</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{city: Hurghada}</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685800">
                <a:tc>
                  <a:txBody>
                    <a:bodyPr/>
                    <a:lstStyle/>
                    <a:p>
                      <a:pPr marL="0" indent="0">
                        <a:buNone/>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d2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[0.40, 0.07, ...]</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Cheap flights to Cairo</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{type: flight}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685800">
                <a:tc>
                  <a:txBody>
                    <a:bodyPr/>
                    <a:lstStyle/>
                    <a:p>
                      <a:pPr marL="0" indent="0">
                        <a:buNone/>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d3</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[-0.21, 0.33, ...]</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Budget hostel for backpackers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200" dirty="0">
                          <a:solidFill>
                            <a:srgbClr val="1B2A41"/>
                          </a:solidFill>
                          <a:latin typeface="Calibri" panose="020F0502020204030204" pitchFamily="34" charset="0"/>
                          <a:ea typeface="Calibri" panose="020F0502020204030204" pitchFamily="34" charset="-122"/>
                          <a:cs typeface="Calibri" panose="020F0502020204030204" pitchFamily="34" charset="-120"/>
                        </a:rPr>
                        <a:t>{price: 12}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9" name="Text 5"/>
          <p:cNvSpPr txBox="1"/>
          <p:nvPr/>
        </p:nvSpPr>
        <p:spPr>
          <a:xfrm>
            <a:off x="4480560" y="3840480"/>
            <a:ext cx="4206240" cy="274320"/>
          </a:xfrm>
          <a:prstGeom prst="rect">
            <a:avLst/>
          </a:prstGeom>
          <a:noFill/>
        </p:spPr>
        <p:txBody>
          <a:bodyPr wrap="square" lIns="0" tIns="0" rIns="0" bIns="0" rtlCol="0" anchor="t"/>
          <a:lstStyle/>
          <a:p>
            <a:pPr marL="0" indent="0">
              <a:buNone/>
            </a:pPr>
            <a:r>
              <a:rPr lang="en-US" sz="1100" i="1" dirty="0">
                <a:solidFill>
                  <a:schemeClr val="accent5"/>
                </a:solidFill>
                <a:latin typeface="Cambria" panose="02040503050406030204" pitchFamily="34" charset="0"/>
                <a:ea typeface="Cambria" panose="02040503050406030204" pitchFamily="34" charset="-122"/>
                <a:cs typeface="Cambria" panose="02040503050406030204" pitchFamily="34" charset="-120"/>
              </a:rPr>
              <a:t>Table 1.1  One record per row; the vector has 384 or more values</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5"/>
                </a:solidFill>
              </a:defRPr>
            </a:lvl1pPr>
          </a:lstStyle>
          <a:p>
            <a:pPr algn="l"/>
            <a:fld id="{F7021451-1387-4CA6-816F-3879F97B5CBC}" type="slidenum">
              <a:rPr lang="en-US" b="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320040"/>
            <a:ext cx="8229600" cy="731520"/>
          </a:xfrm>
          <a:prstGeom prst="rect">
            <a:avLst/>
          </a:prstGeom>
          <a:noFill/>
        </p:spPr>
        <p:txBody>
          <a:bodyPr wrap="square" lIns="0" tIns="0" rIns="0" bIns="0" rtlCol="0" anchor="ctr"/>
          <a:lstStyle/>
          <a:p>
            <a:pPr marL="0" indent="0" algn="l">
              <a:buNone/>
            </a:pPr>
            <a:r>
              <a:rPr lang="en-US" sz="3000" b="1" dirty="0">
                <a:solidFill>
                  <a:schemeClr val="tx1"/>
                </a:solidFill>
              </a:rPr>
              <a:t>Two phases: ingest once, query often</a:t>
            </a:r>
            <a:endParaRPr lang="en-US" sz="3000" dirty="0"/>
          </a:p>
        </p:txBody>
      </p:sp>
      <p:sp>
        <p:nvSpPr>
          <p:cNvPr id="4" name="Text 1"/>
          <p:cNvSpPr txBox="1"/>
          <p:nvPr/>
        </p:nvSpPr>
        <p:spPr>
          <a:xfrm>
            <a:off x="457200" y="1600200"/>
            <a:ext cx="1280160" cy="274320"/>
          </a:xfrm>
          <a:prstGeom prst="rect">
            <a:avLst/>
          </a:prstGeom>
          <a:noFill/>
        </p:spPr>
        <p:txBody>
          <a:bodyPr wrap="square" lIns="0" tIns="0" rIns="0" bIns="0" rtlCol="0" anchor="t"/>
          <a:lstStyle/>
          <a:p>
            <a:pPr marL="0" indent="0">
              <a:buNone/>
            </a:pPr>
            <a:r>
              <a:rPr lang="en-US" sz="1800" b="1" i="1" dirty="0">
                <a:solidFill>
                  <a:schemeClr val="tx1"/>
                </a:solidFill>
                <a:latin typeface="Cambria" panose="02040503050406030204" pitchFamily="34" charset="0"/>
                <a:ea typeface="Cambria" panose="02040503050406030204" pitchFamily="34" charset="-122"/>
                <a:cs typeface="Cambria" panose="02040503050406030204" pitchFamily="34" charset="-120"/>
              </a:rPr>
              <a:t>Ingest</a:t>
            </a:r>
            <a:endParaRPr lang="en-US" sz="1800" dirty="0"/>
          </a:p>
        </p:txBody>
      </p:sp>
      <p:sp>
        <p:nvSpPr>
          <p:cNvPr id="5" name="Text 2"/>
          <p:cNvSpPr txBox="1"/>
          <p:nvPr/>
        </p:nvSpPr>
        <p:spPr>
          <a:xfrm>
            <a:off x="457200" y="1920240"/>
            <a:ext cx="1280160" cy="274320"/>
          </a:xfrm>
          <a:prstGeom prst="rect">
            <a:avLst/>
          </a:prstGeom>
          <a:noFill/>
        </p:spPr>
        <p:txBody>
          <a:bodyPr wrap="square" lIns="0" tIns="0" rIns="0" bIns="0" rtlCol="0" anchor="t"/>
          <a:lstStyle/>
          <a:p>
            <a:pPr marL="0" indent="0">
              <a:buNone/>
            </a:pPr>
            <a:r>
              <a:rPr lang="en-US" sz="1200" dirty="0">
                <a:solidFill>
                  <a:schemeClr val="accent5"/>
                </a:solidFill>
              </a:rPr>
              <a:t>offline, once</a:t>
            </a:r>
            <a:endParaRPr lang="en-US" sz="1200" dirty="0"/>
          </a:p>
        </p:txBody>
      </p:sp>
      <p:sp>
        <p:nvSpPr>
          <p:cNvPr id="6" name="Text 3"/>
          <p:cNvSpPr txBox="1"/>
          <p:nvPr/>
        </p:nvSpPr>
        <p:spPr>
          <a:xfrm>
            <a:off x="457200" y="3246120"/>
            <a:ext cx="1280160" cy="274320"/>
          </a:xfrm>
          <a:prstGeom prst="rect">
            <a:avLst/>
          </a:prstGeom>
          <a:noFill/>
        </p:spPr>
        <p:txBody>
          <a:bodyPr wrap="square" lIns="0" tIns="0" rIns="0" bIns="0" rtlCol="0" anchor="t"/>
          <a:lstStyle/>
          <a:p>
            <a:pPr marL="0" indent="0">
              <a:buNone/>
            </a:pPr>
            <a:r>
              <a:rPr lang="en-US" sz="1800" b="1" i="1" dirty="0">
                <a:solidFill>
                  <a:schemeClr val="tx1"/>
                </a:solidFill>
                <a:latin typeface="Cambria" panose="02040503050406030204" pitchFamily="34" charset="0"/>
                <a:ea typeface="Cambria" panose="02040503050406030204" pitchFamily="34" charset="-122"/>
                <a:cs typeface="Cambria" panose="02040503050406030204" pitchFamily="34" charset="-120"/>
              </a:rPr>
              <a:t>Query</a:t>
            </a:r>
            <a:endParaRPr lang="en-US" sz="1800" dirty="0"/>
          </a:p>
        </p:txBody>
      </p:sp>
      <p:sp>
        <p:nvSpPr>
          <p:cNvPr id="7" name="Text 4"/>
          <p:cNvSpPr txBox="1"/>
          <p:nvPr/>
        </p:nvSpPr>
        <p:spPr>
          <a:xfrm>
            <a:off x="457200" y="3566160"/>
            <a:ext cx="1371600" cy="274320"/>
          </a:xfrm>
          <a:prstGeom prst="rect">
            <a:avLst/>
          </a:prstGeom>
          <a:noFill/>
        </p:spPr>
        <p:txBody>
          <a:bodyPr wrap="square" lIns="0" tIns="0" rIns="0" bIns="0" rtlCol="0" anchor="t"/>
          <a:lstStyle/>
          <a:p>
            <a:pPr marL="0" indent="0">
              <a:buNone/>
            </a:pPr>
            <a:r>
              <a:rPr lang="en-US" sz="1200" dirty="0">
                <a:solidFill>
                  <a:schemeClr val="accent5"/>
                </a:solidFill>
              </a:rPr>
              <a:t>online, every search</a:t>
            </a:r>
            <a:endParaRPr lang="en-US" sz="1200" dirty="0"/>
          </a:p>
        </p:txBody>
      </p:sp>
      <p:sp>
        <p:nvSpPr>
          <p:cNvPr id="8" name="Shape 5"/>
          <p:cNvSpPr/>
          <p:nvPr/>
        </p:nvSpPr>
        <p:spPr>
          <a:xfrm>
            <a:off x="1920240" y="1463040"/>
            <a:ext cx="1463040" cy="731520"/>
          </a:xfrm>
          <a:prstGeom prst="rect">
            <a:avLst/>
          </a:prstGeom>
          <a:solidFill>
            <a:schemeClr val="bg1"/>
          </a:solidFill>
          <a:ln w="12700">
            <a:solidFill>
              <a:srgbClr val="1B2A41"/>
            </a:solidFill>
            <a:prstDash val="solid"/>
          </a:ln>
        </p:spPr>
      </p:sp>
      <p:sp>
        <p:nvSpPr>
          <p:cNvPr id="9" name="Text 6"/>
          <p:cNvSpPr txBox="1"/>
          <p:nvPr/>
        </p:nvSpPr>
        <p:spPr>
          <a:xfrm>
            <a:off x="1920240" y="1463040"/>
            <a:ext cx="1463040" cy="731520"/>
          </a:xfrm>
          <a:prstGeom prst="rect">
            <a:avLst/>
          </a:prstGeom>
          <a:noFill/>
        </p:spPr>
        <p:txBody>
          <a:bodyPr wrap="square" lIns="0" tIns="0" rIns="0" bIns="0" rtlCol="0" anchor="ctr"/>
          <a:lstStyle/>
          <a:p>
            <a:pPr marL="0" indent="0" algn="ctr">
              <a:buNone/>
            </a:pPr>
            <a:r>
              <a:rPr lang="en-US" sz="1400" b="1" dirty="0">
                <a:solidFill>
                  <a:schemeClr val="tx1"/>
                </a:solidFill>
              </a:rPr>
              <a:t>Documents</a:t>
            </a:r>
            <a:endParaRPr lang="en-US" sz="1400" dirty="0"/>
          </a:p>
        </p:txBody>
      </p:sp>
      <p:sp>
        <p:nvSpPr>
          <p:cNvPr id="10" name="Shape 7"/>
          <p:cNvSpPr/>
          <p:nvPr/>
        </p:nvSpPr>
        <p:spPr>
          <a:xfrm>
            <a:off x="3383280" y="1828800"/>
            <a:ext cx="274320" cy="0"/>
          </a:xfrm>
          <a:prstGeom prst="line">
            <a:avLst/>
          </a:prstGeom>
          <a:noFill/>
          <a:ln w="15875">
            <a:solidFill>
              <a:srgbClr val="1B2A41"/>
            </a:solidFill>
            <a:prstDash val="solid"/>
            <a:tailEnd type="triangle"/>
          </a:ln>
        </p:spPr>
      </p:sp>
      <p:sp>
        <p:nvSpPr>
          <p:cNvPr id="11" name="Shape 8"/>
          <p:cNvSpPr/>
          <p:nvPr/>
        </p:nvSpPr>
        <p:spPr>
          <a:xfrm>
            <a:off x="3657600" y="1463040"/>
            <a:ext cx="1463040" cy="731520"/>
          </a:xfrm>
          <a:prstGeom prst="rect">
            <a:avLst/>
          </a:prstGeom>
          <a:solidFill>
            <a:schemeClr val="bg1"/>
          </a:solidFill>
          <a:ln w="25400">
            <a:solidFill>
              <a:srgbClr val="B5432A"/>
            </a:solidFill>
            <a:prstDash val="solid"/>
          </a:ln>
        </p:spPr>
      </p:sp>
      <p:sp>
        <p:nvSpPr>
          <p:cNvPr id="12" name="Text 9"/>
          <p:cNvSpPr txBox="1"/>
          <p:nvPr/>
        </p:nvSpPr>
        <p:spPr>
          <a:xfrm>
            <a:off x="3657600" y="1463040"/>
            <a:ext cx="1463040" cy="731520"/>
          </a:xfrm>
          <a:prstGeom prst="rect">
            <a:avLst/>
          </a:prstGeom>
          <a:noFill/>
        </p:spPr>
        <p:txBody>
          <a:bodyPr wrap="square" lIns="0" tIns="0" rIns="0" bIns="0" rtlCol="0" anchor="ctr"/>
          <a:lstStyle/>
          <a:p>
            <a:pPr marL="0" indent="0" algn="ctr">
              <a:buNone/>
            </a:pPr>
            <a:r>
              <a:rPr lang="en-US" sz="1400" b="1" dirty="0">
                <a:solidFill>
                  <a:schemeClr val="tx1"/>
                </a:solidFill>
              </a:rPr>
              <a:t>Embedding model</a:t>
            </a:r>
            <a:endParaRPr lang="en-US" sz="1400" dirty="0"/>
          </a:p>
        </p:txBody>
      </p:sp>
      <p:sp>
        <p:nvSpPr>
          <p:cNvPr id="13" name="Shape 10"/>
          <p:cNvSpPr/>
          <p:nvPr/>
        </p:nvSpPr>
        <p:spPr>
          <a:xfrm>
            <a:off x="5120640" y="1828800"/>
            <a:ext cx="274320" cy="0"/>
          </a:xfrm>
          <a:prstGeom prst="line">
            <a:avLst/>
          </a:prstGeom>
          <a:noFill/>
          <a:ln w="15875">
            <a:solidFill>
              <a:srgbClr val="1B2A41"/>
            </a:solidFill>
            <a:prstDash val="solid"/>
            <a:tailEnd type="triangle"/>
          </a:ln>
        </p:spPr>
      </p:sp>
      <p:sp>
        <p:nvSpPr>
          <p:cNvPr id="14" name="Shape 11"/>
          <p:cNvSpPr/>
          <p:nvPr/>
        </p:nvSpPr>
        <p:spPr>
          <a:xfrm>
            <a:off x="5394960" y="1463040"/>
            <a:ext cx="1463040" cy="731520"/>
          </a:xfrm>
          <a:prstGeom prst="rect">
            <a:avLst/>
          </a:prstGeom>
          <a:solidFill>
            <a:schemeClr val="bg1"/>
          </a:solidFill>
          <a:ln w="12700">
            <a:solidFill>
              <a:srgbClr val="1B2A41"/>
            </a:solidFill>
            <a:prstDash val="solid"/>
          </a:ln>
        </p:spPr>
      </p:sp>
      <p:sp>
        <p:nvSpPr>
          <p:cNvPr id="15" name="Text 12"/>
          <p:cNvSpPr txBox="1"/>
          <p:nvPr/>
        </p:nvSpPr>
        <p:spPr>
          <a:xfrm>
            <a:off x="5394960" y="1463040"/>
            <a:ext cx="1463040" cy="731520"/>
          </a:xfrm>
          <a:prstGeom prst="rect">
            <a:avLst/>
          </a:prstGeom>
          <a:noFill/>
        </p:spPr>
        <p:txBody>
          <a:bodyPr wrap="square" lIns="0" tIns="0" rIns="0" bIns="0" rtlCol="0" anchor="ctr"/>
          <a:lstStyle/>
          <a:p>
            <a:pPr marL="0" indent="0" algn="ctr">
              <a:buNone/>
            </a:pPr>
            <a:r>
              <a:rPr lang="en-US" sz="1400" b="1" dirty="0">
                <a:solidFill>
                  <a:schemeClr val="tx1"/>
                </a:solidFill>
              </a:rPr>
              <a:t>Vector index</a:t>
            </a:r>
            <a:endParaRPr lang="en-US" sz="1400" dirty="0"/>
          </a:p>
        </p:txBody>
      </p:sp>
      <p:sp>
        <p:nvSpPr>
          <p:cNvPr id="16" name="Shape 13"/>
          <p:cNvSpPr/>
          <p:nvPr/>
        </p:nvSpPr>
        <p:spPr>
          <a:xfrm>
            <a:off x="6858000" y="1828800"/>
            <a:ext cx="274320" cy="0"/>
          </a:xfrm>
          <a:prstGeom prst="line">
            <a:avLst/>
          </a:prstGeom>
          <a:noFill/>
          <a:ln w="15875">
            <a:solidFill>
              <a:srgbClr val="1B2A41"/>
            </a:solidFill>
            <a:prstDash val="solid"/>
            <a:tailEnd type="triangle"/>
          </a:ln>
        </p:spPr>
      </p:sp>
      <p:sp>
        <p:nvSpPr>
          <p:cNvPr id="17" name="Shape 14"/>
          <p:cNvSpPr/>
          <p:nvPr/>
        </p:nvSpPr>
        <p:spPr>
          <a:xfrm>
            <a:off x="7132320" y="1463040"/>
            <a:ext cx="1463040" cy="731520"/>
          </a:xfrm>
          <a:prstGeom prst="rect">
            <a:avLst/>
          </a:prstGeom>
          <a:solidFill>
            <a:schemeClr val="bg1"/>
          </a:solidFill>
          <a:ln w="12700">
            <a:solidFill>
              <a:srgbClr val="1B2A41"/>
            </a:solidFill>
            <a:prstDash val="solid"/>
          </a:ln>
        </p:spPr>
      </p:sp>
      <p:sp>
        <p:nvSpPr>
          <p:cNvPr id="18" name="Text 15"/>
          <p:cNvSpPr txBox="1"/>
          <p:nvPr/>
        </p:nvSpPr>
        <p:spPr>
          <a:xfrm>
            <a:off x="7132320" y="1463040"/>
            <a:ext cx="1463040" cy="731520"/>
          </a:xfrm>
          <a:prstGeom prst="rect">
            <a:avLst/>
          </a:prstGeom>
          <a:noFill/>
        </p:spPr>
        <p:txBody>
          <a:bodyPr wrap="square" lIns="0" tIns="0" rIns="0" bIns="0" rtlCol="0" anchor="ctr"/>
          <a:lstStyle/>
          <a:p>
            <a:pPr marL="0" indent="0" algn="ctr">
              <a:buNone/>
            </a:pPr>
            <a:r>
              <a:rPr lang="en-US" sz="1400" b="1" dirty="0">
                <a:solidFill>
                  <a:schemeClr val="tx1"/>
                </a:solidFill>
              </a:rPr>
              <a:t>Stored vectors</a:t>
            </a:r>
            <a:endParaRPr lang="en-US" sz="1400" dirty="0"/>
          </a:p>
        </p:txBody>
      </p:sp>
      <p:sp>
        <p:nvSpPr>
          <p:cNvPr id="19" name="Shape 16"/>
          <p:cNvSpPr/>
          <p:nvPr/>
        </p:nvSpPr>
        <p:spPr>
          <a:xfrm>
            <a:off x="1920240" y="3108960"/>
            <a:ext cx="1463040" cy="731520"/>
          </a:xfrm>
          <a:prstGeom prst="rect">
            <a:avLst/>
          </a:prstGeom>
          <a:solidFill>
            <a:schemeClr val="bg1"/>
          </a:solidFill>
          <a:ln w="12700">
            <a:solidFill>
              <a:srgbClr val="1B2A41"/>
            </a:solidFill>
            <a:prstDash val="solid"/>
          </a:ln>
        </p:spPr>
      </p:sp>
      <p:sp>
        <p:nvSpPr>
          <p:cNvPr id="20" name="Text 17"/>
          <p:cNvSpPr txBox="1"/>
          <p:nvPr/>
        </p:nvSpPr>
        <p:spPr>
          <a:xfrm>
            <a:off x="1920240" y="3108960"/>
            <a:ext cx="1463040" cy="731520"/>
          </a:xfrm>
          <a:prstGeom prst="rect">
            <a:avLst/>
          </a:prstGeom>
          <a:noFill/>
        </p:spPr>
        <p:txBody>
          <a:bodyPr wrap="square" lIns="0" tIns="0" rIns="0" bIns="0" rtlCol="0" anchor="ctr"/>
          <a:lstStyle/>
          <a:p>
            <a:pPr marL="0" indent="0" algn="ctr">
              <a:buNone/>
            </a:pPr>
            <a:r>
              <a:rPr lang="en-US" sz="1400" b="1" dirty="0">
                <a:solidFill>
                  <a:schemeClr val="tx1"/>
                </a:solidFill>
              </a:rPr>
              <a:t>User query</a:t>
            </a:r>
            <a:endParaRPr lang="en-US" sz="1400" dirty="0"/>
          </a:p>
        </p:txBody>
      </p:sp>
      <p:sp>
        <p:nvSpPr>
          <p:cNvPr id="21" name="Shape 18"/>
          <p:cNvSpPr/>
          <p:nvPr/>
        </p:nvSpPr>
        <p:spPr>
          <a:xfrm>
            <a:off x="3383280" y="3474720"/>
            <a:ext cx="274320" cy="0"/>
          </a:xfrm>
          <a:prstGeom prst="line">
            <a:avLst/>
          </a:prstGeom>
          <a:noFill/>
          <a:ln w="15875">
            <a:solidFill>
              <a:srgbClr val="1B2A41"/>
            </a:solidFill>
            <a:prstDash val="solid"/>
            <a:tailEnd type="triangle"/>
          </a:ln>
        </p:spPr>
      </p:sp>
      <p:sp>
        <p:nvSpPr>
          <p:cNvPr id="22" name="Shape 19"/>
          <p:cNvSpPr/>
          <p:nvPr/>
        </p:nvSpPr>
        <p:spPr>
          <a:xfrm>
            <a:off x="3657600" y="3108960"/>
            <a:ext cx="1463040" cy="731520"/>
          </a:xfrm>
          <a:prstGeom prst="rect">
            <a:avLst/>
          </a:prstGeom>
          <a:solidFill>
            <a:schemeClr val="bg1"/>
          </a:solidFill>
          <a:ln w="25400">
            <a:solidFill>
              <a:srgbClr val="B5432A"/>
            </a:solidFill>
            <a:prstDash val="solid"/>
          </a:ln>
        </p:spPr>
      </p:sp>
      <p:sp>
        <p:nvSpPr>
          <p:cNvPr id="23" name="Text 20"/>
          <p:cNvSpPr txBox="1"/>
          <p:nvPr/>
        </p:nvSpPr>
        <p:spPr>
          <a:xfrm>
            <a:off x="3657600" y="3108960"/>
            <a:ext cx="1463040" cy="731520"/>
          </a:xfrm>
          <a:prstGeom prst="rect">
            <a:avLst/>
          </a:prstGeom>
          <a:noFill/>
        </p:spPr>
        <p:txBody>
          <a:bodyPr wrap="square" lIns="0" tIns="0" rIns="0" bIns="0" rtlCol="0" anchor="ctr"/>
          <a:lstStyle/>
          <a:p>
            <a:pPr marL="0" indent="0" algn="ctr">
              <a:buNone/>
            </a:pPr>
            <a:r>
              <a:rPr lang="en-US" sz="1400" b="1" dirty="0">
                <a:solidFill>
                  <a:schemeClr val="tx1"/>
                </a:solidFill>
              </a:rPr>
              <a:t>Embedding model</a:t>
            </a:r>
            <a:endParaRPr lang="en-US" sz="1400" dirty="0"/>
          </a:p>
        </p:txBody>
      </p:sp>
      <p:sp>
        <p:nvSpPr>
          <p:cNvPr id="24" name="Shape 21"/>
          <p:cNvSpPr/>
          <p:nvPr/>
        </p:nvSpPr>
        <p:spPr>
          <a:xfrm>
            <a:off x="5120640" y="3474720"/>
            <a:ext cx="274320" cy="0"/>
          </a:xfrm>
          <a:prstGeom prst="line">
            <a:avLst/>
          </a:prstGeom>
          <a:noFill/>
          <a:ln w="15875">
            <a:solidFill>
              <a:srgbClr val="1B2A41"/>
            </a:solidFill>
            <a:prstDash val="solid"/>
            <a:tailEnd type="triangle"/>
          </a:ln>
        </p:spPr>
      </p:sp>
      <p:sp>
        <p:nvSpPr>
          <p:cNvPr id="25" name="Shape 22"/>
          <p:cNvSpPr/>
          <p:nvPr/>
        </p:nvSpPr>
        <p:spPr>
          <a:xfrm>
            <a:off x="5394960" y="3108960"/>
            <a:ext cx="1463040" cy="731520"/>
          </a:xfrm>
          <a:prstGeom prst="rect">
            <a:avLst/>
          </a:prstGeom>
          <a:solidFill>
            <a:schemeClr val="bg1"/>
          </a:solidFill>
          <a:ln w="12700">
            <a:solidFill>
              <a:srgbClr val="1B2A41"/>
            </a:solidFill>
            <a:prstDash val="solid"/>
          </a:ln>
        </p:spPr>
      </p:sp>
      <p:sp>
        <p:nvSpPr>
          <p:cNvPr id="26" name="Text 23"/>
          <p:cNvSpPr txBox="1"/>
          <p:nvPr/>
        </p:nvSpPr>
        <p:spPr>
          <a:xfrm>
            <a:off x="5394960" y="3108960"/>
            <a:ext cx="1463040" cy="731520"/>
          </a:xfrm>
          <a:prstGeom prst="rect">
            <a:avLst/>
          </a:prstGeom>
          <a:noFill/>
        </p:spPr>
        <p:txBody>
          <a:bodyPr wrap="square" lIns="0" tIns="0" rIns="0" bIns="0" rtlCol="0" anchor="ctr"/>
          <a:lstStyle/>
          <a:p>
            <a:pPr marL="0" indent="0" algn="ctr">
              <a:buNone/>
            </a:pPr>
            <a:r>
              <a:rPr lang="en-US" sz="1400" b="1" dirty="0">
                <a:solidFill>
                  <a:schemeClr val="tx1"/>
                </a:solidFill>
              </a:rPr>
              <a:t>ANN search</a:t>
            </a:r>
            <a:endParaRPr lang="en-US" sz="1400" dirty="0"/>
          </a:p>
        </p:txBody>
      </p:sp>
      <p:sp>
        <p:nvSpPr>
          <p:cNvPr id="27" name="Shape 24"/>
          <p:cNvSpPr/>
          <p:nvPr/>
        </p:nvSpPr>
        <p:spPr>
          <a:xfrm>
            <a:off x="6858000" y="3474720"/>
            <a:ext cx="274320" cy="0"/>
          </a:xfrm>
          <a:prstGeom prst="line">
            <a:avLst/>
          </a:prstGeom>
          <a:noFill/>
          <a:ln w="15875">
            <a:solidFill>
              <a:srgbClr val="1B2A41"/>
            </a:solidFill>
            <a:prstDash val="solid"/>
            <a:tailEnd type="triangle"/>
          </a:ln>
        </p:spPr>
      </p:sp>
      <p:sp>
        <p:nvSpPr>
          <p:cNvPr id="28" name="Shape 25"/>
          <p:cNvSpPr/>
          <p:nvPr/>
        </p:nvSpPr>
        <p:spPr>
          <a:xfrm>
            <a:off x="7132320" y="3108960"/>
            <a:ext cx="1463040" cy="731520"/>
          </a:xfrm>
          <a:prstGeom prst="rect">
            <a:avLst/>
          </a:prstGeom>
          <a:solidFill>
            <a:schemeClr val="bg1"/>
          </a:solidFill>
          <a:ln w="12700">
            <a:solidFill>
              <a:srgbClr val="1B2A41"/>
            </a:solidFill>
            <a:prstDash val="solid"/>
          </a:ln>
        </p:spPr>
      </p:sp>
      <p:sp>
        <p:nvSpPr>
          <p:cNvPr id="29" name="Text 26"/>
          <p:cNvSpPr txBox="1"/>
          <p:nvPr/>
        </p:nvSpPr>
        <p:spPr>
          <a:xfrm>
            <a:off x="7132320" y="3108960"/>
            <a:ext cx="1463040" cy="731520"/>
          </a:xfrm>
          <a:prstGeom prst="rect">
            <a:avLst/>
          </a:prstGeom>
          <a:noFill/>
        </p:spPr>
        <p:txBody>
          <a:bodyPr wrap="square" lIns="0" tIns="0" rIns="0" bIns="0" rtlCol="0" anchor="ctr"/>
          <a:lstStyle/>
          <a:p>
            <a:pPr marL="0" indent="0" algn="ctr">
              <a:buNone/>
            </a:pPr>
            <a:r>
              <a:rPr lang="en-US" sz="1400" b="1" dirty="0">
                <a:solidFill>
                  <a:schemeClr val="tx1"/>
                </a:solidFill>
              </a:rPr>
              <a:t>Top-k results</a:t>
            </a:r>
            <a:endParaRPr lang="en-US" sz="1400" dirty="0"/>
          </a:p>
        </p:txBody>
      </p:sp>
      <p:sp>
        <p:nvSpPr>
          <p:cNvPr id="30" name="Shape 27"/>
          <p:cNvSpPr/>
          <p:nvPr/>
        </p:nvSpPr>
        <p:spPr>
          <a:xfrm>
            <a:off x="5394960" y="2194560"/>
            <a:ext cx="0" cy="914400"/>
          </a:xfrm>
          <a:prstGeom prst="line">
            <a:avLst/>
          </a:prstGeom>
          <a:noFill/>
          <a:ln w="15875">
            <a:solidFill>
              <a:srgbClr val="B5432A"/>
            </a:solidFill>
            <a:prstDash val="dash"/>
            <a:tailEnd type="triangle"/>
          </a:ln>
        </p:spPr>
      </p:sp>
      <p:sp>
        <p:nvSpPr>
          <p:cNvPr id="31" name="Text 28"/>
          <p:cNvSpPr txBox="1"/>
          <p:nvPr/>
        </p:nvSpPr>
        <p:spPr>
          <a:xfrm>
            <a:off x="5486400" y="2514600"/>
            <a:ext cx="1097280" cy="228600"/>
          </a:xfrm>
          <a:prstGeom prst="rect">
            <a:avLst/>
          </a:prstGeom>
          <a:noFill/>
        </p:spPr>
        <p:txBody>
          <a:bodyPr wrap="square" lIns="0" tIns="0" rIns="0" bIns="0" rtlCol="0" anchor="t"/>
          <a:lstStyle/>
          <a:p>
            <a:pPr marL="0" indent="0">
              <a:buNone/>
            </a:pPr>
            <a:r>
              <a:rPr lang="en-US" sz="1200" i="1" dirty="0">
                <a:solidFill>
                  <a:schemeClr val="accent1"/>
                </a:solidFill>
              </a:rPr>
              <a:t>searches</a:t>
            </a:r>
            <a:endParaRPr lang="en-US" sz="1200" dirty="0"/>
          </a:p>
        </p:txBody>
      </p:sp>
      <p:sp>
        <p:nvSpPr>
          <p:cNvPr id="32" name="Text 29"/>
          <p:cNvSpPr txBox="1"/>
          <p:nvPr/>
        </p:nvSpPr>
        <p:spPr>
          <a:xfrm>
            <a:off x="1920240" y="4069080"/>
            <a:ext cx="6675120" cy="457200"/>
          </a:xfrm>
          <a:prstGeom prst="rect">
            <a:avLst/>
          </a:prstGeom>
          <a:noFill/>
        </p:spPr>
        <p:txBody>
          <a:bodyPr wrap="square" lIns="0" tIns="0" rIns="0" bIns="0" rtlCol="0" anchor="t"/>
          <a:lstStyle/>
          <a:p>
            <a:pPr marL="0" indent="0">
              <a:buNone/>
            </a:pPr>
            <a:r>
              <a:rPr lang="en-US" sz="1400" dirty="0">
                <a:solidFill>
                  <a:schemeClr val="accent1"/>
                </a:solidFill>
                <a:latin typeface="Cambria" panose="02040503050406030204" pitchFamily="34" charset="0"/>
                <a:ea typeface="Cambria" panose="02040503050406030204" pitchFamily="34" charset="-122"/>
                <a:cs typeface="Cambria" panose="02040503050406030204" pitchFamily="34" charset="-120"/>
              </a:rPr>
              <a:t>Same model on both sides. Different models give vectors in different spaces, so distances mean nothing.</a:t>
            </a:r>
            <a:endParaRPr lang="en-US" sz="1400" dirty="0"/>
          </a:p>
        </p:txBody>
      </p:sp>
      <p:sp>
        <p:nvSpPr>
          <p:cNvPr id="3"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5"/>
                </a:solidFill>
              </a:defRPr>
            </a:lvl1pPr>
          </a:lstStyle>
          <a:p>
            <a:pPr algn="l"/>
            <a:fld id="{F7021451-1387-4CA6-816F-3879F97B5CBC}" type="slidenum">
              <a:rPr lang="en-US" b="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320040"/>
            <a:ext cx="8229600" cy="731520"/>
          </a:xfrm>
          <a:prstGeom prst="rect">
            <a:avLst/>
          </a:prstGeom>
          <a:noFill/>
        </p:spPr>
        <p:txBody>
          <a:bodyPr wrap="square" lIns="0" tIns="0" rIns="0" bIns="0" rtlCol="0" anchor="ctr"/>
          <a:lstStyle/>
          <a:p>
            <a:pPr marL="0" indent="0" algn="l">
              <a:buNone/>
            </a:pPr>
            <a:r>
              <a:rPr lang="en-US" sz="3000" b="1" dirty="0">
                <a:solidFill>
                  <a:schemeClr val="tx1"/>
                </a:solidFill>
              </a:rPr>
              <a:t>A different question, a different index</a:t>
            </a:r>
            <a:endParaRPr lang="en-US" sz="3000" dirty="0"/>
          </a:p>
        </p:txBody>
      </p:sp>
      <p:graphicFrame>
        <p:nvGraphicFramePr>
          <p:cNvPr id="12" name="Table 0"/>
          <p:cNvGraphicFramePr>
            <a:graphicFrameLocks noGrp="1"/>
          </p:cNvGraphicFramePr>
          <p:nvPr/>
        </p:nvGraphicFramePr>
        <p:xfrm>
          <a:off x="457200" y="1280160"/>
          <a:ext cx="8229600" cy="3200400"/>
        </p:xfrm>
        <a:graphic>
          <a:graphicData uri="http://schemas.openxmlformats.org/drawingml/2006/table">
            <a:tbl>
              <a:tblPr/>
              <a:tblGrid>
                <a:gridCol w="1280160"/>
                <a:gridCol w="3474720"/>
                <a:gridCol w="3474720"/>
              </a:tblGrid>
              <a:tr h="457200">
                <a:tc>
                  <a:txBody>
                    <a:bodyPr/>
                    <a:lstStyle/>
                    <a:p>
                      <a:pPr marL="0" indent="0">
                        <a:buNone/>
                      </a:pP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Relational / keyword</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c>
                  <a:txBody>
                    <a:bodyPr/>
                    <a:lstStyle/>
                    <a:p>
                      <a:pPr marL="0" indent="0">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Vector database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1"/>
                    </a:solidFill>
                  </a:tcPr>
                </a:tc>
              </a:tr>
              <a:tr h="457200">
                <a:tc>
                  <a:txBody>
                    <a:bodyPr/>
                    <a:lstStyle/>
                    <a:p>
                      <a:pPr marL="0" indent="0">
                        <a:buNone/>
                      </a:pPr>
                      <a:r>
                        <a:rPr lang="en-US" sz="1400" b="1" dirty="0">
                          <a:solidFill>
                            <a:srgbClr val="1B2A41"/>
                          </a:solidFill>
                          <a:latin typeface="Cambria" panose="02040503050406030204" pitchFamily="34" charset="0"/>
                          <a:ea typeface="Cambria" panose="02040503050406030204" pitchFamily="34" charset="-122"/>
                          <a:cs typeface="Cambria" panose="02040503050406030204" pitchFamily="34" charset="-120"/>
                        </a:rPr>
                        <a:t>Question</a:t>
                      </a:r>
                      <a:endParaRPr lang="en-US" sz="1400" dirty="0">
                        <a:latin typeface="Cambria" panose="02040503050406030204" pitchFamily="34" charset="0"/>
                        <a:ea typeface="Cambria" panose="02040503050406030204" pitchFamily="34" charset="0"/>
                        <a:cs typeface="Cambria" panose="02040503050406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1B2A41"/>
                          </a:solidFill>
                          <a:latin typeface="Calibri" panose="020F0502020204030204" pitchFamily="34" charset="0"/>
                          <a:ea typeface="Calibri" panose="020F0502020204030204" pitchFamily="34" charset="-122"/>
                          <a:cs typeface="Calibri" panose="020F0502020204030204" pitchFamily="34" charset="-120"/>
                        </a:rPr>
                        <a:t>Which rows equal or contain this value?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1B2A41"/>
                          </a:solidFill>
                          <a:latin typeface="Calibri" panose="020F0502020204030204" pitchFamily="34" charset="0"/>
                          <a:ea typeface="Calibri" panose="020F0502020204030204" pitchFamily="34" charset="-122"/>
                          <a:cs typeface="Calibri" panose="020F0502020204030204" pitchFamily="34" charset="-120"/>
                        </a:rPr>
                        <a:t>Which items are most similar to this?</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marL="0" indent="0">
                        <a:buNone/>
                      </a:pPr>
                      <a:r>
                        <a:rPr lang="en-US" sz="1400" b="1" dirty="0">
                          <a:solidFill>
                            <a:srgbClr val="1B2A41"/>
                          </a:solidFill>
                          <a:latin typeface="Cambria" panose="02040503050406030204" pitchFamily="34" charset="0"/>
                          <a:ea typeface="Cambria" panose="02040503050406030204" pitchFamily="34" charset="-122"/>
                          <a:cs typeface="Cambria" panose="02040503050406030204" pitchFamily="34" charset="-120"/>
                        </a:rPr>
                        <a:t>Match</a:t>
                      </a:r>
                      <a:endParaRPr lang="en-US" sz="1400" dirty="0">
                        <a:latin typeface="Cambria" panose="02040503050406030204" pitchFamily="34" charset="0"/>
                        <a:ea typeface="Cambria" panose="02040503050406030204" pitchFamily="34" charset="0"/>
                        <a:cs typeface="Cambria" panose="02040503050406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1B2A41"/>
                          </a:solidFill>
                          <a:latin typeface="Calibri" panose="020F0502020204030204" pitchFamily="34" charset="0"/>
                          <a:ea typeface="Calibri" panose="020F0502020204030204" pitchFamily="34" charset="-122"/>
                          <a:cs typeface="Calibri" panose="020F0502020204030204" pitchFamily="34" charset="-120"/>
                        </a:rPr>
                        <a:t>Exact, range, token</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1B2A41"/>
                          </a:solidFill>
                          <a:latin typeface="Calibri" panose="020F0502020204030204" pitchFamily="34" charset="0"/>
                          <a:ea typeface="Calibri" panose="020F0502020204030204" pitchFamily="34" charset="-122"/>
                          <a:cs typeface="Calibri" panose="020F0502020204030204" pitchFamily="34" charset="-120"/>
                        </a:rPr>
                        <a:t>Approximate nearest neighbor</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marL="0" indent="0">
                        <a:buNone/>
                      </a:pPr>
                      <a:r>
                        <a:rPr lang="en-US" sz="1400" b="1" dirty="0">
                          <a:solidFill>
                            <a:srgbClr val="1B2A41"/>
                          </a:solidFill>
                          <a:latin typeface="Cambria" panose="02040503050406030204" pitchFamily="34" charset="0"/>
                          <a:ea typeface="Cambria" panose="02040503050406030204" pitchFamily="34" charset="-122"/>
                          <a:cs typeface="Cambria" panose="02040503050406030204" pitchFamily="34" charset="-120"/>
                        </a:rPr>
                        <a:t>Result</a:t>
                      </a:r>
                      <a:endParaRPr lang="en-US" sz="1400" dirty="0">
                        <a:latin typeface="Cambria" panose="02040503050406030204" pitchFamily="34" charset="0"/>
                        <a:ea typeface="Cambria" panose="02040503050406030204" pitchFamily="34" charset="0"/>
                        <a:cs typeface="Cambria" panose="02040503050406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1B2A41"/>
                          </a:solidFill>
                          <a:latin typeface="Calibri" panose="020F0502020204030204" pitchFamily="34" charset="0"/>
                          <a:ea typeface="Calibri" panose="020F0502020204030204" pitchFamily="34" charset="-122"/>
                          <a:cs typeface="Calibri" panose="020F0502020204030204" pitchFamily="34" charset="-120"/>
                        </a:rPr>
                        <a:t>A matching set, sorted by a column or BM25</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1B2A41"/>
                          </a:solidFill>
                          <a:latin typeface="Calibri" panose="020F0502020204030204" pitchFamily="34" charset="0"/>
                          <a:ea typeface="Calibri" panose="020F0502020204030204" pitchFamily="34" charset="-122"/>
                          <a:cs typeface="Calibri" panose="020F0502020204030204" pitchFamily="34" charset="-120"/>
                        </a:rPr>
                        <a:t>Ranked top-k with similarity scores</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marL="0" indent="0">
                        <a:buNone/>
                      </a:pPr>
                      <a:r>
                        <a:rPr lang="en-US" sz="1400" b="1" dirty="0">
                          <a:solidFill>
                            <a:srgbClr val="1B2A41"/>
                          </a:solidFill>
                          <a:latin typeface="Cambria" panose="02040503050406030204" pitchFamily="34" charset="0"/>
                          <a:ea typeface="Cambria" panose="02040503050406030204" pitchFamily="34" charset="-122"/>
                          <a:cs typeface="Cambria" panose="02040503050406030204" pitchFamily="34" charset="-120"/>
                        </a:rPr>
                        <a:t>Index</a:t>
                      </a:r>
                      <a:endParaRPr lang="en-US" sz="1400" dirty="0">
                        <a:latin typeface="Cambria" panose="02040503050406030204" pitchFamily="34" charset="0"/>
                        <a:ea typeface="Cambria" panose="02040503050406030204" pitchFamily="34" charset="0"/>
                        <a:cs typeface="Cambria" panose="02040503050406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1B2A41"/>
                          </a:solidFill>
                          <a:latin typeface="Calibri" panose="020F0502020204030204" pitchFamily="34" charset="0"/>
                          <a:ea typeface="Calibri" panose="020F0502020204030204" pitchFamily="34" charset="-122"/>
                          <a:cs typeface="Calibri" panose="020F0502020204030204" pitchFamily="34" charset="-120"/>
                        </a:rPr>
                        <a:t>B-tree, inverted index</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1B2A41"/>
                          </a:solidFill>
                          <a:latin typeface="Calibri" panose="020F0502020204030204" pitchFamily="34" charset="0"/>
                          <a:ea typeface="Calibri" panose="020F0502020204030204" pitchFamily="34" charset="-122"/>
                          <a:cs typeface="Calibri" panose="020F0502020204030204" pitchFamily="34" charset="-120"/>
                        </a:rPr>
                        <a:t>HNSW, IVF, PQ (Session 4)</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marL="0" indent="0">
                        <a:buNone/>
                      </a:pPr>
                      <a:r>
                        <a:rPr lang="en-US" sz="1400" b="1" dirty="0">
                          <a:solidFill>
                            <a:srgbClr val="1B2A41"/>
                          </a:solidFill>
                          <a:latin typeface="Cambria" panose="02040503050406030204" pitchFamily="34" charset="0"/>
                          <a:ea typeface="Cambria" panose="02040503050406030204" pitchFamily="34" charset="-122"/>
                          <a:cs typeface="Cambria" panose="02040503050406030204" pitchFamily="34" charset="-120"/>
                        </a:rPr>
                        <a:t>Strength</a:t>
                      </a:r>
                      <a:endParaRPr lang="en-US" sz="1400" dirty="0">
                        <a:latin typeface="Cambria" panose="02040503050406030204" pitchFamily="34" charset="0"/>
                        <a:ea typeface="Cambria" panose="02040503050406030204" pitchFamily="34" charset="0"/>
                        <a:cs typeface="Cambria" panose="02040503050406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1B2A41"/>
                          </a:solidFill>
                          <a:latin typeface="Calibri" panose="020F0502020204030204" pitchFamily="34" charset="0"/>
                          <a:ea typeface="Calibri" panose="020F0502020204030204" pitchFamily="34" charset="-122"/>
                          <a:cs typeface="Calibri" panose="020F0502020204030204" pitchFamily="34" charset="-120"/>
                        </a:rPr>
                        <a:t>Transactions, joins, exact filters</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1B2A41"/>
                          </a:solidFill>
                          <a:latin typeface="Calibri" panose="020F0502020204030204" pitchFamily="34" charset="0"/>
                          <a:ea typeface="Calibri" panose="020F0502020204030204" pitchFamily="34" charset="-122"/>
                          <a:cs typeface="Calibri" panose="020F0502020204030204" pitchFamily="34" charset="-120"/>
                        </a:rPr>
                        <a:t>Meaning, fuzzy input, many modalities</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r h="457200">
                <a:tc>
                  <a:txBody>
                    <a:bodyPr/>
                    <a:lstStyle/>
                    <a:p>
                      <a:pPr marL="0" indent="0">
                        <a:buNone/>
                      </a:pPr>
                      <a:r>
                        <a:rPr lang="en-US" sz="1400" b="1" dirty="0">
                          <a:solidFill>
                            <a:srgbClr val="1B2A41"/>
                          </a:solidFill>
                          <a:latin typeface="Cambria" panose="02040503050406030204" pitchFamily="34" charset="0"/>
                          <a:ea typeface="Cambria" panose="02040503050406030204" pitchFamily="34" charset="-122"/>
                          <a:cs typeface="Cambria" panose="02040503050406030204" pitchFamily="34" charset="-120"/>
                        </a:rPr>
                        <a:t>Examples</a:t>
                      </a:r>
                      <a:endParaRPr lang="en-US" sz="1400" dirty="0">
                        <a:latin typeface="Cambria" panose="02040503050406030204" pitchFamily="34" charset="0"/>
                        <a:ea typeface="Cambria" panose="02040503050406030204" pitchFamily="34" charset="0"/>
                        <a:cs typeface="Cambria" panose="02040503050406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1B2A41"/>
                          </a:solidFill>
                          <a:latin typeface="Calibri" panose="020F0502020204030204" pitchFamily="34" charset="0"/>
                          <a:ea typeface="Calibri" panose="020F0502020204030204" pitchFamily="34" charset="-122"/>
                          <a:cs typeface="Calibri" panose="020F0502020204030204" pitchFamily="34" charset="-120"/>
                        </a:rPr>
                        <a:t>PostgreSQL, Elasticsearch</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c>
                  <a:txBody>
                    <a:bodyPr/>
                    <a:lstStyle/>
                    <a:p>
                      <a:pPr marL="0" indent="0">
                        <a:buNone/>
                      </a:pPr>
                      <a:r>
                        <a:rPr lang="en-US" sz="1400" dirty="0">
                          <a:solidFill>
                            <a:srgbClr val="1B2A41"/>
                          </a:solidFill>
                          <a:latin typeface="Calibri" panose="020F0502020204030204" pitchFamily="34" charset="0"/>
                          <a:ea typeface="Calibri" panose="020F0502020204030204" pitchFamily="34" charset="-122"/>
                          <a:cs typeface="Calibri" panose="020F0502020204030204" pitchFamily="34" charset="-120"/>
                        </a:rPr>
                        <a:t>Chroma, Qdrant, Milvus, Pinecone</a:t>
                      </a:r>
                      <a:endParaRPr lang="en-US" sz="1400" dirty="0">
                        <a:latin typeface="Calibri" panose="020F0502020204030204" pitchFamily="34" charset="0"/>
                        <a:ea typeface="Calibri" panose="020F0502020204030204" pitchFamily="34" charset="0"/>
                        <a:cs typeface="Calibri" panose="020F0502020204030204" pitchFamily="34" charset="0"/>
                      </a:endParaRPr>
                    </a:p>
                  </a:txBody>
                  <a:tcPr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5"/>
                </a:solidFill>
              </a:defRPr>
            </a:lvl1pPr>
          </a:lstStyle>
          <a:p>
            <a:pPr algn="l"/>
            <a:fld id="{F7021451-1387-4CA6-816F-3879F97B5CBC}" type="slidenum">
              <a:rPr lang="en-US" b="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320040"/>
            <a:ext cx="8229600" cy="731520"/>
          </a:xfrm>
          <a:prstGeom prst="rect">
            <a:avLst/>
          </a:prstGeom>
          <a:noFill/>
        </p:spPr>
        <p:txBody>
          <a:bodyPr wrap="square" lIns="0" tIns="0" rIns="0" bIns="0" rtlCol="0" anchor="ctr"/>
          <a:lstStyle/>
          <a:p>
            <a:pPr marL="0" indent="0" algn="l">
              <a:buNone/>
            </a:pPr>
            <a:r>
              <a:rPr lang="en-US" sz="3000" b="1" dirty="0">
                <a:solidFill>
                  <a:schemeClr val="tx1"/>
                </a:solidFill>
              </a:rPr>
              <a:t>Where it is used</a:t>
            </a:r>
            <a:endParaRPr lang="en-US" sz="3000" dirty="0"/>
          </a:p>
        </p:txBody>
      </p:sp>
      <p:sp>
        <p:nvSpPr>
          <p:cNvPr id="4" name="Text 1"/>
          <p:cNvSpPr txBox="1"/>
          <p:nvPr/>
        </p:nvSpPr>
        <p:spPr>
          <a:xfrm>
            <a:off x="457200" y="1280160"/>
            <a:ext cx="2194560" cy="548640"/>
          </a:xfrm>
          <a:prstGeom prst="rect">
            <a:avLst/>
          </a:prstGeom>
          <a:noFill/>
        </p:spPr>
        <p:txBody>
          <a:bodyPr wrap="square" lIns="0" tIns="0" rIns="0" bIns="0" rtlCol="0" anchor="ctr"/>
          <a:lstStyle/>
          <a:p>
            <a:pPr marL="0" indent="0">
              <a:buNone/>
            </a:pPr>
            <a:r>
              <a:rPr lang="en-US" sz="1800" b="1" dirty="0">
                <a:solidFill>
                  <a:schemeClr val="tx1"/>
                </a:solidFill>
                <a:latin typeface="Cambria" panose="02040503050406030204" pitchFamily="34" charset="0"/>
                <a:ea typeface="Cambria" panose="02040503050406030204" pitchFamily="34" charset="-122"/>
                <a:cs typeface="Cambria" panose="02040503050406030204" pitchFamily="34" charset="-120"/>
              </a:rPr>
              <a:t>Semantic search</a:t>
            </a:r>
            <a:endParaRPr lang="en-US" sz="1800" dirty="0"/>
          </a:p>
        </p:txBody>
      </p:sp>
      <p:sp>
        <p:nvSpPr>
          <p:cNvPr id="5" name="Text 2"/>
          <p:cNvSpPr txBox="1"/>
          <p:nvPr/>
        </p:nvSpPr>
        <p:spPr>
          <a:xfrm>
            <a:off x="2743200" y="1280160"/>
            <a:ext cx="5943600" cy="548640"/>
          </a:xfrm>
          <a:prstGeom prst="rect">
            <a:avLst/>
          </a:prstGeom>
          <a:noFill/>
        </p:spPr>
        <p:txBody>
          <a:bodyPr wrap="square" lIns="0" tIns="0" rIns="0" bIns="0" rtlCol="0" anchor="ctr"/>
          <a:lstStyle/>
          <a:p>
            <a:pPr marL="0" indent="0">
              <a:buNone/>
            </a:pPr>
            <a:r>
              <a:rPr lang="en-US" sz="1400" dirty="0">
                <a:solidFill>
                  <a:schemeClr val="tx1"/>
                </a:solidFill>
              </a:rPr>
              <a:t>"reset my login" returns the article "Recovering your account"</a:t>
            </a:r>
            <a:endParaRPr lang="en-US" sz="1400" dirty="0"/>
          </a:p>
        </p:txBody>
      </p:sp>
      <p:sp>
        <p:nvSpPr>
          <p:cNvPr id="6" name="Shape 3"/>
          <p:cNvSpPr/>
          <p:nvPr/>
        </p:nvSpPr>
        <p:spPr>
          <a:xfrm>
            <a:off x="457200" y="1901952"/>
            <a:ext cx="8229600" cy="0"/>
          </a:xfrm>
          <a:prstGeom prst="line">
            <a:avLst/>
          </a:prstGeom>
          <a:noFill/>
          <a:ln w="6350">
            <a:solidFill>
              <a:schemeClr val="accent6"/>
            </a:solidFill>
            <a:prstDash val="solid"/>
          </a:ln>
        </p:spPr>
      </p:sp>
      <p:sp>
        <p:nvSpPr>
          <p:cNvPr id="7" name="Text 4"/>
          <p:cNvSpPr txBox="1"/>
          <p:nvPr/>
        </p:nvSpPr>
        <p:spPr>
          <a:xfrm>
            <a:off x="457200" y="1947672"/>
            <a:ext cx="2194560" cy="548640"/>
          </a:xfrm>
          <a:prstGeom prst="rect">
            <a:avLst/>
          </a:prstGeom>
          <a:noFill/>
        </p:spPr>
        <p:txBody>
          <a:bodyPr wrap="square" lIns="0" tIns="0" rIns="0" bIns="0" rtlCol="0" anchor="ctr"/>
          <a:lstStyle/>
          <a:p>
            <a:pPr marL="0" indent="0">
              <a:buNone/>
            </a:pPr>
            <a:r>
              <a:rPr lang="en-US" sz="1800" b="1" dirty="0">
                <a:solidFill>
                  <a:schemeClr val="tx1"/>
                </a:solidFill>
                <a:latin typeface="Cambria" panose="02040503050406030204" pitchFamily="34" charset="0"/>
                <a:ea typeface="Cambria" panose="02040503050406030204" pitchFamily="34" charset="-122"/>
                <a:cs typeface="Cambria" panose="02040503050406030204" pitchFamily="34" charset="-120"/>
              </a:rPr>
              <a:t>Recommendation</a:t>
            </a:r>
            <a:endParaRPr lang="en-US" sz="1800" dirty="0"/>
          </a:p>
        </p:txBody>
      </p:sp>
      <p:sp>
        <p:nvSpPr>
          <p:cNvPr id="8" name="Text 5"/>
          <p:cNvSpPr txBox="1"/>
          <p:nvPr/>
        </p:nvSpPr>
        <p:spPr>
          <a:xfrm>
            <a:off x="2743200" y="1947672"/>
            <a:ext cx="5943600" cy="548640"/>
          </a:xfrm>
          <a:prstGeom prst="rect">
            <a:avLst/>
          </a:prstGeom>
          <a:noFill/>
        </p:spPr>
        <p:txBody>
          <a:bodyPr wrap="square" lIns="0" tIns="0" rIns="0" bIns="0" rtlCol="0" anchor="ctr"/>
          <a:lstStyle/>
          <a:p>
            <a:pPr marL="0" indent="0">
              <a:buNone/>
            </a:pPr>
            <a:r>
              <a:rPr lang="en-US" sz="1400" dirty="0">
                <a:solidFill>
                  <a:schemeClr val="tx1"/>
                </a:solidFill>
              </a:rPr>
              <a:t>A song you liked returns songs with nearby embeddings</a:t>
            </a:r>
            <a:endParaRPr lang="en-US" sz="1400" dirty="0"/>
          </a:p>
        </p:txBody>
      </p:sp>
      <p:sp>
        <p:nvSpPr>
          <p:cNvPr id="9" name="Shape 6"/>
          <p:cNvSpPr/>
          <p:nvPr/>
        </p:nvSpPr>
        <p:spPr>
          <a:xfrm>
            <a:off x="457200" y="2569464"/>
            <a:ext cx="8229600" cy="0"/>
          </a:xfrm>
          <a:prstGeom prst="line">
            <a:avLst/>
          </a:prstGeom>
          <a:noFill/>
          <a:ln w="6350">
            <a:solidFill>
              <a:schemeClr val="accent6"/>
            </a:solidFill>
            <a:prstDash val="solid"/>
          </a:ln>
        </p:spPr>
      </p:sp>
      <p:sp>
        <p:nvSpPr>
          <p:cNvPr id="10" name="Text 7"/>
          <p:cNvSpPr txBox="1"/>
          <p:nvPr/>
        </p:nvSpPr>
        <p:spPr>
          <a:xfrm>
            <a:off x="457200" y="2615184"/>
            <a:ext cx="2194560" cy="548640"/>
          </a:xfrm>
          <a:prstGeom prst="rect">
            <a:avLst/>
          </a:prstGeom>
          <a:noFill/>
        </p:spPr>
        <p:txBody>
          <a:bodyPr wrap="square" lIns="0" tIns="0" rIns="0" bIns="0" rtlCol="0" anchor="ctr"/>
          <a:lstStyle/>
          <a:p>
            <a:pPr marL="0" indent="0">
              <a:buNone/>
            </a:pPr>
            <a:r>
              <a:rPr lang="en-US" sz="1800" b="1" dirty="0">
                <a:solidFill>
                  <a:schemeClr val="tx1"/>
                </a:solidFill>
                <a:latin typeface="Cambria" panose="02040503050406030204" pitchFamily="34" charset="0"/>
                <a:ea typeface="Cambria" panose="02040503050406030204" pitchFamily="34" charset="-122"/>
                <a:cs typeface="Cambria" panose="02040503050406030204" pitchFamily="34" charset="-120"/>
              </a:rPr>
              <a:t>RAG</a:t>
            </a:r>
            <a:endParaRPr lang="en-US" sz="1800" dirty="0"/>
          </a:p>
        </p:txBody>
      </p:sp>
      <p:sp>
        <p:nvSpPr>
          <p:cNvPr id="11" name="Text 8"/>
          <p:cNvSpPr txBox="1"/>
          <p:nvPr/>
        </p:nvSpPr>
        <p:spPr>
          <a:xfrm>
            <a:off x="2743200" y="2615184"/>
            <a:ext cx="5943600" cy="548640"/>
          </a:xfrm>
          <a:prstGeom prst="rect">
            <a:avLst/>
          </a:prstGeom>
          <a:noFill/>
        </p:spPr>
        <p:txBody>
          <a:bodyPr wrap="square" lIns="0" tIns="0" rIns="0" bIns="0" rtlCol="0" anchor="ctr"/>
          <a:lstStyle/>
          <a:p>
            <a:pPr marL="0" indent="0">
              <a:buNone/>
            </a:pPr>
            <a:r>
              <a:rPr lang="en-US" sz="1400" dirty="0">
                <a:solidFill>
                  <a:schemeClr val="tx1"/>
                </a:solidFill>
              </a:rPr>
              <a:t>A question returns passages that are handed to an LLM as context</a:t>
            </a:r>
            <a:endParaRPr lang="en-US" sz="1400" dirty="0"/>
          </a:p>
        </p:txBody>
      </p:sp>
      <p:sp>
        <p:nvSpPr>
          <p:cNvPr id="12" name="Shape 9"/>
          <p:cNvSpPr/>
          <p:nvPr/>
        </p:nvSpPr>
        <p:spPr>
          <a:xfrm>
            <a:off x="457200" y="3236976"/>
            <a:ext cx="8229600" cy="0"/>
          </a:xfrm>
          <a:prstGeom prst="line">
            <a:avLst/>
          </a:prstGeom>
          <a:noFill/>
          <a:ln w="6350">
            <a:solidFill>
              <a:schemeClr val="accent6"/>
            </a:solidFill>
            <a:prstDash val="solid"/>
          </a:ln>
        </p:spPr>
      </p:sp>
      <p:sp>
        <p:nvSpPr>
          <p:cNvPr id="13" name="Text 10"/>
          <p:cNvSpPr txBox="1"/>
          <p:nvPr/>
        </p:nvSpPr>
        <p:spPr>
          <a:xfrm>
            <a:off x="457200" y="3282696"/>
            <a:ext cx="2194560" cy="548640"/>
          </a:xfrm>
          <a:prstGeom prst="rect">
            <a:avLst/>
          </a:prstGeom>
          <a:noFill/>
        </p:spPr>
        <p:txBody>
          <a:bodyPr wrap="square" lIns="0" tIns="0" rIns="0" bIns="0" rtlCol="0" anchor="ctr"/>
          <a:lstStyle/>
          <a:p>
            <a:pPr marL="0" indent="0">
              <a:buNone/>
            </a:pPr>
            <a:r>
              <a:rPr lang="en-US" sz="1800" b="1" dirty="0">
                <a:solidFill>
                  <a:schemeClr val="tx1"/>
                </a:solidFill>
                <a:latin typeface="Cambria" panose="02040503050406030204" pitchFamily="34" charset="0"/>
                <a:ea typeface="Cambria" panose="02040503050406030204" pitchFamily="34" charset="-122"/>
                <a:cs typeface="Cambria" panose="02040503050406030204" pitchFamily="34" charset="-120"/>
              </a:rPr>
              <a:t>Image search</a:t>
            </a:r>
            <a:endParaRPr lang="en-US" sz="1800" dirty="0"/>
          </a:p>
        </p:txBody>
      </p:sp>
      <p:sp>
        <p:nvSpPr>
          <p:cNvPr id="14" name="Text 11"/>
          <p:cNvSpPr txBox="1"/>
          <p:nvPr/>
        </p:nvSpPr>
        <p:spPr>
          <a:xfrm>
            <a:off x="2743200" y="3282696"/>
            <a:ext cx="5943600" cy="548640"/>
          </a:xfrm>
          <a:prstGeom prst="rect">
            <a:avLst/>
          </a:prstGeom>
          <a:noFill/>
        </p:spPr>
        <p:txBody>
          <a:bodyPr wrap="square" lIns="0" tIns="0" rIns="0" bIns="0" rtlCol="0" anchor="ctr"/>
          <a:lstStyle/>
          <a:p>
            <a:pPr marL="0" indent="0">
              <a:buNone/>
            </a:pPr>
            <a:r>
              <a:rPr lang="en-US" sz="1400" dirty="0">
                <a:solidFill>
                  <a:schemeClr val="tx1"/>
                </a:solidFill>
              </a:rPr>
              <a:t>"red sunset over a lake" returns matching photos (CLIP-style models)</a:t>
            </a:r>
            <a:endParaRPr lang="en-US" sz="1400" dirty="0"/>
          </a:p>
        </p:txBody>
      </p:sp>
      <p:sp>
        <p:nvSpPr>
          <p:cNvPr id="15" name="Shape 12"/>
          <p:cNvSpPr/>
          <p:nvPr/>
        </p:nvSpPr>
        <p:spPr>
          <a:xfrm>
            <a:off x="457200" y="3904488"/>
            <a:ext cx="8229600" cy="0"/>
          </a:xfrm>
          <a:prstGeom prst="line">
            <a:avLst/>
          </a:prstGeom>
          <a:noFill/>
          <a:ln w="6350">
            <a:solidFill>
              <a:schemeClr val="accent6"/>
            </a:solidFill>
            <a:prstDash val="solid"/>
          </a:ln>
        </p:spPr>
      </p:sp>
      <p:sp>
        <p:nvSpPr>
          <p:cNvPr id="16" name="Text 13"/>
          <p:cNvSpPr txBox="1"/>
          <p:nvPr/>
        </p:nvSpPr>
        <p:spPr>
          <a:xfrm>
            <a:off x="457200" y="3950208"/>
            <a:ext cx="2194560" cy="548640"/>
          </a:xfrm>
          <a:prstGeom prst="rect">
            <a:avLst/>
          </a:prstGeom>
          <a:noFill/>
        </p:spPr>
        <p:txBody>
          <a:bodyPr wrap="square" lIns="0" tIns="0" rIns="0" bIns="0" rtlCol="0" anchor="ctr"/>
          <a:lstStyle/>
          <a:p>
            <a:pPr marL="0" indent="0">
              <a:buNone/>
            </a:pPr>
            <a:r>
              <a:rPr lang="en-US" sz="1800" b="1" dirty="0">
                <a:solidFill>
                  <a:schemeClr val="tx1"/>
                </a:solidFill>
                <a:latin typeface="Cambria" panose="02040503050406030204" pitchFamily="34" charset="0"/>
                <a:ea typeface="Cambria" panose="02040503050406030204" pitchFamily="34" charset="-122"/>
                <a:cs typeface="Cambria" panose="02040503050406030204" pitchFamily="34" charset="-120"/>
              </a:rPr>
              <a:t>Deduplication</a:t>
            </a:r>
            <a:endParaRPr lang="en-US" sz="1800" dirty="0"/>
          </a:p>
        </p:txBody>
      </p:sp>
      <p:sp>
        <p:nvSpPr>
          <p:cNvPr id="17" name="Text 14"/>
          <p:cNvSpPr txBox="1"/>
          <p:nvPr/>
        </p:nvSpPr>
        <p:spPr>
          <a:xfrm>
            <a:off x="2743200" y="3950208"/>
            <a:ext cx="5943600" cy="548640"/>
          </a:xfrm>
          <a:prstGeom prst="rect">
            <a:avLst/>
          </a:prstGeom>
          <a:noFill/>
        </p:spPr>
        <p:txBody>
          <a:bodyPr wrap="square" lIns="0" tIns="0" rIns="0" bIns="0" rtlCol="0" anchor="ctr"/>
          <a:lstStyle/>
          <a:p>
            <a:pPr marL="0" indent="0">
              <a:buNone/>
            </a:pPr>
            <a:r>
              <a:rPr lang="en-US" sz="1400" dirty="0">
                <a:solidFill>
                  <a:schemeClr val="tx1"/>
                </a:solidFill>
              </a:rPr>
              <a:t>A new support ticket returns near-duplicate tickets</a:t>
            </a:r>
            <a:endParaRPr lang="en-US" sz="1400" dirty="0"/>
          </a:p>
        </p:txBody>
      </p:sp>
      <p:sp>
        <p:nvSpPr>
          <p:cNvPr id="18" name="Shape 15"/>
          <p:cNvSpPr/>
          <p:nvPr/>
        </p:nvSpPr>
        <p:spPr>
          <a:xfrm>
            <a:off x="457200" y="4572000"/>
            <a:ext cx="8229600" cy="0"/>
          </a:xfrm>
          <a:prstGeom prst="line">
            <a:avLst/>
          </a:prstGeom>
          <a:noFill/>
          <a:ln w="6350">
            <a:solidFill>
              <a:schemeClr val="accent6"/>
            </a:solidFill>
            <a:prstDash val="solid"/>
          </a:ln>
        </p:spPr>
      </p:sp>
      <p:sp>
        <p:nvSpPr>
          <p:cNvPr id="25"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5"/>
                </a:solidFill>
              </a:defRPr>
            </a:lvl1pPr>
          </a:lstStyle>
          <a:p>
            <a:pPr algn="l"/>
            <a:fld id="{F7021451-1387-4CA6-816F-3879F97B5CBC}" type="slidenum">
              <a:rPr lang="en-US" b="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320040"/>
            <a:ext cx="8229600" cy="731520"/>
          </a:xfrm>
          <a:prstGeom prst="rect">
            <a:avLst/>
          </a:prstGeom>
          <a:noFill/>
        </p:spPr>
        <p:txBody>
          <a:bodyPr wrap="square" lIns="0" tIns="0" rIns="0" bIns="0" rtlCol="0" anchor="ctr"/>
          <a:lstStyle/>
          <a:p>
            <a:pPr marL="0" indent="0" algn="l">
              <a:buNone/>
            </a:pPr>
            <a:r>
              <a:rPr lang="en-US" sz="3000" b="1" dirty="0">
                <a:solidFill>
                  <a:schemeClr val="tx1"/>
                </a:solidFill>
              </a:rPr>
              <a:t>When not to use vector search</a:t>
            </a:r>
            <a:endParaRPr lang="en-US" sz="3000" dirty="0"/>
          </a:p>
        </p:txBody>
      </p:sp>
      <p:sp>
        <p:nvSpPr>
          <p:cNvPr id="4" name="Shape 1"/>
          <p:cNvSpPr/>
          <p:nvPr/>
        </p:nvSpPr>
        <p:spPr>
          <a:xfrm>
            <a:off x="4572000" y="1280160"/>
            <a:ext cx="0" cy="3200400"/>
          </a:xfrm>
          <a:prstGeom prst="line">
            <a:avLst/>
          </a:prstGeom>
          <a:noFill/>
          <a:ln w="9525">
            <a:solidFill>
              <a:schemeClr val="accent6"/>
            </a:solidFill>
            <a:prstDash val="solid"/>
          </a:ln>
        </p:spPr>
      </p:sp>
      <p:sp>
        <p:nvSpPr>
          <p:cNvPr id="5" name="Text 2"/>
          <p:cNvSpPr txBox="1"/>
          <p:nvPr/>
        </p:nvSpPr>
        <p:spPr>
          <a:xfrm>
            <a:off x="457200" y="1280160"/>
            <a:ext cx="3931920" cy="365760"/>
          </a:xfrm>
          <a:prstGeom prst="rect">
            <a:avLst/>
          </a:prstGeom>
          <a:noFill/>
        </p:spPr>
        <p:txBody>
          <a:bodyPr wrap="square" lIns="0" tIns="0" rIns="0" bIns="0" rtlCol="0" anchor="t"/>
          <a:lstStyle/>
          <a:p>
            <a:pPr marL="0" indent="0">
              <a:buNone/>
            </a:pPr>
            <a:r>
              <a:rPr lang="en-US" sz="1800" b="1" dirty="0">
                <a:solidFill>
                  <a:schemeClr val="accent2"/>
                </a:solidFill>
                <a:latin typeface="Cambria" panose="02040503050406030204" pitchFamily="34" charset="0"/>
                <a:ea typeface="Cambria" panose="02040503050406030204" pitchFamily="34" charset="-122"/>
                <a:cs typeface="Cambria" panose="02040503050406030204" pitchFamily="34" charset="-120"/>
              </a:rPr>
              <a:t>Prefer keyword or SQL when</a:t>
            </a:r>
            <a:endParaRPr lang="en-US" sz="1800" dirty="0"/>
          </a:p>
        </p:txBody>
      </p:sp>
      <p:sp>
        <p:nvSpPr>
          <p:cNvPr id="6" name="Text 3"/>
          <p:cNvSpPr txBox="1"/>
          <p:nvPr/>
        </p:nvSpPr>
        <p:spPr>
          <a:xfrm>
            <a:off x="457200" y="1783080"/>
            <a:ext cx="3931920" cy="2743200"/>
          </a:xfrm>
          <a:prstGeom prst="rect">
            <a:avLst/>
          </a:prstGeom>
          <a:noFill/>
        </p:spPr>
        <p:txBody>
          <a:bodyPr wrap="square" lIns="0" tIns="0" rIns="0" bIns="0" rtlCol="0" anchor="t"/>
          <a:lstStyle/>
          <a:p>
            <a:pPr marL="342900" indent="-342900">
              <a:spcAft>
                <a:spcPts val="1000"/>
              </a:spcAft>
              <a:buSzPct val="100000"/>
              <a:buChar char="•"/>
            </a:pPr>
            <a:r>
              <a:rPr lang="en-US" sz="1400" dirty="0">
                <a:solidFill>
                  <a:schemeClr val="tx1"/>
                </a:solidFill>
              </a:rPr>
              <a:t>You search IDs, codes or exact names, such as A-4471</a:t>
            </a:r>
            <a:endParaRPr lang="en-US" sz="1400" dirty="0"/>
          </a:p>
          <a:p>
            <a:pPr marL="342900" indent="-342900">
              <a:spcAft>
                <a:spcPts val="1000"/>
              </a:spcAft>
              <a:buSzPct val="100000"/>
              <a:buChar char="•"/>
            </a:pPr>
            <a:r>
              <a:rPr lang="en-US" sz="1400" dirty="0">
                <a:solidFill>
                  <a:schemeClr val="tx1"/>
                </a:solidFill>
              </a:rPr>
              <a:t>Exact phrases matter, as in legal or compliance text</a:t>
            </a:r>
            <a:endParaRPr lang="en-US" sz="1400" dirty="0"/>
          </a:p>
          <a:p>
            <a:pPr marL="342900" indent="-342900">
              <a:spcAft>
                <a:spcPts val="1000"/>
              </a:spcAft>
              <a:buSzPct val="100000"/>
              <a:buChar char="•"/>
            </a:pPr>
            <a:r>
              <a:rPr lang="en-US" sz="1400" dirty="0">
                <a:solidFill>
                  <a:schemeClr val="tx1"/>
                </a:solidFill>
              </a:rPr>
              <a:t>A simple filter already narrows the data</a:t>
            </a:r>
            <a:endParaRPr lang="en-US" sz="1400" dirty="0"/>
          </a:p>
          <a:p>
            <a:pPr marL="342900" indent="-342900">
              <a:spcAft>
                <a:spcPts val="1000"/>
              </a:spcAft>
              <a:buSzPct val="100000"/>
              <a:buChar char="•"/>
            </a:pPr>
            <a:r>
              <a:rPr lang="en-US" sz="1400" dirty="0">
                <a:solidFill>
                  <a:schemeClr val="tx1"/>
                </a:solidFill>
              </a:rPr>
              <a:t>You must explain exactly why a result matched</a:t>
            </a:r>
            <a:endParaRPr lang="en-US" sz="1400" dirty="0"/>
          </a:p>
        </p:txBody>
      </p:sp>
      <p:sp>
        <p:nvSpPr>
          <p:cNvPr id="7" name="Text 4"/>
          <p:cNvSpPr txBox="1"/>
          <p:nvPr/>
        </p:nvSpPr>
        <p:spPr>
          <a:xfrm>
            <a:off x="4846320" y="1280160"/>
            <a:ext cx="3840480" cy="365760"/>
          </a:xfrm>
          <a:prstGeom prst="rect">
            <a:avLst/>
          </a:prstGeom>
          <a:noFill/>
        </p:spPr>
        <p:txBody>
          <a:bodyPr wrap="square" lIns="0" tIns="0" rIns="0" bIns="0" rtlCol="0" anchor="t"/>
          <a:lstStyle/>
          <a:p>
            <a:pPr marL="0" indent="0">
              <a:buNone/>
            </a:pPr>
            <a:r>
              <a:rPr lang="en-US" sz="18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Common misconceptions</a:t>
            </a:r>
            <a:endParaRPr lang="en-US" sz="1800" dirty="0"/>
          </a:p>
        </p:txBody>
      </p:sp>
      <p:sp>
        <p:nvSpPr>
          <p:cNvPr id="8" name="Text 5"/>
          <p:cNvSpPr txBox="1"/>
          <p:nvPr/>
        </p:nvSpPr>
        <p:spPr>
          <a:xfrm>
            <a:off x="4846320" y="1783080"/>
            <a:ext cx="3840480" cy="2743200"/>
          </a:xfrm>
          <a:prstGeom prst="rect">
            <a:avLst/>
          </a:prstGeom>
          <a:noFill/>
        </p:spPr>
        <p:txBody>
          <a:bodyPr wrap="square" lIns="0" tIns="0" rIns="0" bIns="0" rtlCol="0" anchor="t"/>
          <a:lstStyle/>
          <a:p>
            <a:pPr marL="0" indent="0">
              <a:buNone/>
            </a:pPr>
            <a:r>
              <a:rPr lang="en-US" sz="1400" i="1" dirty="0">
                <a:solidFill>
                  <a:schemeClr val="tx1"/>
                </a:solidFill>
              </a:rPr>
              <a:t>"The model understands text like a person."</a:t>
            </a:r>
            <a:endParaRPr lang="en-US" sz="1400" dirty="0"/>
          </a:p>
          <a:p>
            <a:pPr marL="0" indent="0">
              <a:spcAft>
                <a:spcPts val="1000"/>
              </a:spcAft>
              <a:buNone/>
            </a:pPr>
            <a:r>
              <a:rPr lang="en-US" sz="1400" dirty="0">
                <a:solidFill>
                  <a:schemeClr val="tx1"/>
                </a:solidFill>
              </a:rPr>
              <a:t>It encodes patterns from its training data, and can be wrong.</a:t>
            </a:r>
            <a:endParaRPr lang="en-US" sz="1400" dirty="0"/>
          </a:p>
          <a:p>
            <a:pPr marL="0" indent="0">
              <a:buNone/>
            </a:pPr>
            <a:r>
              <a:rPr lang="en-US" sz="1400" i="1" dirty="0">
                <a:solidFill>
                  <a:schemeClr val="tx1"/>
                </a:solidFill>
              </a:rPr>
              <a:t>"Vector search always beats keyword."</a:t>
            </a:r>
            <a:endParaRPr lang="en-US" sz="1400" dirty="0"/>
          </a:p>
          <a:p>
            <a:pPr marL="0" indent="0">
              <a:spcAft>
                <a:spcPts val="1000"/>
              </a:spcAft>
              <a:buNone/>
            </a:pPr>
            <a:r>
              <a:rPr lang="en-US" sz="1400" dirty="0">
                <a:solidFill>
                  <a:schemeClr val="tx1"/>
                </a:solidFill>
              </a:rPr>
              <a:t>Hybrid search often wins (Session 9).</a:t>
            </a:r>
            <a:endParaRPr lang="en-US" sz="1400" dirty="0"/>
          </a:p>
          <a:p>
            <a:pPr marL="0" indent="0">
              <a:buNone/>
            </a:pPr>
            <a:r>
              <a:rPr lang="en-US" sz="1400" i="1" dirty="0">
                <a:solidFill>
                  <a:schemeClr val="tx1"/>
                </a:solidFill>
              </a:rPr>
              <a:t>"You need a dedicated database."</a:t>
            </a:r>
            <a:endParaRPr lang="en-US" sz="1400" dirty="0"/>
          </a:p>
          <a:p>
            <a:pPr marL="0" indent="0">
              <a:buNone/>
            </a:pPr>
            <a:r>
              <a:rPr lang="en-US" sz="1400" dirty="0">
                <a:solidFill>
                  <a:schemeClr val="tx1"/>
                </a:solidFill>
              </a:rPr>
              <a:t>A few thousand vectors fit in a NumPy array (Session 3).</a:t>
            </a:r>
            <a:endParaRPr lang="en-US" sz="1400" dirty="0"/>
          </a:p>
        </p:txBody>
      </p:sp>
      <p:sp>
        <p:nvSpPr>
          <p:cNvPr id="25"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5"/>
                </a:solidFill>
              </a:defRPr>
            </a:lvl1pPr>
          </a:lstStyle>
          <a:p>
            <a:pPr algn="l"/>
            <a:fld id="{F7021451-1387-4CA6-816F-3879F97B5CBC}" type="slidenum">
              <a:rPr lang="en-US" b="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320040"/>
            <a:ext cx="8229600" cy="731520"/>
          </a:xfrm>
          <a:prstGeom prst="rect">
            <a:avLst/>
          </a:prstGeom>
          <a:noFill/>
        </p:spPr>
        <p:txBody>
          <a:bodyPr wrap="square" lIns="0" tIns="0" rIns="0" bIns="0" rtlCol="0" anchor="ctr"/>
          <a:lstStyle/>
          <a:p>
            <a:pPr marL="0" indent="0" algn="l">
              <a:buNone/>
            </a:pPr>
            <a:r>
              <a:rPr lang="en-US" sz="3000" b="1" dirty="0">
                <a:solidFill>
                  <a:schemeClr val="tx1"/>
                </a:solidFill>
              </a:rPr>
              <a:t>Check your understanding</a:t>
            </a:r>
            <a:endParaRPr lang="en-US" sz="3000" dirty="0"/>
          </a:p>
        </p:txBody>
      </p:sp>
      <p:sp>
        <p:nvSpPr>
          <p:cNvPr id="4" name="Text 1"/>
          <p:cNvSpPr txBox="1"/>
          <p:nvPr/>
        </p:nvSpPr>
        <p:spPr>
          <a:xfrm>
            <a:off x="457200" y="1280160"/>
            <a:ext cx="731520" cy="548640"/>
          </a:xfrm>
          <a:prstGeom prst="rect">
            <a:avLst/>
          </a:prstGeom>
          <a:noFill/>
        </p:spPr>
        <p:txBody>
          <a:bodyPr wrap="square" lIns="0" tIns="0" rIns="0" bIns="0" rtlCol="0" anchor="t"/>
          <a:lstStyle/>
          <a:p>
            <a:pPr marL="0" indent="0">
              <a:buNone/>
            </a:pPr>
            <a:r>
              <a:rPr lang="en-US" sz="24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Q1</a:t>
            </a:r>
            <a:endParaRPr lang="en-US" sz="2400" dirty="0"/>
          </a:p>
        </p:txBody>
      </p:sp>
      <p:sp>
        <p:nvSpPr>
          <p:cNvPr id="5" name="Text 2"/>
          <p:cNvSpPr txBox="1"/>
          <p:nvPr/>
        </p:nvSpPr>
        <p:spPr>
          <a:xfrm>
            <a:off x="1280160" y="1280160"/>
            <a:ext cx="7315200" cy="640080"/>
          </a:xfrm>
          <a:prstGeom prst="rect">
            <a:avLst/>
          </a:prstGeom>
          <a:noFill/>
        </p:spPr>
        <p:txBody>
          <a:bodyPr wrap="square" lIns="0" tIns="0" rIns="0" bIns="0" rtlCol="0" anchor="t"/>
          <a:lstStyle/>
          <a:p>
            <a:pPr marL="0" indent="0">
              <a:buNone/>
            </a:pPr>
            <a:r>
              <a:rPr lang="en-US" sz="1800" dirty="0">
                <a:solidFill>
                  <a:schemeClr val="tx1"/>
                </a:solidFill>
                <a:latin typeface="Cambria" panose="02040503050406030204" pitchFamily="34" charset="0"/>
                <a:ea typeface="Cambria" panose="02040503050406030204" pitchFamily="34" charset="-122"/>
                <a:cs typeface="Cambria" panose="02040503050406030204" pitchFamily="34" charset="-120"/>
              </a:rPr>
              <a:t>Give a query where keyword search returns nothing useful, but a person would find the answer.</a:t>
            </a:r>
            <a:endParaRPr lang="en-US" sz="1800" dirty="0"/>
          </a:p>
        </p:txBody>
      </p:sp>
      <p:sp>
        <p:nvSpPr>
          <p:cNvPr id="6" name="Text 3"/>
          <p:cNvSpPr txBox="1"/>
          <p:nvPr/>
        </p:nvSpPr>
        <p:spPr>
          <a:xfrm>
            <a:off x="457200" y="2103120"/>
            <a:ext cx="731520" cy="548640"/>
          </a:xfrm>
          <a:prstGeom prst="rect">
            <a:avLst/>
          </a:prstGeom>
          <a:noFill/>
        </p:spPr>
        <p:txBody>
          <a:bodyPr wrap="square" lIns="0" tIns="0" rIns="0" bIns="0" rtlCol="0" anchor="t"/>
          <a:lstStyle/>
          <a:p>
            <a:pPr marL="0" indent="0">
              <a:buNone/>
            </a:pPr>
            <a:r>
              <a:rPr lang="en-US" sz="24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Q2</a:t>
            </a:r>
            <a:endParaRPr lang="en-US" sz="2400" dirty="0"/>
          </a:p>
        </p:txBody>
      </p:sp>
      <p:sp>
        <p:nvSpPr>
          <p:cNvPr id="7" name="Text 4"/>
          <p:cNvSpPr txBox="1"/>
          <p:nvPr/>
        </p:nvSpPr>
        <p:spPr>
          <a:xfrm>
            <a:off x="1280160" y="2103120"/>
            <a:ext cx="7315200" cy="640080"/>
          </a:xfrm>
          <a:prstGeom prst="rect">
            <a:avLst/>
          </a:prstGeom>
          <a:noFill/>
        </p:spPr>
        <p:txBody>
          <a:bodyPr wrap="square" lIns="0" tIns="0" rIns="0" bIns="0" rtlCol="0" anchor="t"/>
          <a:lstStyle/>
          <a:p>
            <a:pPr marL="0" indent="0">
              <a:buNone/>
            </a:pPr>
            <a:r>
              <a:rPr lang="en-US" sz="1800" dirty="0">
                <a:solidFill>
                  <a:schemeClr val="tx1"/>
                </a:solidFill>
                <a:latin typeface="Cambria" panose="02040503050406030204" pitchFamily="34" charset="0"/>
                <a:ea typeface="Cambria" panose="02040503050406030204" pitchFamily="34" charset="-122"/>
                <a:cs typeface="Cambria" panose="02040503050406030204" pitchFamily="34" charset="-120"/>
              </a:rPr>
              <a:t>Why must documents and queries use the same embedding model?</a:t>
            </a:r>
            <a:endParaRPr lang="en-US" sz="1800" dirty="0"/>
          </a:p>
        </p:txBody>
      </p:sp>
      <p:sp>
        <p:nvSpPr>
          <p:cNvPr id="8" name="Text 5"/>
          <p:cNvSpPr txBox="1"/>
          <p:nvPr/>
        </p:nvSpPr>
        <p:spPr>
          <a:xfrm>
            <a:off x="457200" y="2926080"/>
            <a:ext cx="731520" cy="548640"/>
          </a:xfrm>
          <a:prstGeom prst="rect">
            <a:avLst/>
          </a:prstGeom>
          <a:noFill/>
        </p:spPr>
        <p:txBody>
          <a:bodyPr wrap="square" lIns="0" tIns="0" rIns="0" bIns="0" rtlCol="0" anchor="t"/>
          <a:lstStyle/>
          <a:p>
            <a:pPr marL="0" indent="0">
              <a:buNone/>
            </a:pPr>
            <a:r>
              <a:rPr lang="en-US" sz="24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Q3</a:t>
            </a:r>
            <a:endParaRPr lang="en-US" sz="2400" dirty="0"/>
          </a:p>
        </p:txBody>
      </p:sp>
      <p:sp>
        <p:nvSpPr>
          <p:cNvPr id="9" name="Text 6"/>
          <p:cNvSpPr txBox="1"/>
          <p:nvPr/>
        </p:nvSpPr>
        <p:spPr>
          <a:xfrm>
            <a:off x="1280160" y="2926080"/>
            <a:ext cx="7315200" cy="640080"/>
          </a:xfrm>
          <a:prstGeom prst="rect">
            <a:avLst/>
          </a:prstGeom>
          <a:noFill/>
        </p:spPr>
        <p:txBody>
          <a:bodyPr wrap="square" lIns="0" tIns="0" rIns="0" bIns="0" rtlCol="0" anchor="t"/>
          <a:lstStyle/>
          <a:p>
            <a:pPr marL="0" indent="0">
              <a:buNone/>
            </a:pPr>
            <a:r>
              <a:rPr lang="en-US" sz="1800" dirty="0">
                <a:solidFill>
                  <a:schemeClr val="tx1"/>
                </a:solidFill>
                <a:latin typeface="Cambria" panose="02040503050406030204" pitchFamily="34" charset="0"/>
                <a:ea typeface="Cambria" panose="02040503050406030204" pitchFamily="34" charset="-122"/>
                <a:cs typeface="Cambria" panose="02040503050406030204" pitchFamily="34" charset="-120"/>
              </a:rPr>
              <a:t>Name the three jobs of a vector database.</a:t>
            </a:r>
            <a:endParaRPr lang="en-US" sz="1800" dirty="0"/>
          </a:p>
        </p:txBody>
      </p:sp>
      <p:sp>
        <p:nvSpPr>
          <p:cNvPr id="10" name="Text 7"/>
          <p:cNvSpPr txBox="1"/>
          <p:nvPr/>
        </p:nvSpPr>
        <p:spPr>
          <a:xfrm>
            <a:off x="457200" y="3749040"/>
            <a:ext cx="731520" cy="548640"/>
          </a:xfrm>
          <a:prstGeom prst="rect">
            <a:avLst/>
          </a:prstGeom>
          <a:noFill/>
        </p:spPr>
        <p:txBody>
          <a:bodyPr wrap="square" lIns="0" tIns="0" rIns="0" bIns="0" rtlCol="0" anchor="t"/>
          <a:lstStyle/>
          <a:p>
            <a:pPr marL="0" indent="0">
              <a:buNone/>
            </a:pPr>
            <a:r>
              <a:rPr lang="en-US" sz="2400" b="1" dirty="0">
                <a:solidFill>
                  <a:schemeClr val="accent1"/>
                </a:solidFill>
                <a:latin typeface="Cambria" panose="02040503050406030204" pitchFamily="34" charset="0"/>
                <a:ea typeface="Cambria" panose="02040503050406030204" pitchFamily="34" charset="-122"/>
                <a:cs typeface="Cambria" panose="02040503050406030204" pitchFamily="34" charset="-120"/>
              </a:rPr>
              <a:t>Q4</a:t>
            </a:r>
            <a:endParaRPr lang="en-US" sz="2400" dirty="0"/>
          </a:p>
        </p:txBody>
      </p:sp>
      <p:sp>
        <p:nvSpPr>
          <p:cNvPr id="11" name="Text 8"/>
          <p:cNvSpPr txBox="1"/>
          <p:nvPr/>
        </p:nvSpPr>
        <p:spPr>
          <a:xfrm>
            <a:off x="1280160" y="3749040"/>
            <a:ext cx="7315200" cy="640080"/>
          </a:xfrm>
          <a:prstGeom prst="rect">
            <a:avLst/>
          </a:prstGeom>
          <a:noFill/>
        </p:spPr>
        <p:txBody>
          <a:bodyPr wrap="square" lIns="0" tIns="0" rIns="0" bIns="0" rtlCol="0" anchor="t"/>
          <a:lstStyle/>
          <a:p>
            <a:pPr marL="0" indent="0">
              <a:buNone/>
            </a:pPr>
            <a:r>
              <a:rPr lang="en-US" sz="1800" dirty="0">
                <a:solidFill>
                  <a:schemeClr val="tx1"/>
                </a:solidFill>
                <a:latin typeface="Cambria" panose="02040503050406030204" pitchFamily="34" charset="0"/>
                <a:ea typeface="Cambria" panose="02040503050406030204" pitchFamily="34" charset="-122"/>
                <a:cs typeface="Cambria" panose="02040503050406030204" pitchFamily="34" charset="-120"/>
              </a:rPr>
              <a:t>Describe one task where you would still choose SQL or BM25.</a:t>
            </a:r>
            <a:endParaRPr lang="en-US" sz="1800" dirty="0"/>
          </a:p>
        </p:txBody>
      </p:sp>
      <p:sp>
        <p:nvSpPr>
          <p:cNvPr id="25"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5"/>
                </a:solidFill>
              </a:defRPr>
            </a:lvl1pPr>
          </a:lstStyle>
          <a:p>
            <a:pPr algn="l"/>
            <a:fld id="{F7021451-1387-4CA6-816F-3879F97B5CBC}" type="slidenum">
              <a:rPr lang="en-US" b="0"/>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ph type="title" idx="100" hasCustomPrompt="1"/>
          </p:nvPr>
        </p:nvSpPr>
        <p:spPr>
          <a:xfrm>
            <a:off x="457200" y="320040"/>
            <a:ext cx="8229600" cy="731520"/>
          </a:xfrm>
          <a:prstGeom prst="rect">
            <a:avLst/>
          </a:prstGeom>
          <a:noFill/>
        </p:spPr>
        <p:txBody>
          <a:bodyPr wrap="square" lIns="0" tIns="0" rIns="0" bIns="0" rtlCol="0" anchor="ctr"/>
          <a:lstStyle/>
          <a:p>
            <a:pPr marL="0" indent="0" algn="l">
              <a:buNone/>
            </a:pPr>
            <a:r>
              <a:rPr lang="en-US" sz="3000" b="1" dirty="0">
                <a:solidFill>
                  <a:schemeClr val="tx1"/>
                </a:solidFill>
              </a:rPr>
              <a:t>Summary and next steps</a:t>
            </a:r>
            <a:endParaRPr lang="en-US" sz="3000" dirty="0"/>
          </a:p>
        </p:txBody>
      </p:sp>
      <p:sp>
        <p:nvSpPr>
          <p:cNvPr id="4" name="Text 1"/>
          <p:cNvSpPr txBox="1"/>
          <p:nvPr/>
        </p:nvSpPr>
        <p:spPr>
          <a:xfrm>
            <a:off x="457200" y="1280160"/>
            <a:ext cx="4846320" cy="3200400"/>
          </a:xfrm>
          <a:prstGeom prst="rect">
            <a:avLst/>
          </a:prstGeom>
          <a:noFill/>
        </p:spPr>
        <p:txBody>
          <a:bodyPr wrap="square" lIns="0" tIns="0" rIns="0" bIns="0" rtlCol="0" anchor="t"/>
          <a:lstStyle/>
          <a:p>
            <a:pPr marL="342900" indent="-342900">
              <a:spcAft>
                <a:spcPts val="1200"/>
              </a:spcAft>
              <a:buSzPct val="100000"/>
              <a:buChar char="•"/>
            </a:pPr>
            <a:r>
              <a:rPr lang="en-US" sz="1600" dirty="0">
                <a:solidFill>
                  <a:schemeClr val="tx1"/>
                </a:solidFill>
              </a:rPr>
              <a:t>Keyword search matches tokens, so it suffers from vocabulary mismatch</a:t>
            </a:r>
            <a:endParaRPr lang="en-US" sz="1600" dirty="0"/>
          </a:p>
          <a:p>
            <a:pPr marL="342900" indent="-342900">
              <a:spcAft>
                <a:spcPts val="1200"/>
              </a:spcAft>
              <a:buSzPct val="100000"/>
              <a:buChar char="•"/>
            </a:pPr>
            <a:r>
              <a:rPr lang="en-US" sz="1600" dirty="0">
                <a:solidFill>
                  <a:schemeClr val="tx1"/>
                </a:solidFill>
              </a:rPr>
              <a:t>Embeddings place similar meaning close together in a vector space</a:t>
            </a:r>
            <a:endParaRPr lang="en-US" sz="1600" dirty="0"/>
          </a:p>
          <a:p>
            <a:pPr marL="342900" indent="-342900">
              <a:spcAft>
                <a:spcPts val="1200"/>
              </a:spcAft>
              <a:buSzPct val="100000"/>
              <a:buChar char="•"/>
            </a:pPr>
            <a:r>
              <a:rPr lang="en-US" sz="1600" dirty="0">
                <a:solidFill>
                  <a:schemeClr val="tx1"/>
                </a:solidFill>
              </a:rPr>
              <a:t>A vector database stores, indexes and searches those vectors, with metadata</a:t>
            </a:r>
            <a:endParaRPr lang="en-US" sz="1600" dirty="0"/>
          </a:p>
          <a:p>
            <a:pPr marL="342900" indent="-342900">
              <a:spcAft>
                <a:spcPts val="1200"/>
              </a:spcAft>
              <a:buSzPct val="100000"/>
              <a:buChar char="•"/>
            </a:pPr>
            <a:r>
              <a:rPr lang="en-US" sz="1600" dirty="0">
                <a:solidFill>
                  <a:schemeClr val="tx1"/>
                </a:solidFill>
              </a:rPr>
              <a:t>It complements SQL and keyword search; it does not replace them</a:t>
            </a:r>
            <a:endParaRPr lang="en-US" sz="1600" dirty="0"/>
          </a:p>
        </p:txBody>
      </p:sp>
      <p:sp>
        <p:nvSpPr>
          <p:cNvPr id="5" name="Shape 2"/>
          <p:cNvSpPr/>
          <p:nvPr/>
        </p:nvSpPr>
        <p:spPr>
          <a:xfrm>
            <a:off x="5577840" y="1280160"/>
            <a:ext cx="0" cy="3200400"/>
          </a:xfrm>
          <a:prstGeom prst="line">
            <a:avLst/>
          </a:prstGeom>
          <a:noFill/>
          <a:ln w="9525">
            <a:solidFill>
              <a:schemeClr val="accent6"/>
            </a:solidFill>
            <a:prstDash val="solid"/>
          </a:ln>
        </p:spPr>
      </p:sp>
      <p:sp>
        <p:nvSpPr>
          <p:cNvPr id="6" name="Text 3"/>
          <p:cNvSpPr txBox="1"/>
          <p:nvPr/>
        </p:nvSpPr>
        <p:spPr>
          <a:xfrm>
            <a:off x="5852160" y="1280160"/>
            <a:ext cx="2834640" cy="274320"/>
          </a:xfrm>
          <a:prstGeom prst="rect">
            <a:avLst/>
          </a:prstGeom>
          <a:noFill/>
        </p:spPr>
        <p:txBody>
          <a:bodyPr wrap="square" lIns="0" tIns="0" rIns="0" bIns="0" rtlCol="0" anchor="t"/>
          <a:lstStyle/>
          <a:p>
            <a:pPr marL="0" indent="0">
              <a:buNone/>
            </a:pPr>
            <a:r>
              <a:rPr lang="en-US" sz="1200" b="1" kern="0" spc="200" dirty="0">
                <a:solidFill>
                  <a:schemeClr val="accent5"/>
                </a:solidFill>
              </a:rPr>
              <a:t>Lab 1</a:t>
            </a:r>
            <a:endParaRPr lang="en-US" sz="1200" dirty="0"/>
          </a:p>
        </p:txBody>
      </p:sp>
      <p:sp>
        <p:nvSpPr>
          <p:cNvPr id="7" name="Text 4"/>
          <p:cNvSpPr txBox="1"/>
          <p:nvPr/>
        </p:nvSpPr>
        <p:spPr>
          <a:xfrm>
            <a:off x="5852160" y="1600200"/>
            <a:ext cx="2834640" cy="731520"/>
          </a:xfrm>
          <a:prstGeom prst="rect">
            <a:avLst/>
          </a:prstGeom>
          <a:noFill/>
        </p:spPr>
        <p:txBody>
          <a:bodyPr wrap="square" lIns="0" tIns="0" rIns="0" bIns="0" rtlCol="0" anchor="t"/>
          <a:lstStyle/>
          <a:p>
            <a:pPr marL="0" indent="0">
              <a:buNone/>
            </a:pPr>
            <a:r>
              <a:rPr lang="en-US" sz="1400" dirty="0">
                <a:solidFill>
                  <a:schemeClr val="tx1"/>
                </a:solidFill>
              </a:rPr>
              <a:t>Keyword vs semantic search in Colab (30 to 40 minutes).</a:t>
            </a:r>
            <a:endParaRPr lang="en-US" sz="1400" dirty="0"/>
          </a:p>
        </p:txBody>
      </p:sp>
      <p:sp>
        <p:nvSpPr>
          <p:cNvPr id="8" name="Text 5"/>
          <p:cNvSpPr txBox="1"/>
          <p:nvPr/>
        </p:nvSpPr>
        <p:spPr>
          <a:xfrm>
            <a:off x="5852160" y="2514600"/>
            <a:ext cx="2834640" cy="274320"/>
          </a:xfrm>
          <a:prstGeom prst="rect">
            <a:avLst/>
          </a:prstGeom>
          <a:noFill/>
        </p:spPr>
        <p:txBody>
          <a:bodyPr wrap="square" lIns="0" tIns="0" rIns="0" bIns="0" rtlCol="0" anchor="t"/>
          <a:lstStyle/>
          <a:p>
            <a:pPr marL="0" indent="0">
              <a:buNone/>
            </a:pPr>
            <a:r>
              <a:rPr lang="en-US" sz="1200" b="1" kern="0" spc="200" dirty="0">
                <a:solidFill>
                  <a:schemeClr val="accent5"/>
                </a:solidFill>
              </a:rPr>
              <a:t>Further reading</a:t>
            </a:r>
            <a:endParaRPr lang="en-US" sz="1200" dirty="0"/>
          </a:p>
        </p:txBody>
      </p:sp>
      <p:sp>
        <p:nvSpPr>
          <p:cNvPr id="9" name="Text 6"/>
          <p:cNvSpPr txBox="1"/>
          <p:nvPr/>
        </p:nvSpPr>
        <p:spPr>
          <a:xfrm>
            <a:off x="5852160" y="2834640"/>
            <a:ext cx="2834640" cy="1645920"/>
          </a:xfrm>
          <a:prstGeom prst="rect">
            <a:avLst/>
          </a:prstGeom>
          <a:noFill/>
        </p:spPr>
        <p:txBody>
          <a:bodyPr wrap="square" lIns="0" tIns="0" rIns="0" bIns="0" rtlCol="0" anchor="t"/>
          <a:lstStyle/>
          <a:p>
            <a:pPr marL="0" indent="0">
              <a:spcAft>
                <a:spcPts val="600"/>
              </a:spcAft>
              <a:buNone/>
            </a:pPr>
            <a:r>
              <a:rPr lang="en-US" sz="1300" i="1" dirty="0">
                <a:solidFill>
                  <a:schemeClr val="tx1"/>
                </a:solidFill>
                <a:latin typeface="Cambria" panose="02040503050406030204" pitchFamily="34" charset="0"/>
                <a:ea typeface="Cambria" panose="02040503050406030204" pitchFamily="34" charset="-122"/>
                <a:cs typeface="Cambria" panose="02040503050406030204" pitchFamily="34" charset="-120"/>
              </a:rPr>
              <a:t>Reimers and Gurevych (2019). Sentence-BERT.</a:t>
            </a:r>
            <a:endParaRPr lang="en-US" sz="1300" dirty="0"/>
          </a:p>
          <a:p>
            <a:pPr marL="0" indent="0">
              <a:spcAft>
                <a:spcPts val="600"/>
              </a:spcAft>
              <a:buNone/>
            </a:pPr>
            <a:r>
              <a:rPr lang="en-US" sz="1300" i="1" dirty="0">
                <a:solidFill>
                  <a:schemeClr val="tx1"/>
                </a:solidFill>
                <a:latin typeface="Cambria" panose="02040503050406030204" pitchFamily="34" charset="0"/>
                <a:ea typeface="Cambria" panose="02040503050406030204" pitchFamily="34" charset="-122"/>
                <a:cs typeface="Cambria" panose="02040503050406030204" pitchFamily="34" charset="-120"/>
              </a:rPr>
              <a:t>Lewis et al. (2020). Retrieval-Augmented Generation for Knowledge-Intensive NLP Tasks.</a:t>
            </a:r>
            <a:endParaRPr lang="en-US" sz="1300" dirty="0"/>
          </a:p>
          <a:p>
            <a:pPr marL="0" indent="0">
              <a:buNone/>
            </a:pPr>
            <a:r>
              <a:rPr lang="en-US" sz="1300" i="1" dirty="0">
                <a:solidFill>
                  <a:schemeClr val="tx1"/>
                </a:solidFill>
                <a:latin typeface="Cambria" panose="02040503050406030204" pitchFamily="34" charset="0"/>
                <a:ea typeface="Cambria" panose="02040503050406030204" pitchFamily="34" charset="-122"/>
                <a:cs typeface="Cambria" panose="02040503050406030204" pitchFamily="34" charset="-120"/>
              </a:rPr>
              <a:t>Johnson, Douze and Jegou (2019). Billion-scale similarity search with GPUs.</a:t>
            </a:r>
            <a:endParaRPr lang="en-US" sz="1300" dirty="0"/>
          </a:p>
        </p:txBody>
      </p:sp>
      <p:sp>
        <p:nvSpPr>
          <p:cNvPr id="25" name="Slide Number Placeholder 0"/>
          <p:cNvSpPr>
            <a:spLocks noGrp="1"/>
          </p:cNvSpPr>
          <p:nvPr>
            <p:ph type="sldNum" sz="quarter" idx="4294967295"/>
          </p:nvPr>
        </p:nvSpPr>
        <p:spPr>
          <a:xfrm>
            <a:off x="8229600" y="4818888"/>
            <a:ext cx="457200" cy="228600"/>
          </a:xfrm>
          <a:prstGeom prst="rect">
            <a:avLst/>
          </a:prstGeom>
        </p:spPr>
        <p:txBody>
          <a:bodyPr/>
          <a:lstStyle>
            <a:lvl1pPr>
              <a:defRPr sz="1000">
                <a:solidFill>
                  <a:schemeClr val="accent5"/>
                </a:solidFill>
              </a:defRPr>
            </a:lvl1pPr>
          </a:lstStyle>
          <a:p>
            <a:pPr algn="l"/>
            <a:fld id="{F7021451-1387-4CA6-816F-3879F97B5CBC}" type="slidenum">
              <a:rPr lang="en-US" b="0"/>
            </a:fld>
            <a:endParaRPr lang="en-US"/>
          </a:p>
        </p:txBody>
      </p:sp>
    </p:spTree>
  </p:cSld>
  <p:clrMapOvr>
    <a:masterClrMapping/>
  </p:clrMapOvr>
</p:sld>
</file>

<file path=ppt/theme/theme1.xml><?xml version="1.0" encoding="utf-8"?>
<a:theme xmlns:a="http://schemas.openxmlformats.org/drawingml/2006/main" name="Editorial">
  <a:themeElements>
    <a:clrScheme name="Editorial">
      <a:dk1>
        <a:srgbClr val="1B2A41"/>
      </a:dk1>
      <a:lt1>
        <a:srgbClr val="FFFFFF"/>
      </a:lt1>
      <a:dk2>
        <a:srgbClr val="0F1B2D"/>
      </a:dk2>
      <a:lt2>
        <a:srgbClr val="F3F4F6"/>
      </a:lt2>
      <a:accent1>
        <a:srgbClr val="B5432A"/>
      </a:accent1>
      <a:accent2>
        <a:srgbClr val="2F5D8A"/>
      </a:accent2>
      <a:accent3>
        <a:srgbClr val="3B7A57"/>
      </a:accent3>
      <a:accent4>
        <a:srgbClr val="8A6D1F"/>
      </a:accent4>
      <a:accent5>
        <a:srgbClr val="6B7280"/>
      </a:accent5>
      <a:accent6>
        <a:srgbClr val="D1D5DB"/>
      </a:accent6>
      <a:hlink>
        <a:srgbClr val="2F5D8A"/>
      </a:hlink>
      <a:folHlink>
        <a:srgbClr val="6B7280"/>
      </a:folHlink>
    </a:clrScheme>
    <a:fontScheme name="Editori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ditorial">
  <a:themeElements>
    <a:clrScheme name="Editorial">
      <a:dk1>
        <a:srgbClr val="1B2A41"/>
      </a:dk1>
      <a:lt1>
        <a:srgbClr val="FFFFFF"/>
      </a:lt1>
      <a:dk2>
        <a:srgbClr val="0F1B2D"/>
      </a:dk2>
      <a:lt2>
        <a:srgbClr val="F3F4F6"/>
      </a:lt2>
      <a:accent1>
        <a:srgbClr val="B5432A"/>
      </a:accent1>
      <a:accent2>
        <a:srgbClr val="2F5D8A"/>
      </a:accent2>
      <a:accent3>
        <a:srgbClr val="3B7A57"/>
      </a:accent3>
      <a:accent4>
        <a:srgbClr val="8A6D1F"/>
      </a:accent4>
      <a:accent5>
        <a:srgbClr val="6B7280"/>
      </a:accent5>
      <a:accent6>
        <a:srgbClr val="D1D5DB"/>
      </a:accent6>
      <a:hlink>
        <a:srgbClr val="2F5D8A"/>
      </a:hlink>
      <a:folHlink>
        <a:srgbClr val="6B7280"/>
      </a:folHlink>
    </a:clrScheme>
    <a:fontScheme name="Editori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6273</Words>
  <Application>WPS Presentation</Application>
  <PresentationFormat>On-screen Show (16:9)</PresentationFormat>
  <Paragraphs>444</Paragraphs>
  <Slides>15</Slides>
  <Notes>15</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Arial</vt:lpstr>
      <vt:lpstr>SimSun</vt:lpstr>
      <vt:lpstr>Wingdings</vt:lpstr>
      <vt:lpstr>Cambria</vt:lpstr>
      <vt:lpstr>Cambria</vt:lpstr>
      <vt:lpstr>Cambria</vt:lpstr>
      <vt:lpstr>Calibri</vt:lpstr>
      <vt:lpstr>Calibri</vt:lpstr>
      <vt:lpstr>Calibri</vt:lpstr>
      <vt:lpstr>Microsoft YaHei</vt:lpstr>
      <vt:lpstr>Arial Unicode MS</vt:lpstr>
      <vt:lpstr>Editorial</vt:lpstr>
      <vt:lpstr>Why Vector Databases?</vt:lpstr>
      <vt:lpstr>Today's lecture in five questions</vt:lpstr>
      <vt:lpstr>Which results would you want?</vt:lpstr>
      <vt:lpstr>Keyword search matches tokens, not ideas</vt:lpstr>
      <vt:lpstr>The vocabulary mismatch problem</vt:lpstr>
      <vt:lpstr>From term vectors to vector databases</vt:lpstr>
      <vt:lpstr>Meaning as geometry</vt:lpstr>
      <vt:lpstr>What an embedding looks like</vt:lpstr>
      <vt:lpstr>What a vector database stores</vt:lpstr>
      <vt:lpstr>Two phases: ingest once, query often</vt:lpstr>
      <vt:lpstr>A different question, a different index</vt:lpstr>
      <vt:lpstr>Where it is used</vt:lpstr>
      <vt:lpstr>When not to use vector search</vt:lpstr>
      <vt:lpstr>Check your understanding</vt:lpstr>
      <vt:lpstr>Summary and next steps</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Why Vector Databases?</dc:title>
  <dc:creator>PptxGenJS</dc:creator>
  <dc:subject>PptxGenJS Presentation</dc:subject>
  <cp:lastModifiedBy>Abdelrahman Elaraby</cp:lastModifiedBy>
  <cp:revision>3</cp:revision>
  <dcterms:created xsi:type="dcterms:W3CDTF">2026-10-24T05:36:00Z</dcterms:created>
  <dcterms:modified xsi:type="dcterms:W3CDTF">2026-10-24T05:41:13Z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3B501D7CFECD4D63B47CDDC4CCFF8D7B_12</vt:lpwstr>
  </property>
  <property fmtid="{D5CDD505-2E9C-101B-9397-08002B2CF9AE}" pid="3" name="KSOProductBuildVer">
    <vt:lpwstr>1033-12.1.0.29162</vt:lpwstr>
  </property>
</Properties>
</file>